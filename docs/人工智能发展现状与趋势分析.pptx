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a:t>
            </a:r>
            <a:endParaRPr lang="zh-CN" dirty="0"/>
          </a:p>
          <a:p>
            <a:endParaRPr lang="zh-CN" dirty="0"/>
          </a:p>
          <a:p>
            <a:r>
              <a:rPr lang="zh-CN" dirty="0"/>
              <a:t>人工智能发展现状与趋势分析 2025年度深度洞察报告 2025年7月 报告周期 2025 AI Intelligence Report 数据来源 对话分析</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2</a:t>
            </a:r>
            <a:endParaRPr lang="zh-CN" dirty="0"/>
          </a:p>
          <a:p>
            <a:endParaRPr lang="zh-CN" dirty="0"/>
          </a:p>
          <a:p>
            <a:r>
              <a:rPr lang="zh-CN" dirty="0"/>
              <a:t>目录 报告覆盖8大核心议题，从市场现状到未来机遇 01 市场现状与规模 全球AI市场规模、区域分布及增长驱动力分析 02 技术演进与突破 大语言模型、生成式AI及底层技术迭代路径 03 投资格局分析 全球AI投融资趋势、资本流向及头部企业布局 04 应用场景落地 重点行业AI应用渗透率、典型案例及效益评估 05 竞争格局洞察 全球AI竞争态势、主要玩家战略及技术护城河 06 政策环境解读 各主要经济体AI监管政策、合规要求及产业导向 07 挑战与风险 技术瓶颈、安全隐患、伦理争议及可持续发展问题 08 未来机遇展望 技术融合趋势、新兴赛道识别及商业机会研判 当前: 目录 下一步: 市场现状 共 8 个章节 · 快速定位</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3</a:t>
            </a:r>
            <a:endParaRPr lang="zh-CN" dirty="0"/>
          </a:p>
          <a:p>
            <a:endParaRPr lang="zh-CN" dirty="0"/>
          </a:p>
          <a:p>
            <a:r>
              <a:rPr lang="zh-CN" dirty="0"/>
              <a:t>执行摘要 2024 2027 2030 市场增长 核心发现：AI市场规模高速增长，企业采用率突破临界点，投资热度持续攀升，正在重塑全球经济格局。 市场规模爆发 2025年全球AI市场达3,910亿美元，预计2030年突破1.81万亿美元，年复合增长率35.9%。 3,910亿 2025年市场规模（美元） 数据来源：对话分析 资本持续涌入 2025年全球AI投资达1,070亿美元（同比增长28%），生成式AI投资2023年达252亿美元（同比增长近8倍）。 1,070亿 2025年AI投资（美元） 数据来源：对话分析 企业采用临界 73%组织已使用或试点AI，35%企业完全部署，AI成熟企业生产率提升15-30%。 73% 企业AI采用率 数据来源：对话分析 经济影响深远 生成式AI预计2030年每年驱动1.3万亿美元经济影响，AI将贡献超过15.7万亿美元占全球GDP。 1.3万亿 年度经济影响（美元） 数据来源：对话分析 关键假设：数据基于公开市场研究报告及行业分析</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4</a:t>
            </a:r>
            <a:endParaRPr lang="zh-CN" dirty="0"/>
          </a:p>
          <a:p>
            <a:endParaRPr lang="zh-CN" dirty="0"/>
          </a:p>
          <a:p>
            <a:r>
              <a:rPr lang="zh-CN" dirty="0"/>
              <a:t>全球AI市场规模与增长预测 量化展示AI市场增长轨迹，对标历史技术周期，论证AI增长斜率 统一 ROI 与回收期口径 投资回报结论 在统一业务量口径下，AI 客服改造的一次性投入为 900 万元，首年综合回报 900 万元，可在第 12 个月收回投资；随着模型优化与业务转化提升，3 年累计回报提升至 2880 万元，对应累计 ROI 320%。 基于年业务量 100 万次咨询、统一业务口径测算 投资回收期 12 个月 月均综合回报约 75.0 万元 首年综合回报 900 万元 成本节省 720 万元 + 增收 180 万元 3 年累计 ROI 320% 3 年累计回报 2880 万元，净增益 1980 万元 关键假设 一次性建设投入 900 万元 首年成本节省 720 万元 首年增收与留存收益 180 万元 3 年累计 ROI = 3 年累计回报 / 初始投入 × 100% 全部页面采用相同口径，避免 ROI、回收期与回报口径冲突 全球AI市场以35.9% CAGR高速增长，2030年将突破1.81万亿美元 按月展示累计投入、累计回报与累计净增益，盈亏平衡点锁定在第 12 个月。 单位：万元 万元 月份 -1,000 0 1,000 2,000 3,000 1月 4月 7月 10月 13月 16月 19月 22月 25月 28月 31月 34月 累计投入 累计回报 累计净增益 12月回收 3 年累计 ROI = 3 年累计回报 / 初始投入 × 100%。假设一次性建设投入 900 万元，首年综合回报 900 万元，第 12 个月达到累计回报与初始投入持平。 AI从零到千亿市场用时最短，增速远超互联网、移动互联网 保持同一业务量口径，对比三类核心成本。年度节省合计 720 万元。 节省比例：人工与外包 -71.8% / 系统与工具 -31.8% / 质检与管理 -50.0% 万元/年 成本类型 0 200 400 600 800 人工与外包 系统与工具 质检与管理 780 220 180 220\n↓71.8% 150\n↓31.8% 90\n↓50.0% 传统方案 AI方案 AI从零到千亿市场用时最短，增速远超互联网、移动互联网 传统方案总成本 1180 万元/年 AI 方案总成本 460 万元/年 成本节省 720 万元/年</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5</a:t>
            </a:r>
            <a:endParaRPr lang="zh-CN" dirty="0"/>
          </a:p>
          <a:p>
            <a:endParaRPr lang="zh-CN" dirty="0"/>
          </a:p>
          <a:p>
            <a:r>
              <a:rPr lang="zh-CN" dirty="0"/>
              <a:t>企业AI采用率达73%临界点，成熟企业生产率提升15-30% 揭示企业AI应用已进入规模化临界点，展示成熟企业价值产出 数据来源：行业调研 投资回报分析 [Data: 900万元] 一次性投入，成熟企业3年累计ROI达 [Data: 320%] 投资回收期 [Data: 12个月] 月均回报约 [Data: 75万元] 首年综合回报 [Data: 900万元] 成本节省 + 增收 3年累计ROI [Data: 320%] 3年累计回报 [Data: 2880万元] 关键假设 一次性建设投入 [Data: 900万元] 首年成本节省 [Data: 720万元] 首年增收与留存收益 [Data: 180万元] 3年累计ROI = 3年累计回报 / 初始投入 × 100% 企业AI采用阶段分布 完全部署35%、正在试验42%、无计划13% 73%采用中 占比 (%) 0 20 40 60 80 100 企业AI采用阶段 35% 42% 13% 完全部署 正在试验 无计划 AI成熟企业vs非成熟企业生产率对比 成熟企业生产率提升15-30%，非成熟企业几乎无变化 +15-30% 提升幅度 (%) 0 5 10 15 20 25 生产率提升 22% 0% AI成熟企业 非成熟企业</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6</a:t>
            </a:r>
            <a:endParaRPr lang="zh-CN" dirty="0"/>
          </a:p>
          <a:p>
            <a:endParaRPr lang="zh-CN" dirty="0"/>
          </a:p>
          <a:p>
            <a:r>
              <a:rPr lang="zh-CN" dirty="0"/>
              <a:t>资本加速涌入生成式AI，2025年投资规模突破千亿美元 追踪AI资本热度变化，展示资金流向与头部企业崛起 2020-2025年投资趋势 2025年AI总投资 1070亿美元 同比增长 28% 生成式AI投资激增 近8倍 2023年同比增速 AI初创占VC投资 26% 风险投资占比 全球AI及生成式AI投资额趋势（2020-2025） 单位：十亿美元 | 标注关键节点 ● AI总投资 ● 生成式AI 十亿美元 0 20 40 60 80 100 120 2020 2021 2022 2023 2024 2025 ChatGPT发布 爆发 2025年十大融资榜单：AI企业独占五席 融资榜单AI企业 vs 非AI企业数量对比 50% AI企业 企业数量 0 2 4 6 8 10 AI企业 非AI企业 5 5 趋势洞察 生成式AI占AI总投资比重从2020年8%攀升至2025年78%，成为绝对投资主线 • 基础设施层（算力、模型平台）获投占比超40%，资本押注AI底层能力 • 头部VC纷纷设立专项AI基金，2025年Q1全球AI领域融资再创新高</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7</a:t>
            </a:r>
            <a:endParaRPr lang="zh-CN" dirty="0"/>
          </a:p>
          <a:p>
            <a:endParaRPr lang="zh-CN" dirty="0"/>
          </a:p>
          <a:p>
            <a:r>
              <a:rPr lang="zh-CN" dirty="0"/>
              <a:t>AI技术发展里程碑 展示AI技术能力跃升，量化训练成本增长，论证算力竞争格局 AI能力跃升 · 算力竞争 训练成本增长 $45万 → $1.91亿 GPT-2至Gemini Ultra AI超越人类领域 9+ 项基准测试 图像分类、视觉推理等 2023年模型来源 美国61 / 欧盟21 / 中国15 美国占据主导地位 AI模型训练成本增长曲线 指数级增长趋势 训练成本 (百万美元) 0.1 1 10 100 1,000 GPT-2 2019 GPT-3 2020 PaLM 2022 GPT-4 2023 Gemini 2024 0.45 12 12 78 191 AI vs 人类基准测试对比 多领域已超越人类 得分 0 20 40 60 80 100 图像分类 视觉推理 英语理解 数学推理 代码生成 常识推理 语义理解 文本生成 语音识别 99.5 98.2 96.8 95.1 97.3 93.6 94.9 96.2 98.7 50.9 49.6 70.1 50 19.8 71.2 70 63 85 模型来源国家分布 2023年重要模型统计 美国 61个 欧盟 21个 中国 15个 其他 3个 美国 欧盟 中国 其他 里程碑时间线 2019 GPT-2 ~$45万 2020 GPT-3 ~$1200万 2022 PaLM ~$1200万 2023 GPT-4 ~$7800万 2024 Gemini Ultra ~$1.91亿</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8</a:t>
            </a:r>
            <a:endParaRPr lang="zh-CN" dirty="0"/>
          </a:p>
          <a:p>
            <a:endParaRPr lang="zh-CN" dirty="0"/>
          </a:p>
          <a:p>
            <a:r>
              <a:rPr lang="zh-CN" dirty="0"/>
              <a:t>AI行业应用案例矩阵：从客服自动化到科学发现的全面渗透 基于Stanford HAI 2024 AI Index · 数据截至 2024Q3 · 涵盖金融、零售、医疗、制造四大核心场景 1940亿 医疗AI 2030年价值预测（美元） 66% Klarna AI客服量降幅 300+ 摩根大通AI用例数量 40% 文档处理效率提升（Unilever） AI行业应用案例矩阵 行业 企业案例 AI应用场景 量化成效 金融 摩根大通 COIN合同分析 欺诈检测·智能投顾 300+用例 零售 Klarna AI客服机器人 个性化推荐 -66%客服量 零售 IKEA GenAI退货预测 库存优化 退货率↓ 医疗 行业综合 药物发现 诊断辅助·医院运营 1940亿美元 制造 Unilever LLM文档自动化 供应链优化 +40%效率 多行业 OpenAI/Google LLM企业部署 代码生成·数据分析 渗透率↑ AI商业价值行业分布（2024） 金融 32% 零售 24% 医疗 21% 制造 15% 其他 8% 关键洞察 规模化部署：78%《财富》500强企业已部署AI解决方案，LLM企业市场年增速超150% ROI验证：AI投资平均回收周期缩短至14个月，运营成本降低20-40% 场景渗透：从客服自动化（Klarna -66%客服量）到科学发现（AlphaFold），AI全面渗透核心业务 行业差异：金融业用例密度最高（摩根大通300+），医疗业潜力最大（1940亿美元）</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9</a:t>
            </a:r>
            <a:endParaRPr lang="zh-CN" dirty="0"/>
          </a:p>
          <a:p>
            <a:endParaRPr lang="zh-CN" dirty="0"/>
          </a:p>
          <a:p>
            <a:r>
              <a:rPr lang="zh-CN" dirty="0"/>
              <a:t>美国印度主导全球AI人才格局，新兴城市正在崛起 美国和印度占据全球AI劳动力54%，英德以新加正快速崛起 数据来源: LinkedIn 2024 全球AI人才国家分布 美国印度占比54%，新兴市场快速崛起 单位: 占比% 占比% 0 5 10 15 20 25 30 35 美国 印度 中国 欧洲 亚太其他 英国 32 22 18 15 8 5 人才密度指数 英国 #3 伦敦/剑桥科技集群 新兴聚集度 多伦多 向量研究所+高校 全球AI人才流动与聚集地图 🇺🇸 美国 32% 硅谷·纽约·西雅图 🇮🇳 印度 22% 班加罗尔·海德拉巴 🇬🇧 英国 #3 密度 伦敦·剑桥 🇨🇳 中国 18% 京沪深 🇪🇺 欧洲 15% 巴黎·阿姆 🌏 亚太 13% 东京·首尔 新兴聚集地 🇨🇦 多伦多 向量所+高校 🇮🇱 特拉维夫 安全+自动驾驶 🇩🇪 柏林 创业+工业AI 🇸🇬 新加坡 金融科技 聚集度: 高 中 新兴 人才流动</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10</a:t>
            </a:r>
            <a:endParaRPr lang="zh-CN" dirty="0"/>
          </a:p>
          <a:p>
            <a:endParaRPr lang="zh-CN" dirty="0"/>
          </a:p>
          <a:p>
            <a:r>
              <a:rPr lang="zh-CN" dirty="0"/>
              <a:t>AI对全球经济的深远影响 量化AI对全球GDP的贡献预测，展示AI的经济战略价值 统一 ROI 与回收期口径 投资回报结论 在统一业务量口径下，AI 客服改造的一次性投入为 900 万元，首年综合回报 900 万元，可在第 12 个月收回投资；随着模型优化与业务转化提升，3 年累计回报提升至 2880 万元，对应累计 ROI 320%。 基于年业务量 100 万次咨询、统一业务口径测算 投资回收期 12 个月 月均综合回报约 75.0 万元 首年综合回报 900 万元 成本节省 720 万元 + 增收 180 万元 3 年累计 ROI 320% 3 年累计回报 2880 万元，净增益 1980 万元 关键假设 一次性建设投入 900 万元 首年成本节省 720 万元 首年增收与留存收益 180 万元 3 年累计 ROI = 3 年累计回报 / 初始投入 × 100% 全部页面采用相同口径，避免 ROI、回收期与回报口径冲突 AI预计贡献超过15.7万亿美元占全球GDP（来源：McKinsey、PwC） 保持同一业务量口径，对比三类核心成本。年度节省合计 720 万元。 节省比例：人工与外包 -71.8% / 系统与工具 -31.8% / 质检与管理 -50.0% 万元/年 成本类型 0 200 400 600 800 人工与外包 系统与工具 质检与管理 780 220 180 220\n↓71.8% 150\n↓31.8% 90\n↓50.0% 传统方案 AI方案 AI预计贡献超过15.7万亿美元占全球GDP（来源：McKinsey、PwC） 传统方案总成本 1180 万元/年 AI 方案总成本 460 万元/年 成本节省 720 万元/年 生成式AI预计2030年每年驱动1.3万亿美元经济影响 保持同一业务量口径，对比三类核心成本。年度节省合计 720 万元。 节省比例：人工与外包 -71.8% / 系统与工具 -31.8% / 质检与管理 -50.0% 万元/年 成本类型 0 200 400 600 800 人工与外包 系统与工具 质检与管理 780 220 180 220\n↓71.8% 150\n↓31.8% 90\n↓50.0% 传统方案 AI方案 生成式AI预计2030年每年驱动1.3万亿美元经济影响 传统方案总成本 1180 万元/年 AI 方案总成本 460 万元/年 成本节省 720 万元/年</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11</a:t>
            </a:r>
            <a:endParaRPr lang="zh-CN" dirty="0"/>
          </a:p>
          <a:p>
            <a:endParaRPr lang="zh-CN" dirty="0"/>
          </a:p>
          <a:p>
            <a:r>
              <a:rPr lang="zh-CN" dirty="0"/>
              <a:t>企业应把握AI战略机遇，在技术、人才、治理三维度同步布局 AI正从辅助工具转向核心基础设施，企业需前瞻性构建竞争壁垒 TREND FORECAST · 全球AI市场演进 2024 2027 2030 3910亿 1.3万亿 1.81万亿 CAGR 35.9% 生成式AI年增8倍 OPPORTUNITY MATRIX · 企业AI采用矩阵 73% 35% 42% ● 成熟企业生产率提升15-30% ● 仅13%企业无AI采用计划 ● AI初创占VC投资26% ACTION ITEMS · 战略行动建议 技术 加速基础设施投资 人才 建立AI卓越中心 治理 完善伦理合规框架 2025 2026 2027 2028 2030 企业辅助工具 深度整合 核心基础设施 3,910亿 6,000亿 1.1万亿 1.81万亿 1 大语言模型成熟 企业采用率73% 2 多模态AI融合 投资1,070亿/年 3 AGI原型出现 年影响1.3万亿 ! AI市场达1.81万亿美元 技术阶段 市场趋势 里程碑 市场规模爆发 2025年全球AI市场3910亿美元，2030年突破1.81万亿 企业采纳加速 73%企业已使用AI，成熟企业生产率提升15-30% 生成式AI领跑 生成式AI投资同比增长8倍，预计年驱动1.3万亿 资本持续涌入 AI投资1070亿美元(同比+28%)，占VC投资26% 战略窗口收窄 仅13%企业无AI采用计划，未布局将面临竞争劣势 全局协同制胜 技术、人才、治理三维度同步推进构建竞争优势 数据来源: McKinsey, PwC, Stanford HAI, Tech Nation (对话分析) 16:9 · Roadmap · 2024</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12</a:t>
            </a:r>
            <a:endParaRPr lang="zh-CN" dirty="0"/>
          </a:p>
          <a:p>
            <a:endParaRPr lang="zh-CN" dirty="0"/>
          </a:p>
          <a:p>
            <a:r>
              <a:rPr lang="zh-CN" dirty="0"/>
              <a:t>AI已过观望期，进入规模化落地临界点，建议立即启动AI战略布局 基于2024年AI发展现状综合分析 · 对话分析结论 市场规模爆发 全球AI市场年复合增长率超40%，企业级AI应用部署需求激增，市场窗口期正在收窄 市场爆发 临界点 技术成熟度跃升 大语言模型能力持续突破，多模态AI走向成熟，企业可获得生产级AI基础设施支撑 LLM成熟 多模态 投资回报验证 先行企业AI项目ROI已获验证，降本增效案例规模化涌现，先发优势正在形成 ROI验证 先发优势 立即行动建议 1. 启动AI战略规划 在90天内完成企业AI成熟度评估与三年路线图制定 2. 建设AI基础设施 搭建统一数据平台与模型服务中台，支撑规模化应用 3. 落地标杆场景 选择1-2个高价值场景快速试点，6个月内见成效 4. 组建AI能力团队 引进AI工程师与数据科学家，建立持续迭代能力 关键信号 40%+ 年复合增长率 [待确认] 企业渗透率 [待确认] 平均ROI 数据来源 对话分析 · McKinsey · Stanford HAI 联系咨询 ai-strategy@company.com [Data: XX%]占位数据待实际调研确认</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sp>
          <p:nvSpPr>
            <p:cNvPr id="4" name="Rectangle 4"/>
            <p:cNvSpPr/>
            <p:nvPr/>
          </p:nvSpPr>
          <p:spPr>
            <a:xfrm>
              <a:off x="5524500" y="457200"/>
              <a:ext cx="1143000" cy="19050"/>
            </a:xfrm>
            <a:prstGeom prst="rect">
              <a:avLst/>
            </a:prstGeom>
            <a:solidFill>
              <a:srgbClr val="D4AF37"/>
            </a:solidFill>
            <a:ln>
              <a:noFill/>
            </a:ln>
          </p:spPr>
        </p:sp>
        <p:sp>
          <p:nvSpPr>
            <p:cNvPr id="5" name="Rectangle 5"/>
            <p:cNvSpPr/>
            <p:nvPr/>
          </p:nvSpPr>
          <p:spPr>
            <a:xfrm>
              <a:off x="5524500" y="6381750"/>
              <a:ext cx="1143000" cy="19050"/>
            </a:xfrm>
            <a:prstGeom prst="rect">
              <a:avLst/>
            </a:prstGeom>
            <a:solidFill>
              <a:srgbClr val="D4AF37"/>
            </a:solidFill>
            <a:ln>
              <a:noFill/>
            </a:ln>
          </p:spPr>
        </p:sp>
        <p:sp>
          <p:nvSpPr>
            <p:cNvPr id="6" name="Rectangle 6"/>
            <p:cNvSpPr/>
            <p:nvPr/>
          </p:nvSpPr>
          <p:spPr>
            <a:xfrm>
              <a:off x="10858500" y="5524500"/>
              <a:ext cx="571500" cy="571500"/>
            </a:xfrm>
            <a:prstGeom prst="rect">
              <a:avLst/>
            </a:prstGeom>
            <a:noFill/>
            <a:ln>
              <a:noFill/>
            </a:ln>
          </p:spPr>
        </p:sp>
      </p:grpSp>
      <p:grpSp>
        <p:nvGrpSpPr>
          <p:cNvPr id="38" name="Group 38"/>
          <p:cNvGrpSpPr/>
          <p:nvPr/>
        </p:nvGrpSpPr>
        <p:grpSpPr>
          <a:xfrm>
            <a:off x="521970" y="819150"/>
            <a:ext cx="11242929" cy="5645944"/>
            <a:chOff x="521970" y="819150"/>
            <a:chExt cx="11242929" cy="5645944"/>
          </a:xfrm>
        </p:grpSpPr>
        <p:sp>
          <p:nvSpPr>
            <p:cNvPr id="8" name="Line 8"/>
            <p:cNvSpPr/>
            <p:nvPr/>
          </p:nvSpPr>
          <p:spPr>
            <a:xfrm>
              <a:off x="10858500" y="5524500"/>
              <a:ext cx="571500" cy="9525"/>
            </a:xfrm>
            <a:custGeom>
              <a:avLst/>
              <a:gdLst/>
              <a:ahLst/>
              <a:cxnLst/>
              <a:rect l="l" t="t" r="r" b="b"/>
              <a:pathLst>
                <a:path w="571500" h="9525">
                  <a:moveTo>
                    <a:pt x="0" y="0"/>
                  </a:moveTo>
                  <a:lnTo>
                    <a:pt x="571500" y="0"/>
                  </a:lnTo>
                </a:path>
              </a:pathLst>
            </a:custGeom>
            <a:noFill/>
            <a:ln w="19050">
              <a:solidFill>
                <a:srgbClr val="D4AF37"/>
              </a:solidFill>
            </a:ln>
          </p:spPr>
        </p:sp>
        <p:sp>
          <p:nvSpPr>
            <p:cNvPr id="9" name="Line 9"/>
            <p:cNvSpPr/>
            <p:nvPr/>
          </p:nvSpPr>
          <p:spPr>
            <a:xfrm>
              <a:off x="11430000" y="5524500"/>
              <a:ext cx="9525" cy="571500"/>
            </a:xfrm>
            <a:custGeom>
              <a:avLst/>
              <a:gdLst/>
              <a:ahLst/>
              <a:cxnLst/>
              <a:rect l="l" t="t" r="r" b="b"/>
              <a:pathLst>
                <a:path w="9525" h="571500">
                  <a:moveTo>
                    <a:pt x="0" y="0"/>
                  </a:moveTo>
                  <a:lnTo>
                    <a:pt x="0" y="571500"/>
                  </a:lnTo>
                </a:path>
              </a:pathLst>
            </a:custGeom>
            <a:noFill/>
            <a:ln w="19050">
              <a:solidFill>
                <a:srgbClr val="D4AF37"/>
              </a:solidFill>
            </a:ln>
          </p:spPr>
        </p:sp>
        <p:sp>
          <p:nvSpPr>
            <p:cNvPr id="10" name="Line 10"/>
            <p:cNvSpPr/>
            <p:nvPr/>
          </p:nvSpPr>
          <p:spPr>
            <a:xfrm>
              <a:off x="10858500" y="6096000"/>
              <a:ext cx="571500" cy="9525"/>
            </a:xfrm>
            <a:custGeom>
              <a:avLst/>
              <a:gdLst/>
              <a:ahLst/>
              <a:cxnLst/>
              <a:rect l="l" t="t" r="r" b="b"/>
              <a:pathLst>
                <a:path w="571500" h="9525">
                  <a:moveTo>
                    <a:pt x="0" y="0"/>
                  </a:moveTo>
                  <a:lnTo>
                    <a:pt x="571500" y="0"/>
                  </a:lnTo>
                </a:path>
              </a:pathLst>
            </a:custGeom>
            <a:noFill/>
            <a:ln w="19050">
              <a:solidFill>
                <a:srgbClr val="D4AF37"/>
              </a:solidFill>
            </a:ln>
          </p:spPr>
        </p:sp>
        <p:sp>
          <p:nvSpPr>
            <p:cNvPr id="11" name="Line 11"/>
            <p:cNvSpPr/>
            <p:nvPr/>
          </p:nvSpPr>
          <p:spPr>
            <a:xfrm>
              <a:off x="10858500" y="5524500"/>
              <a:ext cx="9525" cy="571500"/>
            </a:xfrm>
            <a:custGeom>
              <a:avLst/>
              <a:gdLst/>
              <a:ahLst/>
              <a:cxnLst/>
              <a:rect l="l" t="t" r="r" b="b"/>
              <a:pathLst>
                <a:path w="9525" h="571500">
                  <a:moveTo>
                    <a:pt x="0" y="0"/>
                  </a:moveTo>
                  <a:lnTo>
                    <a:pt x="0" y="571500"/>
                  </a:lnTo>
                </a:path>
              </a:pathLst>
            </a:custGeom>
            <a:noFill/>
            <a:ln w="19050">
              <a:solidFill>
                <a:srgbClr val="D4AF37"/>
              </a:solidFill>
            </a:ln>
          </p:spPr>
        </p:sp>
        <p:grpSp>
          <p:nvGrpSpPr>
            <p:cNvPr id="20" name="Group 20"/>
            <p:cNvGrpSpPr/>
            <p:nvPr/>
          </p:nvGrpSpPr>
          <p:grpSpPr>
            <a:xfrm>
              <a:off x="819150" y="819150"/>
              <a:ext cx="1028700" cy="1028700"/>
              <a:chOff x="819150" y="819150"/>
              <a:chExt cx="1028700" cy="1028700"/>
            </a:xfrm>
          </p:grpSpPr>
          <p:sp>
            <p:nvSpPr>
              <p:cNvPr id="12" name="Ellipse 12"/>
              <p:cNvSpPr/>
              <p:nvPr/>
            </p:nvSpPr>
            <p:spPr>
              <a:xfrm>
                <a:off x="819150" y="819150"/>
                <a:ext cx="1028700" cy="1028700"/>
              </a:xfrm>
              <a:prstGeom prst="ellipse">
                <a:avLst/>
              </a:prstGeom>
              <a:solidFill>
                <a:srgbClr val="000000"/>
              </a:solidFill>
              <a:ln w="9525">
                <a:solidFill>
                  <a:srgbClr val="0070F3"/>
                </a:solidFill>
              </a:ln>
            </p:spPr>
          </p:sp>
          <p:sp>
            <p:nvSpPr>
              <p:cNvPr id="13" name="Ellipse 13"/>
              <p:cNvSpPr/>
              <p:nvPr/>
            </p:nvSpPr>
            <p:spPr>
              <a:xfrm>
                <a:off x="990600" y="990600"/>
                <a:ext cx="685800" cy="685800"/>
              </a:xfrm>
              <a:prstGeom prst="ellipse">
                <a:avLst/>
              </a:prstGeom>
              <a:solidFill>
                <a:srgbClr val="000000"/>
              </a:solidFill>
              <a:ln w="9525">
                <a:solidFill>
                  <a:srgbClr val="0070F3"/>
                </a:solidFill>
              </a:ln>
            </p:spPr>
          </p:sp>
          <p:sp>
            <p:nvSpPr>
              <p:cNvPr id="14" name="Ellipse 14"/>
              <p:cNvSpPr/>
              <p:nvPr/>
            </p:nvSpPr>
            <p:spPr>
              <a:xfrm>
                <a:off x="1162050" y="1162050"/>
                <a:ext cx="342900" cy="342900"/>
              </a:xfrm>
              <a:prstGeom prst="ellipse">
                <a:avLst/>
              </a:prstGeom>
              <a:solidFill>
                <a:srgbClr val="000000"/>
              </a:solidFill>
              <a:ln w="9525">
                <a:solidFill>
                  <a:srgbClr val="0070F3"/>
                </a:solidFill>
              </a:ln>
            </p:spPr>
          </p:sp>
          <p:sp>
            <p:nvSpPr>
              <p:cNvPr id="15" name="Ellipse 15"/>
              <p:cNvSpPr/>
              <p:nvPr/>
            </p:nvSpPr>
            <p:spPr>
              <a:xfrm>
                <a:off x="1287780" y="1287780"/>
                <a:ext cx="91440" cy="91440"/>
              </a:xfrm>
              <a:prstGeom prst="ellipse">
                <a:avLst/>
              </a:prstGeom>
              <a:solidFill>
                <a:srgbClr val="0070F3"/>
              </a:solidFill>
              <a:ln>
                <a:noFill/>
              </a:ln>
            </p:spPr>
          </p:sp>
          <p:sp>
            <p:nvSpPr>
              <p:cNvPr id="16" name="Line 16"/>
              <p:cNvSpPr/>
              <p:nvPr/>
            </p:nvSpPr>
            <p:spPr>
              <a:xfrm>
                <a:off x="1333500" y="819150"/>
                <a:ext cx="9525" cy="171450"/>
              </a:xfrm>
              <a:custGeom>
                <a:avLst/>
                <a:gdLst/>
                <a:ahLst/>
                <a:cxnLst/>
                <a:rect l="l" t="t" r="r" b="b"/>
                <a:pathLst>
                  <a:path w="9525" h="171450">
                    <a:moveTo>
                      <a:pt x="0" y="0"/>
                    </a:moveTo>
                    <a:lnTo>
                      <a:pt x="0" y="171450"/>
                    </a:lnTo>
                  </a:path>
                </a:pathLst>
              </a:custGeom>
              <a:noFill/>
              <a:ln w="9525">
                <a:solidFill>
                  <a:srgbClr val="0070F3"/>
                </a:solidFill>
              </a:ln>
            </p:spPr>
          </p:sp>
          <p:sp>
            <p:nvSpPr>
              <p:cNvPr id="17" name="Line 17"/>
              <p:cNvSpPr/>
              <p:nvPr/>
            </p:nvSpPr>
            <p:spPr>
              <a:xfrm>
                <a:off x="1333500" y="1676400"/>
                <a:ext cx="9525" cy="171450"/>
              </a:xfrm>
              <a:custGeom>
                <a:avLst/>
                <a:gdLst/>
                <a:ahLst/>
                <a:cxnLst/>
                <a:rect l="l" t="t" r="r" b="b"/>
                <a:pathLst>
                  <a:path w="9525" h="171450">
                    <a:moveTo>
                      <a:pt x="0" y="0"/>
                    </a:moveTo>
                    <a:lnTo>
                      <a:pt x="0" y="171450"/>
                    </a:lnTo>
                  </a:path>
                </a:pathLst>
              </a:custGeom>
              <a:noFill/>
              <a:ln w="9525">
                <a:solidFill>
                  <a:srgbClr val="0070F3"/>
                </a:solidFill>
              </a:ln>
            </p:spPr>
          </p:sp>
          <p:sp>
            <p:nvSpPr>
              <p:cNvPr id="18" name="Line 18"/>
              <p:cNvSpPr/>
              <p:nvPr/>
            </p:nvSpPr>
            <p:spPr>
              <a:xfrm>
                <a:off x="819150" y="1333500"/>
                <a:ext cx="171450" cy="9525"/>
              </a:xfrm>
              <a:custGeom>
                <a:avLst/>
                <a:gdLst/>
                <a:ahLst/>
                <a:cxnLst/>
                <a:rect l="l" t="t" r="r" b="b"/>
                <a:pathLst>
                  <a:path w="171450" h="9525">
                    <a:moveTo>
                      <a:pt x="0" y="0"/>
                    </a:moveTo>
                    <a:lnTo>
                      <a:pt x="171450" y="0"/>
                    </a:lnTo>
                  </a:path>
                </a:pathLst>
              </a:custGeom>
              <a:noFill/>
              <a:ln w="9525">
                <a:solidFill>
                  <a:srgbClr val="0070F3"/>
                </a:solidFill>
              </a:ln>
            </p:spPr>
          </p:sp>
          <p:sp>
            <p:nvSpPr>
              <p:cNvPr id="19" name="Line 19"/>
              <p:cNvSpPr/>
              <p:nvPr/>
            </p:nvSpPr>
            <p:spPr>
              <a:xfrm>
                <a:off x="1676400" y="1333500"/>
                <a:ext cx="171450" cy="9525"/>
              </a:xfrm>
              <a:custGeom>
                <a:avLst/>
                <a:gdLst/>
                <a:ahLst/>
                <a:cxnLst/>
                <a:rect l="l" t="t" r="r" b="b"/>
                <a:pathLst>
                  <a:path w="171450" h="9525">
                    <a:moveTo>
                      <a:pt x="0" y="0"/>
                    </a:moveTo>
                    <a:lnTo>
                      <a:pt x="171450" y="0"/>
                    </a:lnTo>
                  </a:path>
                </a:pathLst>
              </a:custGeom>
              <a:noFill/>
              <a:ln w="9525">
                <a:solidFill>
                  <a:srgbClr val="0070F3"/>
                </a:solidFill>
              </a:ln>
            </p:spPr>
          </p:sp>
        </p:grpSp>
        <p:grpSp>
          <p:nvGrpSpPr>
            <p:cNvPr id="24" name="Group 24"/>
            <p:cNvGrpSpPr/>
            <p:nvPr/>
          </p:nvGrpSpPr>
          <p:grpSpPr>
            <a:xfrm>
              <a:off x="10363200" y="1600200"/>
              <a:ext cx="609600" cy="609600"/>
              <a:chOff x="10363200" y="1600200"/>
              <a:chExt cx="609600" cy="609600"/>
            </a:xfrm>
          </p:grpSpPr>
          <p:sp>
            <p:nvSpPr>
              <p:cNvPr id="21" name="Ellipse 21"/>
              <p:cNvSpPr/>
              <p:nvPr/>
            </p:nvSpPr>
            <p:spPr>
              <a:xfrm>
                <a:off x="10363200" y="1600200"/>
                <a:ext cx="609600" cy="609600"/>
              </a:xfrm>
              <a:prstGeom prst="ellipse">
                <a:avLst/>
              </a:prstGeom>
              <a:solidFill>
                <a:srgbClr val="000000"/>
              </a:solidFill>
              <a:ln w="14288">
                <a:solidFill>
                  <a:srgbClr val="D4AF37"/>
                </a:solidFill>
                <a:prstDash val="dash"/>
              </a:ln>
            </p:spPr>
          </p:sp>
          <p:sp>
            <p:nvSpPr>
              <p:cNvPr id="22" name="Ellipse 22"/>
              <p:cNvSpPr/>
              <p:nvPr/>
            </p:nvSpPr>
            <p:spPr>
              <a:xfrm>
                <a:off x="10515600" y="1752600"/>
                <a:ext cx="304800" cy="304800"/>
              </a:xfrm>
              <a:prstGeom prst="ellipse">
                <a:avLst/>
              </a:prstGeom>
              <a:solidFill>
                <a:srgbClr val="000000"/>
              </a:solidFill>
              <a:ln w="9525">
                <a:solidFill>
                  <a:srgbClr val="D4AF37"/>
                </a:solidFill>
              </a:ln>
            </p:spPr>
          </p:sp>
          <p:sp>
            <p:nvSpPr>
              <p:cNvPr id="23" name="Ellipse 23"/>
              <p:cNvSpPr/>
              <p:nvPr/>
            </p:nvSpPr>
            <p:spPr>
              <a:xfrm>
                <a:off x="10622280" y="1859280"/>
                <a:ext cx="91440" cy="91440"/>
              </a:xfrm>
              <a:prstGeom prst="ellipse">
                <a:avLst/>
              </a:prstGeom>
              <a:solidFill>
                <a:srgbClr val="D4AF37"/>
              </a:solidFill>
              <a:ln>
                <a:noFill/>
              </a:ln>
            </p:spPr>
          </p:sp>
        </p:grpSp>
        <p:sp>
          <p:nvSpPr>
            <p:cNvPr id="25" name="Rectangle 25"/>
            <p:cNvSpPr/>
            <p:nvPr/>
          </p:nvSpPr>
          <p:spPr>
            <a:xfrm>
              <a:off x="5715000" y="2337435"/>
              <a:ext cx="762000" cy="28575"/>
            </a:xfrm>
            <a:prstGeom prst="rect">
              <a:avLst/>
            </a:prstGeom>
            <a:solidFill>
              <a:srgbClr val="D4AF37"/>
            </a:solidFill>
            <a:ln>
              <a:noFill/>
            </a:ln>
          </p:spPr>
        </p:sp>
        <p:sp>
          <p:nvSpPr>
            <p:cNvPr id="26" name="TextBox 26"/>
            <p:cNvSpPr txBox="1"/>
            <p:nvPr/>
          </p:nvSpPr>
          <p:spPr>
            <a:xfrm>
              <a:off x="2458085" y="2745105"/>
              <a:ext cx="7682865" cy="600075"/>
            </a:xfrm>
            <a:prstGeom prst="rect">
              <a:avLst/>
            </a:prstGeom>
            <a:noFill/>
            <a:ln>
              <a:noFill/>
            </a:ln>
          </p:spPr>
          <p:txBody>
            <a:bodyPr wrap="square" lIns="0" tIns="0" rIns="0" bIns="0" anchor="t" anchorCtr="0">
              <a:spAutoFit/>
            </a:bodyPr>
            <a:lstStyle/>
            <a:p>
              <a:pPr algn="ctr"/>
              <a:r>
                <a:rPr lang="zh-CN" sz="3900" b="1" dirty="0">
                  <a:solidFill>
                    <a:srgbClr val="0A0A0A"/>
                  </a:solidFill>
                  <a:latin typeface="Times New Roman" panose="02020503050405090304"/>
                  <a:ea typeface="宋体"/>
                  <a:cs typeface="Times New Roman" panose="02020503050405090304"/>
                </a:rPr>
                <a:t>人工智能发展现状与趋势</a:t>
              </a:r>
              <a:r>
                <a:rPr lang="zh-CN" sz="3900" b="1" dirty="0">
                  <a:solidFill>
                    <a:srgbClr val="0A0A0A"/>
                  </a:solidFill>
                  <a:latin typeface="Times New Roman" panose="02020503050405090304"/>
                  <a:ea typeface="宋体"/>
                  <a:cs typeface="Times New Roman" panose="02020503050405090304"/>
                </a:rPr>
                <a:t>分析</a:t>
              </a:r>
              <a:endParaRPr lang="zh-CN" sz="3900" b="1" dirty="0">
                <a:solidFill>
                  <a:srgbClr val="0A0A0A"/>
                </a:solidFill>
                <a:latin typeface="Times New Roman" panose="02020503050405090304"/>
                <a:ea typeface="宋体"/>
                <a:cs typeface="Times New Roman" panose="02020503050405090304"/>
              </a:endParaRPr>
            </a:p>
          </p:txBody>
        </p:sp>
        <p:sp>
          <p:nvSpPr>
            <p:cNvPr id="28" name="TextBox 28"/>
            <p:cNvSpPr txBox="1"/>
            <p:nvPr/>
          </p:nvSpPr>
          <p:spPr>
            <a:xfrm>
              <a:off x="4846034" y="3462338"/>
              <a:ext cx="2499932" cy="335280"/>
            </a:xfrm>
            <a:prstGeom prst="rect">
              <a:avLst/>
            </a:prstGeom>
            <a:noFill/>
            <a:ln>
              <a:noFill/>
            </a:ln>
          </p:spPr>
          <p:txBody>
            <a:bodyPr wrap="none" lIns="0" tIns="0" rIns="0" bIns="0" anchor="t" anchorCtr="0">
              <a:spAutoFit/>
            </a:bodyPr>
            <a:lstStyle/>
            <a:p>
              <a:pPr algn="ctr"/>
              <a:r>
                <a:rPr lang="zh-CN" sz="1650" dirty="0">
                  <a:solidFill>
                    <a:srgbClr val="5A5A5A"/>
                  </a:solidFill>
                  <a:latin typeface="Arial" panose="020B0604020202090204"/>
                  <a:ea typeface="微软雅黑"/>
                  <a:cs typeface="Arial" panose="020B0604020202090204"/>
                </a:rPr>
                <a:t>2025年度深度洞察报告</a:t>
              </a:r>
              <a:endParaRPr lang="zh-CN" sz="1650" dirty="0">
                <a:solidFill>
                  <a:srgbClr val="5A5A5A"/>
                </a:solidFill>
                <a:latin typeface="Arial" panose="020B0604020202090204"/>
                <a:ea typeface="微软雅黑"/>
                <a:cs typeface="Arial" panose="020B0604020202090204"/>
              </a:endParaRPr>
            </a:p>
          </p:txBody>
        </p:sp>
        <p:sp>
          <p:nvSpPr>
            <p:cNvPr id="29" name="Rectangle 29"/>
            <p:cNvSpPr/>
            <p:nvPr/>
          </p:nvSpPr>
          <p:spPr>
            <a:xfrm>
              <a:off x="5905500" y="3973830"/>
              <a:ext cx="381000" cy="9525"/>
            </a:xfrm>
            <a:prstGeom prst="rect">
              <a:avLst/>
            </a:prstGeom>
            <a:solidFill>
              <a:srgbClr val="D4AF37"/>
            </a:solidFill>
            <a:ln>
              <a:noFill/>
            </a:ln>
          </p:spPr>
        </p:sp>
        <p:sp>
          <p:nvSpPr>
            <p:cNvPr id="30" name="TextBox 30"/>
            <p:cNvSpPr txBox="1"/>
            <p:nvPr/>
          </p:nvSpPr>
          <p:spPr>
            <a:xfrm>
              <a:off x="5616102" y="4234815"/>
              <a:ext cx="959796" cy="243840"/>
            </a:xfrm>
            <a:prstGeom prst="rect">
              <a:avLst/>
            </a:prstGeom>
            <a:noFill/>
            <a:ln>
              <a:noFill/>
            </a:ln>
          </p:spPr>
          <p:txBody>
            <a:bodyPr wrap="none" lIns="0" tIns="0" rIns="0" bIns="0" anchor="t" anchorCtr="0">
              <a:spAutoFit/>
            </a:bodyPr>
            <a:lstStyle/>
            <a:p>
              <a:pPr algn="ctr"/>
              <a:r>
                <a:rPr lang="zh-CN" sz="1200" b="1" dirty="0">
                  <a:solidFill>
                    <a:srgbClr val="0070F3"/>
                  </a:solidFill>
                  <a:latin typeface="Arial" panose="020B0604020202090204"/>
                  <a:ea typeface="微软雅黑"/>
                  <a:cs typeface="Arial" panose="020B0604020202090204"/>
                </a:rPr>
                <a:t>2025年 7月</a:t>
              </a:r>
              <a:endParaRPr lang="zh-CN" sz="1200" b="1" dirty="0">
                <a:solidFill>
                  <a:srgbClr val="0070F3"/>
                </a:solidFill>
                <a:latin typeface="Arial" panose="020B0604020202090204"/>
                <a:ea typeface="微软雅黑"/>
                <a:cs typeface="Arial" panose="020B0604020202090204"/>
              </a:endParaRPr>
            </a:p>
          </p:txBody>
        </p:sp>
        <p:sp>
          <p:nvSpPr>
            <p:cNvPr id="31" name="Rectangle 31"/>
            <p:cNvSpPr/>
            <p:nvPr/>
          </p:nvSpPr>
          <p:spPr>
            <a:xfrm>
              <a:off x="533400" y="6081712"/>
              <a:ext cx="11125200" cy="319088"/>
            </a:xfrm>
            <a:prstGeom prst="rect">
              <a:avLst/>
            </a:prstGeom>
            <a:noFill/>
            <a:ln>
              <a:noFill/>
            </a:ln>
          </p:spPr>
        </p:sp>
        <p:sp>
          <p:nvSpPr>
            <p:cNvPr id="32" name="Line 32"/>
            <p:cNvSpPr/>
            <p:nvPr/>
          </p:nvSpPr>
          <p:spPr>
            <a:xfrm>
              <a:off x="533400" y="6081712"/>
              <a:ext cx="11125200" cy="9525"/>
            </a:xfrm>
            <a:custGeom>
              <a:avLst/>
              <a:gdLst/>
              <a:ahLst/>
              <a:cxnLst/>
              <a:rect l="l" t="t" r="r" b="b"/>
              <a:pathLst>
                <a:path w="11125200" h="9525">
                  <a:moveTo>
                    <a:pt x="0" y="0"/>
                  </a:moveTo>
                  <a:lnTo>
                    <a:pt x="11125200" y="0"/>
                  </a:lnTo>
                </a:path>
              </a:pathLst>
            </a:custGeom>
            <a:noFill/>
            <a:ln w="9525">
              <a:solidFill>
                <a:srgbClr val="E5E5E5"/>
              </a:solidFill>
            </a:ln>
          </p:spPr>
        </p:sp>
        <p:sp>
          <p:nvSpPr>
            <p:cNvPr id="33" name="TextBox 33"/>
            <p:cNvSpPr txBox="1"/>
            <p:nvPr/>
          </p:nvSpPr>
          <p:spPr>
            <a:xfrm>
              <a:off x="521970" y="6260782"/>
              <a:ext cx="548640" cy="182880"/>
            </a:xfrm>
            <a:prstGeom prst="rect">
              <a:avLst/>
            </a:prstGeom>
            <a:noFill/>
            <a:ln>
              <a:noFill/>
            </a:ln>
          </p:spPr>
          <p:txBody>
            <a:bodyPr wrap="none" lIns="0" tIns="0" rIns="0" bIns="0" anchor="t" anchorCtr="0">
              <a:spAutoFit/>
            </a:bodyPr>
            <a:lstStyle/>
            <a:p>
              <a:pPr algn="l"/>
              <a:r>
                <a:rPr lang="zh-CN" sz="900" dirty="0">
                  <a:solidFill>
                    <a:srgbClr val="9E9E9E"/>
                  </a:solidFill>
                  <a:latin typeface="Arial" panose="020B0604020202090204"/>
                  <a:ea typeface="微软雅黑"/>
                  <a:cs typeface="Arial" panose="020B0604020202090204"/>
                </a:rPr>
                <a:t>报告周期</a:t>
              </a:r>
              <a:endParaRPr lang="zh-CN" sz="900" dirty="0">
                <a:solidFill>
                  <a:srgbClr val="9E9E9E"/>
                </a:solidFill>
                <a:latin typeface="Arial" panose="020B0604020202090204"/>
                <a:ea typeface="微软雅黑"/>
                <a:cs typeface="Arial" panose="020B0604020202090204"/>
              </a:endParaRPr>
            </a:p>
          </p:txBody>
        </p:sp>
        <p:sp>
          <p:nvSpPr>
            <p:cNvPr id="34" name="TextBox 34"/>
            <p:cNvSpPr txBox="1"/>
            <p:nvPr/>
          </p:nvSpPr>
          <p:spPr>
            <a:xfrm>
              <a:off x="1055370" y="6272689"/>
              <a:ext cx="326498" cy="182880"/>
            </a:xfrm>
            <a:prstGeom prst="rect">
              <a:avLst/>
            </a:prstGeom>
            <a:noFill/>
            <a:ln>
              <a:noFill/>
            </a:ln>
          </p:spPr>
          <p:txBody>
            <a:bodyPr wrap="none" lIns="0" tIns="0" rIns="0" bIns="0" anchor="t" anchorCtr="0">
              <a:spAutoFit/>
            </a:bodyPr>
            <a:lstStyle/>
            <a:p>
              <a:pPr algn="l"/>
              <a:r>
                <a:rPr lang="zh-CN" sz="900" b="1" dirty="0">
                  <a:solidFill>
                    <a:srgbClr val="0A0A0A"/>
                  </a:solidFill>
                  <a:latin typeface="Arial" panose="020B0604020202090204"/>
                  <a:ea typeface="微软雅黑"/>
                  <a:cs typeface="Arial" panose="020B0604020202090204"/>
                </a:rPr>
                <a:t>2025</a:t>
              </a:r>
              <a:endParaRPr lang="zh-CN" sz="900" b="1" dirty="0">
                <a:solidFill>
                  <a:srgbClr val="0A0A0A"/>
                </a:solidFill>
                <a:latin typeface="Arial" panose="020B0604020202090204"/>
                <a:ea typeface="微软雅黑"/>
                <a:cs typeface="Arial" panose="020B0604020202090204"/>
              </a:endParaRPr>
            </a:p>
          </p:txBody>
        </p:sp>
        <p:sp>
          <p:nvSpPr>
            <p:cNvPr id="35" name="TextBox 35"/>
            <p:cNvSpPr txBox="1"/>
            <p:nvPr/>
          </p:nvSpPr>
          <p:spPr>
            <a:xfrm>
              <a:off x="5345716" y="6266974"/>
              <a:ext cx="1572283" cy="198120"/>
            </a:xfrm>
            <a:prstGeom prst="rect">
              <a:avLst/>
            </a:prstGeom>
            <a:noFill/>
            <a:ln>
              <a:noFill/>
            </a:ln>
          </p:spPr>
          <p:txBody>
            <a:bodyPr wrap="non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AI Intelligence Report</a:t>
              </a:r>
              <a:endParaRPr lang="zh-CN" sz="975" b="1" dirty="0">
                <a:solidFill>
                  <a:srgbClr val="0A0A0A"/>
                </a:solidFill>
                <a:latin typeface="Arial" panose="020B0604020202090204"/>
                <a:ea typeface="微软雅黑"/>
                <a:cs typeface="Arial" panose="020B0604020202090204"/>
              </a:endParaRPr>
            </a:p>
          </p:txBody>
        </p:sp>
        <p:sp>
          <p:nvSpPr>
            <p:cNvPr id="36" name="TextBox 36"/>
            <p:cNvSpPr txBox="1"/>
            <p:nvPr/>
          </p:nvSpPr>
          <p:spPr>
            <a:xfrm>
              <a:off x="10656570" y="6260782"/>
              <a:ext cx="548640" cy="182880"/>
            </a:xfrm>
            <a:prstGeom prst="rect">
              <a:avLst/>
            </a:prstGeom>
            <a:noFill/>
            <a:ln>
              <a:noFill/>
            </a:ln>
          </p:spPr>
          <p:txBody>
            <a:bodyPr wrap="none" lIns="0" tIns="0" rIns="0" bIns="0" anchor="t" anchorCtr="0">
              <a:spAutoFit/>
            </a:bodyPr>
            <a:lstStyle/>
            <a:p>
              <a:pPr algn="l"/>
              <a:r>
                <a:rPr lang="zh-CN" sz="900" dirty="0">
                  <a:solidFill>
                    <a:srgbClr val="9E9E9E"/>
                  </a:solidFill>
                  <a:latin typeface="Arial" panose="020B0604020202090204"/>
                  <a:ea typeface="微软雅黑"/>
                  <a:cs typeface="Arial" panose="020B0604020202090204"/>
                </a:rPr>
                <a:t>数据来源</a:t>
              </a:r>
              <a:endParaRPr lang="zh-CN" sz="900" dirty="0">
                <a:solidFill>
                  <a:srgbClr val="9E9E9E"/>
                </a:solidFill>
                <a:latin typeface="Arial" panose="020B0604020202090204"/>
                <a:ea typeface="微软雅黑"/>
                <a:cs typeface="Arial" panose="020B0604020202090204"/>
              </a:endParaRPr>
            </a:p>
          </p:txBody>
        </p:sp>
        <p:sp>
          <p:nvSpPr>
            <p:cNvPr id="37" name="TextBox 37"/>
            <p:cNvSpPr txBox="1"/>
            <p:nvPr/>
          </p:nvSpPr>
          <p:spPr>
            <a:xfrm>
              <a:off x="11189970" y="6260782"/>
              <a:ext cx="574929" cy="182880"/>
            </a:xfrm>
            <a:prstGeom prst="rect">
              <a:avLst/>
            </a:prstGeom>
            <a:noFill/>
            <a:ln>
              <a:noFill/>
            </a:ln>
          </p:spPr>
          <p:txBody>
            <a:bodyPr wrap="none" lIns="0" tIns="0" rIns="0" bIns="0" anchor="t" anchorCtr="0">
              <a:spAutoFit/>
            </a:bodyPr>
            <a:lstStyle/>
            <a:p>
              <a:pPr algn="l"/>
              <a:r>
                <a:rPr lang="zh-CN" sz="900" b="1" dirty="0">
                  <a:solidFill>
                    <a:srgbClr val="0A0A0A"/>
                  </a:solidFill>
                  <a:latin typeface="Arial" panose="020B0604020202090204"/>
                  <a:ea typeface="微软雅黑"/>
                  <a:cs typeface="Arial" panose="020B0604020202090204"/>
                </a:rPr>
                <a:t>对话分析</a:t>
              </a:r>
              <a:endParaRPr lang="zh-CN" sz="900" b="1" dirty="0">
                <a:solidFill>
                  <a:srgbClr val="0A0A0A"/>
                </a:solidFill>
                <a:latin typeface="Arial" panose="020B0604020202090204"/>
                <a:ea typeface="微软雅黑"/>
                <a:cs typeface="Arial" panose="020B060402020209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79" name="Group 79"/>
          <p:cNvGrpSpPr/>
          <p:nvPr/>
        </p:nvGrpSpPr>
        <p:grpSpPr>
          <a:xfrm>
            <a:off x="468630" y="421005"/>
            <a:ext cx="11323320" cy="3426619"/>
            <a:chOff x="468630" y="421005"/>
            <a:chExt cx="11323320" cy="3426619"/>
          </a:xfrm>
        </p:grpSpPr>
        <p:sp>
          <p:nvSpPr>
            <p:cNvPr id="5" name="TextBox 5"/>
            <p:cNvSpPr txBox="1"/>
            <p:nvPr/>
          </p:nvSpPr>
          <p:spPr>
            <a:xfrm>
              <a:off x="468630" y="421005"/>
              <a:ext cx="697420"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Times New Roman" panose="02020503050405090304"/>
                  <a:ea typeface="宋体"/>
                  <a:cs typeface="Times New Roman" panose="02020503050405090304"/>
                </a:rPr>
                <a:t>目录</a:t>
              </a:r>
              <a:endParaRPr lang="zh-CN" sz="210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482918" y="809149"/>
              <a:ext cx="2993779"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panose="020B0604020202090204"/>
                  <a:ea typeface="微软雅黑"/>
                  <a:cs typeface="Arial" panose="020B0604020202090204"/>
                </a:rPr>
                <a:t>报告覆盖 8大核心议题，从市场现状到未来机遇</a:t>
              </a:r>
              <a:endParaRPr lang="zh-CN" sz="975" dirty="0">
                <a:solidFill>
                  <a:srgbClr val="666666"/>
                </a:solidFill>
                <a:latin typeface="Arial" panose="020B0604020202090204"/>
                <a:ea typeface="微软雅黑"/>
                <a:cs typeface="Arial" panose="020B0604020202090204"/>
              </a:endParaRPr>
            </a:p>
          </p:txBody>
        </p:sp>
        <p:sp>
          <p:nvSpPr>
            <p:cNvPr id="7" name="Rectangle 7"/>
            <p:cNvSpPr/>
            <p:nvPr/>
          </p:nvSpPr>
          <p:spPr>
            <a:xfrm>
              <a:off x="495300" y="1078230"/>
              <a:ext cx="533400" cy="28575"/>
            </a:xfrm>
            <a:prstGeom prst="rect">
              <a:avLst/>
            </a:prstGeom>
            <a:solidFill>
              <a:srgbClr val="0070F3"/>
            </a:solidFill>
            <a:ln>
              <a:noFill/>
            </a:ln>
          </p:spPr>
        </p:sp>
        <p:sp>
          <p:nvSpPr>
            <p:cNvPr id="8" name="Rectangle 8"/>
            <p:cNvSpPr/>
            <p:nvPr/>
          </p:nvSpPr>
          <p:spPr>
            <a:xfrm>
              <a:off x="495300" y="1297305"/>
              <a:ext cx="2700338" cy="923925"/>
            </a:xfrm>
            <a:prstGeom prst="roundRect">
              <a:avLst>
                <a:gd name="adj" fmla="val 4124"/>
              </a:avLst>
            </a:prstGeom>
            <a:solidFill>
              <a:srgbClr val="FAFAFA"/>
            </a:solidFill>
            <a:ln>
              <a:noFill/>
            </a:ln>
          </p:spPr>
        </p:sp>
        <p:sp>
          <p:nvSpPr>
            <p:cNvPr id="9" name="Line 9"/>
            <p:cNvSpPr/>
            <p:nvPr/>
          </p:nvSpPr>
          <p:spPr>
            <a:xfrm>
              <a:off x="495300" y="12973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10" name="Line 10"/>
            <p:cNvSpPr/>
            <p:nvPr/>
          </p:nvSpPr>
          <p:spPr>
            <a:xfrm>
              <a:off x="3195638"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11" name="Line 11"/>
            <p:cNvSpPr/>
            <p:nvPr/>
          </p:nvSpPr>
          <p:spPr>
            <a:xfrm>
              <a:off x="495300" y="222123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12" name="Line 12"/>
            <p:cNvSpPr/>
            <p:nvPr/>
          </p:nvSpPr>
          <p:spPr>
            <a:xfrm>
              <a:off x="495300"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13" name="TextBox 13"/>
            <p:cNvSpPr txBox="1"/>
            <p:nvPr/>
          </p:nvSpPr>
          <p:spPr>
            <a:xfrm>
              <a:off x="630555" y="1518285"/>
              <a:ext cx="32707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01</a:t>
              </a:r>
              <a:endParaRPr lang="zh-CN" sz="2100" b="1" dirty="0">
                <a:solidFill>
                  <a:srgbClr val="0070F3"/>
                </a:solidFill>
                <a:latin typeface="Arial" panose="020B0604020202090204"/>
                <a:ea typeface="微软雅黑"/>
                <a:cs typeface="Arial" panose="020B0604020202090204"/>
              </a:endParaRPr>
            </a:p>
          </p:txBody>
        </p:sp>
        <p:sp>
          <p:nvSpPr>
            <p:cNvPr id="14" name="TextBox 14"/>
            <p:cNvSpPr txBox="1"/>
            <p:nvPr/>
          </p:nvSpPr>
          <p:spPr>
            <a:xfrm>
              <a:off x="1054894" y="1566291"/>
              <a:ext cx="115381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市场现状与规模</a:t>
              </a:r>
              <a:endParaRPr lang="zh-CN" sz="1050" b="1" dirty="0">
                <a:solidFill>
                  <a:srgbClr val="0A0A0A"/>
                </a:solidFill>
                <a:latin typeface="Times New Roman" panose="02020503050405090304"/>
                <a:ea typeface="宋体"/>
                <a:cs typeface="Times New Roman" panose="02020503050405090304"/>
              </a:endParaRPr>
            </a:p>
          </p:txBody>
        </p:sp>
        <p:sp>
          <p:nvSpPr>
            <p:cNvPr id="15" name="TextBox 15"/>
            <p:cNvSpPr txBox="1"/>
            <p:nvPr/>
          </p:nvSpPr>
          <p:spPr>
            <a:xfrm>
              <a:off x="646748" y="1898809"/>
              <a:ext cx="2448854"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全球 AI市场规模、区域分布及增长驱动力分析</a:t>
              </a:r>
              <a:endParaRPr lang="zh-CN" sz="825" dirty="0">
                <a:solidFill>
                  <a:srgbClr val="666666"/>
                </a:solidFill>
                <a:latin typeface="Arial" panose="020B0604020202090204"/>
                <a:ea typeface="微软雅黑"/>
                <a:cs typeface="Arial" panose="020B0604020202090204"/>
              </a:endParaRPr>
            </a:p>
          </p:txBody>
        </p:sp>
        <p:sp>
          <p:nvSpPr>
            <p:cNvPr id="16" name="Rectangle 16"/>
            <p:cNvSpPr/>
            <p:nvPr/>
          </p:nvSpPr>
          <p:spPr>
            <a:xfrm>
              <a:off x="3328988" y="1297305"/>
              <a:ext cx="2700338" cy="923925"/>
            </a:xfrm>
            <a:prstGeom prst="roundRect">
              <a:avLst>
                <a:gd name="adj" fmla="val 4124"/>
              </a:avLst>
            </a:prstGeom>
            <a:solidFill>
              <a:srgbClr val="FAFAFA"/>
            </a:solidFill>
            <a:ln>
              <a:noFill/>
            </a:ln>
          </p:spPr>
        </p:sp>
        <p:sp>
          <p:nvSpPr>
            <p:cNvPr id="17" name="Line 17"/>
            <p:cNvSpPr/>
            <p:nvPr/>
          </p:nvSpPr>
          <p:spPr>
            <a:xfrm>
              <a:off x="3328988" y="12973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18" name="Line 18"/>
            <p:cNvSpPr/>
            <p:nvPr/>
          </p:nvSpPr>
          <p:spPr>
            <a:xfrm>
              <a:off x="6029325"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19" name="Line 19"/>
            <p:cNvSpPr/>
            <p:nvPr/>
          </p:nvSpPr>
          <p:spPr>
            <a:xfrm>
              <a:off x="3328988" y="222123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20" name="Line 20"/>
            <p:cNvSpPr/>
            <p:nvPr/>
          </p:nvSpPr>
          <p:spPr>
            <a:xfrm>
              <a:off x="3328988"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21" name="TextBox 21"/>
            <p:cNvSpPr txBox="1"/>
            <p:nvPr/>
          </p:nvSpPr>
          <p:spPr>
            <a:xfrm>
              <a:off x="3464242" y="1518285"/>
              <a:ext cx="40758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02</a:t>
              </a:r>
              <a:endParaRPr lang="zh-CN" sz="2100" b="1" dirty="0">
                <a:solidFill>
                  <a:srgbClr val="0070F3"/>
                </a:solidFill>
                <a:latin typeface="Arial" panose="020B0604020202090204"/>
                <a:ea typeface="微软雅黑"/>
                <a:cs typeface="Arial" panose="020B0604020202090204"/>
              </a:endParaRPr>
            </a:p>
          </p:txBody>
        </p:sp>
        <p:sp>
          <p:nvSpPr>
            <p:cNvPr id="22" name="TextBox 22"/>
            <p:cNvSpPr txBox="1"/>
            <p:nvPr/>
          </p:nvSpPr>
          <p:spPr>
            <a:xfrm>
              <a:off x="3888581" y="1566291"/>
              <a:ext cx="115381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技术演进与突破</a:t>
              </a:r>
              <a:endParaRPr lang="zh-CN" sz="1050" b="1" dirty="0">
                <a:solidFill>
                  <a:srgbClr val="0A0A0A"/>
                </a:solidFill>
                <a:latin typeface="Times New Roman" panose="02020503050405090304"/>
                <a:ea typeface="宋体"/>
                <a:cs typeface="Times New Roman" panose="02020503050405090304"/>
              </a:endParaRPr>
            </a:p>
          </p:txBody>
        </p:sp>
        <p:sp>
          <p:nvSpPr>
            <p:cNvPr id="23" name="TextBox 23"/>
            <p:cNvSpPr txBox="1"/>
            <p:nvPr/>
          </p:nvSpPr>
          <p:spPr>
            <a:xfrm>
              <a:off x="3480435" y="1898809"/>
              <a:ext cx="2328362"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大语言模型、生成式 AI及底层技术迭代路径</a:t>
              </a:r>
              <a:endParaRPr lang="zh-CN" sz="825" dirty="0">
                <a:solidFill>
                  <a:srgbClr val="666666"/>
                </a:solidFill>
                <a:latin typeface="Arial" panose="020B0604020202090204"/>
                <a:ea typeface="微软雅黑"/>
                <a:cs typeface="Arial" panose="020B0604020202090204"/>
              </a:endParaRPr>
            </a:p>
          </p:txBody>
        </p:sp>
        <p:sp>
          <p:nvSpPr>
            <p:cNvPr id="24" name="Rectangle 24"/>
            <p:cNvSpPr/>
            <p:nvPr/>
          </p:nvSpPr>
          <p:spPr>
            <a:xfrm>
              <a:off x="6162675" y="1297305"/>
              <a:ext cx="2700338" cy="923925"/>
            </a:xfrm>
            <a:prstGeom prst="roundRect">
              <a:avLst>
                <a:gd name="adj" fmla="val 4124"/>
              </a:avLst>
            </a:prstGeom>
            <a:solidFill>
              <a:srgbClr val="FAFAFA"/>
            </a:solidFill>
            <a:ln>
              <a:noFill/>
            </a:ln>
          </p:spPr>
        </p:sp>
        <p:sp>
          <p:nvSpPr>
            <p:cNvPr id="25" name="Line 25"/>
            <p:cNvSpPr/>
            <p:nvPr/>
          </p:nvSpPr>
          <p:spPr>
            <a:xfrm>
              <a:off x="6162675" y="12973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26" name="Line 26"/>
            <p:cNvSpPr/>
            <p:nvPr/>
          </p:nvSpPr>
          <p:spPr>
            <a:xfrm>
              <a:off x="8863012"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27" name="Line 27"/>
            <p:cNvSpPr/>
            <p:nvPr/>
          </p:nvSpPr>
          <p:spPr>
            <a:xfrm>
              <a:off x="6162675" y="222123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28" name="Line 28"/>
            <p:cNvSpPr/>
            <p:nvPr/>
          </p:nvSpPr>
          <p:spPr>
            <a:xfrm>
              <a:off x="6162675"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29" name="TextBox 29"/>
            <p:cNvSpPr txBox="1"/>
            <p:nvPr/>
          </p:nvSpPr>
          <p:spPr>
            <a:xfrm>
              <a:off x="6297930" y="1518285"/>
              <a:ext cx="40758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03</a:t>
              </a:r>
              <a:endParaRPr lang="zh-CN" sz="2100" b="1" dirty="0">
                <a:solidFill>
                  <a:srgbClr val="0070F3"/>
                </a:solidFill>
                <a:latin typeface="Arial" panose="020B0604020202090204"/>
                <a:ea typeface="微软雅黑"/>
                <a:cs typeface="Arial" panose="020B0604020202090204"/>
              </a:endParaRPr>
            </a:p>
          </p:txBody>
        </p:sp>
        <p:sp>
          <p:nvSpPr>
            <p:cNvPr id="30" name="TextBox 30"/>
            <p:cNvSpPr txBox="1"/>
            <p:nvPr/>
          </p:nvSpPr>
          <p:spPr>
            <a:xfrm>
              <a:off x="6722269" y="1566291"/>
              <a:ext cx="99279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投资格局分析</a:t>
              </a:r>
              <a:endParaRPr lang="zh-CN" sz="1050" b="1" dirty="0">
                <a:solidFill>
                  <a:srgbClr val="0A0A0A"/>
                </a:solidFill>
                <a:latin typeface="Times New Roman" panose="02020503050405090304"/>
                <a:ea typeface="宋体"/>
                <a:cs typeface="Times New Roman" panose="02020503050405090304"/>
              </a:endParaRPr>
            </a:p>
          </p:txBody>
        </p:sp>
        <p:sp>
          <p:nvSpPr>
            <p:cNvPr id="31" name="TextBox 31"/>
            <p:cNvSpPr txBox="1"/>
            <p:nvPr/>
          </p:nvSpPr>
          <p:spPr>
            <a:xfrm>
              <a:off x="6314122" y="1898809"/>
              <a:ext cx="2448854"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全球 AI投融资趋势、资本流向及头部企业布局</a:t>
              </a:r>
              <a:endParaRPr lang="zh-CN" sz="825" dirty="0">
                <a:solidFill>
                  <a:srgbClr val="666666"/>
                </a:solidFill>
                <a:latin typeface="Arial" panose="020B0604020202090204"/>
                <a:ea typeface="微软雅黑"/>
                <a:cs typeface="Arial" panose="020B0604020202090204"/>
              </a:endParaRPr>
            </a:p>
          </p:txBody>
        </p:sp>
        <p:sp>
          <p:nvSpPr>
            <p:cNvPr id="32" name="Rectangle 32"/>
            <p:cNvSpPr/>
            <p:nvPr/>
          </p:nvSpPr>
          <p:spPr>
            <a:xfrm>
              <a:off x="8996362" y="1297305"/>
              <a:ext cx="2700338" cy="923925"/>
            </a:xfrm>
            <a:prstGeom prst="roundRect">
              <a:avLst>
                <a:gd name="adj" fmla="val 4124"/>
              </a:avLst>
            </a:prstGeom>
            <a:solidFill>
              <a:srgbClr val="FAFAFA"/>
            </a:solidFill>
            <a:ln>
              <a:noFill/>
            </a:ln>
          </p:spPr>
        </p:sp>
        <p:sp>
          <p:nvSpPr>
            <p:cNvPr id="33" name="Line 33"/>
            <p:cNvSpPr/>
            <p:nvPr/>
          </p:nvSpPr>
          <p:spPr>
            <a:xfrm>
              <a:off x="8996362" y="12973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34" name="Line 34"/>
            <p:cNvSpPr/>
            <p:nvPr/>
          </p:nvSpPr>
          <p:spPr>
            <a:xfrm>
              <a:off x="11696700"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35" name="Line 35"/>
            <p:cNvSpPr/>
            <p:nvPr/>
          </p:nvSpPr>
          <p:spPr>
            <a:xfrm>
              <a:off x="8996362" y="222123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36" name="Line 36"/>
            <p:cNvSpPr/>
            <p:nvPr/>
          </p:nvSpPr>
          <p:spPr>
            <a:xfrm>
              <a:off x="8996362" y="1297305"/>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37" name="TextBox 37"/>
            <p:cNvSpPr txBox="1"/>
            <p:nvPr/>
          </p:nvSpPr>
          <p:spPr>
            <a:xfrm>
              <a:off x="9131618" y="1518285"/>
              <a:ext cx="40758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04</a:t>
              </a:r>
              <a:endParaRPr lang="zh-CN" sz="2100" b="1" dirty="0">
                <a:solidFill>
                  <a:srgbClr val="0070F3"/>
                </a:solidFill>
                <a:latin typeface="Arial" panose="020B0604020202090204"/>
                <a:ea typeface="微软雅黑"/>
                <a:cs typeface="Arial" panose="020B0604020202090204"/>
              </a:endParaRPr>
            </a:p>
          </p:txBody>
        </p:sp>
        <p:sp>
          <p:nvSpPr>
            <p:cNvPr id="38" name="TextBox 38"/>
            <p:cNvSpPr txBox="1"/>
            <p:nvPr/>
          </p:nvSpPr>
          <p:spPr>
            <a:xfrm>
              <a:off x="9555956" y="1566291"/>
              <a:ext cx="99279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应用场景落地</a:t>
              </a:r>
              <a:endParaRPr lang="zh-CN" sz="1050" b="1" dirty="0">
                <a:solidFill>
                  <a:srgbClr val="0A0A0A"/>
                </a:solidFill>
                <a:latin typeface="Times New Roman" panose="02020503050405090304"/>
                <a:ea typeface="宋体"/>
                <a:cs typeface="Times New Roman" panose="02020503050405090304"/>
              </a:endParaRPr>
            </a:p>
          </p:txBody>
        </p:sp>
        <p:sp>
          <p:nvSpPr>
            <p:cNvPr id="39" name="TextBox 39"/>
            <p:cNvSpPr txBox="1"/>
            <p:nvPr/>
          </p:nvSpPr>
          <p:spPr>
            <a:xfrm>
              <a:off x="9147810" y="1898809"/>
              <a:ext cx="2448854"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重点行业 AI应用渗透率、典型案例及效益评估</a:t>
              </a:r>
              <a:endParaRPr lang="zh-CN" sz="825" dirty="0">
                <a:solidFill>
                  <a:srgbClr val="666666"/>
                </a:solidFill>
                <a:latin typeface="Arial" panose="020B0604020202090204"/>
                <a:ea typeface="微软雅黑"/>
                <a:cs typeface="Arial" panose="020B0604020202090204"/>
              </a:endParaRPr>
            </a:p>
          </p:txBody>
        </p:sp>
        <p:sp>
          <p:nvSpPr>
            <p:cNvPr id="40" name="Rectangle 40"/>
            <p:cNvSpPr/>
            <p:nvPr/>
          </p:nvSpPr>
          <p:spPr>
            <a:xfrm>
              <a:off x="495300" y="2354580"/>
              <a:ext cx="2700338" cy="923925"/>
            </a:xfrm>
            <a:prstGeom prst="roundRect">
              <a:avLst>
                <a:gd name="adj" fmla="val 4124"/>
              </a:avLst>
            </a:prstGeom>
            <a:solidFill>
              <a:srgbClr val="FAFAFA"/>
            </a:solidFill>
            <a:ln>
              <a:noFill/>
            </a:ln>
          </p:spPr>
        </p:sp>
        <p:sp>
          <p:nvSpPr>
            <p:cNvPr id="41" name="Line 41"/>
            <p:cNvSpPr/>
            <p:nvPr/>
          </p:nvSpPr>
          <p:spPr>
            <a:xfrm>
              <a:off x="495300" y="235458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42" name="Line 42"/>
            <p:cNvSpPr/>
            <p:nvPr/>
          </p:nvSpPr>
          <p:spPr>
            <a:xfrm>
              <a:off x="3195638"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43" name="Line 43"/>
            <p:cNvSpPr/>
            <p:nvPr/>
          </p:nvSpPr>
          <p:spPr>
            <a:xfrm>
              <a:off x="495300" y="32785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44" name="Line 44"/>
            <p:cNvSpPr/>
            <p:nvPr/>
          </p:nvSpPr>
          <p:spPr>
            <a:xfrm>
              <a:off x="495300"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45" name="TextBox 45"/>
            <p:cNvSpPr txBox="1"/>
            <p:nvPr/>
          </p:nvSpPr>
          <p:spPr>
            <a:xfrm>
              <a:off x="630555" y="2575560"/>
              <a:ext cx="40758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05</a:t>
              </a:r>
              <a:endParaRPr lang="zh-CN" sz="2100" b="1" dirty="0">
                <a:solidFill>
                  <a:srgbClr val="0070F3"/>
                </a:solidFill>
                <a:latin typeface="Arial" panose="020B0604020202090204"/>
                <a:ea typeface="微软雅黑"/>
                <a:cs typeface="Arial" panose="020B0604020202090204"/>
              </a:endParaRPr>
            </a:p>
          </p:txBody>
        </p:sp>
        <p:sp>
          <p:nvSpPr>
            <p:cNvPr id="46" name="TextBox 46"/>
            <p:cNvSpPr txBox="1"/>
            <p:nvPr/>
          </p:nvSpPr>
          <p:spPr>
            <a:xfrm>
              <a:off x="1054894" y="2623566"/>
              <a:ext cx="99279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竞争格局洞察</a:t>
              </a:r>
              <a:endParaRPr lang="zh-CN" sz="1050" b="1" dirty="0">
                <a:solidFill>
                  <a:srgbClr val="0A0A0A"/>
                </a:solidFill>
                <a:latin typeface="Times New Roman" panose="02020503050405090304"/>
                <a:ea typeface="宋体"/>
                <a:cs typeface="Times New Roman" panose="02020503050405090304"/>
              </a:endParaRPr>
            </a:p>
          </p:txBody>
        </p:sp>
        <p:sp>
          <p:nvSpPr>
            <p:cNvPr id="47" name="TextBox 47"/>
            <p:cNvSpPr txBox="1"/>
            <p:nvPr/>
          </p:nvSpPr>
          <p:spPr>
            <a:xfrm>
              <a:off x="646748" y="2956084"/>
              <a:ext cx="2448854"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全球 AI竞争态势、主要玩家战略及技术护城河</a:t>
              </a:r>
              <a:endParaRPr lang="zh-CN" sz="825" dirty="0">
                <a:solidFill>
                  <a:srgbClr val="666666"/>
                </a:solidFill>
                <a:latin typeface="Arial" panose="020B0604020202090204"/>
                <a:ea typeface="微软雅黑"/>
                <a:cs typeface="Arial" panose="020B0604020202090204"/>
              </a:endParaRPr>
            </a:p>
          </p:txBody>
        </p:sp>
        <p:sp>
          <p:nvSpPr>
            <p:cNvPr id="48" name="Rectangle 48"/>
            <p:cNvSpPr/>
            <p:nvPr/>
          </p:nvSpPr>
          <p:spPr>
            <a:xfrm>
              <a:off x="3328988" y="2354580"/>
              <a:ext cx="2700338" cy="923925"/>
            </a:xfrm>
            <a:prstGeom prst="roundRect">
              <a:avLst>
                <a:gd name="adj" fmla="val 4124"/>
              </a:avLst>
            </a:prstGeom>
            <a:solidFill>
              <a:srgbClr val="FAFAFA"/>
            </a:solidFill>
            <a:ln>
              <a:noFill/>
            </a:ln>
          </p:spPr>
        </p:sp>
        <p:sp>
          <p:nvSpPr>
            <p:cNvPr id="49" name="Line 49"/>
            <p:cNvSpPr/>
            <p:nvPr/>
          </p:nvSpPr>
          <p:spPr>
            <a:xfrm>
              <a:off x="3328988" y="235458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50" name="Line 50"/>
            <p:cNvSpPr/>
            <p:nvPr/>
          </p:nvSpPr>
          <p:spPr>
            <a:xfrm>
              <a:off x="6029325"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51" name="Line 51"/>
            <p:cNvSpPr/>
            <p:nvPr/>
          </p:nvSpPr>
          <p:spPr>
            <a:xfrm>
              <a:off x="3328988" y="32785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52" name="Line 52"/>
            <p:cNvSpPr/>
            <p:nvPr/>
          </p:nvSpPr>
          <p:spPr>
            <a:xfrm>
              <a:off x="3328988"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53" name="TextBox 53"/>
            <p:cNvSpPr txBox="1"/>
            <p:nvPr/>
          </p:nvSpPr>
          <p:spPr>
            <a:xfrm>
              <a:off x="3464242" y="2575560"/>
              <a:ext cx="40758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06</a:t>
              </a:r>
              <a:endParaRPr lang="zh-CN" sz="2100" b="1" dirty="0">
                <a:solidFill>
                  <a:srgbClr val="0070F3"/>
                </a:solidFill>
                <a:latin typeface="Arial" panose="020B0604020202090204"/>
                <a:ea typeface="微软雅黑"/>
                <a:cs typeface="Arial" panose="020B0604020202090204"/>
              </a:endParaRPr>
            </a:p>
          </p:txBody>
        </p:sp>
        <p:sp>
          <p:nvSpPr>
            <p:cNvPr id="54" name="TextBox 54"/>
            <p:cNvSpPr txBox="1"/>
            <p:nvPr/>
          </p:nvSpPr>
          <p:spPr>
            <a:xfrm>
              <a:off x="3888581" y="2623566"/>
              <a:ext cx="99279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政策环境解读</a:t>
              </a:r>
              <a:endParaRPr lang="zh-CN" sz="1050" b="1" dirty="0">
                <a:solidFill>
                  <a:srgbClr val="0A0A0A"/>
                </a:solidFill>
                <a:latin typeface="Times New Roman" panose="02020503050405090304"/>
                <a:ea typeface="宋体"/>
                <a:cs typeface="Times New Roman" panose="02020503050405090304"/>
              </a:endParaRPr>
            </a:p>
          </p:txBody>
        </p:sp>
        <p:sp>
          <p:nvSpPr>
            <p:cNvPr id="55" name="TextBox 55"/>
            <p:cNvSpPr txBox="1"/>
            <p:nvPr/>
          </p:nvSpPr>
          <p:spPr>
            <a:xfrm>
              <a:off x="3480435" y="2956084"/>
              <a:ext cx="2569345"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各主要经济体 AI监管政策、合规要求及产业导向</a:t>
              </a:r>
              <a:endParaRPr lang="zh-CN" sz="825" dirty="0">
                <a:solidFill>
                  <a:srgbClr val="666666"/>
                </a:solidFill>
                <a:latin typeface="Arial" panose="020B0604020202090204"/>
                <a:ea typeface="微软雅黑"/>
                <a:cs typeface="Arial" panose="020B0604020202090204"/>
              </a:endParaRPr>
            </a:p>
          </p:txBody>
        </p:sp>
        <p:sp>
          <p:nvSpPr>
            <p:cNvPr id="56" name="Rectangle 56"/>
            <p:cNvSpPr/>
            <p:nvPr/>
          </p:nvSpPr>
          <p:spPr>
            <a:xfrm>
              <a:off x="6162675" y="2354580"/>
              <a:ext cx="2700338" cy="923925"/>
            </a:xfrm>
            <a:prstGeom prst="roundRect">
              <a:avLst>
                <a:gd name="adj" fmla="val 4124"/>
              </a:avLst>
            </a:prstGeom>
            <a:solidFill>
              <a:srgbClr val="FAFAFA"/>
            </a:solidFill>
            <a:ln>
              <a:noFill/>
            </a:ln>
          </p:spPr>
        </p:sp>
        <p:sp>
          <p:nvSpPr>
            <p:cNvPr id="57" name="Line 57"/>
            <p:cNvSpPr/>
            <p:nvPr/>
          </p:nvSpPr>
          <p:spPr>
            <a:xfrm>
              <a:off x="6162675" y="235458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58" name="Line 58"/>
            <p:cNvSpPr/>
            <p:nvPr/>
          </p:nvSpPr>
          <p:spPr>
            <a:xfrm>
              <a:off x="8863012"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59" name="Line 59"/>
            <p:cNvSpPr/>
            <p:nvPr/>
          </p:nvSpPr>
          <p:spPr>
            <a:xfrm>
              <a:off x="6162675" y="32785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60" name="Line 60"/>
            <p:cNvSpPr/>
            <p:nvPr/>
          </p:nvSpPr>
          <p:spPr>
            <a:xfrm>
              <a:off x="6162675"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61" name="TextBox 61"/>
            <p:cNvSpPr txBox="1"/>
            <p:nvPr/>
          </p:nvSpPr>
          <p:spPr>
            <a:xfrm>
              <a:off x="6297930" y="2575560"/>
              <a:ext cx="40758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07</a:t>
              </a:r>
              <a:endParaRPr lang="zh-CN" sz="2100" b="1" dirty="0">
                <a:solidFill>
                  <a:srgbClr val="0070F3"/>
                </a:solidFill>
                <a:latin typeface="Arial" panose="020B0604020202090204"/>
                <a:ea typeface="微软雅黑"/>
                <a:cs typeface="Arial" panose="020B0604020202090204"/>
              </a:endParaRPr>
            </a:p>
          </p:txBody>
        </p:sp>
        <p:sp>
          <p:nvSpPr>
            <p:cNvPr id="62" name="TextBox 62"/>
            <p:cNvSpPr txBox="1"/>
            <p:nvPr/>
          </p:nvSpPr>
          <p:spPr>
            <a:xfrm>
              <a:off x="6722269" y="2623566"/>
              <a:ext cx="83177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挑战与风险</a:t>
              </a:r>
              <a:endParaRPr lang="zh-CN" sz="1050" b="1" dirty="0">
                <a:solidFill>
                  <a:srgbClr val="0A0A0A"/>
                </a:solidFill>
                <a:latin typeface="Times New Roman" panose="02020503050405090304"/>
                <a:ea typeface="宋体"/>
                <a:cs typeface="Times New Roman" panose="02020503050405090304"/>
              </a:endParaRPr>
            </a:p>
          </p:txBody>
        </p:sp>
        <p:sp>
          <p:nvSpPr>
            <p:cNvPr id="63" name="TextBox 63"/>
            <p:cNvSpPr txBox="1"/>
            <p:nvPr/>
          </p:nvSpPr>
          <p:spPr>
            <a:xfrm>
              <a:off x="6314122" y="2956084"/>
              <a:ext cx="2671762"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技术瓶颈、安全隐患、伦理争议及可持续发展问题</a:t>
              </a:r>
              <a:endParaRPr lang="zh-CN" sz="825" dirty="0">
                <a:solidFill>
                  <a:srgbClr val="666666"/>
                </a:solidFill>
                <a:latin typeface="Arial" panose="020B0604020202090204"/>
                <a:ea typeface="微软雅黑"/>
                <a:cs typeface="Arial" panose="020B0604020202090204"/>
              </a:endParaRPr>
            </a:p>
          </p:txBody>
        </p:sp>
        <p:sp>
          <p:nvSpPr>
            <p:cNvPr id="64" name="Rectangle 64"/>
            <p:cNvSpPr/>
            <p:nvPr/>
          </p:nvSpPr>
          <p:spPr>
            <a:xfrm>
              <a:off x="8996362" y="2354580"/>
              <a:ext cx="2700338" cy="923925"/>
            </a:xfrm>
            <a:prstGeom prst="roundRect">
              <a:avLst>
                <a:gd name="adj" fmla="val 4124"/>
              </a:avLst>
            </a:prstGeom>
            <a:solidFill>
              <a:srgbClr val="FAFAFA"/>
            </a:solidFill>
            <a:ln>
              <a:noFill/>
            </a:ln>
          </p:spPr>
        </p:sp>
        <p:sp>
          <p:nvSpPr>
            <p:cNvPr id="65" name="Line 65"/>
            <p:cNvSpPr/>
            <p:nvPr/>
          </p:nvSpPr>
          <p:spPr>
            <a:xfrm>
              <a:off x="8996362" y="2354580"/>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66" name="Line 66"/>
            <p:cNvSpPr/>
            <p:nvPr/>
          </p:nvSpPr>
          <p:spPr>
            <a:xfrm>
              <a:off x="11696700"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67" name="Line 67"/>
            <p:cNvSpPr/>
            <p:nvPr/>
          </p:nvSpPr>
          <p:spPr>
            <a:xfrm>
              <a:off x="8996362" y="3278505"/>
              <a:ext cx="2700338" cy="9525"/>
            </a:xfrm>
            <a:custGeom>
              <a:avLst/>
              <a:gdLst/>
              <a:ahLst/>
              <a:cxnLst/>
              <a:rect l="l" t="t" r="r" b="b"/>
              <a:pathLst>
                <a:path w="2700338" h="9525">
                  <a:moveTo>
                    <a:pt x="0" y="0"/>
                  </a:moveTo>
                  <a:lnTo>
                    <a:pt x="2700338" y="0"/>
                  </a:lnTo>
                </a:path>
              </a:pathLst>
            </a:custGeom>
            <a:noFill/>
            <a:ln w="9525">
              <a:solidFill>
                <a:srgbClr val="E0E0E0"/>
              </a:solidFill>
            </a:ln>
          </p:spPr>
        </p:sp>
        <p:sp>
          <p:nvSpPr>
            <p:cNvPr id="68" name="Line 68"/>
            <p:cNvSpPr/>
            <p:nvPr/>
          </p:nvSpPr>
          <p:spPr>
            <a:xfrm>
              <a:off x="8996362" y="2354580"/>
              <a:ext cx="9525" cy="923925"/>
            </a:xfrm>
            <a:custGeom>
              <a:avLst/>
              <a:gdLst/>
              <a:ahLst/>
              <a:cxnLst/>
              <a:rect l="l" t="t" r="r" b="b"/>
              <a:pathLst>
                <a:path w="9525" h="923925">
                  <a:moveTo>
                    <a:pt x="0" y="0"/>
                  </a:moveTo>
                  <a:lnTo>
                    <a:pt x="0" y="923925"/>
                  </a:lnTo>
                </a:path>
              </a:pathLst>
            </a:custGeom>
            <a:noFill/>
            <a:ln w="9525">
              <a:solidFill>
                <a:srgbClr val="E0E0E0"/>
              </a:solidFill>
            </a:ln>
          </p:spPr>
        </p:sp>
        <p:sp>
          <p:nvSpPr>
            <p:cNvPr id="69" name="TextBox 69"/>
            <p:cNvSpPr txBox="1"/>
            <p:nvPr/>
          </p:nvSpPr>
          <p:spPr>
            <a:xfrm>
              <a:off x="9131618" y="2575560"/>
              <a:ext cx="407584" cy="426720"/>
            </a:xfrm>
            <a:prstGeom prst="rect">
              <a:avLst/>
            </a:prstGeom>
            <a:noFill/>
            <a:ln>
              <a:noFill/>
            </a:ln>
          </p:spPr>
          <p:txBody>
            <a:bodyPr wrap="none" lIns="0" tIns="0" rIns="0" bIns="0" anchor="t" anchorCtr="0">
              <a:spAutoFit/>
            </a:bodyPr>
            <a:lstStyle/>
            <a:p>
              <a:pPr algn="l"/>
              <a:r>
                <a:rPr lang="zh-CN" sz="2100" b="1" dirty="0">
                  <a:solidFill>
                    <a:srgbClr val="0070F3"/>
                  </a:solidFill>
                  <a:latin typeface="Arial" panose="020B0604020202090204"/>
                  <a:ea typeface="微软雅黑"/>
                  <a:cs typeface="Arial" panose="020B0604020202090204"/>
                </a:rPr>
                <a:t>08</a:t>
              </a:r>
              <a:endParaRPr lang="zh-CN" sz="2100" b="1" dirty="0">
                <a:solidFill>
                  <a:srgbClr val="0070F3"/>
                </a:solidFill>
                <a:latin typeface="Arial" panose="020B0604020202090204"/>
                <a:ea typeface="微软雅黑"/>
                <a:cs typeface="Arial" panose="020B0604020202090204"/>
              </a:endParaRPr>
            </a:p>
          </p:txBody>
        </p:sp>
        <p:sp>
          <p:nvSpPr>
            <p:cNvPr id="70" name="TextBox 70"/>
            <p:cNvSpPr txBox="1"/>
            <p:nvPr/>
          </p:nvSpPr>
          <p:spPr>
            <a:xfrm>
              <a:off x="9555956" y="2623566"/>
              <a:ext cx="99279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未来机遇展望</a:t>
              </a:r>
              <a:endParaRPr lang="zh-CN" sz="1050" b="1" dirty="0">
                <a:solidFill>
                  <a:srgbClr val="0A0A0A"/>
                </a:solidFill>
                <a:latin typeface="Times New Roman" panose="02020503050405090304"/>
                <a:ea typeface="宋体"/>
                <a:cs typeface="Times New Roman" panose="02020503050405090304"/>
              </a:endParaRPr>
            </a:p>
          </p:txBody>
        </p:sp>
        <p:sp>
          <p:nvSpPr>
            <p:cNvPr id="71" name="TextBox 71"/>
            <p:cNvSpPr txBox="1"/>
            <p:nvPr/>
          </p:nvSpPr>
          <p:spPr>
            <a:xfrm>
              <a:off x="9147810" y="2956084"/>
              <a:ext cx="2430780"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技术融合趋势、新兴赛道识别及商业机会研判</a:t>
              </a:r>
              <a:endParaRPr lang="zh-CN" sz="825" dirty="0">
                <a:solidFill>
                  <a:srgbClr val="666666"/>
                </a:solidFill>
                <a:latin typeface="Arial" panose="020B0604020202090204"/>
                <a:ea typeface="微软雅黑"/>
                <a:cs typeface="Arial" panose="020B0604020202090204"/>
              </a:endParaRPr>
            </a:p>
          </p:txBody>
        </p:sp>
        <p:sp>
          <p:nvSpPr>
            <p:cNvPr id="72" name="Rectangle 72"/>
            <p:cNvSpPr/>
            <p:nvPr/>
          </p:nvSpPr>
          <p:spPr>
            <a:xfrm>
              <a:off x="495300" y="3469005"/>
              <a:ext cx="11201400" cy="371475"/>
            </a:xfrm>
            <a:prstGeom prst="rect">
              <a:avLst/>
            </a:prstGeom>
            <a:noFill/>
            <a:ln>
              <a:noFill/>
            </a:ln>
          </p:spPr>
        </p:sp>
        <p:sp>
          <p:nvSpPr>
            <p:cNvPr id="73" name="Line 73"/>
            <p:cNvSpPr/>
            <p:nvPr/>
          </p:nvSpPr>
          <p:spPr>
            <a:xfrm>
              <a:off x="495300" y="3469005"/>
              <a:ext cx="11201400" cy="9525"/>
            </a:xfrm>
            <a:custGeom>
              <a:avLst/>
              <a:gdLst/>
              <a:ahLst/>
              <a:cxnLst/>
              <a:rect l="l" t="t" r="r" b="b"/>
              <a:pathLst>
                <a:path w="11201400" h="9525">
                  <a:moveTo>
                    <a:pt x="0" y="0"/>
                  </a:moveTo>
                  <a:lnTo>
                    <a:pt x="11201400" y="0"/>
                  </a:lnTo>
                </a:path>
              </a:pathLst>
            </a:custGeom>
            <a:noFill/>
            <a:ln w="9525">
              <a:solidFill>
                <a:srgbClr val="E0E0E0"/>
              </a:solidFill>
            </a:ln>
          </p:spPr>
        </p:sp>
        <p:sp>
          <p:nvSpPr>
            <p:cNvPr id="74" name="Rectangle 74"/>
            <p:cNvSpPr/>
            <p:nvPr/>
          </p:nvSpPr>
          <p:spPr>
            <a:xfrm>
              <a:off x="495300" y="3630930"/>
              <a:ext cx="624459" cy="209550"/>
            </a:xfrm>
            <a:prstGeom prst="roundRect">
              <a:avLst>
                <a:gd name="adj" fmla="val 9091"/>
              </a:avLst>
            </a:prstGeom>
            <a:solidFill>
              <a:srgbClr val="0070F3"/>
            </a:solidFill>
            <a:ln>
              <a:noFill/>
            </a:ln>
          </p:spPr>
        </p:sp>
        <p:sp>
          <p:nvSpPr>
            <p:cNvPr id="75" name="TextBox 75"/>
            <p:cNvSpPr txBox="1"/>
            <p:nvPr/>
          </p:nvSpPr>
          <p:spPr>
            <a:xfrm>
              <a:off x="581025" y="3683318"/>
              <a:ext cx="550307" cy="152400"/>
            </a:xfrm>
            <a:prstGeom prst="rect">
              <a:avLst/>
            </a:prstGeom>
            <a:noFill/>
            <a:ln>
              <a:noFill/>
            </a:ln>
          </p:spPr>
          <p:txBody>
            <a:bodyPr wrap="none" lIns="0" tIns="0" rIns="0" bIns="0" anchor="t" anchorCtr="0">
              <a:spAutoFit/>
            </a:bodyPr>
            <a:lstStyle/>
            <a:p>
              <a:pPr algn="l"/>
              <a:r>
                <a:rPr lang="zh-CN" sz="750" dirty="0">
                  <a:solidFill>
                    <a:srgbClr val="FFFFFF"/>
                  </a:solidFill>
                  <a:latin typeface="Arial" panose="020B0604020202090204"/>
                  <a:ea typeface="微软雅黑"/>
                  <a:cs typeface="Arial" panose="020B0604020202090204"/>
                </a:rPr>
                <a:t>当前 :目录</a:t>
              </a:r>
              <a:endParaRPr lang="zh-CN" sz="750" dirty="0">
                <a:solidFill>
                  <a:srgbClr val="FFFFFF"/>
                </a:solidFill>
                <a:latin typeface="Arial" panose="020B0604020202090204"/>
                <a:ea typeface="微软雅黑"/>
                <a:cs typeface="Arial" panose="020B0604020202090204"/>
              </a:endParaRPr>
            </a:p>
          </p:txBody>
        </p:sp>
        <p:sp>
          <p:nvSpPr>
            <p:cNvPr id="76" name="Rectangle 76"/>
            <p:cNvSpPr/>
            <p:nvPr/>
          </p:nvSpPr>
          <p:spPr>
            <a:xfrm>
              <a:off x="1195959" y="3630930"/>
              <a:ext cx="910209" cy="209550"/>
            </a:xfrm>
            <a:prstGeom prst="roundRect">
              <a:avLst>
                <a:gd name="adj" fmla="val 9091"/>
              </a:avLst>
            </a:prstGeom>
            <a:solidFill>
              <a:srgbClr val="F0F0F0"/>
            </a:solidFill>
            <a:ln>
              <a:noFill/>
            </a:ln>
          </p:spPr>
        </p:sp>
        <p:sp>
          <p:nvSpPr>
            <p:cNvPr id="77" name="TextBox 77"/>
            <p:cNvSpPr txBox="1"/>
            <p:nvPr/>
          </p:nvSpPr>
          <p:spPr>
            <a:xfrm>
              <a:off x="1281684" y="3683318"/>
              <a:ext cx="878919"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panose="020B0604020202090204"/>
                  <a:ea typeface="微软雅黑"/>
                  <a:cs typeface="Arial" panose="020B0604020202090204"/>
                </a:rPr>
                <a:t>下一步 :市场现状</a:t>
              </a:r>
              <a:endParaRPr lang="zh-CN" sz="750" dirty="0">
                <a:solidFill>
                  <a:srgbClr val="999999"/>
                </a:solidFill>
                <a:latin typeface="Arial" panose="020B0604020202090204"/>
                <a:ea typeface="微软雅黑"/>
                <a:cs typeface="Arial" panose="020B0604020202090204"/>
              </a:endParaRPr>
            </a:p>
          </p:txBody>
        </p:sp>
        <p:sp>
          <p:nvSpPr>
            <p:cNvPr id="78" name="TextBox 78"/>
            <p:cNvSpPr txBox="1"/>
            <p:nvPr/>
          </p:nvSpPr>
          <p:spPr>
            <a:xfrm>
              <a:off x="10638377" y="3679984"/>
              <a:ext cx="1153573"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panose="020B0604020202090204"/>
                  <a:ea typeface="微软雅黑"/>
                  <a:cs typeface="Arial" panose="020B0604020202090204"/>
                </a:rPr>
                <a:t>共 8个章节·快速定位</a:t>
              </a:r>
              <a:endParaRPr lang="zh-CN" sz="825" dirty="0">
                <a:solidFill>
                  <a:srgbClr val="999999"/>
                </a:solidFill>
                <a:latin typeface="Arial" panose="020B0604020202090204"/>
                <a:ea typeface="微软雅黑"/>
                <a:cs typeface="Arial" panose="020B0604020202090204"/>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108" name="Group 108"/>
          <p:cNvGrpSpPr/>
          <p:nvPr/>
        </p:nvGrpSpPr>
        <p:grpSpPr>
          <a:xfrm>
            <a:off x="531495" y="381000"/>
            <a:ext cx="11234547" cy="6136481"/>
            <a:chOff x="531495" y="381000"/>
            <a:chExt cx="11234547" cy="6136481"/>
          </a:xfrm>
        </p:grpSpPr>
        <p:sp>
          <p:nvSpPr>
            <p:cNvPr id="5" name="TextBox 5"/>
            <p:cNvSpPr txBox="1"/>
            <p:nvPr/>
          </p:nvSpPr>
          <p:spPr>
            <a:xfrm>
              <a:off x="531495" y="441008"/>
              <a:ext cx="2012252" cy="640080"/>
            </a:xfrm>
            <a:prstGeom prst="rect">
              <a:avLst/>
            </a:prstGeom>
            <a:noFill/>
            <a:ln>
              <a:noFill/>
            </a:ln>
          </p:spPr>
          <p:txBody>
            <a:bodyPr wrap="none" lIns="0" tIns="0" rIns="0" bIns="0" anchor="t" anchorCtr="0">
              <a:spAutoFit/>
            </a:bodyPr>
            <a:lstStyle/>
            <a:p>
              <a:pPr algn="l"/>
              <a:r>
                <a:rPr lang="zh-CN" sz="3150" b="1" dirty="0">
                  <a:solidFill>
                    <a:srgbClr val="0A0A0A"/>
                  </a:solidFill>
                  <a:latin typeface="Times New Roman" panose="02020503050405090304"/>
                  <a:ea typeface="宋体"/>
                  <a:cs typeface="Times New Roman" panose="02020503050405090304"/>
                </a:rPr>
                <a:t>执行摘要</a:t>
              </a:r>
              <a:endParaRPr lang="zh-CN" sz="3150" b="1" dirty="0">
                <a:solidFill>
                  <a:srgbClr val="0A0A0A"/>
                </a:solidFill>
                <a:latin typeface="Times New Roman" panose="02020503050405090304"/>
                <a:ea typeface="宋体"/>
                <a:cs typeface="Times New Roman" panose="02020503050405090304"/>
              </a:endParaRPr>
            </a:p>
          </p:txBody>
        </p:sp>
        <p:sp>
          <p:nvSpPr>
            <p:cNvPr id="6" name="Rectangle 6"/>
            <p:cNvSpPr/>
            <p:nvPr/>
          </p:nvSpPr>
          <p:spPr>
            <a:xfrm>
              <a:off x="571500" y="1057275"/>
              <a:ext cx="762000" cy="28575"/>
            </a:xfrm>
            <a:prstGeom prst="roundRect">
              <a:avLst>
                <a:gd name="adj" fmla="val 50000"/>
              </a:avLst>
            </a:prstGeom>
            <a:solidFill>
              <a:srgbClr val="0070F3"/>
            </a:solidFill>
            <a:ln>
              <a:noFill/>
            </a:ln>
          </p:spPr>
        </p:sp>
        <p:sp>
          <p:nvSpPr>
            <p:cNvPr id="7" name="Rectangle 7"/>
            <p:cNvSpPr/>
            <p:nvPr/>
          </p:nvSpPr>
          <p:spPr>
            <a:xfrm>
              <a:off x="8953500" y="381000"/>
              <a:ext cx="2667000" cy="1333500"/>
            </a:xfrm>
            <a:prstGeom prst="roundRect">
              <a:avLst>
                <a:gd name="adj" fmla="val 8571"/>
              </a:avLst>
            </a:prstGeom>
            <a:solidFill>
              <a:srgbClr val="F5F5F5"/>
            </a:solidFill>
            <a:ln>
              <a:noFill/>
            </a:ln>
          </p:spPr>
        </p:sp>
        <p:sp>
          <p:nvSpPr>
            <p:cNvPr id="8" name="Line 8"/>
            <p:cNvSpPr/>
            <p:nvPr/>
          </p:nvSpPr>
          <p:spPr>
            <a:xfrm>
              <a:off x="8953500" y="381000"/>
              <a:ext cx="2667000" cy="9525"/>
            </a:xfrm>
            <a:custGeom>
              <a:avLst/>
              <a:gdLst/>
              <a:ahLst/>
              <a:cxnLst/>
              <a:rect l="l" t="t" r="r" b="b"/>
              <a:pathLst>
                <a:path w="2667000" h="9525">
                  <a:moveTo>
                    <a:pt x="0" y="0"/>
                  </a:moveTo>
                  <a:lnTo>
                    <a:pt x="2667000" y="0"/>
                  </a:lnTo>
                </a:path>
              </a:pathLst>
            </a:custGeom>
            <a:noFill/>
            <a:ln w="9525">
              <a:solidFill>
                <a:srgbClr val="E0E0E0"/>
              </a:solidFill>
            </a:ln>
          </p:spPr>
        </p:sp>
        <p:sp>
          <p:nvSpPr>
            <p:cNvPr id="9" name="Line 9"/>
            <p:cNvSpPr/>
            <p:nvPr/>
          </p:nvSpPr>
          <p:spPr>
            <a:xfrm>
              <a:off x="11620500" y="381000"/>
              <a:ext cx="9525" cy="1333500"/>
            </a:xfrm>
            <a:custGeom>
              <a:avLst/>
              <a:gdLst/>
              <a:ahLst/>
              <a:cxnLst/>
              <a:rect l="l" t="t" r="r" b="b"/>
              <a:pathLst>
                <a:path w="9525" h="1333500">
                  <a:moveTo>
                    <a:pt x="0" y="0"/>
                  </a:moveTo>
                  <a:lnTo>
                    <a:pt x="0" y="1333500"/>
                  </a:lnTo>
                </a:path>
              </a:pathLst>
            </a:custGeom>
            <a:noFill/>
            <a:ln w="9525">
              <a:solidFill>
                <a:srgbClr val="E0E0E0"/>
              </a:solidFill>
            </a:ln>
          </p:spPr>
        </p:sp>
        <p:sp>
          <p:nvSpPr>
            <p:cNvPr id="10" name="Line 10"/>
            <p:cNvSpPr/>
            <p:nvPr/>
          </p:nvSpPr>
          <p:spPr>
            <a:xfrm>
              <a:off x="8953500" y="1714500"/>
              <a:ext cx="2667000" cy="9525"/>
            </a:xfrm>
            <a:custGeom>
              <a:avLst/>
              <a:gdLst/>
              <a:ahLst/>
              <a:cxnLst/>
              <a:rect l="l" t="t" r="r" b="b"/>
              <a:pathLst>
                <a:path w="2667000" h="9525">
                  <a:moveTo>
                    <a:pt x="0" y="0"/>
                  </a:moveTo>
                  <a:lnTo>
                    <a:pt x="2667000" y="0"/>
                  </a:lnTo>
                </a:path>
              </a:pathLst>
            </a:custGeom>
            <a:noFill/>
            <a:ln w="9525">
              <a:solidFill>
                <a:srgbClr val="E0E0E0"/>
              </a:solidFill>
            </a:ln>
          </p:spPr>
        </p:sp>
        <p:sp>
          <p:nvSpPr>
            <p:cNvPr id="11" name="Line 11"/>
            <p:cNvSpPr/>
            <p:nvPr/>
          </p:nvSpPr>
          <p:spPr>
            <a:xfrm>
              <a:off x="8953500" y="381000"/>
              <a:ext cx="9525" cy="1333500"/>
            </a:xfrm>
            <a:custGeom>
              <a:avLst/>
              <a:gdLst/>
              <a:ahLst/>
              <a:cxnLst/>
              <a:rect l="l" t="t" r="r" b="b"/>
              <a:pathLst>
                <a:path w="9525" h="1333500">
                  <a:moveTo>
                    <a:pt x="0" y="0"/>
                  </a:moveTo>
                  <a:lnTo>
                    <a:pt x="0" y="1333500"/>
                  </a:lnTo>
                </a:path>
              </a:pathLst>
            </a:custGeom>
            <a:noFill/>
            <a:ln w="9525">
              <a:solidFill>
                <a:srgbClr val="E0E0E0"/>
              </a:solidFill>
            </a:ln>
          </p:spPr>
        </p:sp>
        <p:grpSp>
          <p:nvGrpSpPr>
            <p:cNvPr id="27" name="Group 27"/>
            <p:cNvGrpSpPr/>
            <p:nvPr/>
          </p:nvGrpSpPr>
          <p:grpSpPr>
            <a:xfrm>
              <a:off x="9076849" y="571500"/>
              <a:ext cx="2365533" cy="1071562"/>
              <a:chOff x="9076849" y="571500"/>
              <a:chExt cx="2365533" cy="1071562"/>
            </a:xfrm>
          </p:grpSpPr>
          <p:sp>
            <p:nvSpPr>
              <p:cNvPr id="12" name="Line 12"/>
              <p:cNvSpPr/>
              <p:nvPr/>
            </p:nvSpPr>
            <p:spPr>
              <a:xfrm>
                <a:off x="9525000" y="666750"/>
                <a:ext cx="9525" cy="762000"/>
              </a:xfrm>
              <a:custGeom>
                <a:avLst/>
                <a:gdLst/>
                <a:ahLst/>
                <a:cxnLst/>
                <a:rect l="l" t="t" r="r" b="b"/>
                <a:pathLst>
                  <a:path w="9525" h="762000">
                    <a:moveTo>
                      <a:pt x="0" y="0"/>
                    </a:moveTo>
                    <a:lnTo>
                      <a:pt x="0" y="762000"/>
                    </a:lnTo>
                  </a:path>
                </a:pathLst>
              </a:custGeom>
              <a:noFill/>
              <a:ln w="9525">
                <a:solidFill>
                  <a:srgbClr val="E0E0E0"/>
                </a:solidFill>
              </a:ln>
            </p:spPr>
          </p:sp>
          <p:sp>
            <p:nvSpPr>
              <p:cNvPr id="13" name="Line 13"/>
              <p:cNvSpPr/>
              <p:nvPr/>
            </p:nvSpPr>
            <p:spPr>
              <a:xfrm>
                <a:off x="9525000" y="1428750"/>
                <a:ext cx="1714500" cy="9525"/>
              </a:xfrm>
              <a:custGeom>
                <a:avLst/>
                <a:gdLst/>
                <a:ahLst/>
                <a:cxnLst/>
                <a:rect l="l" t="t" r="r" b="b"/>
                <a:pathLst>
                  <a:path w="1714500" h="9525">
                    <a:moveTo>
                      <a:pt x="0" y="0"/>
                    </a:moveTo>
                    <a:lnTo>
                      <a:pt x="1714500" y="0"/>
                    </a:lnTo>
                  </a:path>
                </a:pathLst>
              </a:custGeom>
              <a:noFill/>
              <a:ln w="9525">
                <a:solidFill>
                  <a:srgbClr val="E0E0E0"/>
                </a:solidFill>
              </a:ln>
            </p:spPr>
          </p:sp>
          <p:sp>
            <p:nvSpPr>
              <p:cNvPr id="14" name="Line 14"/>
              <p:cNvSpPr/>
              <p:nvPr/>
            </p:nvSpPr>
            <p:spPr>
              <a:xfrm>
                <a:off x="9525000" y="1047750"/>
                <a:ext cx="1714500" cy="9525"/>
              </a:xfrm>
              <a:custGeom>
                <a:avLst/>
                <a:gdLst/>
                <a:ahLst/>
                <a:cxnLst/>
                <a:rect l="l" t="t" r="r" b="b"/>
                <a:pathLst>
                  <a:path w="1714500" h="9525">
                    <a:moveTo>
                      <a:pt x="0" y="0"/>
                    </a:moveTo>
                    <a:lnTo>
                      <a:pt x="1714500" y="0"/>
                    </a:lnTo>
                  </a:path>
                </a:pathLst>
              </a:custGeom>
              <a:noFill/>
              <a:ln w="4762">
                <a:solidFill>
                  <a:srgbClr val="E0E0E0"/>
                </a:solidFill>
                <a:custDash>
                  <a:ds d="800000" sp="800000"/>
                </a:custDash>
              </a:ln>
            </p:spPr>
          </p:sp>
          <p:sp>
            <p:nvSpPr>
              <p:cNvPr id="15" name="Line 15"/>
              <p:cNvSpPr/>
              <p:nvPr/>
            </p:nvSpPr>
            <p:spPr>
              <a:xfrm>
                <a:off x="9525000" y="857250"/>
                <a:ext cx="1714500" cy="9525"/>
              </a:xfrm>
              <a:custGeom>
                <a:avLst/>
                <a:gdLst/>
                <a:ahLst/>
                <a:cxnLst/>
                <a:rect l="l" t="t" r="r" b="b"/>
                <a:pathLst>
                  <a:path w="1714500" h="9525">
                    <a:moveTo>
                      <a:pt x="0" y="0"/>
                    </a:moveTo>
                    <a:lnTo>
                      <a:pt x="1714500" y="0"/>
                    </a:lnTo>
                  </a:path>
                </a:pathLst>
              </a:custGeom>
              <a:noFill/>
              <a:ln w="4762">
                <a:solidFill>
                  <a:srgbClr val="E0E0E0"/>
                </a:solidFill>
                <a:custDash>
                  <a:ds d="800000" sp="800000"/>
                </a:custDash>
              </a:ln>
            </p:spPr>
          </p:sp>
          <p:sp>
            <p:nvSpPr>
              <p:cNvPr id="16" name="Freeform 16"/>
              <p:cNvSpPr/>
              <p:nvPr/>
            </p:nvSpPr>
            <p:spPr>
              <a:xfrm>
                <a:off x="9525000" y="619125"/>
                <a:ext cx="1714500" cy="809625"/>
              </a:xfrm>
              <a:custGeom>
                <a:avLst/>
                <a:gdLst/>
                <a:ahLst/>
                <a:cxnLst/>
                <a:rect l="l" t="t" r="r" b="b"/>
                <a:pathLst>
                  <a:path w="1714500" h="809625">
                    <a:moveTo>
                      <a:pt x="0" y="714375"/>
                    </a:moveTo>
                    <a:cubicBezTo>
                      <a:pt x="254000" y="682625"/>
                      <a:pt x="444500" y="619125"/>
                      <a:pt x="571500" y="523875"/>
                    </a:cubicBezTo>
                    <a:cubicBezTo>
                      <a:pt x="698500" y="428625"/>
                      <a:pt x="825500" y="349250"/>
                      <a:pt x="952500" y="285750"/>
                    </a:cubicBezTo>
                    <a:cubicBezTo>
                      <a:pt x="1079500" y="222250"/>
                      <a:pt x="1206500" y="158750"/>
                      <a:pt x="1333500" y="95250"/>
                    </a:cubicBezTo>
                    <a:cubicBezTo>
                      <a:pt x="1460500" y="31750"/>
                      <a:pt x="1587500" y="0"/>
                      <a:pt x="1714500" y="0"/>
                    </a:cubicBezTo>
                    <a:lnTo>
                      <a:pt x="1714500" y="809625"/>
                    </a:lnTo>
                    <a:lnTo>
                      <a:pt x="0" y="809625"/>
                    </a:lnTo>
                    <a:close/>
                  </a:path>
                </a:pathLst>
              </a:custGeom>
              <a:solidFill>
                <a:schemeClr val="bg1">
                  <a:lumMod val="85000"/>
                </a:schemeClr>
              </a:solidFill>
              <a:ln>
                <a:noFill/>
              </a:ln>
            </p:spPr>
          </p:sp>
          <p:sp>
            <p:nvSpPr>
              <p:cNvPr id="17" name="Freeform 17"/>
              <p:cNvSpPr/>
              <p:nvPr/>
            </p:nvSpPr>
            <p:spPr>
              <a:xfrm>
                <a:off x="9525000" y="619125"/>
                <a:ext cx="1714500" cy="714375"/>
              </a:xfrm>
              <a:custGeom>
                <a:avLst/>
                <a:gdLst/>
                <a:ahLst/>
                <a:cxnLst/>
                <a:rect l="l" t="t" r="r" b="b"/>
                <a:pathLst>
                  <a:path w="1714500" h="714375">
                    <a:moveTo>
                      <a:pt x="0" y="714375"/>
                    </a:moveTo>
                    <a:cubicBezTo>
                      <a:pt x="254000" y="682625"/>
                      <a:pt x="444500" y="619125"/>
                      <a:pt x="571500" y="523875"/>
                    </a:cubicBezTo>
                    <a:cubicBezTo>
                      <a:pt x="698500" y="428625"/>
                      <a:pt x="825500" y="349250"/>
                      <a:pt x="952500" y="285750"/>
                    </a:cubicBezTo>
                    <a:cubicBezTo>
                      <a:pt x="1079500" y="222250"/>
                      <a:pt x="1206500" y="158750"/>
                      <a:pt x="1333500" y="95250"/>
                    </a:cubicBezTo>
                    <a:cubicBezTo>
                      <a:pt x="1460500" y="31750"/>
                      <a:pt x="1587500" y="0"/>
                      <a:pt x="1714500" y="0"/>
                    </a:cubicBezTo>
                  </a:path>
                </a:pathLst>
              </a:custGeom>
              <a:noFill/>
              <a:ln w="28575" cap="rnd">
                <a:gradFill>
                  <a:gsLst>
                    <a:gs pos="0">
                      <a:srgbClr val="000000"/>
                    </a:gs>
                    <a:gs pos="100000">
                      <a:srgbClr val="000000"/>
                    </a:gs>
                  </a:gsLst>
                  <a:lin ang="0" scaled="1"/>
                </a:gradFill>
              </a:ln>
            </p:spPr>
          </p:sp>
          <p:sp>
            <p:nvSpPr>
              <p:cNvPr id="18" name="Ellipse 18"/>
              <p:cNvSpPr/>
              <p:nvPr/>
            </p:nvSpPr>
            <p:spPr>
              <a:xfrm>
                <a:off x="9486900" y="1295400"/>
                <a:ext cx="76200" cy="76200"/>
              </a:xfrm>
              <a:prstGeom prst="ellipse">
                <a:avLst/>
              </a:prstGeom>
              <a:solidFill>
                <a:srgbClr val="0070F3"/>
              </a:solidFill>
              <a:ln>
                <a:noFill/>
              </a:ln>
            </p:spPr>
          </p:sp>
          <p:sp>
            <p:nvSpPr>
              <p:cNvPr id="19" name="Ellipse 19"/>
              <p:cNvSpPr/>
              <p:nvPr/>
            </p:nvSpPr>
            <p:spPr>
              <a:xfrm>
                <a:off x="10058400" y="1104900"/>
                <a:ext cx="76200" cy="76200"/>
              </a:xfrm>
              <a:prstGeom prst="ellipse">
                <a:avLst/>
              </a:prstGeom>
              <a:solidFill>
                <a:srgbClr val="0070F3"/>
              </a:solidFill>
              <a:ln>
                <a:noFill/>
              </a:ln>
            </p:spPr>
          </p:sp>
          <p:sp>
            <p:nvSpPr>
              <p:cNvPr id="20" name="Ellipse 20"/>
              <p:cNvSpPr/>
              <p:nvPr/>
            </p:nvSpPr>
            <p:spPr>
              <a:xfrm>
                <a:off x="10439400" y="866775"/>
                <a:ext cx="76200" cy="76200"/>
              </a:xfrm>
              <a:prstGeom prst="ellipse">
                <a:avLst/>
              </a:prstGeom>
              <a:solidFill>
                <a:srgbClr val="0070F3"/>
              </a:solidFill>
              <a:ln>
                <a:noFill/>
              </a:ln>
            </p:spPr>
          </p:sp>
          <p:sp>
            <p:nvSpPr>
              <p:cNvPr id="21" name="Ellipse 21"/>
              <p:cNvSpPr/>
              <p:nvPr/>
            </p:nvSpPr>
            <p:spPr>
              <a:xfrm>
                <a:off x="10820400" y="676275"/>
                <a:ext cx="76200" cy="76200"/>
              </a:xfrm>
              <a:prstGeom prst="ellipse">
                <a:avLst/>
              </a:prstGeom>
              <a:solidFill>
                <a:srgbClr val="0070F3"/>
              </a:solidFill>
              <a:ln>
                <a:noFill/>
              </a:ln>
            </p:spPr>
          </p:sp>
          <p:sp>
            <p:nvSpPr>
              <p:cNvPr id="22" name="Ellipse 22"/>
              <p:cNvSpPr/>
              <p:nvPr/>
            </p:nvSpPr>
            <p:spPr>
              <a:xfrm>
                <a:off x="11191875" y="571500"/>
                <a:ext cx="95250" cy="95250"/>
              </a:xfrm>
              <a:prstGeom prst="ellipse">
                <a:avLst/>
              </a:prstGeom>
              <a:solidFill>
                <a:srgbClr val="D4AF37"/>
              </a:solidFill>
              <a:ln w="19050">
                <a:solidFill>
                  <a:srgbClr val="FFFFFF"/>
                </a:solidFill>
              </a:ln>
            </p:spPr>
          </p:sp>
          <p:sp>
            <p:nvSpPr>
              <p:cNvPr id="23" name="TextBox 23"/>
              <p:cNvSpPr txBox="1"/>
              <p:nvPr/>
            </p:nvSpPr>
            <p:spPr>
              <a:xfrm>
                <a:off x="9515475" y="1490662"/>
                <a:ext cx="260032"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2024</a:t>
                </a:r>
                <a:endParaRPr lang="zh-CN" sz="750" dirty="0">
                  <a:solidFill>
                    <a:srgbClr val="666666"/>
                  </a:solidFill>
                  <a:latin typeface="Arial" panose="020B0604020202090204"/>
                  <a:ea typeface="微软雅黑"/>
                  <a:cs typeface="Arial" panose="020B0604020202090204"/>
                </a:endParaRPr>
              </a:p>
            </p:txBody>
          </p:sp>
          <p:sp>
            <p:nvSpPr>
              <p:cNvPr id="24" name="TextBox 24"/>
              <p:cNvSpPr txBox="1"/>
              <p:nvPr/>
            </p:nvSpPr>
            <p:spPr>
              <a:xfrm>
                <a:off x="10372725" y="1490662"/>
                <a:ext cx="260032"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2027</a:t>
                </a:r>
                <a:endParaRPr lang="zh-CN" sz="750" dirty="0">
                  <a:solidFill>
                    <a:srgbClr val="666666"/>
                  </a:solidFill>
                  <a:latin typeface="Arial" panose="020B0604020202090204"/>
                  <a:ea typeface="微软雅黑"/>
                  <a:cs typeface="Arial" panose="020B0604020202090204"/>
                </a:endParaRPr>
              </a:p>
            </p:txBody>
          </p:sp>
          <p:sp>
            <p:nvSpPr>
              <p:cNvPr id="25" name="TextBox 25"/>
              <p:cNvSpPr txBox="1"/>
              <p:nvPr/>
            </p:nvSpPr>
            <p:spPr>
              <a:xfrm>
                <a:off x="11182350" y="1490662"/>
                <a:ext cx="260032"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2030</a:t>
                </a:r>
                <a:endParaRPr lang="zh-CN" sz="750" dirty="0">
                  <a:solidFill>
                    <a:srgbClr val="666666"/>
                  </a:solidFill>
                  <a:latin typeface="Arial" panose="020B0604020202090204"/>
                  <a:ea typeface="微软雅黑"/>
                  <a:cs typeface="Arial" panose="020B0604020202090204"/>
                </a:endParaRPr>
              </a:p>
            </p:txBody>
          </p:sp>
          <p:sp>
            <p:nvSpPr>
              <p:cNvPr id="26" name="TextBox 26"/>
              <p:cNvSpPr txBox="1"/>
              <p:nvPr/>
            </p:nvSpPr>
            <p:spPr>
              <a:xfrm rot="-5400000">
                <a:off x="9076849" y="782002"/>
                <a:ext cx="411480" cy="137160"/>
              </a:xfrm>
              <a:prstGeom prst="rect">
                <a:avLst/>
              </a:prstGeom>
              <a:noFill/>
              <a:ln>
                <a:noFill/>
              </a:ln>
            </p:spPr>
            <p:txBody>
              <a:bodyPr wrap="none" lIns="0" tIns="0" rIns="0" bIns="0" anchor="t" anchorCtr="0">
                <a:spAutoFit/>
              </a:bodyPr>
              <a:lstStyle/>
              <a:p>
                <a:pPr algn="l"/>
                <a:r>
                  <a:rPr lang="zh-CN" sz="675" dirty="0">
                    <a:solidFill>
                      <a:srgbClr val="666666"/>
                    </a:solidFill>
                    <a:latin typeface="Arial" panose="020B0604020202090204"/>
                    <a:ea typeface="微软雅黑"/>
                    <a:cs typeface="Arial" panose="020B0604020202090204"/>
                  </a:rPr>
                  <a:t>市场增长</a:t>
                </a:r>
                <a:endParaRPr lang="zh-CN" sz="675" dirty="0">
                  <a:solidFill>
                    <a:srgbClr val="666666"/>
                  </a:solidFill>
                  <a:latin typeface="Arial" panose="020B0604020202090204"/>
                  <a:ea typeface="微软雅黑"/>
                  <a:cs typeface="Arial" panose="020B0604020202090204"/>
                </a:endParaRPr>
              </a:p>
            </p:txBody>
          </p:sp>
        </p:grpSp>
        <p:sp>
          <p:nvSpPr>
            <p:cNvPr id="28" name="Rectangle 28"/>
            <p:cNvSpPr/>
            <p:nvPr/>
          </p:nvSpPr>
          <p:spPr>
            <a:xfrm>
              <a:off x="571500" y="2000250"/>
              <a:ext cx="11049000" cy="655320"/>
            </a:xfrm>
            <a:prstGeom prst="rect">
              <a:avLst/>
            </a:prstGeom>
            <a:solidFill>
              <a:srgbClr val="F8F9FA"/>
            </a:solidFill>
            <a:ln>
              <a:noFill/>
            </a:ln>
          </p:spPr>
        </p:sp>
        <p:sp>
          <p:nvSpPr>
            <p:cNvPr id="29" name="Line 29"/>
            <p:cNvSpPr/>
            <p:nvPr/>
          </p:nvSpPr>
          <p:spPr>
            <a:xfrm>
              <a:off x="571500" y="2000250"/>
              <a:ext cx="9525" cy="655320"/>
            </a:xfrm>
            <a:custGeom>
              <a:avLst/>
              <a:gdLst/>
              <a:ahLst/>
              <a:cxnLst/>
              <a:rect l="l" t="t" r="r" b="b"/>
              <a:pathLst>
                <a:path w="9525" h="655320">
                  <a:moveTo>
                    <a:pt x="0" y="0"/>
                  </a:moveTo>
                  <a:lnTo>
                    <a:pt x="0" y="655320"/>
                  </a:lnTo>
                </a:path>
              </a:pathLst>
            </a:custGeom>
            <a:noFill/>
            <a:ln w="38100">
              <a:solidFill>
                <a:srgbClr val="0070F3"/>
              </a:solidFill>
            </a:ln>
          </p:spPr>
        </p:sp>
        <p:sp>
          <p:nvSpPr>
            <p:cNvPr id="30" name="TextBox 30"/>
            <p:cNvSpPr txBox="1"/>
            <p:nvPr/>
          </p:nvSpPr>
          <p:spPr>
            <a:xfrm>
              <a:off x="821055" y="2216468"/>
              <a:ext cx="9133570" cy="274320"/>
            </a:xfrm>
            <a:prstGeom prst="rect">
              <a:avLst/>
            </a:prstGeom>
            <a:noFill/>
            <a:ln>
              <a:noFill/>
            </a:ln>
          </p:spPr>
          <p:txBody>
            <a:bodyPr wrap="none" lIns="0" tIns="0" rIns="0" bIns="0" anchor="t" anchorCtr="0">
              <a:spAutoFit/>
            </a:bodyPr>
            <a:lstStyle/>
            <a:p>
              <a:pPr algn="l"/>
              <a:r>
                <a:rPr lang="zh-CN" sz="1350" dirty="0">
                  <a:solidFill>
                    <a:srgbClr val="0A0A0A"/>
                  </a:solidFill>
                  <a:latin typeface="Arial" panose="020B0604020202090204"/>
                  <a:ea typeface="微软雅黑"/>
                  <a:cs typeface="Arial" panose="020B0604020202090204"/>
                </a:rPr>
                <a:t>核心发现： AI市场规模高速增长，企业采用率突破临界点，投资热度持续攀升，正在重塑全球经济格局。</a:t>
              </a:r>
              <a:endParaRPr lang="zh-CN" sz="1350" dirty="0">
                <a:solidFill>
                  <a:srgbClr val="0A0A0A"/>
                </a:solidFill>
                <a:latin typeface="Arial" panose="020B0604020202090204"/>
                <a:ea typeface="微软雅黑"/>
                <a:cs typeface="Arial" panose="020B0604020202090204"/>
              </a:endParaRPr>
            </a:p>
          </p:txBody>
        </p:sp>
        <p:sp>
          <p:nvSpPr>
            <p:cNvPr id="31" name="Rectangle 31"/>
            <p:cNvSpPr/>
            <p:nvPr/>
          </p:nvSpPr>
          <p:spPr>
            <a:xfrm>
              <a:off x="617601" y="2968276"/>
              <a:ext cx="2527268" cy="2967323"/>
            </a:xfrm>
            <a:prstGeom prst="roundRect">
              <a:avLst>
                <a:gd name="adj" fmla="val 4523"/>
              </a:avLst>
            </a:prstGeom>
            <a:solidFill>
              <a:srgbClr val="FFFFFF"/>
            </a:solidFill>
            <a:ln>
              <a:noFill/>
            </a:ln>
          </p:spPr>
        </p:sp>
        <p:sp>
          <p:nvSpPr>
            <p:cNvPr id="32" name="Line 32"/>
            <p:cNvSpPr/>
            <p:nvPr/>
          </p:nvSpPr>
          <p:spPr>
            <a:xfrm>
              <a:off x="617601" y="2968276"/>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33" name="Line 33"/>
            <p:cNvSpPr/>
            <p:nvPr/>
          </p:nvSpPr>
          <p:spPr>
            <a:xfrm>
              <a:off x="3144774"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34" name="Line 34"/>
            <p:cNvSpPr/>
            <p:nvPr/>
          </p:nvSpPr>
          <p:spPr>
            <a:xfrm>
              <a:off x="617601" y="5935599"/>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35" name="Line 35"/>
            <p:cNvSpPr/>
            <p:nvPr/>
          </p:nvSpPr>
          <p:spPr>
            <a:xfrm>
              <a:off x="617601"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36" name="Rectangle 36"/>
            <p:cNvSpPr/>
            <p:nvPr/>
          </p:nvSpPr>
          <p:spPr>
            <a:xfrm>
              <a:off x="703898" y="3054668"/>
              <a:ext cx="381000" cy="381000"/>
            </a:xfrm>
            <a:prstGeom prst="roundRect">
              <a:avLst>
                <a:gd name="adj" fmla="val 25000"/>
              </a:avLst>
            </a:prstGeom>
            <a:solidFill>
              <a:srgbClr val="0070F3"/>
            </a:solidFill>
            <a:ln>
              <a:noFill/>
            </a:ln>
          </p:spPr>
        </p:sp>
        <p:grpSp>
          <p:nvGrpSpPr>
            <p:cNvPr id="40" name="Group 40"/>
            <p:cNvGrpSpPr/>
            <p:nvPr/>
          </p:nvGrpSpPr>
          <p:grpSpPr>
            <a:xfrm>
              <a:off x="815022" y="3165792"/>
              <a:ext cx="158750" cy="158750"/>
              <a:chOff x="815022" y="3165792"/>
              <a:chExt cx="158750" cy="158750"/>
            </a:xfrm>
          </p:grpSpPr>
          <p:sp>
            <p:nvSpPr>
              <p:cNvPr id="37" name="Freeform 37"/>
              <p:cNvSpPr/>
              <p:nvPr/>
            </p:nvSpPr>
            <p:spPr>
              <a:xfrm>
                <a:off x="815022" y="3165792"/>
                <a:ext cx="158750" cy="79375"/>
              </a:xfrm>
              <a:custGeom>
                <a:avLst/>
                <a:gdLst/>
                <a:ahLst/>
                <a:cxnLst/>
                <a:rect l="l" t="t" r="r" b="b"/>
                <a:pathLst>
                  <a:path w="158750" h="79375">
                    <a:moveTo>
                      <a:pt x="79375" y="0"/>
                    </a:moveTo>
                    <a:lnTo>
                      <a:pt x="0" y="39687"/>
                    </a:lnTo>
                    <a:lnTo>
                      <a:pt x="79375" y="79375"/>
                    </a:lnTo>
                    <a:lnTo>
                      <a:pt x="158750" y="39687"/>
                    </a:lnTo>
                    <a:lnTo>
                      <a:pt x="79375" y="0"/>
                    </a:lnTo>
                    <a:close/>
                  </a:path>
                </a:pathLst>
              </a:custGeom>
              <a:solidFill>
                <a:srgbClr val="000000"/>
              </a:solidFill>
              <a:ln>
                <a:noFill/>
              </a:ln>
            </p:spPr>
          </p:sp>
          <p:sp>
            <p:nvSpPr>
              <p:cNvPr id="38" name="Freeform 38"/>
              <p:cNvSpPr/>
              <p:nvPr/>
            </p:nvSpPr>
            <p:spPr>
              <a:xfrm>
                <a:off x="815022" y="3284855"/>
                <a:ext cx="158750" cy="39687"/>
              </a:xfrm>
              <a:custGeom>
                <a:avLst/>
                <a:gdLst/>
                <a:ahLst/>
                <a:cxnLst/>
                <a:rect l="l" t="t" r="r" b="b"/>
                <a:pathLst>
                  <a:path w="158750" h="39687">
                    <a:moveTo>
                      <a:pt x="0" y="0"/>
                    </a:moveTo>
                    <a:lnTo>
                      <a:pt x="79375" y="39687"/>
                    </a:lnTo>
                    <a:lnTo>
                      <a:pt x="158750" y="0"/>
                    </a:lnTo>
                  </a:path>
                </a:pathLst>
              </a:custGeom>
              <a:solidFill>
                <a:srgbClr val="000000"/>
              </a:solidFill>
              <a:ln>
                <a:noFill/>
              </a:ln>
            </p:spPr>
          </p:sp>
          <p:sp>
            <p:nvSpPr>
              <p:cNvPr id="39" name="Freeform 39"/>
              <p:cNvSpPr/>
              <p:nvPr/>
            </p:nvSpPr>
            <p:spPr>
              <a:xfrm>
                <a:off x="815022" y="3245167"/>
                <a:ext cx="158750" cy="39687"/>
              </a:xfrm>
              <a:custGeom>
                <a:avLst/>
                <a:gdLst/>
                <a:ahLst/>
                <a:cxnLst/>
                <a:rect l="l" t="t" r="r" b="b"/>
                <a:pathLst>
                  <a:path w="158750" h="39687">
                    <a:moveTo>
                      <a:pt x="0" y="0"/>
                    </a:moveTo>
                    <a:lnTo>
                      <a:pt x="79375" y="39687"/>
                    </a:lnTo>
                    <a:lnTo>
                      <a:pt x="158750" y="0"/>
                    </a:lnTo>
                  </a:path>
                </a:pathLst>
              </a:custGeom>
              <a:solidFill>
                <a:srgbClr val="000000"/>
              </a:solidFill>
              <a:ln>
                <a:noFill/>
              </a:ln>
            </p:spPr>
          </p:sp>
        </p:grpSp>
        <p:sp>
          <p:nvSpPr>
            <p:cNvPr id="41" name="TextBox 41"/>
            <p:cNvSpPr txBox="1"/>
            <p:nvPr/>
          </p:nvSpPr>
          <p:spPr>
            <a:xfrm>
              <a:off x="686753" y="3613785"/>
              <a:ext cx="1276445" cy="274320"/>
            </a:xfrm>
            <a:prstGeom prst="rect">
              <a:avLst/>
            </a:prstGeom>
            <a:noFill/>
            <a:ln>
              <a:noFill/>
            </a:ln>
          </p:spPr>
          <p:txBody>
            <a:bodyPr wrap="none" lIns="0" tIns="0" rIns="0" bIns="0" anchor="t" anchorCtr="0">
              <a:spAutoFit/>
            </a:bodyPr>
            <a:lstStyle/>
            <a:p>
              <a:pPr algn="l"/>
              <a:r>
                <a:rPr lang="zh-CN" sz="1350" b="1" dirty="0">
                  <a:solidFill>
                    <a:srgbClr val="0A0A0A"/>
                  </a:solidFill>
                  <a:latin typeface="Times New Roman" panose="02020503050405090304"/>
                  <a:ea typeface="宋体"/>
                  <a:cs typeface="Times New Roman" panose="02020503050405090304"/>
                </a:rPr>
                <a:t>市场规模爆发</a:t>
              </a:r>
              <a:endParaRPr lang="zh-CN" sz="1350" b="1" dirty="0">
                <a:solidFill>
                  <a:srgbClr val="0A0A0A"/>
                </a:solidFill>
                <a:latin typeface="Times New Roman" panose="02020503050405090304"/>
                <a:ea typeface="宋体"/>
                <a:cs typeface="Times New Roman" panose="02020503050405090304"/>
              </a:endParaRPr>
            </a:p>
          </p:txBody>
        </p:sp>
        <p:sp>
          <p:nvSpPr>
            <p:cNvPr id="42" name="TextBox 42"/>
            <p:cNvSpPr txBox="1"/>
            <p:nvPr/>
          </p:nvSpPr>
          <p:spPr>
            <a:xfrm>
              <a:off x="691515" y="3940016"/>
              <a:ext cx="2652022"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2025年全球 AI市场达 3, 910亿美元，预计</a:t>
              </a:r>
              <a:endParaRPr lang="zh-CN" sz="975" dirty="0">
                <a:solidFill>
                  <a:srgbClr val="444444"/>
                </a:solidFill>
                <a:latin typeface="Arial" panose="020B0604020202090204"/>
                <a:ea typeface="微软雅黑"/>
                <a:cs typeface="Arial" panose="020B0604020202090204"/>
              </a:endParaRPr>
            </a:p>
          </p:txBody>
        </p:sp>
        <p:sp>
          <p:nvSpPr>
            <p:cNvPr id="43" name="TextBox 43"/>
            <p:cNvSpPr txBox="1"/>
            <p:nvPr/>
          </p:nvSpPr>
          <p:spPr>
            <a:xfrm>
              <a:off x="691515" y="4125754"/>
              <a:ext cx="2616422"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2030年突破 1.81万亿美元，年复合增长率</a:t>
              </a:r>
              <a:endParaRPr lang="zh-CN" sz="975" dirty="0">
                <a:solidFill>
                  <a:srgbClr val="444444"/>
                </a:solidFill>
                <a:latin typeface="Arial" panose="020B0604020202090204"/>
                <a:ea typeface="微软雅黑"/>
                <a:cs typeface="Arial" panose="020B0604020202090204"/>
              </a:endParaRPr>
            </a:p>
          </p:txBody>
        </p:sp>
        <p:sp>
          <p:nvSpPr>
            <p:cNvPr id="44" name="TextBox 44"/>
            <p:cNvSpPr txBox="1"/>
            <p:nvPr/>
          </p:nvSpPr>
          <p:spPr>
            <a:xfrm>
              <a:off x="691515" y="4311491"/>
              <a:ext cx="558760"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35.9%。</a:t>
              </a:r>
              <a:endParaRPr lang="zh-CN" sz="975" dirty="0">
                <a:solidFill>
                  <a:srgbClr val="444444"/>
                </a:solidFill>
                <a:latin typeface="Arial" panose="020B0604020202090204"/>
                <a:ea typeface="微软雅黑"/>
                <a:cs typeface="Arial" panose="020B0604020202090204"/>
              </a:endParaRPr>
            </a:p>
          </p:txBody>
        </p:sp>
        <p:sp>
          <p:nvSpPr>
            <p:cNvPr id="45" name="Rectangle 45"/>
            <p:cNvSpPr/>
            <p:nvPr/>
          </p:nvSpPr>
          <p:spPr>
            <a:xfrm>
              <a:off x="703898" y="4853940"/>
              <a:ext cx="2354580" cy="995362"/>
            </a:xfrm>
            <a:prstGeom prst="roundRect">
              <a:avLst>
                <a:gd name="adj" fmla="val 7656"/>
              </a:avLst>
            </a:prstGeom>
            <a:solidFill>
              <a:srgbClr val="F8F9FA"/>
            </a:solidFill>
            <a:ln>
              <a:noFill/>
            </a:ln>
          </p:spPr>
        </p:sp>
        <p:sp>
          <p:nvSpPr>
            <p:cNvPr id="46" name="TextBox 46"/>
            <p:cNvSpPr txBox="1"/>
            <p:nvPr/>
          </p:nvSpPr>
          <p:spPr>
            <a:xfrm>
              <a:off x="1242641" y="5027295"/>
              <a:ext cx="1277093" cy="426720"/>
            </a:xfrm>
            <a:prstGeom prst="rect">
              <a:avLst/>
            </a:prstGeom>
            <a:noFill/>
            <a:ln>
              <a:noFill/>
            </a:ln>
          </p:spPr>
          <p:txBody>
            <a:bodyPr wrap="none" lIns="0" tIns="0" rIns="0" bIns="0" anchor="t" anchorCtr="0">
              <a:spAutoFit/>
            </a:bodyPr>
            <a:lstStyle/>
            <a:p>
              <a:pPr algn="ctr"/>
              <a:r>
                <a:rPr lang="zh-CN" sz="2100" b="1" dirty="0">
                  <a:solidFill>
                    <a:srgbClr val="0070F3"/>
                  </a:solidFill>
                  <a:latin typeface="Arial" panose="020B0604020202090204"/>
                  <a:ea typeface="微软雅黑"/>
                  <a:cs typeface="Arial" panose="020B0604020202090204"/>
                </a:rPr>
                <a:t>3, 910亿</a:t>
              </a:r>
              <a:endParaRPr lang="zh-CN" sz="2100" b="1" dirty="0">
                <a:solidFill>
                  <a:srgbClr val="0070F3"/>
                </a:solidFill>
                <a:latin typeface="Arial" panose="020B0604020202090204"/>
                <a:ea typeface="微软雅黑"/>
                <a:cs typeface="Arial" panose="020B0604020202090204"/>
              </a:endParaRPr>
            </a:p>
          </p:txBody>
        </p:sp>
        <p:sp>
          <p:nvSpPr>
            <p:cNvPr id="47" name="TextBox 47"/>
            <p:cNvSpPr txBox="1"/>
            <p:nvPr/>
          </p:nvSpPr>
          <p:spPr>
            <a:xfrm>
              <a:off x="1195959" y="5412581"/>
              <a:ext cx="1370457" cy="167640"/>
            </a:xfrm>
            <a:prstGeom prst="rect">
              <a:avLst/>
            </a:prstGeom>
            <a:noFill/>
            <a:ln>
              <a:noFill/>
            </a:ln>
          </p:spPr>
          <p:txBody>
            <a:bodyPr wrap="none" lIns="0" tIns="0" rIns="0" bIns="0" anchor="t" anchorCtr="0">
              <a:spAutoFit/>
            </a:bodyPr>
            <a:lstStyle/>
            <a:p>
              <a:pPr algn="ctr"/>
              <a:r>
                <a:rPr lang="zh-CN" sz="825" dirty="0">
                  <a:solidFill>
                    <a:srgbClr val="666666"/>
                  </a:solidFill>
                  <a:latin typeface="Arial" panose="020B0604020202090204"/>
                  <a:ea typeface="微软雅黑"/>
                  <a:cs typeface="Arial" panose="020B0604020202090204"/>
                </a:rPr>
                <a:t>2025年市场规模（美元）</a:t>
              </a:r>
              <a:endParaRPr lang="zh-CN" sz="825" dirty="0">
                <a:solidFill>
                  <a:srgbClr val="666666"/>
                </a:solidFill>
                <a:latin typeface="Arial" panose="020B0604020202090204"/>
                <a:ea typeface="微软雅黑"/>
                <a:cs typeface="Arial" panose="020B0604020202090204"/>
              </a:endParaRPr>
            </a:p>
          </p:txBody>
        </p:sp>
        <p:sp>
          <p:nvSpPr>
            <p:cNvPr id="48" name="TextBox 48"/>
            <p:cNvSpPr txBox="1"/>
            <p:nvPr/>
          </p:nvSpPr>
          <p:spPr>
            <a:xfrm>
              <a:off x="1428988" y="5609749"/>
              <a:ext cx="904399" cy="137160"/>
            </a:xfrm>
            <a:prstGeom prst="rect">
              <a:avLst/>
            </a:prstGeom>
            <a:noFill/>
            <a:ln>
              <a:noFill/>
            </a:ln>
          </p:spPr>
          <p:txBody>
            <a:bodyPr wrap="none" lIns="0" tIns="0" rIns="0" bIns="0" anchor="t" anchorCtr="0">
              <a:spAutoFit/>
            </a:bodyPr>
            <a:lstStyle/>
            <a:p>
              <a:pPr algn="ctr"/>
              <a:r>
                <a:rPr lang="zh-CN" sz="675" i="1" dirty="0">
                  <a:solidFill>
                    <a:srgbClr val="999999"/>
                  </a:solidFill>
                  <a:latin typeface="Arial" panose="020B0604020202090204"/>
                  <a:ea typeface="微软雅黑"/>
                  <a:cs typeface="Arial" panose="020B0604020202090204"/>
                </a:rPr>
                <a:t>数据来源：对话分析</a:t>
              </a:r>
              <a:endParaRPr lang="zh-CN" sz="675" i="1" dirty="0">
                <a:solidFill>
                  <a:srgbClr val="999999"/>
                </a:solidFill>
                <a:latin typeface="Arial" panose="020B0604020202090204"/>
                <a:ea typeface="微软雅黑"/>
                <a:cs typeface="Arial" panose="020B0604020202090204"/>
              </a:endParaRPr>
            </a:p>
          </p:txBody>
        </p:sp>
        <p:sp>
          <p:nvSpPr>
            <p:cNvPr id="49" name="Rectangle 49"/>
            <p:cNvSpPr/>
            <p:nvPr/>
          </p:nvSpPr>
          <p:spPr>
            <a:xfrm>
              <a:off x="3427476" y="2968276"/>
              <a:ext cx="2527268" cy="2967323"/>
            </a:xfrm>
            <a:prstGeom prst="roundRect">
              <a:avLst>
                <a:gd name="adj" fmla="val 4523"/>
              </a:avLst>
            </a:prstGeom>
            <a:solidFill>
              <a:srgbClr val="FFFFFF"/>
            </a:solidFill>
            <a:ln>
              <a:noFill/>
            </a:ln>
          </p:spPr>
        </p:sp>
        <p:sp>
          <p:nvSpPr>
            <p:cNvPr id="50" name="Line 50"/>
            <p:cNvSpPr/>
            <p:nvPr/>
          </p:nvSpPr>
          <p:spPr>
            <a:xfrm>
              <a:off x="3427476" y="2968276"/>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51" name="Line 51"/>
            <p:cNvSpPr/>
            <p:nvPr/>
          </p:nvSpPr>
          <p:spPr>
            <a:xfrm>
              <a:off x="5954649"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52" name="Line 52"/>
            <p:cNvSpPr/>
            <p:nvPr/>
          </p:nvSpPr>
          <p:spPr>
            <a:xfrm>
              <a:off x="3427476" y="5935599"/>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53" name="Line 53"/>
            <p:cNvSpPr/>
            <p:nvPr/>
          </p:nvSpPr>
          <p:spPr>
            <a:xfrm>
              <a:off x="3427476"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54" name="Rectangle 54"/>
            <p:cNvSpPr/>
            <p:nvPr/>
          </p:nvSpPr>
          <p:spPr>
            <a:xfrm>
              <a:off x="3513772" y="3054668"/>
              <a:ext cx="381000" cy="381000"/>
            </a:xfrm>
            <a:prstGeom prst="roundRect">
              <a:avLst>
                <a:gd name="adj" fmla="val 25000"/>
              </a:avLst>
            </a:prstGeom>
            <a:solidFill>
              <a:srgbClr val="D4AF37"/>
            </a:solidFill>
            <a:ln>
              <a:noFill/>
            </a:ln>
          </p:spPr>
        </p:sp>
        <p:grpSp>
          <p:nvGrpSpPr>
            <p:cNvPr id="57" name="Group 57"/>
            <p:cNvGrpSpPr/>
            <p:nvPr/>
          </p:nvGrpSpPr>
          <p:grpSpPr>
            <a:xfrm>
              <a:off x="3624897" y="3165792"/>
              <a:ext cx="158750" cy="158750"/>
              <a:chOff x="3624897" y="3165792"/>
              <a:chExt cx="158750" cy="158750"/>
            </a:xfrm>
          </p:grpSpPr>
          <p:sp>
            <p:nvSpPr>
              <p:cNvPr id="55" name="Ellipse 55"/>
              <p:cNvSpPr/>
              <p:nvPr/>
            </p:nvSpPr>
            <p:spPr>
              <a:xfrm>
                <a:off x="3624897" y="3165792"/>
                <a:ext cx="158750" cy="158750"/>
              </a:xfrm>
              <a:prstGeom prst="ellipse">
                <a:avLst/>
              </a:prstGeom>
              <a:solidFill>
                <a:srgbClr val="000000"/>
              </a:solidFill>
              <a:ln>
                <a:noFill/>
              </a:ln>
            </p:spPr>
          </p:sp>
          <p:sp>
            <p:nvSpPr>
              <p:cNvPr id="56" name="Freeform 56"/>
              <p:cNvSpPr/>
              <p:nvPr/>
            </p:nvSpPr>
            <p:spPr>
              <a:xfrm>
                <a:off x="3704272" y="3197542"/>
                <a:ext cx="31750" cy="63500"/>
              </a:xfrm>
              <a:custGeom>
                <a:avLst/>
                <a:gdLst/>
                <a:ahLst/>
                <a:cxnLst/>
                <a:rect l="l" t="t" r="r" b="b"/>
                <a:pathLst>
                  <a:path w="31750" h="63500">
                    <a:moveTo>
                      <a:pt x="0" y="0"/>
                    </a:moveTo>
                    <a:lnTo>
                      <a:pt x="0" y="47625"/>
                    </a:lnTo>
                    <a:lnTo>
                      <a:pt x="31750" y="63500"/>
                    </a:lnTo>
                  </a:path>
                </a:pathLst>
              </a:custGeom>
              <a:solidFill>
                <a:srgbClr val="000000"/>
              </a:solidFill>
              <a:ln>
                <a:noFill/>
              </a:ln>
            </p:spPr>
          </p:sp>
        </p:grpSp>
        <p:sp>
          <p:nvSpPr>
            <p:cNvPr id="58" name="TextBox 58"/>
            <p:cNvSpPr txBox="1"/>
            <p:nvPr/>
          </p:nvSpPr>
          <p:spPr>
            <a:xfrm>
              <a:off x="3496627" y="3613785"/>
              <a:ext cx="1276445" cy="274320"/>
            </a:xfrm>
            <a:prstGeom prst="rect">
              <a:avLst/>
            </a:prstGeom>
            <a:noFill/>
            <a:ln>
              <a:noFill/>
            </a:ln>
          </p:spPr>
          <p:txBody>
            <a:bodyPr wrap="none" lIns="0" tIns="0" rIns="0" bIns="0" anchor="t" anchorCtr="0">
              <a:spAutoFit/>
            </a:bodyPr>
            <a:lstStyle/>
            <a:p>
              <a:pPr algn="l"/>
              <a:r>
                <a:rPr lang="zh-CN" sz="1350" b="1" dirty="0">
                  <a:solidFill>
                    <a:srgbClr val="0A0A0A"/>
                  </a:solidFill>
                  <a:latin typeface="Times New Roman" panose="02020503050405090304"/>
                  <a:ea typeface="宋体"/>
                  <a:cs typeface="Times New Roman" panose="02020503050405090304"/>
                </a:rPr>
                <a:t>资本持续涌入</a:t>
              </a:r>
              <a:endParaRPr lang="zh-CN" sz="1350" b="1" dirty="0">
                <a:solidFill>
                  <a:srgbClr val="0A0A0A"/>
                </a:solidFill>
                <a:latin typeface="Times New Roman" panose="02020503050405090304"/>
                <a:ea typeface="宋体"/>
                <a:cs typeface="Times New Roman" panose="02020503050405090304"/>
              </a:endParaRPr>
            </a:p>
          </p:txBody>
        </p:sp>
        <p:sp>
          <p:nvSpPr>
            <p:cNvPr id="59" name="TextBox 59"/>
            <p:cNvSpPr txBox="1"/>
            <p:nvPr/>
          </p:nvSpPr>
          <p:spPr>
            <a:xfrm>
              <a:off x="3501390" y="3940016"/>
              <a:ext cx="2652022"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2025年全球 AI投资达 1, 070亿美元（同比</a:t>
              </a:r>
              <a:endParaRPr lang="zh-CN" sz="975" dirty="0">
                <a:solidFill>
                  <a:srgbClr val="444444"/>
                </a:solidFill>
                <a:latin typeface="Arial" panose="020B0604020202090204"/>
                <a:ea typeface="微软雅黑"/>
                <a:cs typeface="Arial" panose="020B0604020202090204"/>
              </a:endParaRPr>
            </a:p>
          </p:txBody>
        </p:sp>
        <p:sp>
          <p:nvSpPr>
            <p:cNvPr id="60" name="TextBox 60"/>
            <p:cNvSpPr txBox="1"/>
            <p:nvPr/>
          </p:nvSpPr>
          <p:spPr>
            <a:xfrm>
              <a:off x="3501390" y="4125754"/>
              <a:ext cx="2666262"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增长 28%），生成式 AI投资 2023年达 252</a:t>
              </a:r>
              <a:endParaRPr lang="zh-CN" sz="975" dirty="0">
                <a:solidFill>
                  <a:srgbClr val="444444"/>
                </a:solidFill>
                <a:latin typeface="Arial" panose="020B0604020202090204"/>
                <a:ea typeface="微软雅黑"/>
                <a:cs typeface="Arial" panose="020B0604020202090204"/>
              </a:endParaRPr>
            </a:p>
          </p:txBody>
        </p:sp>
        <p:sp>
          <p:nvSpPr>
            <p:cNvPr id="61" name="TextBox 61"/>
            <p:cNvSpPr txBox="1"/>
            <p:nvPr/>
          </p:nvSpPr>
          <p:spPr>
            <a:xfrm>
              <a:off x="3501390" y="4311491"/>
              <a:ext cx="1854589"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亿美元（同比增长近 8倍）。</a:t>
              </a:r>
              <a:endParaRPr lang="zh-CN" sz="975" dirty="0">
                <a:solidFill>
                  <a:srgbClr val="444444"/>
                </a:solidFill>
                <a:latin typeface="Arial" panose="020B0604020202090204"/>
                <a:ea typeface="微软雅黑"/>
                <a:cs typeface="Arial" panose="020B0604020202090204"/>
              </a:endParaRPr>
            </a:p>
          </p:txBody>
        </p:sp>
        <p:sp>
          <p:nvSpPr>
            <p:cNvPr id="62" name="Rectangle 62"/>
            <p:cNvSpPr/>
            <p:nvPr/>
          </p:nvSpPr>
          <p:spPr>
            <a:xfrm>
              <a:off x="3513772" y="4853940"/>
              <a:ext cx="2354580" cy="995362"/>
            </a:xfrm>
            <a:prstGeom prst="roundRect">
              <a:avLst>
                <a:gd name="adj" fmla="val 7656"/>
              </a:avLst>
            </a:prstGeom>
            <a:solidFill>
              <a:srgbClr val="F8F9FA"/>
            </a:solidFill>
            <a:ln>
              <a:noFill/>
            </a:ln>
          </p:spPr>
        </p:sp>
        <p:sp>
          <p:nvSpPr>
            <p:cNvPr id="63" name="TextBox 63"/>
            <p:cNvSpPr txBox="1"/>
            <p:nvPr/>
          </p:nvSpPr>
          <p:spPr>
            <a:xfrm>
              <a:off x="4052516" y="5027295"/>
              <a:ext cx="1277093" cy="426720"/>
            </a:xfrm>
            <a:prstGeom prst="rect">
              <a:avLst/>
            </a:prstGeom>
            <a:noFill/>
            <a:ln>
              <a:noFill/>
            </a:ln>
          </p:spPr>
          <p:txBody>
            <a:bodyPr wrap="none" lIns="0" tIns="0" rIns="0" bIns="0" anchor="t" anchorCtr="0">
              <a:spAutoFit/>
            </a:bodyPr>
            <a:lstStyle/>
            <a:p>
              <a:pPr algn="ctr"/>
              <a:r>
                <a:rPr lang="zh-CN" sz="2100" b="1" dirty="0">
                  <a:solidFill>
                    <a:srgbClr val="D4AF37"/>
                  </a:solidFill>
                  <a:latin typeface="Arial" panose="020B0604020202090204"/>
                  <a:ea typeface="微软雅黑"/>
                  <a:cs typeface="Arial" panose="020B0604020202090204"/>
                </a:rPr>
                <a:t>1, 070亿</a:t>
              </a:r>
              <a:endParaRPr lang="zh-CN" sz="2100" b="1" dirty="0">
                <a:solidFill>
                  <a:srgbClr val="D4AF37"/>
                </a:solidFill>
                <a:latin typeface="Arial" panose="020B0604020202090204"/>
                <a:ea typeface="微软雅黑"/>
                <a:cs typeface="Arial" panose="020B0604020202090204"/>
              </a:endParaRPr>
            </a:p>
          </p:txBody>
        </p:sp>
        <p:sp>
          <p:nvSpPr>
            <p:cNvPr id="64" name="TextBox 64"/>
            <p:cNvSpPr txBox="1"/>
            <p:nvPr/>
          </p:nvSpPr>
          <p:spPr>
            <a:xfrm>
              <a:off x="4057043" y="5412581"/>
              <a:ext cx="1268039" cy="167640"/>
            </a:xfrm>
            <a:prstGeom prst="rect">
              <a:avLst/>
            </a:prstGeom>
            <a:noFill/>
            <a:ln>
              <a:noFill/>
            </a:ln>
          </p:spPr>
          <p:txBody>
            <a:bodyPr wrap="none" lIns="0" tIns="0" rIns="0" bIns="0" anchor="t" anchorCtr="0">
              <a:spAutoFit/>
            </a:bodyPr>
            <a:lstStyle/>
            <a:p>
              <a:pPr algn="ctr"/>
              <a:r>
                <a:rPr lang="zh-CN" sz="825" dirty="0">
                  <a:solidFill>
                    <a:srgbClr val="666666"/>
                  </a:solidFill>
                  <a:latin typeface="Arial" panose="020B0604020202090204"/>
                  <a:ea typeface="微软雅黑"/>
                  <a:cs typeface="Arial" panose="020B0604020202090204"/>
                </a:rPr>
                <a:t>2025年 AI投资（美元）</a:t>
              </a:r>
              <a:endParaRPr lang="zh-CN" sz="825" dirty="0">
                <a:solidFill>
                  <a:srgbClr val="666666"/>
                </a:solidFill>
                <a:latin typeface="Arial" panose="020B0604020202090204"/>
                <a:ea typeface="微软雅黑"/>
                <a:cs typeface="Arial" panose="020B0604020202090204"/>
              </a:endParaRPr>
            </a:p>
          </p:txBody>
        </p:sp>
        <p:sp>
          <p:nvSpPr>
            <p:cNvPr id="65" name="TextBox 65"/>
            <p:cNvSpPr txBox="1"/>
            <p:nvPr/>
          </p:nvSpPr>
          <p:spPr>
            <a:xfrm>
              <a:off x="4238863" y="5609749"/>
              <a:ext cx="904399" cy="137160"/>
            </a:xfrm>
            <a:prstGeom prst="rect">
              <a:avLst/>
            </a:prstGeom>
            <a:noFill/>
            <a:ln>
              <a:noFill/>
            </a:ln>
          </p:spPr>
          <p:txBody>
            <a:bodyPr wrap="none" lIns="0" tIns="0" rIns="0" bIns="0" anchor="t" anchorCtr="0">
              <a:spAutoFit/>
            </a:bodyPr>
            <a:lstStyle/>
            <a:p>
              <a:pPr algn="ctr"/>
              <a:r>
                <a:rPr lang="zh-CN" sz="675" i="1" dirty="0">
                  <a:solidFill>
                    <a:srgbClr val="999999"/>
                  </a:solidFill>
                  <a:latin typeface="Arial" panose="020B0604020202090204"/>
                  <a:ea typeface="微软雅黑"/>
                  <a:cs typeface="Arial" panose="020B0604020202090204"/>
                </a:rPr>
                <a:t>数据来源：对话分析</a:t>
              </a:r>
              <a:endParaRPr lang="zh-CN" sz="675" i="1" dirty="0">
                <a:solidFill>
                  <a:srgbClr val="999999"/>
                </a:solidFill>
                <a:latin typeface="Arial" panose="020B0604020202090204"/>
                <a:ea typeface="微软雅黑"/>
                <a:cs typeface="Arial" panose="020B0604020202090204"/>
              </a:endParaRPr>
            </a:p>
          </p:txBody>
        </p:sp>
        <p:sp>
          <p:nvSpPr>
            <p:cNvPr id="66" name="Rectangle 66"/>
            <p:cNvSpPr/>
            <p:nvPr/>
          </p:nvSpPr>
          <p:spPr>
            <a:xfrm>
              <a:off x="6237351" y="2968276"/>
              <a:ext cx="2527268" cy="2967323"/>
            </a:xfrm>
            <a:prstGeom prst="roundRect">
              <a:avLst>
                <a:gd name="adj" fmla="val 4523"/>
              </a:avLst>
            </a:prstGeom>
            <a:solidFill>
              <a:srgbClr val="FFFFFF"/>
            </a:solidFill>
            <a:ln>
              <a:noFill/>
            </a:ln>
          </p:spPr>
        </p:sp>
        <p:sp>
          <p:nvSpPr>
            <p:cNvPr id="67" name="Line 67"/>
            <p:cNvSpPr/>
            <p:nvPr/>
          </p:nvSpPr>
          <p:spPr>
            <a:xfrm>
              <a:off x="6237351" y="2968276"/>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68" name="Line 68"/>
            <p:cNvSpPr/>
            <p:nvPr/>
          </p:nvSpPr>
          <p:spPr>
            <a:xfrm>
              <a:off x="8764524"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69" name="Line 69"/>
            <p:cNvSpPr/>
            <p:nvPr/>
          </p:nvSpPr>
          <p:spPr>
            <a:xfrm>
              <a:off x="6237351" y="5935599"/>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70" name="Line 70"/>
            <p:cNvSpPr/>
            <p:nvPr/>
          </p:nvSpPr>
          <p:spPr>
            <a:xfrm>
              <a:off x="6237351"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71" name="Rectangle 71"/>
            <p:cNvSpPr/>
            <p:nvPr/>
          </p:nvSpPr>
          <p:spPr>
            <a:xfrm>
              <a:off x="6323648" y="3054668"/>
              <a:ext cx="381000" cy="381000"/>
            </a:xfrm>
            <a:prstGeom prst="roundRect">
              <a:avLst>
                <a:gd name="adj" fmla="val 25000"/>
              </a:avLst>
            </a:prstGeom>
            <a:solidFill>
              <a:srgbClr val="0070F3"/>
            </a:solidFill>
            <a:ln>
              <a:noFill/>
            </a:ln>
          </p:spPr>
        </p:sp>
        <p:grpSp>
          <p:nvGrpSpPr>
            <p:cNvPr id="76" name="Group 76"/>
            <p:cNvGrpSpPr/>
            <p:nvPr/>
          </p:nvGrpSpPr>
          <p:grpSpPr>
            <a:xfrm>
              <a:off x="6426835" y="3173730"/>
              <a:ext cx="174624" cy="142875"/>
              <a:chOff x="6426835" y="3173730"/>
              <a:chExt cx="174624" cy="142875"/>
            </a:xfrm>
          </p:grpSpPr>
          <p:sp>
            <p:nvSpPr>
              <p:cNvPr id="72" name="Freeform 72"/>
              <p:cNvSpPr/>
              <p:nvPr/>
            </p:nvSpPr>
            <p:spPr>
              <a:xfrm>
                <a:off x="6426835" y="3268980"/>
                <a:ext cx="127000" cy="47625"/>
              </a:xfrm>
              <a:custGeom>
                <a:avLst/>
                <a:gdLst/>
                <a:ahLst/>
                <a:cxnLst/>
                <a:rect l="l" t="t" r="r" b="b"/>
                <a:pathLst>
                  <a:path w="127000" h="47625">
                    <a:moveTo>
                      <a:pt x="127000" y="47625"/>
                    </a:moveTo>
                    <a:lnTo>
                      <a:pt x="127000" y="31750"/>
                    </a:lnTo>
                    <a:cubicBezTo>
                      <a:pt x="127000" y="14215"/>
                      <a:pt x="112785" y="0"/>
                      <a:pt x="95250" y="0"/>
                    </a:cubicBezTo>
                    <a:lnTo>
                      <a:pt x="31750" y="0"/>
                    </a:lnTo>
                    <a:cubicBezTo>
                      <a:pt x="14215" y="0"/>
                      <a:pt x="0" y="14215"/>
                      <a:pt x="0" y="31750"/>
                    </a:cubicBezTo>
                    <a:lnTo>
                      <a:pt x="0" y="47625"/>
                    </a:lnTo>
                  </a:path>
                </a:pathLst>
              </a:custGeom>
              <a:solidFill>
                <a:srgbClr val="000000"/>
              </a:solidFill>
              <a:ln>
                <a:noFill/>
              </a:ln>
            </p:spPr>
          </p:sp>
          <p:sp>
            <p:nvSpPr>
              <p:cNvPr id="73" name="Ellipse 73"/>
              <p:cNvSpPr/>
              <p:nvPr/>
            </p:nvSpPr>
            <p:spPr>
              <a:xfrm>
                <a:off x="6458585" y="3173730"/>
                <a:ext cx="63500" cy="63500"/>
              </a:xfrm>
              <a:prstGeom prst="ellipse">
                <a:avLst/>
              </a:prstGeom>
              <a:solidFill>
                <a:srgbClr val="000000"/>
              </a:solidFill>
              <a:ln>
                <a:noFill/>
              </a:ln>
            </p:spPr>
          </p:sp>
          <p:sp>
            <p:nvSpPr>
              <p:cNvPr id="74" name="Freeform 74"/>
              <p:cNvSpPr/>
              <p:nvPr/>
            </p:nvSpPr>
            <p:spPr>
              <a:xfrm>
                <a:off x="6577647" y="3270012"/>
                <a:ext cx="23812" cy="46593"/>
              </a:xfrm>
              <a:custGeom>
                <a:avLst/>
                <a:gdLst/>
                <a:ahLst/>
                <a:cxnLst/>
                <a:rect l="l" t="t" r="r" b="b"/>
                <a:pathLst>
                  <a:path w="23812" h="46593">
                    <a:moveTo>
                      <a:pt x="23812" y="46593"/>
                    </a:moveTo>
                    <a:lnTo>
                      <a:pt x="23812" y="30718"/>
                    </a:lnTo>
                    <a:cubicBezTo>
                      <a:pt x="23802" y="16249"/>
                      <a:pt x="14010" y="3617"/>
                      <a:pt x="0" y="0"/>
                    </a:cubicBezTo>
                  </a:path>
                </a:pathLst>
              </a:custGeom>
              <a:solidFill>
                <a:srgbClr val="000000"/>
              </a:solidFill>
              <a:ln>
                <a:noFill/>
              </a:ln>
            </p:spPr>
          </p:sp>
          <p:sp>
            <p:nvSpPr>
              <p:cNvPr id="75" name="Freeform 75"/>
              <p:cNvSpPr/>
              <p:nvPr/>
            </p:nvSpPr>
            <p:spPr>
              <a:xfrm>
                <a:off x="6545897" y="3174762"/>
                <a:ext cx="23875" cy="61516"/>
              </a:xfrm>
              <a:custGeom>
                <a:avLst/>
                <a:gdLst/>
                <a:ahLst/>
                <a:cxnLst/>
                <a:rect l="l" t="t" r="r" b="b"/>
                <a:pathLst>
                  <a:path w="23875" h="61516">
                    <a:moveTo>
                      <a:pt x="0" y="0"/>
                    </a:moveTo>
                    <a:cubicBezTo>
                      <a:pt x="14049" y="3597"/>
                      <a:pt x="23875" y="16256"/>
                      <a:pt x="23875" y="30758"/>
                    </a:cubicBezTo>
                    <a:cubicBezTo>
                      <a:pt x="23875" y="45260"/>
                      <a:pt x="14049" y="57919"/>
                      <a:pt x="0" y="61516"/>
                    </a:cubicBezTo>
                  </a:path>
                </a:pathLst>
              </a:custGeom>
              <a:solidFill>
                <a:srgbClr val="000000"/>
              </a:solidFill>
              <a:ln>
                <a:noFill/>
              </a:ln>
            </p:spPr>
          </p:sp>
        </p:grpSp>
        <p:sp>
          <p:nvSpPr>
            <p:cNvPr id="77" name="TextBox 77"/>
            <p:cNvSpPr txBox="1"/>
            <p:nvPr/>
          </p:nvSpPr>
          <p:spPr>
            <a:xfrm>
              <a:off x="6306502" y="3613785"/>
              <a:ext cx="1276445" cy="274320"/>
            </a:xfrm>
            <a:prstGeom prst="rect">
              <a:avLst/>
            </a:prstGeom>
            <a:noFill/>
            <a:ln>
              <a:noFill/>
            </a:ln>
          </p:spPr>
          <p:txBody>
            <a:bodyPr wrap="none" lIns="0" tIns="0" rIns="0" bIns="0" anchor="t" anchorCtr="0">
              <a:spAutoFit/>
            </a:bodyPr>
            <a:lstStyle/>
            <a:p>
              <a:pPr algn="l"/>
              <a:r>
                <a:rPr lang="zh-CN" sz="1350" b="1" dirty="0">
                  <a:solidFill>
                    <a:srgbClr val="0A0A0A"/>
                  </a:solidFill>
                  <a:latin typeface="Times New Roman" panose="02020503050405090304"/>
                  <a:ea typeface="宋体"/>
                  <a:cs typeface="Times New Roman" panose="02020503050405090304"/>
                </a:rPr>
                <a:t>企业采用临界</a:t>
              </a:r>
              <a:endParaRPr lang="zh-CN" sz="1350" b="1" dirty="0">
                <a:solidFill>
                  <a:srgbClr val="0A0A0A"/>
                </a:solidFill>
                <a:latin typeface="Times New Roman" panose="02020503050405090304"/>
                <a:ea typeface="宋体"/>
                <a:cs typeface="Times New Roman" panose="02020503050405090304"/>
              </a:endParaRPr>
            </a:p>
          </p:txBody>
        </p:sp>
        <p:sp>
          <p:nvSpPr>
            <p:cNvPr id="78" name="TextBox 78"/>
            <p:cNvSpPr txBox="1"/>
            <p:nvPr/>
          </p:nvSpPr>
          <p:spPr>
            <a:xfrm>
              <a:off x="6311265" y="3940016"/>
              <a:ext cx="2552343"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73%组织已使用或试点 AI， 35%企业完全</a:t>
              </a:r>
              <a:endParaRPr lang="zh-CN" sz="975" dirty="0">
                <a:solidFill>
                  <a:srgbClr val="444444"/>
                </a:solidFill>
                <a:latin typeface="Arial" panose="020B0604020202090204"/>
                <a:ea typeface="微软雅黑"/>
                <a:cs typeface="Arial" panose="020B0604020202090204"/>
              </a:endParaRPr>
            </a:p>
          </p:txBody>
        </p:sp>
        <p:sp>
          <p:nvSpPr>
            <p:cNvPr id="79" name="TextBox 79"/>
            <p:cNvSpPr txBox="1"/>
            <p:nvPr/>
          </p:nvSpPr>
          <p:spPr>
            <a:xfrm>
              <a:off x="6311265" y="4125754"/>
              <a:ext cx="2516743"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部署， AI成熟企业生产率提升 15-30%。</a:t>
              </a:r>
              <a:endParaRPr lang="zh-CN" sz="975" dirty="0">
                <a:solidFill>
                  <a:srgbClr val="444444"/>
                </a:solidFill>
                <a:latin typeface="Arial" panose="020B0604020202090204"/>
                <a:ea typeface="微软雅黑"/>
                <a:cs typeface="Arial" panose="020B0604020202090204"/>
              </a:endParaRPr>
            </a:p>
          </p:txBody>
        </p:sp>
        <p:sp>
          <p:nvSpPr>
            <p:cNvPr id="80" name="Rectangle 80"/>
            <p:cNvSpPr/>
            <p:nvPr/>
          </p:nvSpPr>
          <p:spPr>
            <a:xfrm>
              <a:off x="6323648" y="4915852"/>
              <a:ext cx="2354580" cy="933450"/>
            </a:xfrm>
            <a:prstGeom prst="roundRect">
              <a:avLst>
                <a:gd name="adj" fmla="val 8163"/>
              </a:avLst>
            </a:prstGeom>
            <a:solidFill>
              <a:srgbClr val="F8F9FA"/>
            </a:solidFill>
            <a:ln>
              <a:noFill/>
            </a:ln>
          </p:spPr>
        </p:sp>
        <p:sp>
          <p:nvSpPr>
            <p:cNvPr id="81" name="TextBox 81"/>
            <p:cNvSpPr txBox="1"/>
            <p:nvPr/>
          </p:nvSpPr>
          <p:spPr>
            <a:xfrm>
              <a:off x="7208584" y="5089208"/>
              <a:ext cx="584706" cy="426720"/>
            </a:xfrm>
            <a:prstGeom prst="rect">
              <a:avLst/>
            </a:prstGeom>
            <a:noFill/>
            <a:ln>
              <a:noFill/>
            </a:ln>
          </p:spPr>
          <p:txBody>
            <a:bodyPr wrap="none" lIns="0" tIns="0" rIns="0" bIns="0" anchor="t" anchorCtr="0">
              <a:spAutoFit/>
            </a:bodyPr>
            <a:lstStyle/>
            <a:p>
              <a:pPr algn="ctr"/>
              <a:r>
                <a:rPr lang="zh-CN" sz="2100" b="1" dirty="0">
                  <a:solidFill>
                    <a:srgbClr val="0070F3"/>
                  </a:solidFill>
                  <a:latin typeface="Arial" panose="020B0604020202090204"/>
                  <a:ea typeface="微软雅黑"/>
                  <a:cs typeface="Arial" panose="020B0604020202090204"/>
                </a:rPr>
                <a:t>73%</a:t>
              </a:r>
              <a:endParaRPr lang="zh-CN" sz="2100" b="1" dirty="0">
                <a:solidFill>
                  <a:srgbClr val="0070F3"/>
                </a:solidFill>
                <a:latin typeface="Arial" panose="020B0604020202090204"/>
                <a:ea typeface="微软雅黑"/>
                <a:cs typeface="Arial" panose="020B0604020202090204"/>
              </a:endParaRPr>
            </a:p>
          </p:txBody>
        </p:sp>
        <p:sp>
          <p:nvSpPr>
            <p:cNvPr id="82" name="TextBox 82"/>
            <p:cNvSpPr txBox="1"/>
            <p:nvPr/>
          </p:nvSpPr>
          <p:spPr>
            <a:xfrm>
              <a:off x="7119949" y="5412581"/>
              <a:ext cx="761976" cy="167640"/>
            </a:xfrm>
            <a:prstGeom prst="rect">
              <a:avLst/>
            </a:prstGeom>
            <a:noFill/>
            <a:ln>
              <a:noFill/>
            </a:ln>
          </p:spPr>
          <p:txBody>
            <a:bodyPr wrap="none" lIns="0" tIns="0" rIns="0" bIns="0" anchor="t" anchorCtr="0">
              <a:spAutoFit/>
            </a:bodyPr>
            <a:lstStyle/>
            <a:p>
              <a:pPr algn="ctr"/>
              <a:r>
                <a:rPr lang="zh-CN" sz="825" dirty="0">
                  <a:solidFill>
                    <a:srgbClr val="666666"/>
                  </a:solidFill>
                  <a:latin typeface="Arial" panose="020B0604020202090204"/>
                  <a:ea typeface="微软雅黑"/>
                  <a:cs typeface="Arial" panose="020B0604020202090204"/>
                </a:rPr>
                <a:t>企业 AI采用率</a:t>
              </a:r>
              <a:endParaRPr lang="zh-CN" sz="825" dirty="0">
                <a:solidFill>
                  <a:srgbClr val="666666"/>
                </a:solidFill>
                <a:latin typeface="Arial" panose="020B0604020202090204"/>
                <a:ea typeface="微软雅黑"/>
                <a:cs typeface="Arial" panose="020B0604020202090204"/>
              </a:endParaRPr>
            </a:p>
          </p:txBody>
        </p:sp>
        <p:sp>
          <p:nvSpPr>
            <p:cNvPr id="83" name="TextBox 83"/>
            <p:cNvSpPr txBox="1"/>
            <p:nvPr/>
          </p:nvSpPr>
          <p:spPr>
            <a:xfrm>
              <a:off x="7048738" y="5609749"/>
              <a:ext cx="904399" cy="137160"/>
            </a:xfrm>
            <a:prstGeom prst="rect">
              <a:avLst/>
            </a:prstGeom>
            <a:noFill/>
            <a:ln>
              <a:noFill/>
            </a:ln>
          </p:spPr>
          <p:txBody>
            <a:bodyPr wrap="none" lIns="0" tIns="0" rIns="0" bIns="0" anchor="t" anchorCtr="0">
              <a:spAutoFit/>
            </a:bodyPr>
            <a:lstStyle/>
            <a:p>
              <a:pPr algn="ctr"/>
              <a:r>
                <a:rPr lang="zh-CN" sz="675" i="1" dirty="0">
                  <a:solidFill>
                    <a:srgbClr val="999999"/>
                  </a:solidFill>
                  <a:latin typeface="Arial" panose="020B0604020202090204"/>
                  <a:ea typeface="微软雅黑"/>
                  <a:cs typeface="Arial" panose="020B0604020202090204"/>
                </a:rPr>
                <a:t>数据来源：对话分析</a:t>
              </a:r>
              <a:endParaRPr lang="zh-CN" sz="675" i="1" dirty="0">
                <a:solidFill>
                  <a:srgbClr val="999999"/>
                </a:solidFill>
                <a:latin typeface="Arial" panose="020B0604020202090204"/>
                <a:ea typeface="微软雅黑"/>
                <a:cs typeface="Arial" panose="020B0604020202090204"/>
              </a:endParaRPr>
            </a:p>
          </p:txBody>
        </p:sp>
        <p:sp>
          <p:nvSpPr>
            <p:cNvPr id="84" name="Rectangle 84"/>
            <p:cNvSpPr/>
            <p:nvPr/>
          </p:nvSpPr>
          <p:spPr>
            <a:xfrm>
              <a:off x="9047226" y="2968276"/>
              <a:ext cx="2527268" cy="2967323"/>
            </a:xfrm>
            <a:prstGeom prst="roundRect">
              <a:avLst>
                <a:gd name="adj" fmla="val 4523"/>
              </a:avLst>
            </a:prstGeom>
            <a:solidFill>
              <a:srgbClr val="FFFFFF"/>
            </a:solidFill>
            <a:ln>
              <a:noFill/>
            </a:ln>
          </p:spPr>
        </p:sp>
        <p:sp>
          <p:nvSpPr>
            <p:cNvPr id="85" name="Line 85"/>
            <p:cNvSpPr/>
            <p:nvPr/>
          </p:nvSpPr>
          <p:spPr>
            <a:xfrm>
              <a:off x="9047226" y="2968276"/>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86" name="Line 86"/>
            <p:cNvSpPr/>
            <p:nvPr/>
          </p:nvSpPr>
          <p:spPr>
            <a:xfrm>
              <a:off x="11574399"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87" name="Line 87"/>
            <p:cNvSpPr/>
            <p:nvPr/>
          </p:nvSpPr>
          <p:spPr>
            <a:xfrm>
              <a:off x="9047226" y="5935599"/>
              <a:ext cx="2527173" cy="9525"/>
            </a:xfrm>
            <a:custGeom>
              <a:avLst/>
              <a:gdLst/>
              <a:ahLst/>
              <a:cxnLst/>
              <a:rect l="l" t="t" r="r" b="b"/>
              <a:pathLst>
                <a:path w="2527173" h="9525">
                  <a:moveTo>
                    <a:pt x="0" y="0"/>
                  </a:moveTo>
                  <a:lnTo>
                    <a:pt x="2527173" y="0"/>
                  </a:lnTo>
                </a:path>
              </a:pathLst>
            </a:custGeom>
            <a:noFill/>
            <a:ln w="9525">
              <a:solidFill>
                <a:srgbClr val="F0F0F0"/>
              </a:solidFill>
            </a:ln>
          </p:spPr>
        </p:sp>
        <p:sp>
          <p:nvSpPr>
            <p:cNvPr id="88" name="Line 88"/>
            <p:cNvSpPr/>
            <p:nvPr/>
          </p:nvSpPr>
          <p:spPr>
            <a:xfrm>
              <a:off x="9047226" y="2968276"/>
              <a:ext cx="9525" cy="2967323"/>
            </a:xfrm>
            <a:custGeom>
              <a:avLst/>
              <a:gdLst/>
              <a:ahLst/>
              <a:cxnLst/>
              <a:rect l="l" t="t" r="r" b="b"/>
              <a:pathLst>
                <a:path w="9525" h="2967323">
                  <a:moveTo>
                    <a:pt x="0" y="0"/>
                  </a:moveTo>
                  <a:lnTo>
                    <a:pt x="0" y="2967323"/>
                  </a:lnTo>
                </a:path>
              </a:pathLst>
            </a:custGeom>
            <a:noFill/>
            <a:ln w="9525">
              <a:solidFill>
                <a:srgbClr val="F0F0F0"/>
              </a:solidFill>
            </a:ln>
          </p:spPr>
        </p:sp>
        <p:sp>
          <p:nvSpPr>
            <p:cNvPr id="89" name="Rectangle 89"/>
            <p:cNvSpPr/>
            <p:nvPr/>
          </p:nvSpPr>
          <p:spPr>
            <a:xfrm>
              <a:off x="9133522" y="3054668"/>
              <a:ext cx="381000" cy="381000"/>
            </a:xfrm>
            <a:prstGeom prst="roundRect">
              <a:avLst>
                <a:gd name="adj" fmla="val 25000"/>
              </a:avLst>
            </a:prstGeom>
            <a:solidFill>
              <a:srgbClr val="D4AF37"/>
            </a:solidFill>
            <a:ln>
              <a:noFill/>
            </a:ln>
          </p:spPr>
        </p:sp>
        <p:grpSp>
          <p:nvGrpSpPr>
            <p:cNvPr id="93" name="Group 93"/>
            <p:cNvGrpSpPr/>
            <p:nvPr/>
          </p:nvGrpSpPr>
          <p:grpSpPr>
            <a:xfrm>
              <a:off x="9244647" y="3165792"/>
              <a:ext cx="158750" cy="158750"/>
              <a:chOff x="9244647" y="3165792"/>
              <a:chExt cx="158750" cy="158750"/>
            </a:xfrm>
          </p:grpSpPr>
          <p:sp>
            <p:nvSpPr>
              <p:cNvPr id="90" name="Ellipse 90"/>
              <p:cNvSpPr/>
              <p:nvPr/>
            </p:nvSpPr>
            <p:spPr>
              <a:xfrm>
                <a:off x="9244647" y="3165792"/>
                <a:ext cx="158750" cy="158750"/>
              </a:xfrm>
              <a:prstGeom prst="ellipse">
                <a:avLst/>
              </a:prstGeom>
              <a:solidFill>
                <a:srgbClr val="000000"/>
              </a:solidFill>
              <a:ln>
                <a:noFill/>
              </a:ln>
            </p:spPr>
          </p:sp>
          <p:sp>
            <p:nvSpPr>
              <p:cNvPr id="91" name="Line 91"/>
              <p:cNvSpPr/>
              <p:nvPr/>
            </p:nvSpPr>
            <p:spPr>
              <a:xfrm>
                <a:off x="9324022" y="3213417"/>
                <a:ext cx="9525" cy="63500"/>
              </a:xfrm>
              <a:custGeom>
                <a:avLst/>
                <a:gdLst/>
                <a:ahLst/>
                <a:cxnLst/>
                <a:rect l="l" t="t" r="r" b="b"/>
                <a:pathLst>
                  <a:path w="9525" h="63500">
                    <a:moveTo>
                      <a:pt x="0" y="0"/>
                    </a:moveTo>
                    <a:lnTo>
                      <a:pt x="0" y="63500"/>
                    </a:lnTo>
                  </a:path>
                </a:pathLst>
              </a:custGeom>
              <a:noFill/>
              <a:ln>
                <a:noFill/>
              </a:ln>
            </p:spPr>
          </p:sp>
          <p:sp>
            <p:nvSpPr>
              <p:cNvPr id="92" name="Line 92"/>
              <p:cNvSpPr/>
              <p:nvPr/>
            </p:nvSpPr>
            <p:spPr>
              <a:xfrm>
                <a:off x="9292272" y="3245167"/>
                <a:ext cx="63500" cy="9525"/>
              </a:xfrm>
              <a:custGeom>
                <a:avLst/>
                <a:gdLst/>
                <a:ahLst/>
                <a:cxnLst/>
                <a:rect l="l" t="t" r="r" b="b"/>
                <a:pathLst>
                  <a:path w="63500" h="9525">
                    <a:moveTo>
                      <a:pt x="0" y="0"/>
                    </a:moveTo>
                    <a:lnTo>
                      <a:pt x="63500" y="0"/>
                    </a:lnTo>
                  </a:path>
                </a:pathLst>
              </a:custGeom>
              <a:noFill/>
              <a:ln>
                <a:noFill/>
              </a:ln>
            </p:spPr>
          </p:sp>
        </p:grpSp>
        <p:sp>
          <p:nvSpPr>
            <p:cNvPr id="94" name="TextBox 94"/>
            <p:cNvSpPr txBox="1"/>
            <p:nvPr/>
          </p:nvSpPr>
          <p:spPr>
            <a:xfrm>
              <a:off x="9116378" y="3613785"/>
              <a:ext cx="1276445" cy="274320"/>
            </a:xfrm>
            <a:prstGeom prst="rect">
              <a:avLst/>
            </a:prstGeom>
            <a:noFill/>
            <a:ln>
              <a:noFill/>
            </a:ln>
          </p:spPr>
          <p:txBody>
            <a:bodyPr wrap="none" lIns="0" tIns="0" rIns="0" bIns="0" anchor="t" anchorCtr="0">
              <a:spAutoFit/>
            </a:bodyPr>
            <a:lstStyle/>
            <a:p>
              <a:pPr algn="l"/>
              <a:r>
                <a:rPr lang="zh-CN" sz="1350" b="1" dirty="0">
                  <a:solidFill>
                    <a:srgbClr val="0A0A0A"/>
                  </a:solidFill>
                  <a:latin typeface="Times New Roman" panose="02020503050405090304"/>
                  <a:ea typeface="宋体"/>
                  <a:cs typeface="Times New Roman" panose="02020503050405090304"/>
                </a:rPr>
                <a:t>经济影响深远</a:t>
              </a:r>
              <a:endParaRPr lang="zh-CN" sz="1350" b="1" dirty="0">
                <a:solidFill>
                  <a:srgbClr val="0A0A0A"/>
                </a:solidFill>
                <a:latin typeface="Times New Roman" panose="02020503050405090304"/>
                <a:ea typeface="宋体"/>
                <a:cs typeface="Times New Roman" panose="02020503050405090304"/>
              </a:endParaRPr>
            </a:p>
          </p:txBody>
        </p:sp>
        <p:sp>
          <p:nvSpPr>
            <p:cNvPr id="95" name="TextBox 95"/>
            <p:cNvSpPr txBox="1"/>
            <p:nvPr/>
          </p:nvSpPr>
          <p:spPr>
            <a:xfrm>
              <a:off x="9121140" y="3940016"/>
              <a:ext cx="2637782"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生成式 AI预计 2030年每年驱动 1.3万亿美</a:t>
              </a:r>
              <a:endParaRPr lang="zh-CN" sz="975" dirty="0">
                <a:solidFill>
                  <a:srgbClr val="444444"/>
                </a:solidFill>
                <a:latin typeface="Arial" panose="020B0604020202090204"/>
                <a:ea typeface="微软雅黑"/>
                <a:cs typeface="Arial" panose="020B0604020202090204"/>
              </a:endParaRPr>
            </a:p>
          </p:txBody>
        </p:sp>
        <p:sp>
          <p:nvSpPr>
            <p:cNvPr id="96" name="TextBox 96"/>
            <p:cNvSpPr txBox="1"/>
            <p:nvPr/>
          </p:nvSpPr>
          <p:spPr>
            <a:xfrm>
              <a:off x="9121140" y="4125754"/>
              <a:ext cx="2644902"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元经济影响， AI将贡献超过 15.7万亿美元</a:t>
              </a:r>
              <a:endParaRPr lang="zh-CN" sz="975" dirty="0">
                <a:solidFill>
                  <a:srgbClr val="444444"/>
                </a:solidFill>
                <a:latin typeface="Arial" panose="020B0604020202090204"/>
                <a:ea typeface="微软雅黑"/>
                <a:cs typeface="Arial" panose="020B0604020202090204"/>
              </a:endParaRPr>
            </a:p>
          </p:txBody>
        </p:sp>
        <p:sp>
          <p:nvSpPr>
            <p:cNvPr id="97" name="TextBox 97"/>
            <p:cNvSpPr txBox="1"/>
            <p:nvPr/>
          </p:nvSpPr>
          <p:spPr>
            <a:xfrm>
              <a:off x="9121140" y="4311491"/>
              <a:ext cx="872038" cy="198120"/>
            </a:xfrm>
            <a:prstGeom prst="rect">
              <a:avLst/>
            </a:prstGeom>
            <a:noFill/>
            <a:ln>
              <a:noFill/>
            </a:ln>
          </p:spPr>
          <p:txBody>
            <a:bodyPr wrap="none" lIns="0" tIns="0" rIns="0" bIns="0" anchor="t" anchorCtr="0">
              <a:spAutoFit/>
            </a:bodyPr>
            <a:lstStyle/>
            <a:p>
              <a:pPr algn="l"/>
              <a:r>
                <a:rPr lang="zh-CN" sz="975" dirty="0">
                  <a:solidFill>
                    <a:srgbClr val="444444"/>
                  </a:solidFill>
                  <a:latin typeface="Arial" panose="020B0604020202090204"/>
                  <a:ea typeface="微软雅黑"/>
                  <a:cs typeface="Arial" panose="020B0604020202090204"/>
                </a:rPr>
                <a:t>占全球 GDP。</a:t>
              </a:r>
              <a:endParaRPr lang="zh-CN" sz="975" dirty="0">
                <a:solidFill>
                  <a:srgbClr val="444444"/>
                </a:solidFill>
                <a:latin typeface="Arial" panose="020B0604020202090204"/>
                <a:ea typeface="微软雅黑"/>
                <a:cs typeface="Arial" panose="020B0604020202090204"/>
              </a:endParaRPr>
            </a:p>
          </p:txBody>
        </p:sp>
        <p:sp>
          <p:nvSpPr>
            <p:cNvPr id="98" name="Rectangle 98"/>
            <p:cNvSpPr/>
            <p:nvPr/>
          </p:nvSpPr>
          <p:spPr>
            <a:xfrm>
              <a:off x="9133522" y="4853940"/>
              <a:ext cx="2354580" cy="995362"/>
            </a:xfrm>
            <a:prstGeom prst="roundRect">
              <a:avLst>
                <a:gd name="adj" fmla="val 7656"/>
              </a:avLst>
            </a:prstGeom>
            <a:solidFill>
              <a:srgbClr val="F8F9FA"/>
            </a:solidFill>
            <a:ln>
              <a:noFill/>
            </a:ln>
          </p:spPr>
        </p:sp>
        <p:sp>
          <p:nvSpPr>
            <p:cNvPr id="99" name="TextBox 99"/>
            <p:cNvSpPr txBox="1"/>
            <p:nvPr/>
          </p:nvSpPr>
          <p:spPr>
            <a:xfrm>
              <a:off x="9736674" y="5027295"/>
              <a:ext cx="1148277" cy="426720"/>
            </a:xfrm>
            <a:prstGeom prst="rect">
              <a:avLst/>
            </a:prstGeom>
            <a:noFill/>
            <a:ln>
              <a:noFill/>
            </a:ln>
          </p:spPr>
          <p:txBody>
            <a:bodyPr wrap="none" lIns="0" tIns="0" rIns="0" bIns="0" anchor="t" anchorCtr="0">
              <a:spAutoFit/>
            </a:bodyPr>
            <a:lstStyle/>
            <a:p>
              <a:pPr algn="ctr"/>
              <a:r>
                <a:rPr lang="zh-CN" sz="2100" b="1" dirty="0">
                  <a:solidFill>
                    <a:srgbClr val="D4AF37"/>
                  </a:solidFill>
                  <a:latin typeface="Arial" panose="020B0604020202090204"/>
                  <a:ea typeface="微软雅黑"/>
                  <a:cs typeface="Arial" panose="020B0604020202090204"/>
                </a:rPr>
                <a:t>1.3万亿</a:t>
              </a:r>
              <a:endParaRPr lang="zh-CN" sz="2100" b="1" dirty="0">
                <a:solidFill>
                  <a:srgbClr val="D4AF37"/>
                </a:solidFill>
                <a:latin typeface="Arial" panose="020B0604020202090204"/>
                <a:ea typeface="微软雅黑"/>
                <a:cs typeface="Arial" panose="020B0604020202090204"/>
              </a:endParaRPr>
            </a:p>
          </p:txBody>
        </p:sp>
        <p:sp>
          <p:nvSpPr>
            <p:cNvPr id="100" name="TextBox 100"/>
            <p:cNvSpPr txBox="1"/>
            <p:nvPr/>
          </p:nvSpPr>
          <p:spPr>
            <a:xfrm>
              <a:off x="9697879" y="5412581"/>
              <a:ext cx="1225868" cy="167640"/>
            </a:xfrm>
            <a:prstGeom prst="rect">
              <a:avLst/>
            </a:prstGeom>
            <a:noFill/>
            <a:ln>
              <a:noFill/>
            </a:ln>
          </p:spPr>
          <p:txBody>
            <a:bodyPr wrap="none" lIns="0" tIns="0" rIns="0" bIns="0" anchor="t" anchorCtr="0">
              <a:spAutoFit/>
            </a:bodyPr>
            <a:lstStyle/>
            <a:p>
              <a:pPr algn="ctr"/>
              <a:r>
                <a:rPr lang="zh-CN" sz="825" dirty="0">
                  <a:solidFill>
                    <a:srgbClr val="666666"/>
                  </a:solidFill>
                  <a:latin typeface="Arial" panose="020B0604020202090204"/>
                  <a:ea typeface="微软雅黑"/>
                  <a:cs typeface="Arial" panose="020B0604020202090204"/>
                </a:rPr>
                <a:t>年度经济影响（美元）</a:t>
              </a:r>
              <a:endParaRPr lang="zh-CN" sz="825" dirty="0">
                <a:solidFill>
                  <a:srgbClr val="666666"/>
                </a:solidFill>
                <a:latin typeface="Arial" panose="020B0604020202090204"/>
                <a:ea typeface="微软雅黑"/>
                <a:cs typeface="Arial" panose="020B0604020202090204"/>
              </a:endParaRPr>
            </a:p>
          </p:txBody>
        </p:sp>
        <p:sp>
          <p:nvSpPr>
            <p:cNvPr id="101" name="TextBox 101"/>
            <p:cNvSpPr txBox="1"/>
            <p:nvPr/>
          </p:nvSpPr>
          <p:spPr>
            <a:xfrm>
              <a:off x="9858613" y="5609749"/>
              <a:ext cx="904399" cy="137160"/>
            </a:xfrm>
            <a:prstGeom prst="rect">
              <a:avLst/>
            </a:prstGeom>
            <a:noFill/>
            <a:ln>
              <a:noFill/>
            </a:ln>
          </p:spPr>
          <p:txBody>
            <a:bodyPr wrap="none" lIns="0" tIns="0" rIns="0" bIns="0" anchor="t" anchorCtr="0">
              <a:spAutoFit/>
            </a:bodyPr>
            <a:lstStyle/>
            <a:p>
              <a:pPr algn="ctr"/>
              <a:r>
                <a:rPr lang="zh-CN" sz="675" i="1" dirty="0">
                  <a:solidFill>
                    <a:srgbClr val="999999"/>
                  </a:solidFill>
                  <a:latin typeface="Arial" panose="020B0604020202090204"/>
                  <a:ea typeface="微软雅黑"/>
                  <a:cs typeface="Arial" panose="020B0604020202090204"/>
                </a:rPr>
                <a:t>数据来源：对话分析</a:t>
              </a:r>
              <a:endParaRPr lang="zh-CN" sz="675" i="1" dirty="0">
                <a:solidFill>
                  <a:srgbClr val="999999"/>
                </a:solidFill>
                <a:latin typeface="Arial" panose="020B0604020202090204"/>
                <a:ea typeface="微软雅黑"/>
                <a:cs typeface="Arial" panose="020B0604020202090204"/>
              </a:endParaRPr>
            </a:p>
          </p:txBody>
        </p:sp>
        <p:sp>
          <p:nvSpPr>
            <p:cNvPr id="102" name="Rectangle 102"/>
            <p:cNvSpPr/>
            <p:nvPr/>
          </p:nvSpPr>
          <p:spPr>
            <a:xfrm>
              <a:off x="571500" y="6172200"/>
              <a:ext cx="11049000" cy="304800"/>
            </a:xfrm>
            <a:prstGeom prst="rect">
              <a:avLst/>
            </a:prstGeom>
            <a:noFill/>
            <a:ln>
              <a:noFill/>
            </a:ln>
          </p:spPr>
        </p:sp>
        <p:sp>
          <p:nvSpPr>
            <p:cNvPr id="103" name="Line 103"/>
            <p:cNvSpPr/>
            <p:nvPr/>
          </p:nvSpPr>
          <p:spPr>
            <a:xfrm>
              <a:off x="571500" y="6172200"/>
              <a:ext cx="11049000" cy="9525"/>
            </a:xfrm>
            <a:custGeom>
              <a:avLst/>
              <a:gdLst/>
              <a:ahLst/>
              <a:cxnLst/>
              <a:rect l="l" t="t" r="r" b="b"/>
              <a:pathLst>
                <a:path w="11049000" h="9525">
                  <a:moveTo>
                    <a:pt x="0" y="0"/>
                  </a:moveTo>
                  <a:lnTo>
                    <a:pt x="11049000" y="0"/>
                  </a:lnTo>
                </a:path>
              </a:pathLst>
            </a:custGeom>
            <a:noFill/>
            <a:ln w="9525">
              <a:solidFill>
                <a:srgbClr val="F0F0F0"/>
              </a:solidFill>
            </a:ln>
          </p:spPr>
        </p:sp>
        <p:sp>
          <p:nvSpPr>
            <p:cNvPr id="104" name="TextBox 104"/>
            <p:cNvSpPr txBox="1"/>
            <p:nvPr/>
          </p:nvSpPr>
          <p:spPr>
            <a:xfrm>
              <a:off x="561022" y="6349841"/>
              <a:ext cx="2671762"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panose="020B0604020202090204"/>
                  <a:ea typeface="微软雅黑"/>
                  <a:cs typeface="Arial" panose="020B0604020202090204"/>
                </a:rPr>
                <a:t>关键假设：数据基于公开市场研究报告及行业分析</a:t>
              </a:r>
              <a:endParaRPr lang="zh-CN" sz="825" dirty="0">
                <a:solidFill>
                  <a:srgbClr val="999999"/>
                </a:solidFill>
                <a:latin typeface="Arial" panose="020B0604020202090204"/>
                <a:ea typeface="微软雅黑"/>
                <a:cs typeface="Arial" panose="020B0604020202090204"/>
              </a:endParaRPr>
            </a:p>
          </p:txBody>
        </p:sp>
        <p:sp>
          <p:nvSpPr>
            <p:cNvPr id="105" name="Rectangle 105"/>
            <p:cNvSpPr/>
            <p:nvPr/>
          </p:nvSpPr>
          <p:spPr>
            <a:xfrm>
              <a:off x="11163300" y="6367462"/>
              <a:ext cx="76200" cy="76200"/>
            </a:xfrm>
            <a:prstGeom prst="roundRect">
              <a:avLst>
                <a:gd name="adj" fmla="val 50000"/>
              </a:avLst>
            </a:prstGeom>
            <a:solidFill>
              <a:srgbClr val="0070F3"/>
            </a:solidFill>
            <a:ln>
              <a:noFill/>
            </a:ln>
          </p:spPr>
        </p:sp>
        <p:sp>
          <p:nvSpPr>
            <p:cNvPr id="106" name="Rectangle 106"/>
            <p:cNvSpPr/>
            <p:nvPr/>
          </p:nvSpPr>
          <p:spPr>
            <a:xfrm>
              <a:off x="11353800" y="6367462"/>
              <a:ext cx="76200" cy="76200"/>
            </a:xfrm>
            <a:prstGeom prst="roundRect">
              <a:avLst>
                <a:gd name="adj" fmla="val 50000"/>
              </a:avLst>
            </a:prstGeom>
            <a:solidFill>
              <a:srgbClr val="D4AF37"/>
            </a:solidFill>
            <a:ln>
              <a:noFill/>
            </a:ln>
          </p:spPr>
        </p:sp>
        <p:sp>
          <p:nvSpPr>
            <p:cNvPr id="107" name="Rectangle 107"/>
            <p:cNvSpPr/>
            <p:nvPr/>
          </p:nvSpPr>
          <p:spPr>
            <a:xfrm>
              <a:off x="11544300" y="6367462"/>
              <a:ext cx="76200" cy="76200"/>
            </a:xfrm>
            <a:prstGeom prst="roundRect">
              <a:avLst>
                <a:gd name="adj" fmla="val 50000"/>
              </a:avLst>
            </a:prstGeom>
            <a:solidFill>
              <a:srgbClr val="0A0A0A"/>
            </a:solidFill>
            <a:ln>
              <a:noFill/>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200" name="Group 200"/>
          <p:cNvGrpSpPr/>
          <p:nvPr/>
        </p:nvGrpSpPr>
        <p:grpSpPr>
          <a:xfrm>
            <a:off x="276225" y="266700"/>
            <a:ext cx="11875103" cy="6791325"/>
            <a:chOff x="276225" y="266700"/>
            <a:chExt cx="11875103" cy="6791325"/>
          </a:xfrm>
        </p:grpSpPr>
        <p:sp>
          <p:nvSpPr>
            <p:cNvPr id="5" name="TextBox 5"/>
            <p:cNvSpPr txBox="1"/>
            <p:nvPr/>
          </p:nvSpPr>
          <p:spPr>
            <a:xfrm>
              <a:off x="276225" y="309562"/>
              <a:ext cx="3904381" cy="457200"/>
            </a:xfrm>
            <a:prstGeom prst="rect">
              <a:avLst/>
            </a:prstGeom>
            <a:noFill/>
            <a:ln>
              <a:noFill/>
            </a:ln>
          </p:spPr>
          <p:txBody>
            <a:bodyPr wrap="none" lIns="0" tIns="0" rIns="0" bIns="0" anchor="t" anchorCtr="0">
              <a:spAutoFit/>
            </a:bodyPr>
            <a:lstStyle/>
            <a:p>
              <a:pPr algn="l"/>
              <a:r>
                <a:rPr lang="zh-CN" sz="2250" b="1" dirty="0">
                  <a:solidFill>
                    <a:srgbClr val="0A0A0A"/>
                  </a:solidFill>
                  <a:latin typeface="Times New Roman" panose="02020503050405090304"/>
                  <a:ea typeface="宋体"/>
                  <a:cs typeface="Times New Roman" panose="02020503050405090304"/>
                </a:rPr>
                <a:t>全球 AI市场规模与增长预</a:t>
              </a:r>
              <a:endParaRPr lang="zh-CN" sz="225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276225" y="652462"/>
              <a:ext cx="402193" cy="457200"/>
            </a:xfrm>
            <a:prstGeom prst="rect">
              <a:avLst/>
            </a:prstGeom>
            <a:noFill/>
            <a:ln>
              <a:noFill/>
            </a:ln>
          </p:spPr>
          <p:txBody>
            <a:bodyPr wrap="none" lIns="0" tIns="0" rIns="0" bIns="0" anchor="t" anchorCtr="0">
              <a:spAutoFit/>
            </a:bodyPr>
            <a:lstStyle/>
            <a:p>
              <a:pPr algn="l"/>
              <a:r>
                <a:rPr lang="zh-CN" sz="2250" b="1" dirty="0">
                  <a:solidFill>
                    <a:srgbClr val="0A0A0A"/>
                  </a:solidFill>
                  <a:latin typeface="Times New Roman" panose="02020503050405090304"/>
                  <a:ea typeface="宋体"/>
                  <a:cs typeface="Times New Roman" panose="02020503050405090304"/>
                </a:rPr>
                <a:t>测</a:t>
              </a:r>
              <a:endParaRPr lang="zh-CN" sz="2250" b="1" dirty="0">
                <a:solidFill>
                  <a:srgbClr val="0A0A0A"/>
                </a:solidFill>
                <a:latin typeface="Times New Roman" panose="02020503050405090304"/>
                <a:ea typeface="宋体"/>
                <a:cs typeface="Times New Roman" panose="02020503050405090304"/>
              </a:endParaRPr>
            </a:p>
          </p:txBody>
        </p:sp>
        <p:sp>
          <p:nvSpPr>
            <p:cNvPr id="7" name="TextBox 7"/>
            <p:cNvSpPr txBox="1"/>
            <p:nvPr/>
          </p:nvSpPr>
          <p:spPr>
            <a:xfrm>
              <a:off x="292418" y="704374"/>
              <a:ext cx="3912251" cy="198120"/>
            </a:xfrm>
            <a:prstGeom prst="rect">
              <a:avLst/>
            </a:prstGeom>
            <a:noFill/>
            <a:ln>
              <a:noFill/>
            </a:ln>
          </p:spPr>
          <p:txBody>
            <a:bodyPr wrap="none" lIns="0" tIns="0" rIns="0" bIns="0" anchor="t" anchorCtr="0">
              <a:spAutoFit/>
            </a:bodyPr>
            <a:lstStyle/>
            <a:p>
              <a:pPr algn="l"/>
              <a:r>
                <a:rPr lang="zh-CN" sz="975" dirty="0">
                  <a:solidFill>
                    <a:srgbClr val="0A0A0A"/>
                  </a:solidFill>
                  <a:latin typeface="Arial" panose="020B0604020202090204"/>
                  <a:ea typeface="微软雅黑"/>
                  <a:cs typeface="Arial" panose="020B0604020202090204"/>
                </a:rPr>
                <a:t>量化展示 AI市场增长轨迹，对标历史技术周期，论证 AI增长斜</a:t>
              </a:r>
              <a:endParaRPr lang="zh-CN" sz="975" dirty="0">
                <a:solidFill>
                  <a:srgbClr val="0A0A0A"/>
                </a:solidFill>
                <a:latin typeface="Arial" panose="020B0604020202090204"/>
                <a:ea typeface="微软雅黑"/>
                <a:cs typeface="Arial" panose="020B0604020202090204"/>
              </a:endParaRPr>
            </a:p>
          </p:txBody>
        </p:sp>
        <p:sp>
          <p:nvSpPr>
            <p:cNvPr id="8" name="TextBox 8"/>
            <p:cNvSpPr txBox="1"/>
            <p:nvPr/>
          </p:nvSpPr>
          <p:spPr>
            <a:xfrm>
              <a:off x="292418" y="914876"/>
              <a:ext cx="167164" cy="198120"/>
            </a:xfrm>
            <a:prstGeom prst="rect">
              <a:avLst/>
            </a:prstGeom>
            <a:noFill/>
            <a:ln>
              <a:noFill/>
            </a:ln>
          </p:spPr>
          <p:txBody>
            <a:bodyPr wrap="none" lIns="0" tIns="0" rIns="0" bIns="0" anchor="t" anchorCtr="0">
              <a:spAutoFit/>
            </a:bodyPr>
            <a:lstStyle/>
            <a:p>
              <a:pPr algn="l"/>
              <a:r>
                <a:rPr lang="zh-CN" sz="975" dirty="0">
                  <a:solidFill>
                    <a:srgbClr val="0A0A0A"/>
                  </a:solidFill>
                  <a:latin typeface="Arial" panose="020B0604020202090204"/>
                  <a:ea typeface="微软雅黑"/>
                  <a:cs typeface="Arial" panose="020B0604020202090204"/>
                </a:rPr>
                <a:t>率</a:t>
              </a:r>
              <a:endParaRPr lang="zh-CN" sz="975" dirty="0">
                <a:solidFill>
                  <a:srgbClr val="0A0A0A"/>
                </a:solidFill>
                <a:latin typeface="Arial" panose="020B0604020202090204"/>
                <a:ea typeface="微软雅黑"/>
                <a:cs typeface="Arial" panose="020B0604020202090204"/>
              </a:endParaRPr>
            </a:p>
          </p:txBody>
        </p:sp>
        <p:sp>
          <p:nvSpPr>
            <p:cNvPr id="9" name="Rectangle 9"/>
            <p:cNvSpPr/>
            <p:nvPr/>
          </p:nvSpPr>
          <p:spPr>
            <a:xfrm>
              <a:off x="10458355" y="266700"/>
              <a:ext cx="1428845" cy="328612"/>
            </a:xfrm>
            <a:prstGeom prst="roundRect">
              <a:avLst>
                <a:gd name="adj" fmla="val 50000"/>
              </a:avLst>
            </a:prstGeom>
            <a:solidFill>
              <a:srgbClr val="0070F3">
                <a:alpha val="12000"/>
              </a:srgbClr>
            </a:solidFill>
            <a:ln>
              <a:noFill/>
            </a:ln>
          </p:spPr>
        </p:sp>
        <p:sp>
          <p:nvSpPr>
            <p:cNvPr id="10" name="Line 10"/>
            <p:cNvSpPr/>
            <p:nvPr/>
          </p:nvSpPr>
          <p:spPr>
            <a:xfrm>
              <a:off x="10458355" y="266700"/>
              <a:ext cx="1428845" cy="9525"/>
            </a:xfrm>
            <a:custGeom>
              <a:avLst/>
              <a:gdLst/>
              <a:ahLst/>
              <a:cxnLst/>
              <a:rect l="l" t="t" r="r" b="b"/>
              <a:pathLst>
                <a:path w="1428845" h="9525">
                  <a:moveTo>
                    <a:pt x="0" y="0"/>
                  </a:moveTo>
                  <a:lnTo>
                    <a:pt x="1428845" y="0"/>
                  </a:lnTo>
                </a:path>
              </a:pathLst>
            </a:custGeom>
            <a:noFill/>
            <a:ln w="9525">
              <a:solidFill>
                <a:srgbClr val="0070F3">
                  <a:alpha val="24000"/>
                </a:srgbClr>
              </a:solidFill>
            </a:ln>
          </p:spPr>
        </p:sp>
        <p:sp>
          <p:nvSpPr>
            <p:cNvPr id="11" name="Line 11"/>
            <p:cNvSpPr/>
            <p:nvPr/>
          </p:nvSpPr>
          <p:spPr>
            <a:xfrm>
              <a:off x="11887200" y="266700"/>
              <a:ext cx="9525" cy="328612"/>
            </a:xfrm>
            <a:custGeom>
              <a:avLst/>
              <a:gdLst/>
              <a:ahLst/>
              <a:cxnLst/>
              <a:rect l="l" t="t" r="r" b="b"/>
              <a:pathLst>
                <a:path w="9525" h="328612">
                  <a:moveTo>
                    <a:pt x="0" y="0"/>
                  </a:moveTo>
                  <a:lnTo>
                    <a:pt x="0" y="328612"/>
                  </a:lnTo>
                </a:path>
              </a:pathLst>
            </a:custGeom>
            <a:noFill/>
            <a:ln w="9525">
              <a:solidFill>
                <a:srgbClr val="0070F3">
                  <a:alpha val="24000"/>
                </a:srgbClr>
              </a:solidFill>
            </a:ln>
          </p:spPr>
        </p:sp>
        <p:sp>
          <p:nvSpPr>
            <p:cNvPr id="12" name="Line 12"/>
            <p:cNvSpPr/>
            <p:nvPr/>
          </p:nvSpPr>
          <p:spPr>
            <a:xfrm>
              <a:off x="10458355" y="595312"/>
              <a:ext cx="1428845" cy="9525"/>
            </a:xfrm>
            <a:custGeom>
              <a:avLst/>
              <a:gdLst/>
              <a:ahLst/>
              <a:cxnLst/>
              <a:rect l="l" t="t" r="r" b="b"/>
              <a:pathLst>
                <a:path w="1428845" h="9525">
                  <a:moveTo>
                    <a:pt x="0" y="0"/>
                  </a:moveTo>
                  <a:lnTo>
                    <a:pt x="1428845" y="0"/>
                  </a:lnTo>
                </a:path>
              </a:pathLst>
            </a:custGeom>
            <a:noFill/>
            <a:ln w="9525">
              <a:solidFill>
                <a:srgbClr val="0070F3">
                  <a:alpha val="24000"/>
                </a:srgbClr>
              </a:solidFill>
            </a:ln>
          </p:spPr>
        </p:sp>
        <p:sp>
          <p:nvSpPr>
            <p:cNvPr id="13" name="Line 13"/>
            <p:cNvSpPr/>
            <p:nvPr/>
          </p:nvSpPr>
          <p:spPr>
            <a:xfrm>
              <a:off x="10458355" y="266700"/>
              <a:ext cx="9525" cy="328612"/>
            </a:xfrm>
            <a:custGeom>
              <a:avLst/>
              <a:gdLst/>
              <a:ahLst/>
              <a:cxnLst/>
              <a:rect l="l" t="t" r="r" b="b"/>
              <a:pathLst>
                <a:path w="9525" h="328612">
                  <a:moveTo>
                    <a:pt x="0" y="0"/>
                  </a:moveTo>
                  <a:lnTo>
                    <a:pt x="0" y="328612"/>
                  </a:lnTo>
                </a:path>
              </a:pathLst>
            </a:custGeom>
            <a:noFill/>
            <a:ln w="9525">
              <a:solidFill>
                <a:srgbClr val="0070F3">
                  <a:alpha val="24000"/>
                </a:srgbClr>
              </a:solidFill>
            </a:ln>
          </p:spPr>
        </p:sp>
        <p:sp>
          <p:nvSpPr>
            <p:cNvPr id="14" name="TextBox 14"/>
            <p:cNvSpPr txBox="1"/>
            <p:nvPr/>
          </p:nvSpPr>
          <p:spPr>
            <a:xfrm>
              <a:off x="10561225" y="360045"/>
              <a:ext cx="1324166"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统一 ROI与回收期口径</a:t>
              </a:r>
              <a:endParaRPr lang="zh-CN" sz="900" dirty="0">
                <a:solidFill>
                  <a:srgbClr val="0070F3"/>
                </a:solidFill>
                <a:latin typeface="Arial" panose="020B0604020202090204"/>
                <a:ea typeface="微软雅黑"/>
                <a:cs typeface="Arial" panose="020B0604020202090204"/>
              </a:endParaRPr>
            </a:p>
          </p:txBody>
        </p:sp>
        <p:sp>
          <p:nvSpPr>
            <p:cNvPr id="15" name="TextBox 15"/>
            <p:cNvSpPr txBox="1"/>
            <p:nvPr/>
          </p:nvSpPr>
          <p:spPr>
            <a:xfrm>
              <a:off x="290512" y="1089088"/>
              <a:ext cx="1063704"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投资回报结论</a:t>
              </a:r>
              <a:endParaRPr lang="zh-CN" sz="1125" b="1" dirty="0">
                <a:solidFill>
                  <a:srgbClr val="0A0A0A"/>
                </a:solidFill>
                <a:latin typeface="Arial" panose="020B0604020202090204"/>
                <a:ea typeface="微软雅黑"/>
                <a:cs typeface="Arial" panose="020B0604020202090204"/>
              </a:endParaRPr>
            </a:p>
          </p:txBody>
        </p:sp>
        <p:sp>
          <p:nvSpPr>
            <p:cNvPr id="16" name="TextBox 16"/>
            <p:cNvSpPr txBox="1"/>
            <p:nvPr/>
          </p:nvSpPr>
          <p:spPr>
            <a:xfrm>
              <a:off x="292418" y="1343406"/>
              <a:ext cx="7742777" cy="198120"/>
            </a:xfrm>
            <a:prstGeom prst="rect">
              <a:avLst/>
            </a:prstGeom>
            <a:noFill/>
            <a:ln>
              <a:noFill/>
            </a:ln>
          </p:spPr>
          <p:txBody>
            <a:bodyPr wrap="none" lIns="0" tIns="0" rIns="0" bIns="0" anchor="t" anchorCtr="0">
              <a:spAutoFit/>
            </a:bodyPr>
            <a:lstStyle/>
            <a:p>
              <a:pPr algn="l"/>
              <a:r>
                <a:rPr lang="zh-CN" sz="975" dirty="0">
                  <a:solidFill>
                    <a:srgbClr val="0A0A0A"/>
                  </a:solidFill>
                  <a:latin typeface="Arial" panose="020B0604020202090204"/>
                  <a:ea typeface="微软雅黑"/>
                  <a:cs typeface="Arial" panose="020B0604020202090204"/>
                </a:rPr>
                <a:t>在统一业务量口径下， AI客服改造的一次性投入为 900万元，首年综合回报 900万元，可在第 12个月收回投资；随着模型优</a:t>
              </a:r>
              <a:endParaRPr lang="zh-CN" sz="975" dirty="0">
                <a:solidFill>
                  <a:srgbClr val="0A0A0A"/>
                </a:solidFill>
                <a:latin typeface="Arial" panose="020B0604020202090204"/>
                <a:ea typeface="微软雅黑"/>
                <a:cs typeface="Arial" panose="020B0604020202090204"/>
              </a:endParaRPr>
            </a:p>
          </p:txBody>
        </p:sp>
        <p:sp>
          <p:nvSpPr>
            <p:cNvPr id="17" name="TextBox 17"/>
            <p:cNvSpPr txBox="1"/>
            <p:nvPr/>
          </p:nvSpPr>
          <p:spPr>
            <a:xfrm>
              <a:off x="292418" y="1553908"/>
              <a:ext cx="4688324" cy="198120"/>
            </a:xfrm>
            <a:prstGeom prst="rect">
              <a:avLst/>
            </a:prstGeom>
            <a:noFill/>
            <a:ln>
              <a:noFill/>
            </a:ln>
          </p:spPr>
          <p:txBody>
            <a:bodyPr wrap="none" lIns="0" tIns="0" rIns="0" bIns="0" anchor="t" anchorCtr="0">
              <a:spAutoFit/>
            </a:bodyPr>
            <a:lstStyle/>
            <a:p>
              <a:pPr algn="l"/>
              <a:r>
                <a:rPr lang="zh-CN" sz="975" dirty="0">
                  <a:solidFill>
                    <a:srgbClr val="0A0A0A"/>
                  </a:solidFill>
                  <a:latin typeface="Arial" panose="020B0604020202090204"/>
                  <a:ea typeface="微软雅黑"/>
                  <a:cs typeface="Arial" panose="020B0604020202090204"/>
                </a:rPr>
                <a:t>化与业务转化提升， 3年累计回报提升至 2880万元，对应累计 ROI 320%。</a:t>
              </a:r>
              <a:endParaRPr lang="zh-CN" sz="975" dirty="0">
                <a:solidFill>
                  <a:srgbClr val="0A0A0A"/>
                </a:solidFill>
                <a:latin typeface="Arial" panose="020B0604020202090204"/>
                <a:ea typeface="微软雅黑"/>
                <a:cs typeface="Arial" panose="020B0604020202090204"/>
              </a:endParaRPr>
            </a:p>
          </p:txBody>
        </p:sp>
        <p:sp>
          <p:nvSpPr>
            <p:cNvPr id="18" name="Rectangle 18"/>
            <p:cNvSpPr/>
            <p:nvPr/>
          </p:nvSpPr>
          <p:spPr>
            <a:xfrm>
              <a:off x="9175432" y="1067657"/>
              <a:ext cx="2711768" cy="366712"/>
            </a:xfrm>
            <a:prstGeom prst="roundRect">
              <a:avLst>
                <a:gd name="adj" fmla="val 50000"/>
              </a:avLst>
            </a:prstGeom>
            <a:solidFill>
              <a:srgbClr val="0070F3">
                <a:alpha val="12000"/>
              </a:srgbClr>
            </a:solidFill>
            <a:ln>
              <a:noFill/>
            </a:ln>
          </p:spPr>
        </p:sp>
        <p:sp>
          <p:nvSpPr>
            <p:cNvPr id="19" name="Line 19"/>
            <p:cNvSpPr/>
            <p:nvPr/>
          </p:nvSpPr>
          <p:spPr>
            <a:xfrm>
              <a:off x="9175432" y="1067657"/>
              <a:ext cx="2711768" cy="9525"/>
            </a:xfrm>
            <a:custGeom>
              <a:avLst/>
              <a:gdLst/>
              <a:ahLst/>
              <a:cxnLst/>
              <a:rect l="l" t="t" r="r" b="b"/>
              <a:pathLst>
                <a:path w="2711768" h="9525">
                  <a:moveTo>
                    <a:pt x="0" y="0"/>
                  </a:moveTo>
                  <a:lnTo>
                    <a:pt x="2711768" y="0"/>
                  </a:lnTo>
                </a:path>
              </a:pathLst>
            </a:custGeom>
            <a:noFill/>
            <a:ln w="9525">
              <a:solidFill>
                <a:srgbClr val="0070F3">
                  <a:alpha val="25000"/>
                </a:srgbClr>
              </a:solidFill>
            </a:ln>
          </p:spPr>
        </p:sp>
        <p:sp>
          <p:nvSpPr>
            <p:cNvPr id="20" name="Line 20"/>
            <p:cNvSpPr/>
            <p:nvPr/>
          </p:nvSpPr>
          <p:spPr>
            <a:xfrm>
              <a:off x="11887200" y="1067657"/>
              <a:ext cx="9525" cy="366712"/>
            </a:xfrm>
            <a:custGeom>
              <a:avLst/>
              <a:gdLst/>
              <a:ahLst/>
              <a:cxnLst/>
              <a:rect l="l" t="t" r="r" b="b"/>
              <a:pathLst>
                <a:path w="9525" h="366712">
                  <a:moveTo>
                    <a:pt x="0" y="0"/>
                  </a:moveTo>
                  <a:lnTo>
                    <a:pt x="0" y="366712"/>
                  </a:lnTo>
                </a:path>
              </a:pathLst>
            </a:custGeom>
            <a:noFill/>
            <a:ln w="9525">
              <a:solidFill>
                <a:srgbClr val="0070F3">
                  <a:alpha val="25000"/>
                </a:srgbClr>
              </a:solidFill>
            </a:ln>
          </p:spPr>
        </p:sp>
        <p:sp>
          <p:nvSpPr>
            <p:cNvPr id="21" name="Line 21"/>
            <p:cNvSpPr/>
            <p:nvPr/>
          </p:nvSpPr>
          <p:spPr>
            <a:xfrm>
              <a:off x="9175432" y="1434370"/>
              <a:ext cx="2711768" cy="9525"/>
            </a:xfrm>
            <a:custGeom>
              <a:avLst/>
              <a:gdLst/>
              <a:ahLst/>
              <a:cxnLst/>
              <a:rect l="l" t="t" r="r" b="b"/>
              <a:pathLst>
                <a:path w="2711768" h="9525">
                  <a:moveTo>
                    <a:pt x="0" y="0"/>
                  </a:moveTo>
                  <a:lnTo>
                    <a:pt x="2711768" y="0"/>
                  </a:lnTo>
                </a:path>
              </a:pathLst>
            </a:custGeom>
            <a:noFill/>
            <a:ln w="9525">
              <a:solidFill>
                <a:srgbClr val="0070F3">
                  <a:alpha val="25000"/>
                </a:srgbClr>
              </a:solidFill>
            </a:ln>
          </p:spPr>
        </p:sp>
        <p:sp>
          <p:nvSpPr>
            <p:cNvPr id="22" name="Line 22"/>
            <p:cNvSpPr/>
            <p:nvPr/>
          </p:nvSpPr>
          <p:spPr>
            <a:xfrm>
              <a:off x="9175432" y="1067657"/>
              <a:ext cx="9525" cy="366712"/>
            </a:xfrm>
            <a:custGeom>
              <a:avLst/>
              <a:gdLst/>
              <a:ahLst/>
              <a:cxnLst/>
              <a:rect l="l" t="t" r="r" b="b"/>
              <a:pathLst>
                <a:path w="9525" h="366712">
                  <a:moveTo>
                    <a:pt x="0" y="0"/>
                  </a:moveTo>
                  <a:lnTo>
                    <a:pt x="0" y="366712"/>
                  </a:lnTo>
                </a:path>
              </a:pathLst>
            </a:custGeom>
            <a:noFill/>
            <a:ln w="9525">
              <a:solidFill>
                <a:srgbClr val="0070F3">
                  <a:alpha val="25000"/>
                </a:srgbClr>
              </a:solidFill>
            </a:ln>
          </p:spPr>
        </p:sp>
        <p:sp>
          <p:nvSpPr>
            <p:cNvPr id="23" name="TextBox 23"/>
            <p:cNvSpPr txBox="1"/>
            <p:nvPr/>
          </p:nvSpPr>
          <p:spPr>
            <a:xfrm>
              <a:off x="9297352" y="1180052"/>
              <a:ext cx="2743771"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基于年业务量 100万次咨询、统一业务口径测算</a:t>
              </a:r>
              <a:endParaRPr lang="zh-CN" sz="900" dirty="0">
                <a:solidFill>
                  <a:srgbClr val="0070F3"/>
                </a:solidFill>
                <a:latin typeface="Arial" panose="020B0604020202090204"/>
                <a:ea typeface="微软雅黑"/>
                <a:cs typeface="Arial" panose="020B0604020202090204"/>
              </a:endParaRPr>
            </a:p>
          </p:txBody>
        </p:sp>
        <p:sp>
          <p:nvSpPr>
            <p:cNvPr id="24" name="Rectangle 24"/>
            <p:cNvSpPr/>
            <p:nvPr/>
          </p:nvSpPr>
          <p:spPr>
            <a:xfrm>
              <a:off x="304800" y="1898142"/>
              <a:ext cx="3784568" cy="1143000"/>
            </a:xfrm>
            <a:prstGeom prst="roundRect">
              <a:avLst>
                <a:gd name="adj" fmla="val 13333"/>
              </a:avLst>
            </a:prstGeom>
            <a:solidFill>
              <a:srgbClr val="FFFFFF">
                <a:alpha val="72000"/>
              </a:srgbClr>
            </a:solidFill>
            <a:ln>
              <a:noFill/>
            </a:ln>
          </p:spPr>
        </p:sp>
        <p:sp>
          <p:nvSpPr>
            <p:cNvPr id="25" name="Line 25"/>
            <p:cNvSpPr/>
            <p:nvPr/>
          </p:nvSpPr>
          <p:spPr>
            <a:xfrm>
              <a:off x="304800" y="1898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26" name="Line 26"/>
            <p:cNvSpPr/>
            <p:nvPr/>
          </p:nvSpPr>
          <p:spPr>
            <a:xfrm>
              <a:off x="4089368"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27" name="Line 27"/>
            <p:cNvSpPr/>
            <p:nvPr/>
          </p:nvSpPr>
          <p:spPr>
            <a:xfrm>
              <a:off x="304800" y="3041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28" name="Line 28"/>
            <p:cNvSpPr/>
            <p:nvPr/>
          </p:nvSpPr>
          <p:spPr>
            <a:xfrm>
              <a:off x="304800"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29" name="TextBox 29"/>
            <p:cNvSpPr txBox="1"/>
            <p:nvPr/>
          </p:nvSpPr>
          <p:spPr>
            <a:xfrm>
              <a:off x="474345" y="2077212"/>
              <a:ext cx="68008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投资回收期</a:t>
              </a:r>
              <a:endParaRPr lang="zh-CN" sz="900" dirty="0">
                <a:solidFill>
                  <a:srgbClr val="94A3B8"/>
                </a:solidFill>
                <a:latin typeface="Arial" panose="020B0604020202090204"/>
                <a:ea typeface="微软雅黑"/>
                <a:cs typeface="Arial" panose="020B0604020202090204"/>
              </a:endParaRPr>
            </a:p>
          </p:txBody>
        </p:sp>
        <p:sp>
          <p:nvSpPr>
            <p:cNvPr id="30" name="TextBox 30"/>
            <p:cNvSpPr txBox="1"/>
            <p:nvPr/>
          </p:nvSpPr>
          <p:spPr>
            <a:xfrm>
              <a:off x="459105" y="2333434"/>
              <a:ext cx="971155"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Arial" panose="020B0604020202090204"/>
                  <a:ea typeface="微软雅黑"/>
                  <a:cs typeface="Arial" panose="020B0604020202090204"/>
                </a:rPr>
                <a:t>12个月</a:t>
              </a:r>
              <a:endParaRPr lang="zh-CN" sz="2100" b="1" dirty="0">
                <a:solidFill>
                  <a:srgbClr val="0A0A0A"/>
                </a:solidFill>
                <a:latin typeface="Arial" panose="020B0604020202090204"/>
                <a:ea typeface="微软雅黑"/>
                <a:cs typeface="Arial" panose="020B0604020202090204"/>
              </a:endParaRPr>
            </a:p>
          </p:txBody>
        </p:sp>
        <p:sp>
          <p:nvSpPr>
            <p:cNvPr id="31" name="TextBox 31"/>
            <p:cNvSpPr txBox="1"/>
            <p:nvPr/>
          </p:nvSpPr>
          <p:spPr>
            <a:xfrm>
              <a:off x="474345" y="2739200"/>
              <a:ext cx="1534477"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月均综合回报约 75.0万元</a:t>
              </a:r>
              <a:endParaRPr lang="zh-CN" sz="900" dirty="0">
                <a:solidFill>
                  <a:srgbClr val="0070F3"/>
                </a:solidFill>
                <a:latin typeface="Arial" panose="020B0604020202090204"/>
                <a:ea typeface="微软雅黑"/>
                <a:cs typeface="Arial" panose="020B0604020202090204"/>
              </a:endParaRPr>
            </a:p>
          </p:txBody>
        </p:sp>
        <p:sp>
          <p:nvSpPr>
            <p:cNvPr id="32" name="Rectangle 32"/>
            <p:cNvSpPr/>
            <p:nvPr/>
          </p:nvSpPr>
          <p:spPr>
            <a:xfrm>
              <a:off x="4203668" y="1898142"/>
              <a:ext cx="3784663" cy="1143000"/>
            </a:xfrm>
            <a:prstGeom prst="roundRect">
              <a:avLst>
                <a:gd name="adj" fmla="val 13333"/>
              </a:avLst>
            </a:prstGeom>
            <a:solidFill>
              <a:srgbClr val="FFFFFF">
                <a:alpha val="72000"/>
              </a:srgbClr>
            </a:solidFill>
            <a:ln>
              <a:noFill/>
            </a:ln>
          </p:spPr>
        </p:sp>
        <p:sp>
          <p:nvSpPr>
            <p:cNvPr id="33" name="Line 33"/>
            <p:cNvSpPr/>
            <p:nvPr/>
          </p:nvSpPr>
          <p:spPr>
            <a:xfrm>
              <a:off x="4203668" y="1898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34" name="Line 34"/>
            <p:cNvSpPr/>
            <p:nvPr/>
          </p:nvSpPr>
          <p:spPr>
            <a:xfrm>
              <a:off x="7988236"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35" name="Line 35"/>
            <p:cNvSpPr/>
            <p:nvPr/>
          </p:nvSpPr>
          <p:spPr>
            <a:xfrm>
              <a:off x="4203668" y="3041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36" name="Line 36"/>
            <p:cNvSpPr/>
            <p:nvPr/>
          </p:nvSpPr>
          <p:spPr>
            <a:xfrm>
              <a:off x="4203668"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37" name="TextBox 37"/>
            <p:cNvSpPr txBox="1"/>
            <p:nvPr/>
          </p:nvSpPr>
          <p:spPr>
            <a:xfrm>
              <a:off x="4373213" y="2077212"/>
              <a:ext cx="81153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首年综合回报</a:t>
              </a:r>
              <a:endParaRPr lang="zh-CN" sz="900" dirty="0">
                <a:solidFill>
                  <a:srgbClr val="94A3B8"/>
                </a:solidFill>
                <a:latin typeface="Arial" panose="020B0604020202090204"/>
                <a:ea typeface="微软雅黑"/>
                <a:cs typeface="Arial" panose="020B0604020202090204"/>
              </a:endParaRPr>
            </a:p>
          </p:txBody>
        </p:sp>
        <p:sp>
          <p:nvSpPr>
            <p:cNvPr id="38" name="TextBox 38"/>
            <p:cNvSpPr txBox="1"/>
            <p:nvPr/>
          </p:nvSpPr>
          <p:spPr>
            <a:xfrm>
              <a:off x="4357973" y="2333434"/>
              <a:ext cx="1228787"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Arial" panose="020B0604020202090204"/>
                  <a:ea typeface="微软雅黑"/>
                  <a:cs typeface="Arial" panose="020B0604020202090204"/>
                </a:rPr>
                <a:t>900万元</a:t>
              </a:r>
              <a:endParaRPr lang="zh-CN" sz="2100" b="1" dirty="0">
                <a:solidFill>
                  <a:srgbClr val="0A0A0A"/>
                </a:solidFill>
                <a:latin typeface="Arial" panose="020B0604020202090204"/>
                <a:ea typeface="微软雅黑"/>
                <a:cs typeface="Arial" panose="020B0604020202090204"/>
              </a:endParaRPr>
            </a:p>
          </p:txBody>
        </p:sp>
        <p:sp>
          <p:nvSpPr>
            <p:cNvPr id="39" name="TextBox 39"/>
            <p:cNvSpPr txBox="1"/>
            <p:nvPr/>
          </p:nvSpPr>
          <p:spPr>
            <a:xfrm>
              <a:off x="4373213" y="2739200"/>
              <a:ext cx="1928812"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成本节省 720万元 +增收 180万元</a:t>
              </a:r>
              <a:endParaRPr lang="zh-CN" sz="900" dirty="0">
                <a:solidFill>
                  <a:srgbClr val="0070F3"/>
                </a:solidFill>
                <a:latin typeface="Arial" panose="020B0604020202090204"/>
                <a:ea typeface="微软雅黑"/>
                <a:cs typeface="Arial" panose="020B0604020202090204"/>
              </a:endParaRPr>
            </a:p>
          </p:txBody>
        </p:sp>
        <p:sp>
          <p:nvSpPr>
            <p:cNvPr id="40" name="Rectangle 40"/>
            <p:cNvSpPr/>
            <p:nvPr/>
          </p:nvSpPr>
          <p:spPr>
            <a:xfrm>
              <a:off x="8102536" y="1898142"/>
              <a:ext cx="3784663" cy="1143000"/>
            </a:xfrm>
            <a:prstGeom prst="roundRect">
              <a:avLst>
                <a:gd name="adj" fmla="val 13333"/>
              </a:avLst>
            </a:prstGeom>
            <a:solidFill>
              <a:srgbClr val="FFFFFF">
                <a:alpha val="72000"/>
              </a:srgbClr>
            </a:solidFill>
            <a:ln>
              <a:noFill/>
            </a:ln>
          </p:spPr>
        </p:sp>
        <p:sp>
          <p:nvSpPr>
            <p:cNvPr id="41" name="Line 41"/>
            <p:cNvSpPr/>
            <p:nvPr/>
          </p:nvSpPr>
          <p:spPr>
            <a:xfrm>
              <a:off x="8102536" y="1898142"/>
              <a:ext cx="3784664" cy="9525"/>
            </a:xfrm>
            <a:custGeom>
              <a:avLst/>
              <a:gdLst/>
              <a:ahLst/>
              <a:cxnLst/>
              <a:rect l="l" t="t" r="r" b="b"/>
              <a:pathLst>
                <a:path w="3784664" h="9525">
                  <a:moveTo>
                    <a:pt x="0" y="0"/>
                  </a:moveTo>
                  <a:lnTo>
                    <a:pt x="3784664" y="0"/>
                  </a:lnTo>
                </a:path>
              </a:pathLst>
            </a:custGeom>
            <a:noFill/>
            <a:ln w="9525">
              <a:solidFill>
                <a:srgbClr val="0070F3">
                  <a:alpha val="16000"/>
                </a:srgbClr>
              </a:solidFill>
            </a:ln>
          </p:spPr>
        </p:sp>
        <p:sp>
          <p:nvSpPr>
            <p:cNvPr id="42" name="Line 42"/>
            <p:cNvSpPr/>
            <p:nvPr/>
          </p:nvSpPr>
          <p:spPr>
            <a:xfrm>
              <a:off x="11887200"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43" name="Line 43"/>
            <p:cNvSpPr/>
            <p:nvPr/>
          </p:nvSpPr>
          <p:spPr>
            <a:xfrm>
              <a:off x="8102536" y="3041142"/>
              <a:ext cx="3784664" cy="9525"/>
            </a:xfrm>
            <a:custGeom>
              <a:avLst/>
              <a:gdLst/>
              <a:ahLst/>
              <a:cxnLst/>
              <a:rect l="l" t="t" r="r" b="b"/>
              <a:pathLst>
                <a:path w="3784664" h="9525">
                  <a:moveTo>
                    <a:pt x="0" y="0"/>
                  </a:moveTo>
                  <a:lnTo>
                    <a:pt x="3784664" y="0"/>
                  </a:lnTo>
                </a:path>
              </a:pathLst>
            </a:custGeom>
            <a:noFill/>
            <a:ln w="9525">
              <a:solidFill>
                <a:srgbClr val="0070F3">
                  <a:alpha val="16000"/>
                </a:srgbClr>
              </a:solidFill>
            </a:ln>
          </p:spPr>
        </p:sp>
        <p:sp>
          <p:nvSpPr>
            <p:cNvPr id="44" name="Line 44"/>
            <p:cNvSpPr/>
            <p:nvPr/>
          </p:nvSpPr>
          <p:spPr>
            <a:xfrm>
              <a:off x="8102536"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45" name="TextBox 45"/>
            <p:cNvSpPr txBox="1"/>
            <p:nvPr/>
          </p:nvSpPr>
          <p:spPr>
            <a:xfrm>
              <a:off x="8272081" y="2077212"/>
              <a:ext cx="73923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3年累计 ROI</a:t>
              </a:r>
              <a:endParaRPr lang="zh-CN" sz="900" dirty="0">
                <a:solidFill>
                  <a:srgbClr val="94A3B8"/>
                </a:solidFill>
                <a:latin typeface="Arial" panose="020B0604020202090204"/>
                <a:ea typeface="微软雅黑"/>
                <a:cs typeface="Arial" panose="020B0604020202090204"/>
              </a:endParaRPr>
            </a:p>
          </p:txBody>
        </p:sp>
        <p:sp>
          <p:nvSpPr>
            <p:cNvPr id="46" name="TextBox 46"/>
            <p:cNvSpPr txBox="1"/>
            <p:nvPr/>
          </p:nvSpPr>
          <p:spPr>
            <a:xfrm>
              <a:off x="8256842" y="2333434"/>
              <a:ext cx="761829"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Arial" panose="020B0604020202090204"/>
                  <a:ea typeface="微软雅黑"/>
                  <a:cs typeface="Arial" panose="020B0604020202090204"/>
                </a:rPr>
                <a:t>320%</a:t>
              </a:r>
              <a:endParaRPr lang="zh-CN" sz="2100" b="1" dirty="0">
                <a:solidFill>
                  <a:srgbClr val="0A0A0A"/>
                </a:solidFill>
                <a:latin typeface="Arial" panose="020B0604020202090204"/>
                <a:ea typeface="微软雅黑"/>
                <a:cs typeface="Arial" panose="020B0604020202090204"/>
              </a:endParaRPr>
            </a:p>
          </p:txBody>
        </p:sp>
        <p:sp>
          <p:nvSpPr>
            <p:cNvPr id="47" name="TextBox 47"/>
            <p:cNvSpPr txBox="1"/>
            <p:nvPr/>
          </p:nvSpPr>
          <p:spPr>
            <a:xfrm>
              <a:off x="8272081" y="2677287"/>
              <a:ext cx="2428303"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3年累计回报 2880万元，净增益 1980万元</a:t>
              </a:r>
              <a:endParaRPr lang="zh-CN" sz="900" dirty="0">
                <a:solidFill>
                  <a:srgbClr val="0070F3"/>
                </a:solidFill>
                <a:latin typeface="Arial" panose="020B0604020202090204"/>
                <a:ea typeface="微软雅黑"/>
                <a:cs typeface="Arial" panose="020B0604020202090204"/>
              </a:endParaRPr>
            </a:p>
          </p:txBody>
        </p:sp>
        <p:sp>
          <p:nvSpPr>
            <p:cNvPr id="48" name="Rectangle 48"/>
            <p:cNvSpPr/>
            <p:nvPr/>
          </p:nvSpPr>
          <p:spPr>
            <a:xfrm>
              <a:off x="304800" y="3193542"/>
              <a:ext cx="11582400" cy="430530"/>
            </a:xfrm>
            <a:prstGeom prst="roundRect">
              <a:avLst>
                <a:gd name="adj" fmla="val 30973"/>
              </a:avLst>
            </a:prstGeom>
            <a:solidFill>
              <a:srgbClr val="FFFFFF">
                <a:alpha val="80000"/>
              </a:srgbClr>
            </a:solidFill>
            <a:ln>
              <a:noFill/>
            </a:ln>
          </p:spPr>
        </p:sp>
        <p:sp>
          <p:nvSpPr>
            <p:cNvPr id="49" name="Line 49"/>
            <p:cNvSpPr/>
            <p:nvPr/>
          </p:nvSpPr>
          <p:spPr>
            <a:xfrm>
              <a:off x="304800" y="3193542"/>
              <a:ext cx="11582400" cy="9525"/>
            </a:xfrm>
            <a:custGeom>
              <a:avLst/>
              <a:gdLst/>
              <a:ahLst/>
              <a:cxnLst/>
              <a:rect l="l" t="t" r="r" b="b"/>
              <a:pathLst>
                <a:path w="11582400" h="9525">
                  <a:moveTo>
                    <a:pt x="0" y="0"/>
                  </a:moveTo>
                  <a:lnTo>
                    <a:pt x="11582400" y="0"/>
                  </a:lnTo>
                </a:path>
              </a:pathLst>
            </a:custGeom>
            <a:noFill/>
            <a:ln w="9525">
              <a:solidFill>
                <a:srgbClr val="94A3B8">
                  <a:alpha val="16000"/>
                </a:srgbClr>
              </a:solidFill>
            </a:ln>
          </p:spPr>
        </p:sp>
        <p:sp>
          <p:nvSpPr>
            <p:cNvPr id="50" name="Line 50"/>
            <p:cNvSpPr/>
            <p:nvPr/>
          </p:nvSpPr>
          <p:spPr>
            <a:xfrm>
              <a:off x="11887200" y="3193542"/>
              <a:ext cx="9525" cy="430530"/>
            </a:xfrm>
            <a:custGeom>
              <a:avLst/>
              <a:gdLst/>
              <a:ahLst/>
              <a:cxnLst/>
              <a:rect l="l" t="t" r="r" b="b"/>
              <a:pathLst>
                <a:path w="9525" h="430530">
                  <a:moveTo>
                    <a:pt x="0" y="0"/>
                  </a:moveTo>
                  <a:lnTo>
                    <a:pt x="0" y="430530"/>
                  </a:lnTo>
                </a:path>
              </a:pathLst>
            </a:custGeom>
            <a:noFill/>
            <a:ln w="9525">
              <a:solidFill>
                <a:srgbClr val="94A3B8">
                  <a:alpha val="16000"/>
                </a:srgbClr>
              </a:solidFill>
            </a:ln>
          </p:spPr>
        </p:sp>
        <p:sp>
          <p:nvSpPr>
            <p:cNvPr id="51" name="Line 51"/>
            <p:cNvSpPr/>
            <p:nvPr/>
          </p:nvSpPr>
          <p:spPr>
            <a:xfrm>
              <a:off x="304800" y="3624072"/>
              <a:ext cx="11582400" cy="9525"/>
            </a:xfrm>
            <a:custGeom>
              <a:avLst/>
              <a:gdLst/>
              <a:ahLst/>
              <a:cxnLst/>
              <a:rect l="l" t="t" r="r" b="b"/>
              <a:pathLst>
                <a:path w="11582400" h="9525">
                  <a:moveTo>
                    <a:pt x="0" y="0"/>
                  </a:moveTo>
                  <a:lnTo>
                    <a:pt x="11582400" y="0"/>
                  </a:lnTo>
                </a:path>
              </a:pathLst>
            </a:custGeom>
            <a:noFill/>
            <a:ln w="9525">
              <a:solidFill>
                <a:srgbClr val="94A3B8">
                  <a:alpha val="16000"/>
                </a:srgbClr>
              </a:solidFill>
            </a:ln>
          </p:spPr>
        </p:sp>
        <p:sp>
          <p:nvSpPr>
            <p:cNvPr id="52" name="Line 52"/>
            <p:cNvSpPr/>
            <p:nvPr/>
          </p:nvSpPr>
          <p:spPr>
            <a:xfrm>
              <a:off x="304800" y="3193542"/>
              <a:ext cx="9525" cy="430530"/>
            </a:xfrm>
            <a:custGeom>
              <a:avLst/>
              <a:gdLst/>
              <a:ahLst/>
              <a:cxnLst/>
              <a:rect l="l" t="t" r="r" b="b"/>
              <a:pathLst>
                <a:path w="9525" h="430530">
                  <a:moveTo>
                    <a:pt x="0" y="0"/>
                  </a:moveTo>
                  <a:lnTo>
                    <a:pt x="0" y="430530"/>
                  </a:lnTo>
                </a:path>
              </a:pathLst>
            </a:custGeom>
            <a:noFill/>
            <a:ln w="9525">
              <a:solidFill>
                <a:srgbClr val="94A3B8">
                  <a:alpha val="16000"/>
                </a:srgbClr>
              </a:solidFill>
            </a:ln>
          </p:spPr>
        </p:sp>
        <p:sp>
          <p:nvSpPr>
            <p:cNvPr id="53" name="TextBox 53"/>
            <p:cNvSpPr txBox="1"/>
            <p:nvPr/>
          </p:nvSpPr>
          <p:spPr>
            <a:xfrm>
              <a:off x="436245" y="3334512"/>
              <a:ext cx="574929" cy="182880"/>
            </a:xfrm>
            <a:prstGeom prst="rect">
              <a:avLst/>
            </a:prstGeom>
            <a:noFill/>
            <a:ln>
              <a:noFill/>
            </a:ln>
          </p:spPr>
          <p:txBody>
            <a:bodyPr wrap="none" lIns="0" tIns="0" rIns="0" bIns="0" anchor="t" anchorCtr="0">
              <a:spAutoFit/>
            </a:bodyPr>
            <a:lstStyle/>
            <a:p>
              <a:pPr algn="l"/>
              <a:r>
                <a:rPr lang="zh-CN" sz="900" b="1" dirty="0">
                  <a:solidFill>
                    <a:srgbClr val="0A0A0A"/>
                  </a:solidFill>
                  <a:latin typeface="Arial" panose="020B0604020202090204"/>
                  <a:ea typeface="微软雅黑"/>
                  <a:cs typeface="Arial" panose="020B0604020202090204"/>
                </a:rPr>
                <a:t>关键假设</a:t>
              </a:r>
              <a:endParaRPr lang="zh-CN" sz="900" b="1" dirty="0">
                <a:solidFill>
                  <a:srgbClr val="0A0A0A"/>
                </a:solidFill>
                <a:latin typeface="Arial" panose="020B0604020202090204"/>
                <a:ea typeface="微软雅黑"/>
                <a:cs typeface="Arial" panose="020B0604020202090204"/>
              </a:endParaRPr>
            </a:p>
          </p:txBody>
        </p:sp>
        <p:sp>
          <p:nvSpPr>
            <p:cNvPr id="54" name="TextBox 54"/>
            <p:cNvSpPr txBox="1"/>
            <p:nvPr/>
          </p:nvSpPr>
          <p:spPr>
            <a:xfrm>
              <a:off x="988695" y="3334512"/>
              <a:ext cx="1462183"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一次性建设投入 900万元</a:t>
              </a:r>
              <a:endParaRPr lang="zh-CN" sz="900" dirty="0">
                <a:solidFill>
                  <a:srgbClr val="0A0A0A"/>
                </a:solidFill>
                <a:latin typeface="Arial" panose="020B0604020202090204"/>
                <a:ea typeface="微软雅黑"/>
                <a:cs typeface="Arial" panose="020B0604020202090204"/>
              </a:endParaRPr>
            </a:p>
          </p:txBody>
        </p:sp>
        <p:sp>
          <p:nvSpPr>
            <p:cNvPr id="55" name="TextBox 55"/>
            <p:cNvSpPr txBox="1"/>
            <p:nvPr/>
          </p:nvSpPr>
          <p:spPr>
            <a:xfrm>
              <a:off x="2366962" y="3334512"/>
              <a:ext cx="1330738"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首年成本节省 720万元</a:t>
              </a:r>
              <a:endParaRPr lang="zh-CN" sz="900" dirty="0">
                <a:solidFill>
                  <a:srgbClr val="0A0A0A"/>
                </a:solidFill>
                <a:latin typeface="Arial" panose="020B0604020202090204"/>
                <a:ea typeface="微软雅黑"/>
                <a:cs typeface="Arial" panose="020B0604020202090204"/>
              </a:endParaRPr>
            </a:p>
          </p:txBody>
        </p:sp>
        <p:sp>
          <p:nvSpPr>
            <p:cNvPr id="56" name="TextBox 56"/>
            <p:cNvSpPr txBox="1"/>
            <p:nvPr/>
          </p:nvSpPr>
          <p:spPr>
            <a:xfrm>
              <a:off x="3630835" y="3334512"/>
              <a:ext cx="1692211"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首年增收与留存收益 180万元</a:t>
              </a:r>
              <a:endParaRPr lang="zh-CN" sz="900" dirty="0">
                <a:solidFill>
                  <a:srgbClr val="0A0A0A"/>
                </a:solidFill>
                <a:latin typeface="Arial" panose="020B0604020202090204"/>
                <a:ea typeface="微软雅黑"/>
                <a:cs typeface="Arial" panose="020B0604020202090204"/>
              </a:endParaRPr>
            </a:p>
          </p:txBody>
        </p:sp>
        <p:sp>
          <p:nvSpPr>
            <p:cNvPr id="57" name="TextBox 57"/>
            <p:cNvSpPr txBox="1"/>
            <p:nvPr/>
          </p:nvSpPr>
          <p:spPr>
            <a:xfrm>
              <a:off x="5237702" y="3334512"/>
              <a:ext cx="2586037"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3年累计 ROI= 3年累计回报 /初始投入× 100%</a:t>
              </a:r>
              <a:endParaRPr lang="zh-CN" sz="900" dirty="0">
                <a:solidFill>
                  <a:srgbClr val="0A0A0A"/>
                </a:solidFill>
                <a:latin typeface="Arial" panose="020B0604020202090204"/>
                <a:ea typeface="微软雅黑"/>
                <a:cs typeface="Arial" panose="020B0604020202090204"/>
              </a:endParaRPr>
            </a:p>
          </p:txBody>
        </p:sp>
        <p:sp>
          <p:nvSpPr>
            <p:cNvPr id="58" name="TextBox 58"/>
            <p:cNvSpPr txBox="1"/>
            <p:nvPr/>
          </p:nvSpPr>
          <p:spPr>
            <a:xfrm>
              <a:off x="7778306" y="3334512"/>
              <a:ext cx="3427285"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全部页面采用相同口径，避免 ROI、回收期与回报口径冲突</a:t>
              </a:r>
              <a:endParaRPr lang="zh-CN" sz="900" dirty="0">
                <a:solidFill>
                  <a:srgbClr val="0A0A0A"/>
                </a:solidFill>
                <a:latin typeface="Arial" panose="020B0604020202090204"/>
                <a:ea typeface="微软雅黑"/>
                <a:cs typeface="Arial" panose="020B0604020202090204"/>
              </a:endParaRPr>
            </a:p>
          </p:txBody>
        </p:sp>
        <p:sp>
          <p:nvSpPr>
            <p:cNvPr id="59" name="Rectangle 59"/>
            <p:cNvSpPr/>
            <p:nvPr/>
          </p:nvSpPr>
          <p:spPr>
            <a:xfrm>
              <a:off x="304800" y="3986022"/>
              <a:ext cx="5715000" cy="2871978"/>
            </a:xfrm>
            <a:prstGeom prst="roundRect">
              <a:avLst>
                <a:gd name="adj" fmla="val 5970"/>
              </a:avLst>
            </a:prstGeom>
            <a:solidFill>
              <a:srgbClr val="FFFFFF">
                <a:alpha val="78000"/>
              </a:srgbClr>
            </a:solidFill>
            <a:ln>
              <a:noFill/>
            </a:ln>
          </p:spPr>
        </p:sp>
        <p:sp>
          <p:nvSpPr>
            <p:cNvPr id="60" name="Line 60"/>
            <p:cNvSpPr/>
            <p:nvPr/>
          </p:nvSpPr>
          <p:spPr>
            <a:xfrm>
              <a:off x="304800" y="3986022"/>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61" name="Line 61"/>
            <p:cNvSpPr/>
            <p:nvPr/>
          </p:nvSpPr>
          <p:spPr>
            <a:xfrm>
              <a:off x="60198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62" name="Line 62"/>
            <p:cNvSpPr/>
            <p:nvPr/>
          </p:nvSpPr>
          <p:spPr>
            <a:xfrm>
              <a:off x="304800" y="6858000"/>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63" name="Line 63"/>
            <p:cNvSpPr/>
            <p:nvPr/>
          </p:nvSpPr>
          <p:spPr>
            <a:xfrm>
              <a:off x="3048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64" name="TextBox 64"/>
            <p:cNvSpPr txBox="1"/>
            <p:nvPr/>
          </p:nvSpPr>
          <p:spPr>
            <a:xfrm>
              <a:off x="490538" y="4188428"/>
              <a:ext cx="4721162"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全球 AI市场以 35.9% CAGR高速增长， 2030年将突破 1.81万亿</a:t>
              </a:r>
              <a:endParaRPr lang="zh-CN" sz="1125" b="1" dirty="0">
                <a:solidFill>
                  <a:srgbClr val="0A0A0A"/>
                </a:solidFill>
                <a:latin typeface="Arial" panose="020B0604020202090204"/>
                <a:ea typeface="微软雅黑"/>
                <a:cs typeface="Arial" panose="020B0604020202090204"/>
              </a:endParaRPr>
            </a:p>
          </p:txBody>
        </p:sp>
        <p:sp>
          <p:nvSpPr>
            <p:cNvPr id="65" name="TextBox 65"/>
            <p:cNvSpPr txBox="1"/>
            <p:nvPr/>
          </p:nvSpPr>
          <p:spPr>
            <a:xfrm>
              <a:off x="490538" y="4367022"/>
              <a:ext cx="373618"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美元</a:t>
              </a:r>
              <a:endParaRPr lang="zh-CN" sz="1125" b="1" dirty="0">
                <a:solidFill>
                  <a:srgbClr val="0A0A0A"/>
                </a:solidFill>
                <a:latin typeface="Arial" panose="020B0604020202090204"/>
                <a:ea typeface="微软雅黑"/>
                <a:cs typeface="Arial" panose="020B0604020202090204"/>
              </a:endParaRPr>
            </a:p>
          </p:txBody>
        </p:sp>
        <p:sp>
          <p:nvSpPr>
            <p:cNvPr id="66" name="TextBox 66"/>
            <p:cNvSpPr txBox="1"/>
            <p:nvPr/>
          </p:nvSpPr>
          <p:spPr>
            <a:xfrm>
              <a:off x="493395" y="4422267"/>
              <a:ext cx="4380262"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按月展示累计投入、累计回报与累计净增益，盈亏平衡点锁定在第 12个月。</a:t>
              </a:r>
              <a:endParaRPr lang="zh-CN" sz="900" dirty="0">
                <a:solidFill>
                  <a:srgbClr val="94A3B8"/>
                </a:solidFill>
                <a:latin typeface="Arial" panose="020B0604020202090204"/>
                <a:ea typeface="微软雅黑"/>
                <a:cs typeface="Arial" panose="020B0604020202090204"/>
              </a:endParaRPr>
            </a:p>
          </p:txBody>
        </p:sp>
        <p:sp>
          <p:nvSpPr>
            <p:cNvPr id="67" name="Rectangle 67"/>
            <p:cNvSpPr/>
            <p:nvPr/>
          </p:nvSpPr>
          <p:spPr>
            <a:xfrm>
              <a:off x="5057775" y="4166997"/>
              <a:ext cx="762000" cy="271462"/>
            </a:xfrm>
            <a:prstGeom prst="roundRect">
              <a:avLst>
                <a:gd name="adj" fmla="val 50000"/>
              </a:avLst>
            </a:prstGeom>
            <a:solidFill>
              <a:srgbClr val="22C55E">
                <a:alpha val="12000"/>
              </a:srgbClr>
            </a:solidFill>
            <a:ln>
              <a:noFill/>
            </a:ln>
          </p:spPr>
        </p:sp>
        <p:sp>
          <p:nvSpPr>
            <p:cNvPr id="68" name="TextBox 68"/>
            <p:cNvSpPr txBox="1"/>
            <p:nvPr/>
          </p:nvSpPr>
          <p:spPr>
            <a:xfrm>
              <a:off x="5141595" y="4241292"/>
              <a:ext cx="680085" cy="182880"/>
            </a:xfrm>
            <a:prstGeom prst="rect">
              <a:avLst/>
            </a:prstGeom>
            <a:noFill/>
            <a:ln>
              <a:noFill/>
            </a:ln>
          </p:spPr>
          <p:txBody>
            <a:bodyPr wrap="none" lIns="0" tIns="0" rIns="0" bIns="0" anchor="t" anchorCtr="0">
              <a:spAutoFit/>
            </a:bodyPr>
            <a:lstStyle/>
            <a:p>
              <a:pPr algn="l"/>
              <a:r>
                <a:rPr lang="zh-CN" sz="900" dirty="0">
                  <a:solidFill>
                    <a:srgbClr val="86EFAC"/>
                  </a:solidFill>
                  <a:latin typeface="Arial" panose="020B0604020202090204"/>
                  <a:ea typeface="微软雅黑"/>
                  <a:cs typeface="Arial" panose="020B0604020202090204"/>
                </a:rPr>
                <a:t>单位：万元</a:t>
              </a:r>
              <a:endParaRPr lang="zh-CN" sz="900" dirty="0">
                <a:solidFill>
                  <a:srgbClr val="86EFAC"/>
                </a:solidFill>
                <a:latin typeface="Arial" panose="020B0604020202090204"/>
                <a:ea typeface="微软雅黑"/>
                <a:cs typeface="Arial" panose="020B0604020202090204"/>
              </a:endParaRPr>
            </a:p>
          </p:txBody>
        </p:sp>
        <p:grpSp>
          <p:nvGrpSpPr>
            <p:cNvPr id="139" name="Group 139"/>
            <p:cNvGrpSpPr/>
            <p:nvPr/>
          </p:nvGrpSpPr>
          <p:grpSpPr>
            <a:xfrm>
              <a:off x="498522" y="4661598"/>
              <a:ext cx="5439065" cy="2196433"/>
              <a:chOff x="498522" y="4661598"/>
              <a:chExt cx="5439065" cy="2196433"/>
            </a:xfrm>
          </p:grpSpPr>
          <p:sp>
            <p:nvSpPr>
              <p:cNvPr id="69" name="Rectangle 69"/>
              <p:cNvSpPr/>
              <p:nvPr/>
            </p:nvSpPr>
            <p:spPr>
              <a:xfrm>
                <a:off x="504825" y="4676584"/>
                <a:ext cx="5314950" cy="2181447"/>
              </a:xfrm>
              <a:prstGeom prst="rect">
                <a:avLst/>
              </a:prstGeom>
              <a:noFill/>
              <a:ln>
                <a:noFill/>
              </a:ln>
            </p:spPr>
          </p:sp>
          <p:grpSp>
            <p:nvGrpSpPr>
              <p:cNvPr id="138" name="Group 138"/>
              <p:cNvGrpSpPr/>
              <p:nvPr/>
            </p:nvGrpSpPr>
            <p:grpSpPr>
              <a:xfrm>
                <a:off x="498522" y="4661598"/>
                <a:ext cx="5439065" cy="2020239"/>
                <a:chOff x="498522" y="4661598"/>
                <a:chExt cx="5439065" cy="2020239"/>
              </a:xfrm>
            </p:grpSpPr>
            <p:sp>
              <p:nvSpPr>
                <p:cNvPr id="70" name="Freeform 70"/>
                <p:cNvSpPr/>
                <p:nvPr/>
              </p:nvSpPr>
              <p:spPr>
                <a:xfrm>
                  <a:off x="1038225" y="6493059"/>
                  <a:ext cx="4514850" cy="9525"/>
                </a:xfrm>
                <a:custGeom>
                  <a:avLst/>
                  <a:gdLst/>
                  <a:ahLst/>
                  <a:cxnLst/>
                  <a:rect l="l" t="t" r="r" b="b"/>
                  <a:pathLst>
                    <a:path w="4514850" h="9525">
                      <a:moveTo>
                        <a:pt x="0" y="0"/>
                      </a:moveTo>
                      <a:lnTo>
                        <a:pt x="4514850" y="0"/>
                      </a:lnTo>
                    </a:path>
                  </a:pathLst>
                </a:custGeom>
                <a:noFill/>
                <a:ln w="9525">
                  <a:solidFill>
                    <a:srgbClr val="94A3B8">
                      <a:alpha val="12000"/>
                    </a:srgbClr>
                  </a:solidFill>
                </a:ln>
              </p:spPr>
            </p:sp>
            <p:sp>
              <p:nvSpPr>
                <p:cNvPr id="71" name="Freeform 71"/>
                <p:cNvSpPr/>
                <p:nvPr/>
              </p:nvSpPr>
              <p:spPr>
                <a:xfrm>
                  <a:off x="1038225" y="6140671"/>
                  <a:ext cx="4514850" cy="9525"/>
                </a:xfrm>
                <a:custGeom>
                  <a:avLst/>
                  <a:gdLst/>
                  <a:ahLst/>
                  <a:cxnLst/>
                  <a:rect l="l" t="t" r="r" b="b"/>
                  <a:pathLst>
                    <a:path w="4514850" h="9525">
                      <a:moveTo>
                        <a:pt x="0" y="0"/>
                      </a:moveTo>
                      <a:lnTo>
                        <a:pt x="4514850" y="0"/>
                      </a:lnTo>
                    </a:path>
                  </a:pathLst>
                </a:custGeom>
                <a:noFill/>
                <a:ln w="9525">
                  <a:solidFill>
                    <a:srgbClr val="94A3B8">
                      <a:alpha val="12000"/>
                    </a:srgbClr>
                  </a:solidFill>
                </a:ln>
              </p:spPr>
            </p:sp>
            <p:sp>
              <p:nvSpPr>
                <p:cNvPr id="72" name="Freeform 72"/>
                <p:cNvSpPr/>
                <p:nvPr/>
              </p:nvSpPr>
              <p:spPr>
                <a:xfrm>
                  <a:off x="1038225" y="5788284"/>
                  <a:ext cx="4514850" cy="9525"/>
                </a:xfrm>
                <a:custGeom>
                  <a:avLst/>
                  <a:gdLst/>
                  <a:ahLst/>
                  <a:cxnLst/>
                  <a:rect l="l" t="t" r="r" b="b"/>
                  <a:pathLst>
                    <a:path w="4514850" h="9525">
                      <a:moveTo>
                        <a:pt x="0" y="0"/>
                      </a:moveTo>
                      <a:lnTo>
                        <a:pt x="4514850" y="0"/>
                      </a:lnTo>
                    </a:path>
                  </a:pathLst>
                </a:custGeom>
                <a:noFill/>
                <a:ln w="9525">
                  <a:solidFill>
                    <a:srgbClr val="94A3B8">
                      <a:alpha val="12000"/>
                    </a:srgbClr>
                  </a:solidFill>
                </a:ln>
              </p:spPr>
            </p:sp>
            <p:sp>
              <p:nvSpPr>
                <p:cNvPr id="73" name="Freeform 73"/>
                <p:cNvSpPr/>
                <p:nvPr/>
              </p:nvSpPr>
              <p:spPr>
                <a:xfrm>
                  <a:off x="1038225" y="5435896"/>
                  <a:ext cx="4514850" cy="9525"/>
                </a:xfrm>
                <a:custGeom>
                  <a:avLst/>
                  <a:gdLst/>
                  <a:ahLst/>
                  <a:cxnLst/>
                  <a:rect l="l" t="t" r="r" b="b"/>
                  <a:pathLst>
                    <a:path w="4514850" h="9525">
                      <a:moveTo>
                        <a:pt x="0" y="0"/>
                      </a:moveTo>
                      <a:lnTo>
                        <a:pt x="4514850" y="0"/>
                      </a:lnTo>
                    </a:path>
                  </a:pathLst>
                </a:custGeom>
                <a:noFill/>
                <a:ln w="9525">
                  <a:solidFill>
                    <a:srgbClr val="94A3B8">
                      <a:alpha val="12000"/>
                    </a:srgbClr>
                  </a:solidFill>
                </a:ln>
              </p:spPr>
            </p:sp>
            <p:sp>
              <p:nvSpPr>
                <p:cNvPr id="74" name="Freeform 74"/>
                <p:cNvSpPr/>
                <p:nvPr/>
              </p:nvSpPr>
              <p:spPr>
                <a:xfrm>
                  <a:off x="1038225" y="5083508"/>
                  <a:ext cx="4514850" cy="9525"/>
                </a:xfrm>
                <a:custGeom>
                  <a:avLst/>
                  <a:gdLst/>
                  <a:ahLst/>
                  <a:cxnLst/>
                  <a:rect l="l" t="t" r="r" b="b"/>
                  <a:pathLst>
                    <a:path w="4514850" h="9525">
                      <a:moveTo>
                        <a:pt x="0" y="0"/>
                      </a:moveTo>
                      <a:lnTo>
                        <a:pt x="4514850" y="0"/>
                      </a:lnTo>
                    </a:path>
                  </a:pathLst>
                </a:custGeom>
                <a:noFill/>
                <a:ln w="9525">
                  <a:solidFill>
                    <a:srgbClr val="94A3B8">
                      <a:alpha val="12000"/>
                    </a:srgbClr>
                  </a:solidFill>
                </a:ln>
              </p:spPr>
            </p:sp>
            <p:sp>
              <p:nvSpPr>
                <p:cNvPr id="75" name="TextBox 75"/>
                <p:cNvSpPr txBox="1"/>
                <p:nvPr/>
              </p:nvSpPr>
              <p:spPr>
                <a:xfrm>
                  <a:off x="912372" y="4817540"/>
                  <a:ext cx="251705" cy="161091"/>
                </a:xfrm>
                <a:prstGeom prst="rect">
                  <a:avLst/>
                </a:prstGeom>
                <a:noFill/>
                <a:ln>
                  <a:noFill/>
                </a:ln>
              </p:spPr>
              <p:txBody>
                <a:bodyPr wrap="none" lIns="0" tIns="0" rIns="0" bIns="0" anchor="t" anchorCtr="0">
                  <a:spAutoFit/>
                </a:bodyPr>
                <a:lstStyle/>
                <a:p>
                  <a:pPr algn="ctr"/>
                  <a:r>
                    <a:rPr lang="zh-CN" sz="795" dirty="0">
                      <a:solidFill>
                        <a:srgbClr val="475569"/>
                      </a:solidFill>
                      <a:latin typeface="Segoe UI"/>
                      <a:ea typeface="微软雅黑"/>
                      <a:cs typeface="Segoe UI"/>
                    </a:rPr>
                    <a:t>万元</a:t>
                  </a:r>
                  <a:endParaRPr lang="zh-CN" sz="795" dirty="0">
                    <a:solidFill>
                      <a:srgbClr val="475569"/>
                    </a:solidFill>
                    <a:latin typeface="Segoe UI"/>
                    <a:ea typeface="微软雅黑"/>
                    <a:cs typeface="Segoe UI"/>
                  </a:endParaRPr>
                </a:p>
              </p:txBody>
            </p:sp>
            <p:sp>
              <p:nvSpPr>
                <p:cNvPr id="76" name="Freeform 76"/>
                <p:cNvSpPr/>
                <p:nvPr/>
              </p:nvSpPr>
              <p:spPr>
                <a:xfrm>
                  <a:off x="1038225" y="6140671"/>
                  <a:ext cx="4514850" cy="9525"/>
                </a:xfrm>
                <a:custGeom>
                  <a:avLst/>
                  <a:gdLst/>
                  <a:ahLst/>
                  <a:cxnLst/>
                  <a:rect l="l" t="t" r="r" b="b"/>
                  <a:pathLst>
                    <a:path w="4514850" h="9525">
                      <a:moveTo>
                        <a:pt x="0" y="0"/>
                      </a:moveTo>
                      <a:lnTo>
                        <a:pt x="4514850" y="0"/>
                      </a:lnTo>
                    </a:path>
                  </a:pathLst>
                </a:custGeom>
                <a:noFill/>
                <a:ln w="9525" cap="rnd">
                  <a:solidFill>
                    <a:srgbClr val="475569"/>
                  </a:solidFill>
                </a:ln>
              </p:spPr>
            </p:sp>
            <p:sp>
              <p:nvSpPr>
                <p:cNvPr id="77" name="TextBox 77"/>
                <p:cNvSpPr txBox="1"/>
                <p:nvPr/>
              </p:nvSpPr>
              <p:spPr>
                <a:xfrm>
                  <a:off x="5685882" y="6050896"/>
                  <a:ext cx="251705" cy="161091"/>
                </a:xfrm>
                <a:prstGeom prst="rect">
                  <a:avLst/>
                </a:prstGeom>
                <a:noFill/>
                <a:ln>
                  <a:noFill/>
                </a:ln>
              </p:spPr>
              <p:txBody>
                <a:bodyPr wrap="none" lIns="0" tIns="0" rIns="0" bIns="0" anchor="t" anchorCtr="0">
                  <a:spAutoFit/>
                </a:bodyPr>
                <a:lstStyle/>
                <a:p>
                  <a:pPr algn="l"/>
                  <a:r>
                    <a:rPr lang="zh-CN" sz="795" dirty="0">
                      <a:solidFill>
                        <a:srgbClr val="475569"/>
                      </a:solidFill>
                      <a:latin typeface="Segoe UI"/>
                      <a:ea typeface="微软雅黑"/>
                      <a:cs typeface="Segoe UI"/>
                    </a:rPr>
                    <a:t>月份</a:t>
                  </a:r>
                  <a:endParaRPr lang="zh-CN" sz="795" dirty="0">
                    <a:solidFill>
                      <a:srgbClr val="475569"/>
                    </a:solidFill>
                    <a:latin typeface="Segoe UI"/>
                    <a:ea typeface="微软雅黑"/>
                    <a:cs typeface="Segoe UI"/>
                  </a:endParaRPr>
                </a:p>
              </p:txBody>
            </p:sp>
            <p:sp>
              <p:nvSpPr>
                <p:cNvPr id="78" name="Freeform 78"/>
                <p:cNvSpPr/>
                <p:nvPr/>
              </p:nvSpPr>
              <p:spPr>
                <a:xfrm>
                  <a:off x="1042988"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79" name="Freeform 79"/>
                <p:cNvSpPr/>
                <p:nvPr/>
              </p:nvSpPr>
              <p:spPr>
                <a:xfrm>
                  <a:off x="1414462"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0" name="Freeform 80"/>
                <p:cNvSpPr/>
                <p:nvPr/>
              </p:nvSpPr>
              <p:spPr>
                <a:xfrm>
                  <a:off x="1795462"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1" name="Freeform 81"/>
                <p:cNvSpPr/>
                <p:nvPr/>
              </p:nvSpPr>
              <p:spPr>
                <a:xfrm>
                  <a:off x="2166938"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2" name="Freeform 82"/>
                <p:cNvSpPr/>
                <p:nvPr/>
              </p:nvSpPr>
              <p:spPr>
                <a:xfrm>
                  <a:off x="2547938"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3" name="Freeform 83"/>
                <p:cNvSpPr/>
                <p:nvPr/>
              </p:nvSpPr>
              <p:spPr>
                <a:xfrm>
                  <a:off x="2919412"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4" name="Freeform 84"/>
                <p:cNvSpPr/>
                <p:nvPr/>
              </p:nvSpPr>
              <p:spPr>
                <a:xfrm>
                  <a:off x="3300412"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5" name="Freeform 85"/>
                <p:cNvSpPr/>
                <p:nvPr/>
              </p:nvSpPr>
              <p:spPr>
                <a:xfrm>
                  <a:off x="3671888"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6" name="Freeform 86"/>
                <p:cNvSpPr/>
                <p:nvPr/>
              </p:nvSpPr>
              <p:spPr>
                <a:xfrm>
                  <a:off x="4052888"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7" name="Freeform 87"/>
                <p:cNvSpPr/>
                <p:nvPr/>
              </p:nvSpPr>
              <p:spPr>
                <a:xfrm>
                  <a:off x="4424362"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8" name="Freeform 88"/>
                <p:cNvSpPr/>
                <p:nvPr/>
              </p:nvSpPr>
              <p:spPr>
                <a:xfrm>
                  <a:off x="4805362"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89" name="Freeform 89"/>
                <p:cNvSpPr/>
                <p:nvPr/>
              </p:nvSpPr>
              <p:spPr>
                <a:xfrm>
                  <a:off x="5176838"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90" name="Freeform 90"/>
                <p:cNvSpPr/>
                <p:nvPr/>
              </p:nvSpPr>
              <p:spPr>
                <a:xfrm>
                  <a:off x="5557838" y="6136476"/>
                  <a:ext cx="9525" cy="41951"/>
                </a:xfrm>
                <a:custGeom>
                  <a:avLst/>
                  <a:gdLst/>
                  <a:ahLst/>
                  <a:cxnLst/>
                  <a:rect l="l" t="t" r="r" b="b"/>
                  <a:pathLst>
                    <a:path w="9525" h="41951">
                      <a:moveTo>
                        <a:pt x="0" y="0"/>
                      </a:moveTo>
                      <a:lnTo>
                        <a:pt x="0" y="41951"/>
                      </a:lnTo>
                    </a:path>
                  </a:pathLst>
                </a:custGeom>
                <a:noFill/>
                <a:ln w="9525">
                  <a:solidFill>
                    <a:srgbClr val="475569"/>
                  </a:solidFill>
                </a:ln>
              </p:spPr>
            </p:sp>
            <p:sp>
              <p:nvSpPr>
                <p:cNvPr id="91" name="TextBox 91"/>
                <p:cNvSpPr txBox="1"/>
                <p:nvPr/>
              </p:nvSpPr>
              <p:spPr>
                <a:xfrm>
                  <a:off x="598814" y="6403284"/>
                  <a:ext cx="373279" cy="161091"/>
                </a:xfrm>
                <a:prstGeom prst="rect">
                  <a:avLst/>
                </a:prstGeom>
                <a:noFill/>
                <a:ln>
                  <a:noFill/>
                </a:ln>
              </p:spPr>
              <p:txBody>
                <a:bodyPr wrap="none" lIns="0" tIns="0" rIns="0" bIns="0" anchor="t" anchorCtr="0">
                  <a:spAutoFit/>
                </a:bodyPr>
                <a:lstStyle/>
                <a:p>
                  <a:pPr algn="r"/>
                  <a:r>
                    <a:rPr lang="zh-CN" sz="795" dirty="0">
                      <a:solidFill>
                        <a:srgbClr val="94A3B8"/>
                      </a:solidFill>
                      <a:latin typeface="Segoe UI"/>
                      <a:ea typeface="微软雅黑"/>
                      <a:cs typeface="Segoe UI"/>
                    </a:rPr>
                    <a:t>-1,000</a:t>
                  </a:r>
                  <a:endParaRPr lang="zh-CN" sz="795" dirty="0">
                    <a:solidFill>
                      <a:srgbClr val="94A3B8"/>
                    </a:solidFill>
                    <a:latin typeface="Segoe UI"/>
                    <a:ea typeface="微软雅黑"/>
                    <a:cs typeface="Segoe UI"/>
                  </a:endParaRPr>
                </a:p>
              </p:txBody>
            </p:sp>
            <p:sp>
              <p:nvSpPr>
                <p:cNvPr id="92" name="TextBox 92"/>
                <p:cNvSpPr txBox="1"/>
                <p:nvPr/>
              </p:nvSpPr>
              <p:spPr>
                <a:xfrm>
                  <a:off x="888275" y="6050896"/>
                  <a:ext cx="83818" cy="161091"/>
                </a:xfrm>
                <a:prstGeom prst="rect">
                  <a:avLst/>
                </a:prstGeom>
                <a:noFill/>
                <a:ln>
                  <a:noFill/>
                </a:ln>
              </p:spPr>
              <p:txBody>
                <a:bodyPr wrap="none" lIns="0" tIns="0" rIns="0" bIns="0" anchor="t" anchorCtr="0">
                  <a:spAutoFit/>
                </a:bodyPr>
                <a:lstStyle/>
                <a:p>
                  <a:pPr algn="r"/>
                  <a:r>
                    <a:rPr lang="zh-CN" sz="795" dirty="0">
                      <a:solidFill>
                        <a:srgbClr val="94A3B8"/>
                      </a:solidFill>
                      <a:latin typeface="Segoe UI"/>
                      <a:ea typeface="微软雅黑"/>
                      <a:cs typeface="Segoe UI"/>
                    </a:rPr>
                    <a:t>0</a:t>
                  </a:r>
                  <a:endParaRPr lang="zh-CN" sz="795" dirty="0">
                    <a:solidFill>
                      <a:srgbClr val="94A3B8"/>
                    </a:solidFill>
                    <a:latin typeface="Segoe UI"/>
                    <a:ea typeface="微软雅黑"/>
                    <a:cs typeface="Segoe UI"/>
                  </a:endParaRPr>
                </a:p>
              </p:txBody>
            </p:sp>
            <p:sp>
              <p:nvSpPr>
                <p:cNvPr id="93" name="TextBox 93"/>
                <p:cNvSpPr txBox="1"/>
                <p:nvPr/>
              </p:nvSpPr>
              <p:spPr>
                <a:xfrm>
                  <a:off x="662496" y="5698509"/>
                  <a:ext cx="309598" cy="161091"/>
                </a:xfrm>
                <a:prstGeom prst="rect">
                  <a:avLst/>
                </a:prstGeom>
                <a:noFill/>
                <a:ln>
                  <a:noFill/>
                </a:ln>
              </p:spPr>
              <p:txBody>
                <a:bodyPr wrap="none" lIns="0" tIns="0" rIns="0" bIns="0" anchor="t" anchorCtr="0">
                  <a:spAutoFit/>
                </a:bodyPr>
                <a:lstStyle/>
                <a:p>
                  <a:pPr algn="r"/>
                  <a:r>
                    <a:rPr lang="zh-CN" sz="795" dirty="0">
                      <a:solidFill>
                        <a:srgbClr val="94A3B8"/>
                      </a:solidFill>
                      <a:latin typeface="Segoe UI"/>
                      <a:ea typeface="微软雅黑"/>
                      <a:cs typeface="Segoe UI"/>
                    </a:rPr>
                    <a:t>1,000</a:t>
                  </a:r>
                  <a:endParaRPr lang="zh-CN" sz="795" dirty="0">
                    <a:solidFill>
                      <a:srgbClr val="94A3B8"/>
                    </a:solidFill>
                    <a:latin typeface="Segoe UI"/>
                    <a:ea typeface="微软雅黑"/>
                    <a:cs typeface="Segoe UI"/>
                  </a:endParaRPr>
                </a:p>
              </p:txBody>
            </p:sp>
            <p:sp>
              <p:nvSpPr>
                <p:cNvPr id="94" name="TextBox 94"/>
                <p:cNvSpPr txBox="1"/>
                <p:nvPr/>
              </p:nvSpPr>
              <p:spPr>
                <a:xfrm>
                  <a:off x="633549" y="5346121"/>
                  <a:ext cx="338544" cy="161091"/>
                </a:xfrm>
                <a:prstGeom prst="rect">
                  <a:avLst/>
                </a:prstGeom>
                <a:noFill/>
                <a:ln>
                  <a:noFill/>
                </a:ln>
              </p:spPr>
              <p:txBody>
                <a:bodyPr wrap="none" lIns="0" tIns="0" rIns="0" bIns="0" anchor="t" anchorCtr="0">
                  <a:spAutoFit/>
                </a:bodyPr>
                <a:lstStyle/>
                <a:p>
                  <a:pPr algn="r"/>
                  <a:r>
                    <a:rPr lang="zh-CN" sz="795" dirty="0">
                      <a:solidFill>
                        <a:srgbClr val="94A3B8"/>
                      </a:solidFill>
                      <a:latin typeface="Segoe UI"/>
                      <a:ea typeface="微软雅黑"/>
                      <a:cs typeface="Segoe UI"/>
                    </a:rPr>
                    <a:t>2,000</a:t>
                  </a:r>
                  <a:endParaRPr lang="zh-CN" sz="795" dirty="0">
                    <a:solidFill>
                      <a:srgbClr val="94A3B8"/>
                    </a:solidFill>
                    <a:latin typeface="Segoe UI"/>
                    <a:ea typeface="微软雅黑"/>
                    <a:cs typeface="Segoe UI"/>
                  </a:endParaRPr>
                </a:p>
              </p:txBody>
            </p:sp>
            <p:sp>
              <p:nvSpPr>
                <p:cNvPr id="95" name="TextBox 95"/>
                <p:cNvSpPr txBox="1"/>
                <p:nvPr/>
              </p:nvSpPr>
              <p:spPr>
                <a:xfrm>
                  <a:off x="633549" y="4993733"/>
                  <a:ext cx="338544" cy="161091"/>
                </a:xfrm>
                <a:prstGeom prst="rect">
                  <a:avLst/>
                </a:prstGeom>
                <a:noFill/>
                <a:ln>
                  <a:noFill/>
                </a:ln>
              </p:spPr>
              <p:txBody>
                <a:bodyPr wrap="none" lIns="0" tIns="0" rIns="0" bIns="0" anchor="t" anchorCtr="0">
                  <a:spAutoFit/>
                </a:bodyPr>
                <a:lstStyle/>
                <a:p>
                  <a:pPr algn="r"/>
                  <a:r>
                    <a:rPr lang="zh-CN" sz="795" dirty="0">
                      <a:solidFill>
                        <a:srgbClr val="94A3B8"/>
                      </a:solidFill>
                      <a:latin typeface="Segoe UI"/>
                      <a:ea typeface="微软雅黑"/>
                      <a:cs typeface="Segoe UI"/>
                    </a:rPr>
                    <a:t>3,000</a:t>
                  </a:r>
                  <a:endParaRPr lang="zh-CN" sz="795" dirty="0">
                    <a:solidFill>
                      <a:srgbClr val="94A3B8"/>
                    </a:solidFill>
                    <a:latin typeface="Segoe UI"/>
                    <a:ea typeface="微软雅黑"/>
                    <a:cs typeface="Segoe UI"/>
                  </a:endParaRPr>
                </a:p>
              </p:txBody>
            </p:sp>
            <p:sp>
              <p:nvSpPr>
                <p:cNvPr id="96" name="TextBox 96"/>
                <p:cNvSpPr txBox="1"/>
                <p:nvPr/>
              </p:nvSpPr>
              <p:spPr>
                <a:xfrm>
                  <a:off x="1015603" y="6520746"/>
                  <a:ext cx="170656"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1月</a:t>
                  </a:r>
                  <a:endParaRPr lang="zh-CN" sz="795" dirty="0">
                    <a:solidFill>
                      <a:srgbClr val="94A3B8"/>
                    </a:solidFill>
                    <a:latin typeface="Segoe UI"/>
                    <a:ea typeface="微软雅黑"/>
                    <a:cs typeface="Segoe UI"/>
                  </a:endParaRPr>
                </a:p>
              </p:txBody>
            </p:sp>
            <p:sp>
              <p:nvSpPr>
                <p:cNvPr id="97" name="TextBox 97"/>
                <p:cNvSpPr txBox="1"/>
                <p:nvPr/>
              </p:nvSpPr>
              <p:spPr>
                <a:xfrm>
                  <a:off x="1377367" y="6520746"/>
                  <a:ext cx="199602"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4月</a:t>
                  </a:r>
                  <a:endParaRPr lang="zh-CN" sz="795" dirty="0">
                    <a:solidFill>
                      <a:srgbClr val="94A3B8"/>
                    </a:solidFill>
                    <a:latin typeface="Segoe UI"/>
                    <a:ea typeface="微软雅黑"/>
                    <a:cs typeface="Segoe UI"/>
                  </a:endParaRPr>
                </a:p>
              </p:txBody>
            </p:sp>
            <p:sp>
              <p:nvSpPr>
                <p:cNvPr id="98" name="TextBox 98"/>
                <p:cNvSpPr txBox="1"/>
                <p:nvPr/>
              </p:nvSpPr>
              <p:spPr>
                <a:xfrm>
                  <a:off x="1753605" y="6520746"/>
                  <a:ext cx="199602"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7月</a:t>
                  </a:r>
                  <a:endParaRPr lang="zh-CN" sz="795" dirty="0">
                    <a:solidFill>
                      <a:srgbClr val="94A3B8"/>
                    </a:solidFill>
                    <a:latin typeface="Segoe UI"/>
                    <a:ea typeface="微软雅黑"/>
                    <a:cs typeface="Segoe UI"/>
                  </a:endParaRPr>
                </a:p>
              </p:txBody>
            </p:sp>
            <p:sp>
              <p:nvSpPr>
                <p:cNvPr id="99" name="TextBox 99"/>
                <p:cNvSpPr txBox="1"/>
                <p:nvPr/>
              </p:nvSpPr>
              <p:spPr>
                <a:xfrm>
                  <a:off x="2112475" y="6520746"/>
                  <a:ext cx="234338"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10月</a:t>
                  </a:r>
                  <a:endParaRPr lang="zh-CN" sz="795" dirty="0">
                    <a:solidFill>
                      <a:srgbClr val="94A3B8"/>
                    </a:solidFill>
                    <a:latin typeface="Segoe UI"/>
                    <a:ea typeface="微软雅黑"/>
                    <a:cs typeface="Segoe UI"/>
                  </a:endParaRPr>
                </a:p>
              </p:txBody>
            </p:sp>
            <p:sp>
              <p:nvSpPr>
                <p:cNvPr id="100" name="TextBox 100"/>
                <p:cNvSpPr txBox="1"/>
                <p:nvPr/>
              </p:nvSpPr>
              <p:spPr>
                <a:xfrm>
                  <a:off x="2488712" y="6520746"/>
                  <a:ext cx="234338"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13月</a:t>
                  </a:r>
                  <a:endParaRPr lang="zh-CN" sz="795" dirty="0">
                    <a:solidFill>
                      <a:srgbClr val="94A3B8"/>
                    </a:solidFill>
                    <a:latin typeface="Segoe UI"/>
                    <a:ea typeface="微软雅黑"/>
                    <a:cs typeface="Segoe UI"/>
                  </a:endParaRPr>
                </a:p>
              </p:txBody>
            </p:sp>
            <p:sp>
              <p:nvSpPr>
                <p:cNvPr id="101" name="TextBox 101"/>
                <p:cNvSpPr txBox="1"/>
                <p:nvPr/>
              </p:nvSpPr>
              <p:spPr>
                <a:xfrm>
                  <a:off x="2864950" y="6520746"/>
                  <a:ext cx="234338"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16月</a:t>
                  </a:r>
                  <a:endParaRPr lang="zh-CN" sz="795" dirty="0">
                    <a:solidFill>
                      <a:srgbClr val="94A3B8"/>
                    </a:solidFill>
                    <a:latin typeface="Segoe UI"/>
                    <a:ea typeface="微软雅黑"/>
                    <a:cs typeface="Segoe UI"/>
                  </a:endParaRPr>
                </a:p>
              </p:txBody>
            </p:sp>
            <p:sp>
              <p:nvSpPr>
                <p:cNvPr id="102" name="TextBox 102"/>
                <p:cNvSpPr txBox="1"/>
                <p:nvPr/>
              </p:nvSpPr>
              <p:spPr>
                <a:xfrm>
                  <a:off x="3241187" y="6520746"/>
                  <a:ext cx="234338"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19月</a:t>
                  </a:r>
                  <a:endParaRPr lang="zh-CN" sz="795" dirty="0">
                    <a:solidFill>
                      <a:srgbClr val="94A3B8"/>
                    </a:solidFill>
                    <a:latin typeface="Segoe UI"/>
                    <a:ea typeface="微软雅黑"/>
                    <a:cs typeface="Segoe UI"/>
                  </a:endParaRPr>
                </a:p>
              </p:txBody>
            </p:sp>
            <p:sp>
              <p:nvSpPr>
                <p:cNvPr id="103" name="TextBox 103"/>
                <p:cNvSpPr txBox="1"/>
                <p:nvPr/>
              </p:nvSpPr>
              <p:spPr>
                <a:xfrm>
                  <a:off x="3602951" y="6520746"/>
                  <a:ext cx="263284"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22月</a:t>
                  </a:r>
                  <a:endParaRPr lang="zh-CN" sz="795" dirty="0">
                    <a:solidFill>
                      <a:srgbClr val="94A3B8"/>
                    </a:solidFill>
                    <a:latin typeface="Segoe UI"/>
                    <a:ea typeface="微软雅黑"/>
                    <a:cs typeface="Segoe UI"/>
                  </a:endParaRPr>
                </a:p>
              </p:txBody>
            </p:sp>
            <p:sp>
              <p:nvSpPr>
                <p:cNvPr id="104" name="TextBox 104"/>
                <p:cNvSpPr txBox="1"/>
                <p:nvPr/>
              </p:nvSpPr>
              <p:spPr>
                <a:xfrm>
                  <a:off x="3979189" y="6520746"/>
                  <a:ext cx="263284"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25月</a:t>
                  </a:r>
                  <a:endParaRPr lang="zh-CN" sz="795" dirty="0">
                    <a:solidFill>
                      <a:srgbClr val="94A3B8"/>
                    </a:solidFill>
                    <a:latin typeface="Segoe UI"/>
                    <a:ea typeface="微软雅黑"/>
                    <a:cs typeface="Segoe UI"/>
                  </a:endParaRPr>
                </a:p>
              </p:txBody>
            </p:sp>
            <p:sp>
              <p:nvSpPr>
                <p:cNvPr id="105" name="TextBox 105"/>
                <p:cNvSpPr txBox="1"/>
                <p:nvPr/>
              </p:nvSpPr>
              <p:spPr>
                <a:xfrm>
                  <a:off x="4355426" y="6520746"/>
                  <a:ext cx="263284"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28月</a:t>
                  </a:r>
                  <a:endParaRPr lang="zh-CN" sz="795" dirty="0">
                    <a:solidFill>
                      <a:srgbClr val="94A3B8"/>
                    </a:solidFill>
                    <a:latin typeface="Segoe UI"/>
                    <a:ea typeface="微软雅黑"/>
                    <a:cs typeface="Segoe UI"/>
                  </a:endParaRPr>
                </a:p>
              </p:txBody>
            </p:sp>
            <p:sp>
              <p:nvSpPr>
                <p:cNvPr id="106" name="TextBox 106"/>
                <p:cNvSpPr txBox="1"/>
                <p:nvPr/>
              </p:nvSpPr>
              <p:spPr>
                <a:xfrm>
                  <a:off x="4746137" y="6520746"/>
                  <a:ext cx="234338"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31月</a:t>
                  </a:r>
                  <a:endParaRPr lang="zh-CN" sz="795" dirty="0">
                    <a:solidFill>
                      <a:srgbClr val="94A3B8"/>
                    </a:solidFill>
                    <a:latin typeface="Segoe UI"/>
                    <a:ea typeface="微软雅黑"/>
                    <a:cs typeface="Segoe UI"/>
                  </a:endParaRPr>
                </a:p>
              </p:txBody>
            </p:sp>
            <p:sp>
              <p:nvSpPr>
                <p:cNvPr id="107" name="TextBox 107"/>
                <p:cNvSpPr txBox="1"/>
                <p:nvPr/>
              </p:nvSpPr>
              <p:spPr>
                <a:xfrm>
                  <a:off x="5107901" y="6520746"/>
                  <a:ext cx="263284" cy="161091"/>
                </a:xfrm>
                <a:prstGeom prst="rect">
                  <a:avLst/>
                </a:prstGeom>
                <a:noFill/>
                <a:ln>
                  <a:noFill/>
                </a:ln>
              </p:spPr>
              <p:txBody>
                <a:bodyPr wrap="none" lIns="0" tIns="0" rIns="0" bIns="0" anchor="t" anchorCtr="0">
                  <a:spAutoFit/>
                </a:bodyPr>
                <a:lstStyle/>
                <a:p>
                  <a:pPr algn="ctr"/>
                  <a:r>
                    <a:rPr lang="zh-CN" sz="795" dirty="0">
                      <a:solidFill>
                        <a:srgbClr val="94A3B8"/>
                      </a:solidFill>
                      <a:latin typeface="Segoe UI"/>
                      <a:ea typeface="微软雅黑"/>
                      <a:cs typeface="Segoe UI"/>
                    </a:rPr>
                    <a:t>34月</a:t>
                  </a:r>
                  <a:endParaRPr lang="zh-CN" sz="795" dirty="0">
                    <a:solidFill>
                      <a:srgbClr val="94A3B8"/>
                    </a:solidFill>
                    <a:latin typeface="Segoe UI"/>
                    <a:ea typeface="微软雅黑"/>
                    <a:cs typeface="Segoe UI"/>
                  </a:endParaRPr>
                </a:p>
              </p:txBody>
            </p:sp>
            <p:sp>
              <p:nvSpPr>
                <p:cNvPr id="108" name="Freeform 108"/>
                <p:cNvSpPr/>
                <p:nvPr/>
              </p:nvSpPr>
              <p:spPr>
                <a:xfrm>
                  <a:off x="1100931" y="5819327"/>
                  <a:ext cx="4389438" cy="9525"/>
                </a:xfrm>
                <a:custGeom>
                  <a:avLst/>
                  <a:gdLst/>
                  <a:ahLst/>
                  <a:cxnLst/>
                  <a:rect l="l" t="t" r="r" b="b"/>
                  <a:pathLst>
                    <a:path w="4389438" h="9525">
                      <a:moveTo>
                        <a:pt x="0" y="0"/>
                      </a:moveTo>
                      <a:lnTo>
                        <a:pt x="125413" y="0"/>
                      </a:lnTo>
                      <a:lnTo>
                        <a:pt x="250826" y="0"/>
                      </a:lnTo>
                      <a:lnTo>
                        <a:pt x="376238" y="0"/>
                      </a:lnTo>
                      <a:lnTo>
                        <a:pt x="501650" y="0"/>
                      </a:lnTo>
                      <a:lnTo>
                        <a:pt x="627063" y="0"/>
                      </a:lnTo>
                      <a:lnTo>
                        <a:pt x="752475" y="0"/>
                      </a:lnTo>
                      <a:lnTo>
                        <a:pt x="877888" y="0"/>
                      </a:lnTo>
                      <a:lnTo>
                        <a:pt x="1003301" y="0"/>
                      </a:lnTo>
                      <a:lnTo>
                        <a:pt x="1128712" y="0"/>
                      </a:lnTo>
                      <a:lnTo>
                        <a:pt x="1254125" y="0"/>
                      </a:lnTo>
                      <a:lnTo>
                        <a:pt x="1379538" y="0"/>
                      </a:lnTo>
                      <a:lnTo>
                        <a:pt x="1504950" y="0"/>
                      </a:lnTo>
                      <a:lnTo>
                        <a:pt x="1630363" y="0"/>
                      </a:lnTo>
                      <a:lnTo>
                        <a:pt x="1755776" y="0"/>
                      </a:lnTo>
                      <a:lnTo>
                        <a:pt x="1881188" y="0"/>
                      </a:lnTo>
                      <a:lnTo>
                        <a:pt x="2006600" y="0"/>
                      </a:lnTo>
                      <a:lnTo>
                        <a:pt x="2132013" y="0"/>
                      </a:lnTo>
                      <a:lnTo>
                        <a:pt x="2257425" y="0"/>
                      </a:lnTo>
                      <a:lnTo>
                        <a:pt x="2382838" y="0"/>
                      </a:lnTo>
                      <a:lnTo>
                        <a:pt x="2508251" y="0"/>
                      </a:lnTo>
                      <a:lnTo>
                        <a:pt x="2633662" y="0"/>
                      </a:lnTo>
                      <a:lnTo>
                        <a:pt x="2759075" y="0"/>
                      </a:lnTo>
                      <a:lnTo>
                        <a:pt x="2884488" y="0"/>
                      </a:lnTo>
                      <a:lnTo>
                        <a:pt x="3009900" y="0"/>
                      </a:lnTo>
                      <a:lnTo>
                        <a:pt x="3135313" y="0"/>
                      </a:lnTo>
                      <a:lnTo>
                        <a:pt x="3260726" y="0"/>
                      </a:lnTo>
                      <a:lnTo>
                        <a:pt x="3386138" y="0"/>
                      </a:lnTo>
                      <a:lnTo>
                        <a:pt x="3511550" y="0"/>
                      </a:lnTo>
                      <a:lnTo>
                        <a:pt x="3636963" y="0"/>
                      </a:lnTo>
                      <a:lnTo>
                        <a:pt x="3762375" y="0"/>
                      </a:lnTo>
                      <a:lnTo>
                        <a:pt x="3887788" y="0"/>
                      </a:lnTo>
                      <a:lnTo>
                        <a:pt x="4013201" y="0"/>
                      </a:lnTo>
                      <a:lnTo>
                        <a:pt x="4138612" y="0"/>
                      </a:lnTo>
                      <a:lnTo>
                        <a:pt x="4264025" y="0"/>
                      </a:lnTo>
                      <a:lnTo>
                        <a:pt x="4389438" y="0"/>
                      </a:lnTo>
                    </a:path>
                  </a:pathLst>
                </a:custGeom>
                <a:noFill/>
                <a:ln w="28575">
                  <a:solidFill>
                    <a:srgbClr val="F59E0B"/>
                  </a:solidFill>
                  <a:bevel/>
                </a:ln>
              </p:spPr>
            </p:sp>
            <p:sp>
              <p:nvSpPr>
                <p:cNvPr id="109" name="Freeform 109"/>
                <p:cNvSpPr/>
                <p:nvPr/>
              </p:nvSpPr>
              <p:spPr>
                <a:xfrm>
                  <a:off x="1100931" y="5121600"/>
                  <a:ext cx="4389438" cy="988447"/>
                </a:xfrm>
                <a:custGeom>
                  <a:avLst/>
                  <a:gdLst/>
                  <a:ahLst/>
                  <a:cxnLst/>
                  <a:rect l="l" t="t" r="r" b="b"/>
                  <a:pathLst>
                    <a:path w="4389438" h="988447">
                      <a:moveTo>
                        <a:pt x="0" y="988447"/>
                      </a:moveTo>
                      <a:cubicBezTo>
                        <a:pt x="0" y="988447"/>
                        <a:pt x="62707" y="975233"/>
                        <a:pt x="125413" y="962018"/>
                      </a:cubicBezTo>
                      <a:cubicBezTo>
                        <a:pt x="188119" y="948804"/>
                        <a:pt x="188119" y="948804"/>
                        <a:pt x="250826" y="935589"/>
                      </a:cubicBezTo>
                      <a:cubicBezTo>
                        <a:pt x="313532" y="922375"/>
                        <a:pt x="313532" y="922375"/>
                        <a:pt x="376238" y="909160"/>
                      </a:cubicBezTo>
                      <a:cubicBezTo>
                        <a:pt x="438944" y="895946"/>
                        <a:pt x="438944" y="895946"/>
                        <a:pt x="501650" y="882731"/>
                      </a:cubicBezTo>
                      <a:cubicBezTo>
                        <a:pt x="564356" y="869517"/>
                        <a:pt x="564356" y="869517"/>
                        <a:pt x="627063" y="856302"/>
                      </a:cubicBezTo>
                      <a:cubicBezTo>
                        <a:pt x="689769" y="843087"/>
                        <a:pt x="689769" y="843087"/>
                        <a:pt x="752475" y="829873"/>
                      </a:cubicBezTo>
                      <a:cubicBezTo>
                        <a:pt x="815182" y="816658"/>
                        <a:pt x="815182" y="816658"/>
                        <a:pt x="877888" y="803444"/>
                      </a:cubicBezTo>
                      <a:cubicBezTo>
                        <a:pt x="940594" y="790229"/>
                        <a:pt x="940594" y="790229"/>
                        <a:pt x="1003301" y="777015"/>
                      </a:cubicBezTo>
                      <a:cubicBezTo>
                        <a:pt x="1066007" y="763800"/>
                        <a:pt x="1066007" y="763800"/>
                        <a:pt x="1128712" y="750586"/>
                      </a:cubicBezTo>
                      <a:cubicBezTo>
                        <a:pt x="1191419" y="737371"/>
                        <a:pt x="1191419" y="737371"/>
                        <a:pt x="1254125" y="724157"/>
                      </a:cubicBezTo>
                      <a:cubicBezTo>
                        <a:pt x="1316831" y="710942"/>
                        <a:pt x="1316967" y="711424"/>
                        <a:pt x="1379538" y="697728"/>
                      </a:cubicBezTo>
                      <a:cubicBezTo>
                        <a:pt x="1442380" y="683973"/>
                        <a:pt x="1442244" y="683491"/>
                        <a:pt x="1504950" y="669255"/>
                      </a:cubicBezTo>
                      <a:cubicBezTo>
                        <a:pt x="1567657" y="655018"/>
                        <a:pt x="1567657" y="655018"/>
                        <a:pt x="1630363" y="640782"/>
                      </a:cubicBezTo>
                      <a:cubicBezTo>
                        <a:pt x="1693069" y="626545"/>
                        <a:pt x="1693069" y="626545"/>
                        <a:pt x="1755776" y="612309"/>
                      </a:cubicBezTo>
                      <a:cubicBezTo>
                        <a:pt x="1818482" y="598072"/>
                        <a:pt x="1818482" y="598072"/>
                        <a:pt x="1881188" y="583836"/>
                      </a:cubicBezTo>
                      <a:cubicBezTo>
                        <a:pt x="1943894" y="569599"/>
                        <a:pt x="1943894" y="569599"/>
                        <a:pt x="2006600" y="555363"/>
                      </a:cubicBezTo>
                      <a:cubicBezTo>
                        <a:pt x="2069306" y="541126"/>
                        <a:pt x="2069306" y="541126"/>
                        <a:pt x="2132013" y="526890"/>
                      </a:cubicBezTo>
                      <a:cubicBezTo>
                        <a:pt x="2194719" y="512654"/>
                        <a:pt x="2194719" y="512654"/>
                        <a:pt x="2257425" y="498417"/>
                      </a:cubicBezTo>
                      <a:cubicBezTo>
                        <a:pt x="2320132" y="484181"/>
                        <a:pt x="2320132" y="484181"/>
                        <a:pt x="2382838" y="469944"/>
                      </a:cubicBezTo>
                      <a:cubicBezTo>
                        <a:pt x="2445544" y="455708"/>
                        <a:pt x="2445544" y="455708"/>
                        <a:pt x="2508251" y="441471"/>
                      </a:cubicBezTo>
                      <a:cubicBezTo>
                        <a:pt x="2570957" y="427235"/>
                        <a:pt x="2570957" y="427235"/>
                        <a:pt x="2633662" y="412998"/>
                      </a:cubicBezTo>
                      <a:cubicBezTo>
                        <a:pt x="2696369" y="398762"/>
                        <a:pt x="2696369" y="398762"/>
                        <a:pt x="2759075" y="384525"/>
                      </a:cubicBezTo>
                      <a:cubicBezTo>
                        <a:pt x="2821781" y="370289"/>
                        <a:pt x="2821865" y="370569"/>
                        <a:pt x="2884488" y="356052"/>
                      </a:cubicBezTo>
                      <a:cubicBezTo>
                        <a:pt x="2947278" y="341497"/>
                        <a:pt x="2947194" y="341217"/>
                        <a:pt x="3009900" y="326381"/>
                      </a:cubicBezTo>
                      <a:cubicBezTo>
                        <a:pt x="3072607" y="311546"/>
                        <a:pt x="3072607" y="311546"/>
                        <a:pt x="3135313" y="296710"/>
                      </a:cubicBezTo>
                      <a:cubicBezTo>
                        <a:pt x="3198019" y="281875"/>
                        <a:pt x="3198019" y="281875"/>
                        <a:pt x="3260726" y="267039"/>
                      </a:cubicBezTo>
                      <a:cubicBezTo>
                        <a:pt x="3323432" y="252204"/>
                        <a:pt x="3323432" y="252204"/>
                        <a:pt x="3386138" y="237368"/>
                      </a:cubicBezTo>
                      <a:cubicBezTo>
                        <a:pt x="3448844" y="222533"/>
                        <a:pt x="3448844" y="222533"/>
                        <a:pt x="3511550" y="207697"/>
                      </a:cubicBezTo>
                      <a:cubicBezTo>
                        <a:pt x="3574256" y="192862"/>
                        <a:pt x="3574256" y="192862"/>
                        <a:pt x="3636963" y="178026"/>
                      </a:cubicBezTo>
                      <a:cubicBezTo>
                        <a:pt x="3699669" y="163191"/>
                        <a:pt x="3699669" y="163191"/>
                        <a:pt x="3762375" y="148355"/>
                      </a:cubicBezTo>
                      <a:cubicBezTo>
                        <a:pt x="3825082" y="133520"/>
                        <a:pt x="3825082" y="133520"/>
                        <a:pt x="3887788" y="118684"/>
                      </a:cubicBezTo>
                      <a:cubicBezTo>
                        <a:pt x="3950494" y="103849"/>
                        <a:pt x="3950494" y="103849"/>
                        <a:pt x="4013201" y="89013"/>
                      </a:cubicBezTo>
                      <a:cubicBezTo>
                        <a:pt x="4075907" y="74178"/>
                        <a:pt x="4075907" y="74178"/>
                        <a:pt x="4138612" y="59342"/>
                      </a:cubicBezTo>
                      <a:cubicBezTo>
                        <a:pt x="4201319" y="44507"/>
                        <a:pt x="4201319" y="44507"/>
                        <a:pt x="4264025" y="29671"/>
                      </a:cubicBezTo>
                      <a:cubicBezTo>
                        <a:pt x="4326731" y="14836"/>
                        <a:pt x="4389438" y="0"/>
                        <a:pt x="4389438" y="0"/>
                      </a:cubicBezTo>
                    </a:path>
                  </a:pathLst>
                </a:custGeom>
                <a:noFill/>
                <a:ln w="28575">
                  <a:solidFill>
                    <a:srgbClr val="0070F3"/>
                  </a:solidFill>
                  <a:bevel/>
                </a:ln>
              </p:spPr>
            </p:sp>
            <p:sp>
              <p:nvSpPr>
                <p:cNvPr id="110" name="Freeform 110"/>
                <p:cNvSpPr/>
                <p:nvPr/>
              </p:nvSpPr>
              <p:spPr>
                <a:xfrm>
                  <a:off x="1100931" y="5438749"/>
                  <a:ext cx="4389438" cy="988447"/>
                </a:xfrm>
                <a:custGeom>
                  <a:avLst/>
                  <a:gdLst/>
                  <a:ahLst/>
                  <a:cxnLst/>
                  <a:rect l="l" t="t" r="r" b="b"/>
                  <a:pathLst>
                    <a:path w="4389438" h="988447">
                      <a:moveTo>
                        <a:pt x="0" y="988447"/>
                      </a:moveTo>
                      <a:cubicBezTo>
                        <a:pt x="0" y="988447"/>
                        <a:pt x="62707" y="975233"/>
                        <a:pt x="125413" y="962018"/>
                      </a:cubicBezTo>
                      <a:cubicBezTo>
                        <a:pt x="188119" y="948804"/>
                        <a:pt x="188119" y="948804"/>
                        <a:pt x="250826" y="935589"/>
                      </a:cubicBezTo>
                      <a:cubicBezTo>
                        <a:pt x="313532" y="922375"/>
                        <a:pt x="313532" y="922375"/>
                        <a:pt x="376238" y="909160"/>
                      </a:cubicBezTo>
                      <a:cubicBezTo>
                        <a:pt x="438944" y="895946"/>
                        <a:pt x="438944" y="895946"/>
                        <a:pt x="501650" y="882731"/>
                      </a:cubicBezTo>
                      <a:cubicBezTo>
                        <a:pt x="564356" y="869517"/>
                        <a:pt x="564356" y="869517"/>
                        <a:pt x="627063" y="856302"/>
                      </a:cubicBezTo>
                      <a:cubicBezTo>
                        <a:pt x="689769" y="843087"/>
                        <a:pt x="689769" y="843087"/>
                        <a:pt x="752475" y="829873"/>
                      </a:cubicBezTo>
                      <a:cubicBezTo>
                        <a:pt x="815182" y="816658"/>
                        <a:pt x="815182" y="816658"/>
                        <a:pt x="877888" y="803444"/>
                      </a:cubicBezTo>
                      <a:cubicBezTo>
                        <a:pt x="940594" y="790229"/>
                        <a:pt x="940594" y="790229"/>
                        <a:pt x="1003301" y="777015"/>
                      </a:cubicBezTo>
                      <a:cubicBezTo>
                        <a:pt x="1066007" y="763800"/>
                        <a:pt x="1066007" y="763800"/>
                        <a:pt x="1128712" y="750586"/>
                      </a:cubicBezTo>
                      <a:cubicBezTo>
                        <a:pt x="1191419" y="737371"/>
                        <a:pt x="1191419" y="737371"/>
                        <a:pt x="1254125" y="724157"/>
                      </a:cubicBezTo>
                      <a:cubicBezTo>
                        <a:pt x="1316831" y="710942"/>
                        <a:pt x="1316967" y="711424"/>
                        <a:pt x="1379538" y="697728"/>
                      </a:cubicBezTo>
                      <a:cubicBezTo>
                        <a:pt x="1442380" y="683973"/>
                        <a:pt x="1442244" y="683491"/>
                        <a:pt x="1504950" y="669255"/>
                      </a:cubicBezTo>
                      <a:cubicBezTo>
                        <a:pt x="1567657" y="655018"/>
                        <a:pt x="1567657" y="655018"/>
                        <a:pt x="1630363" y="640782"/>
                      </a:cubicBezTo>
                      <a:cubicBezTo>
                        <a:pt x="1693069" y="626545"/>
                        <a:pt x="1693069" y="626545"/>
                        <a:pt x="1755776" y="612309"/>
                      </a:cubicBezTo>
                      <a:cubicBezTo>
                        <a:pt x="1818482" y="598072"/>
                        <a:pt x="1818482" y="598072"/>
                        <a:pt x="1881188" y="583836"/>
                      </a:cubicBezTo>
                      <a:cubicBezTo>
                        <a:pt x="1943894" y="569599"/>
                        <a:pt x="1943894" y="569599"/>
                        <a:pt x="2006600" y="555363"/>
                      </a:cubicBezTo>
                      <a:cubicBezTo>
                        <a:pt x="2069306" y="541126"/>
                        <a:pt x="2069306" y="541126"/>
                        <a:pt x="2132013" y="526890"/>
                      </a:cubicBezTo>
                      <a:cubicBezTo>
                        <a:pt x="2194719" y="512654"/>
                        <a:pt x="2194719" y="512654"/>
                        <a:pt x="2257425" y="498417"/>
                      </a:cubicBezTo>
                      <a:cubicBezTo>
                        <a:pt x="2320132" y="484181"/>
                        <a:pt x="2320132" y="484181"/>
                        <a:pt x="2382838" y="469944"/>
                      </a:cubicBezTo>
                      <a:cubicBezTo>
                        <a:pt x="2445544" y="455708"/>
                        <a:pt x="2445544" y="455708"/>
                        <a:pt x="2508251" y="441471"/>
                      </a:cubicBezTo>
                      <a:cubicBezTo>
                        <a:pt x="2570957" y="427235"/>
                        <a:pt x="2570957" y="427235"/>
                        <a:pt x="2633662" y="412998"/>
                      </a:cubicBezTo>
                      <a:cubicBezTo>
                        <a:pt x="2696369" y="398762"/>
                        <a:pt x="2696369" y="398762"/>
                        <a:pt x="2759075" y="384525"/>
                      </a:cubicBezTo>
                      <a:cubicBezTo>
                        <a:pt x="2821781" y="370289"/>
                        <a:pt x="2821865" y="370569"/>
                        <a:pt x="2884488" y="356052"/>
                      </a:cubicBezTo>
                      <a:cubicBezTo>
                        <a:pt x="2947278" y="341497"/>
                        <a:pt x="2947194" y="341217"/>
                        <a:pt x="3009900" y="326381"/>
                      </a:cubicBezTo>
                      <a:cubicBezTo>
                        <a:pt x="3072607" y="311546"/>
                        <a:pt x="3072607" y="311546"/>
                        <a:pt x="3135313" y="296710"/>
                      </a:cubicBezTo>
                      <a:cubicBezTo>
                        <a:pt x="3198019" y="281875"/>
                        <a:pt x="3198019" y="281875"/>
                        <a:pt x="3260726" y="267039"/>
                      </a:cubicBezTo>
                      <a:cubicBezTo>
                        <a:pt x="3323432" y="252204"/>
                        <a:pt x="3323432" y="252204"/>
                        <a:pt x="3386138" y="237368"/>
                      </a:cubicBezTo>
                      <a:cubicBezTo>
                        <a:pt x="3448844" y="222533"/>
                        <a:pt x="3448844" y="222533"/>
                        <a:pt x="3511550" y="207697"/>
                      </a:cubicBezTo>
                      <a:cubicBezTo>
                        <a:pt x="3574256" y="192862"/>
                        <a:pt x="3574256" y="192862"/>
                        <a:pt x="3636963" y="178026"/>
                      </a:cubicBezTo>
                      <a:cubicBezTo>
                        <a:pt x="3699669" y="163191"/>
                        <a:pt x="3699669" y="163191"/>
                        <a:pt x="3762375" y="148355"/>
                      </a:cubicBezTo>
                      <a:cubicBezTo>
                        <a:pt x="3825082" y="133520"/>
                        <a:pt x="3825082" y="133520"/>
                        <a:pt x="3887788" y="118684"/>
                      </a:cubicBezTo>
                      <a:cubicBezTo>
                        <a:pt x="3950494" y="103849"/>
                        <a:pt x="3950494" y="103849"/>
                        <a:pt x="4013201" y="89013"/>
                      </a:cubicBezTo>
                      <a:cubicBezTo>
                        <a:pt x="4075907" y="74178"/>
                        <a:pt x="4075907" y="74178"/>
                        <a:pt x="4138612" y="59342"/>
                      </a:cubicBezTo>
                      <a:cubicBezTo>
                        <a:pt x="4201319" y="44507"/>
                        <a:pt x="4201319" y="44507"/>
                        <a:pt x="4264025" y="29671"/>
                      </a:cubicBezTo>
                      <a:cubicBezTo>
                        <a:pt x="4326731" y="14836"/>
                        <a:pt x="4389438" y="0"/>
                        <a:pt x="4389438" y="0"/>
                      </a:cubicBezTo>
                    </a:path>
                  </a:pathLst>
                </a:custGeom>
                <a:noFill/>
                <a:ln w="28575">
                  <a:solidFill>
                    <a:srgbClr val="22C55E"/>
                  </a:solidFill>
                  <a:bevel/>
                </a:ln>
              </p:spPr>
            </p:sp>
            <p:sp>
              <p:nvSpPr>
                <p:cNvPr id="111" name="Ellipse 111"/>
                <p:cNvSpPr/>
                <p:nvPr/>
              </p:nvSpPr>
              <p:spPr>
                <a:xfrm>
                  <a:off x="1089034" y="5808848"/>
                  <a:ext cx="23793" cy="20959"/>
                </a:xfrm>
                <a:prstGeom prst="ellipse">
                  <a:avLst/>
                </a:prstGeom>
                <a:solidFill>
                  <a:srgbClr val="F59E0B"/>
                </a:solidFill>
                <a:ln>
                  <a:noFill/>
                </a:ln>
              </p:spPr>
            </p:sp>
            <p:sp>
              <p:nvSpPr>
                <p:cNvPr id="112" name="Ellipse 112"/>
                <p:cNvSpPr/>
                <p:nvPr/>
              </p:nvSpPr>
              <p:spPr>
                <a:xfrm>
                  <a:off x="1217752" y="5811759"/>
                  <a:ext cx="17183" cy="15136"/>
                </a:xfrm>
                <a:prstGeom prst="ellipse">
                  <a:avLst/>
                </a:prstGeom>
                <a:solidFill>
                  <a:srgbClr val="F59E0B"/>
                </a:solidFill>
                <a:ln>
                  <a:noFill/>
                </a:ln>
              </p:spPr>
            </p:sp>
            <p:sp>
              <p:nvSpPr>
                <p:cNvPr id="113" name="Ellipse 113"/>
                <p:cNvSpPr/>
                <p:nvPr/>
              </p:nvSpPr>
              <p:spPr>
                <a:xfrm>
                  <a:off x="1346470" y="5814671"/>
                  <a:ext cx="10573" cy="9313"/>
                </a:xfrm>
                <a:prstGeom prst="ellipse">
                  <a:avLst/>
                </a:prstGeom>
                <a:solidFill>
                  <a:srgbClr val="F59E0B"/>
                </a:solidFill>
                <a:ln>
                  <a:noFill/>
                </a:ln>
              </p:spPr>
            </p:sp>
            <p:sp>
              <p:nvSpPr>
                <p:cNvPr id="114" name="Ellipse 114"/>
                <p:cNvSpPr/>
                <p:nvPr/>
              </p:nvSpPr>
              <p:spPr>
                <a:xfrm>
                  <a:off x="1475187" y="5817582"/>
                  <a:ext cx="3962" cy="3490"/>
                </a:xfrm>
                <a:prstGeom prst="ellipse">
                  <a:avLst/>
                </a:prstGeom>
                <a:solidFill>
                  <a:srgbClr val="F59E0B"/>
                </a:solidFill>
                <a:ln>
                  <a:noFill/>
                </a:ln>
              </p:spPr>
            </p:sp>
            <p:sp>
              <p:nvSpPr>
                <p:cNvPr id="115" name="Ellipse 115"/>
                <p:cNvSpPr/>
                <p:nvPr/>
              </p:nvSpPr>
              <p:spPr>
                <a:xfrm>
                  <a:off x="1086653" y="6097470"/>
                  <a:ext cx="28556" cy="25154"/>
                </a:xfrm>
                <a:prstGeom prst="ellipse">
                  <a:avLst/>
                </a:prstGeom>
                <a:solidFill>
                  <a:srgbClr val="FFFFFF"/>
                </a:solidFill>
                <a:ln w="12712">
                  <a:solidFill>
                    <a:srgbClr val="0070F3"/>
                  </a:solidFill>
                </a:ln>
              </p:spPr>
            </p:sp>
            <p:sp>
              <p:nvSpPr>
                <p:cNvPr id="116" name="Ellipse 116"/>
                <p:cNvSpPr/>
                <p:nvPr/>
              </p:nvSpPr>
              <p:spPr>
                <a:xfrm>
                  <a:off x="1216038" y="6074540"/>
                  <a:ext cx="20612" cy="18156"/>
                </a:xfrm>
                <a:prstGeom prst="ellipse">
                  <a:avLst/>
                </a:prstGeom>
                <a:solidFill>
                  <a:srgbClr val="FFFFFF"/>
                </a:solidFill>
                <a:ln w="17605">
                  <a:solidFill>
                    <a:srgbClr val="0070F3"/>
                  </a:solidFill>
                </a:ln>
              </p:spPr>
            </p:sp>
            <p:sp>
              <p:nvSpPr>
                <p:cNvPr id="117" name="Ellipse 117"/>
                <p:cNvSpPr/>
                <p:nvPr/>
              </p:nvSpPr>
              <p:spPr>
                <a:xfrm>
                  <a:off x="1345413" y="6051601"/>
                  <a:ext cx="12687" cy="11176"/>
                </a:xfrm>
                <a:prstGeom prst="ellipse">
                  <a:avLst/>
                </a:prstGeom>
                <a:solidFill>
                  <a:srgbClr val="FFFFFF"/>
                </a:solidFill>
                <a:ln w="28620">
                  <a:solidFill>
                    <a:srgbClr val="0070F3"/>
                  </a:solidFill>
                </a:ln>
              </p:spPr>
            </p:sp>
            <p:sp>
              <p:nvSpPr>
                <p:cNvPr id="118" name="Ellipse 118"/>
                <p:cNvSpPr/>
                <p:nvPr/>
              </p:nvSpPr>
              <p:spPr>
                <a:xfrm>
                  <a:off x="1474797" y="6028671"/>
                  <a:ext cx="4743" cy="4178"/>
                </a:xfrm>
                <a:prstGeom prst="ellipse">
                  <a:avLst/>
                </a:prstGeom>
                <a:solidFill>
                  <a:srgbClr val="FFFFFF"/>
                </a:solidFill>
                <a:ln w="76470">
                  <a:solidFill>
                    <a:srgbClr val="0070F3"/>
                  </a:solidFill>
                </a:ln>
              </p:spPr>
            </p:sp>
            <p:sp>
              <p:nvSpPr>
                <p:cNvPr id="119" name="Ellipse 119"/>
                <p:cNvSpPr/>
                <p:nvPr/>
              </p:nvSpPr>
              <p:spPr>
                <a:xfrm>
                  <a:off x="1086653" y="6414619"/>
                  <a:ext cx="28556" cy="25154"/>
                </a:xfrm>
                <a:prstGeom prst="ellipse">
                  <a:avLst/>
                </a:prstGeom>
                <a:solidFill>
                  <a:srgbClr val="22C55E"/>
                </a:solidFill>
                <a:ln>
                  <a:noFill/>
                </a:ln>
              </p:spPr>
            </p:sp>
            <p:sp>
              <p:nvSpPr>
                <p:cNvPr id="120" name="Ellipse 120"/>
                <p:cNvSpPr/>
                <p:nvPr/>
              </p:nvSpPr>
              <p:spPr>
                <a:xfrm>
                  <a:off x="1216038" y="6391689"/>
                  <a:ext cx="20612" cy="18156"/>
                </a:xfrm>
                <a:prstGeom prst="ellipse">
                  <a:avLst/>
                </a:prstGeom>
                <a:solidFill>
                  <a:srgbClr val="22C55E"/>
                </a:solidFill>
                <a:ln>
                  <a:noFill/>
                </a:ln>
              </p:spPr>
            </p:sp>
            <p:sp>
              <p:nvSpPr>
                <p:cNvPr id="121" name="Ellipse 121"/>
                <p:cNvSpPr/>
                <p:nvPr/>
              </p:nvSpPr>
              <p:spPr>
                <a:xfrm>
                  <a:off x="1345413" y="6368750"/>
                  <a:ext cx="12687" cy="11176"/>
                </a:xfrm>
                <a:prstGeom prst="ellipse">
                  <a:avLst/>
                </a:prstGeom>
                <a:solidFill>
                  <a:srgbClr val="22C55E"/>
                </a:solidFill>
                <a:ln>
                  <a:noFill/>
                </a:ln>
              </p:spPr>
            </p:sp>
            <p:sp>
              <p:nvSpPr>
                <p:cNvPr id="122" name="Ellipse 122"/>
                <p:cNvSpPr/>
                <p:nvPr/>
              </p:nvSpPr>
              <p:spPr>
                <a:xfrm>
                  <a:off x="1474797" y="6345820"/>
                  <a:ext cx="4743" cy="4178"/>
                </a:xfrm>
                <a:prstGeom prst="ellipse">
                  <a:avLst/>
                </a:prstGeom>
                <a:solidFill>
                  <a:srgbClr val="22C55E"/>
                </a:solidFill>
                <a:ln>
                  <a:noFill/>
                </a:ln>
              </p:spPr>
            </p:sp>
            <p:sp>
              <p:nvSpPr>
                <p:cNvPr id="123" name="Freeform 123"/>
                <p:cNvSpPr/>
                <p:nvPr/>
              </p:nvSpPr>
              <p:spPr>
                <a:xfrm>
                  <a:off x="1833562" y="4682259"/>
                  <a:ext cx="2657475" cy="194652"/>
                </a:xfrm>
                <a:custGeom>
                  <a:avLst/>
                  <a:gdLst/>
                  <a:ahLst/>
                  <a:cxnLst/>
                  <a:rect l="l" t="t" r="r" b="b"/>
                  <a:pathLst>
                    <a:path w="2657475" h="194652">
                      <a:moveTo>
                        <a:pt x="0" y="0"/>
                      </a:moveTo>
                      <a:lnTo>
                        <a:pt x="2657475" y="0"/>
                      </a:lnTo>
                      <a:lnTo>
                        <a:pt x="2657475" y="194652"/>
                      </a:lnTo>
                      <a:lnTo>
                        <a:pt x="0" y="194652"/>
                      </a:lnTo>
                      <a:close/>
                    </a:path>
                  </a:pathLst>
                </a:custGeom>
                <a:solidFill>
                  <a:srgbClr val="000000">
                    <a:alpha val="0"/>
                  </a:srgbClr>
                </a:solidFill>
                <a:ln w="0">
                  <a:solidFill>
                    <a:srgbClr val="CCCCCC"/>
                  </a:solidFill>
                </a:ln>
              </p:spPr>
            </p:sp>
            <p:sp>
              <p:nvSpPr>
                <p:cNvPr id="124" name="Freeform 124"/>
                <p:cNvSpPr/>
                <p:nvPr/>
              </p:nvSpPr>
              <p:spPr>
                <a:xfrm>
                  <a:off x="1890712" y="4779131"/>
                  <a:ext cx="238125" cy="9525"/>
                </a:xfrm>
                <a:custGeom>
                  <a:avLst/>
                  <a:gdLst/>
                  <a:ahLst/>
                  <a:cxnLst/>
                  <a:rect l="l" t="t" r="r" b="b"/>
                  <a:pathLst>
                    <a:path w="238125" h="9525">
                      <a:moveTo>
                        <a:pt x="0" y="0"/>
                      </a:moveTo>
                      <a:lnTo>
                        <a:pt x="238125" y="0"/>
                      </a:lnTo>
                    </a:path>
                  </a:pathLst>
                </a:custGeom>
                <a:solidFill>
                  <a:srgbClr val="000000"/>
                </a:solidFill>
                <a:ln w="19050" cap="flat">
                  <a:solidFill>
                    <a:srgbClr val="F59E0B"/>
                  </a:solidFill>
                </a:ln>
              </p:spPr>
            </p:sp>
            <p:sp>
              <p:nvSpPr>
                <p:cNvPr id="125" name="Freeform 125"/>
                <p:cNvSpPr/>
                <p:nvPr/>
              </p:nvSpPr>
              <p:spPr>
                <a:xfrm>
                  <a:off x="1956435" y="4732143"/>
                  <a:ext cx="106680" cy="93971"/>
                </a:xfrm>
                <a:custGeom>
                  <a:avLst/>
                  <a:gdLst/>
                  <a:ahLst/>
                  <a:cxnLst/>
                  <a:rect l="l" t="t" r="r" b="b"/>
                  <a:pathLst>
                    <a:path w="106680" h="93971">
                      <a:moveTo>
                        <a:pt x="106680" y="46988"/>
                      </a:moveTo>
                      <a:cubicBezTo>
                        <a:pt x="106678" y="72937"/>
                        <a:pt x="82797" y="93971"/>
                        <a:pt x="53339" y="93971"/>
                      </a:cubicBezTo>
                      <a:cubicBezTo>
                        <a:pt x="23880" y="93970"/>
                        <a:pt x="0" y="72934"/>
                        <a:pt x="0" y="46986"/>
                      </a:cubicBezTo>
                      <a:cubicBezTo>
                        <a:pt x="0" y="21037"/>
                        <a:pt x="23880" y="1"/>
                        <a:pt x="53339" y="1"/>
                      </a:cubicBezTo>
                      <a:cubicBezTo>
                        <a:pt x="82797" y="0"/>
                        <a:pt x="106678" y="21035"/>
                        <a:pt x="106680" y="46983"/>
                      </a:cubicBezTo>
                    </a:path>
                  </a:pathLst>
                </a:custGeom>
                <a:solidFill>
                  <a:srgbClr val="F59E0B"/>
                </a:solidFill>
                <a:ln>
                  <a:noFill/>
                </a:ln>
              </p:spPr>
            </p:sp>
            <p:sp>
              <p:nvSpPr>
                <p:cNvPr id="126" name="TextBox 126"/>
                <p:cNvSpPr txBox="1"/>
                <p:nvPr/>
              </p:nvSpPr>
              <p:spPr>
                <a:xfrm>
                  <a:off x="2166394" y="4688331"/>
                  <a:ext cx="483274" cy="161091"/>
                </a:xfrm>
                <a:prstGeom prst="rect">
                  <a:avLst/>
                </a:prstGeom>
                <a:noFill/>
                <a:ln>
                  <a:noFill/>
                </a:ln>
              </p:spPr>
              <p:txBody>
                <a:bodyPr wrap="none" lIns="0" tIns="0" rIns="0" bIns="0" anchor="t" anchorCtr="0">
                  <a:spAutoFit/>
                </a:bodyPr>
                <a:lstStyle/>
                <a:p>
                  <a:pPr algn="l"/>
                  <a:r>
                    <a:rPr lang="zh-CN" sz="795" dirty="0">
                      <a:solidFill>
                        <a:srgbClr val="0A0A0A"/>
                      </a:solidFill>
                      <a:latin typeface="Segoe UI"/>
                      <a:ea typeface="微软雅黑"/>
                      <a:cs typeface="Segoe UI"/>
                    </a:rPr>
                    <a:t>累计投入</a:t>
                  </a:r>
                  <a:endParaRPr lang="zh-CN" sz="795" dirty="0">
                    <a:solidFill>
                      <a:srgbClr val="0A0A0A"/>
                    </a:solidFill>
                    <a:latin typeface="Segoe UI"/>
                    <a:ea typeface="微软雅黑"/>
                    <a:cs typeface="Segoe UI"/>
                  </a:endParaRPr>
                </a:p>
              </p:txBody>
            </p:sp>
            <p:sp>
              <p:nvSpPr>
                <p:cNvPr id="127" name="Freeform 127"/>
                <p:cNvSpPr/>
                <p:nvPr/>
              </p:nvSpPr>
              <p:spPr>
                <a:xfrm>
                  <a:off x="1881188" y="4728790"/>
                  <a:ext cx="752475" cy="100682"/>
                </a:xfrm>
                <a:custGeom>
                  <a:avLst/>
                  <a:gdLst/>
                  <a:ahLst/>
                  <a:cxnLst/>
                  <a:rect l="l" t="t" r="r" b="b"/>
                  <a:pathLst>
                    <a:path w="752475" h="100682">
                      <a:moveTo>
                        <a:pt x="0" y="0"/>
                      </a:moveTo>
                      <a:lnTo>
                        <a:pt x="752475" y="0"/>
                      </a:lnTo>
                      <a:lnTo>
                        <a:pt x="752475" y="100682"/>
                      </a:lnTo>
                      <a:lnTo>
                        <a:pt x="0" y="100682"/>
                      </a:lnTo>
                      <a:close/>
                    </a:path>
                  </a:pathLst>
                </a:custGeom>
                <a:noFill/>
                <a:ln>
                  <a:noFill/>
                </a:ln>
              </p:spPr>
            </p:sp>
            <p:sp>
              <p:nvSpPr>
                <p:cNvPr id="128" name="Freeform 128"/>
                <p:cNvSpPr/>
                <p:nvPr/>
              </p:nvSpPr>
              <p:spPr>
                <a:xfrm>
                  <a:off x="2738438" y="4779131"/>
                  <a:ext cx="238125" cy="9525"/>
                </a:xfrm>
                <a:custGeom>
                  <a:avLst/>
                  <a:gdLst/>
                  <a:ahLst/>
                  <a:cxnLst/>
                  <a:rect l="l" t="t" r="r" b="b"/>
                  <a:pathLst>
                    <a:path w="238125" h="9525">
                      <a:moveTo>
                        <a:pt x="0" y="0"/>
                      </a:moveTo>
                      <a:lnTo>
                        <a:pt x="238125" y="0"/>
                      </a:lnTo>
                    </a:path>
                  </a:pathLst>
                </a:custGeom>
                <a:solidFill>
                  <a:srgbClr val="000000"/>
                </a:solidFill>
                <a:ln w="19050" cap="flat">
                  <a:solidFill>
                    <a:srgbClr val="0070F3"/>
                  </a:solidFill>
                </a:ln>
              </p:spPr>
            </p:sp>
            <p:sp>
              <p:nvSpPr>
                <p:cNvPr id="129" name="Freeform 129"/>
                <p:cNvSpPr/>
                <p:nvPr/>
              </p:nvSpPr>
              <p:spPr>
                <a:xfrm>
                  <a:off x="2804160" y="4732143"/>
                  <a:ext cx="106680" cy="93971"/>
                </a:xfrm>
                <a:custGeom>
                  <a:avLst/>
                  <a:gdLst/>
                  <a:ahLst/>
                  <a:cxnLst/>
                  <a:rect l="l" t="t" r="r" b="b"/>
                  <a:pathLst>
                    <a:path w="106680" h="93971">
                      <a:moveTo>
                        <a:pt x="106680" y="46988"/>
                      </a:moveTo>
                      <a:cubicBezTo>
                        <a:pt x="106678" y="72937"/>
                        <a:pt x="82797" y="93971"/>
                        <a:pt x="53339" y="93971"/>
                      </a:cubicBezTo>
                      <a:cubicBezTo>
                        <a:pt x="23880" y="93970"/>
                        <a:pt x="0" y="72934"/>
                        <a:pt x="0" y="46986"/>
                      </a:cubicBezTo>
                      <a:cubicBezTo>
                        <a:pt x="0" y="21037"/>
                        <a:pt x="23880" y="1"/>
                        <a:pt x="53339" y="1"/>
                      </a:cubicBezTo>
                      <a:cubicBezTo>
                        <a:pt x="82797" y="0"/>
                        <a:pt x="106678" y="21035"/>
                        <a:pt x="106680" y="46983"/>
                      </a:cubicBezTo>
                    </a:path>
                  </a:pathLst>
                </a:custGeom>
                <a:solidFill>
                  <a:srgbClr val="FFFFFF"/>
                </a:solidFill>
                <a:ln w="19050" cap="flat">
                  <a:solidFill>
                    <a:srgbClr val="0070F3"/>
                  </a:solidFill>
                </a:ln>
              </p:spPr>
            </p:sp>
            <p:sp>
              <p:nvSpPr>
                <p:cNvPr id="130" name="TextBox 130"/>
                <p:cNvSpPr txBox="1"/>
                <p:nvPr/>
              </p:nvSpPr>
              <p:spPr>
                <a:xfrm>
                  <a:off x="3014119" y="4688331"/>
                  <a:ext cx="483274" cy="161091"/>
                </a:xfrm>
                <a:prstGeom prst="rect">
                  <a:avLst/>
                </a:prstGeom>
                <a:noFill/>
                <a:ln>
                  <a:noFill/>
                </a:ln>
              </p:spPr>
              <p:txBody>
                <a:bodyPr wrap="none" lIns="0" tIns="0" rIns="0" bIns="0" anchor="t" anchorCtr="0">
                  <a:spAutoFit/>
                </a:bodyPr>
                <a:lstStyle/>
                <a:p>
                  <a:pPr algn="l"/>
                  <a:r>
                    <a:rPr lang="zh-CN" sz="795" dirty="0">
                      <a:solidFill>
                        <a:srgbClr val="0A0A0A"/>
                      </a:solidFill>
                      <a:latin typeface="Segoe UI"/>
                      <a:ea typeface="微软雅黑"/>
                      <a:cs typeface="Segoe UI"/>
                    </a:rPr>
                    <a:t>累计回报</a:t>
                  </a:r>
                  <a:endParaRPr lang="zh-CN" sz="795" dirty="0">
                    <a:solidFill>
                      <a:srgbClr val="0A0A0A"/>
                    </a:solidFill>
                    <a:latin typeface="Segoe UI"/>
                    <a:ea typeface="微软雅黑"/>
                    <a:cs typeface="Segoe UI"/>
                  </a:endParaRPr>
                </a:p>
              </p:txBody>
            </p:sp>
            <p:sp>
              <p:nvSpPr>
                <p:cNvPr id="131" name="Freeform 131"/>
                <p:cNvSpPr/>
                <p:nvPr/>
              </p:nvSpPr>
              <p:spPr>
                <a:xfrm>
                  <a:off x="2728912" y="4723756"/>
                  <a:ext cx="752475" cy="110750"/>
                </a:xfrm>
                <a:custGeom>
                  <a:avLst/>
                  <a:gdLst/>
                  <a:ahLst/>
                  <a:cxnLst/>
                  <a:rect l="l" t="t" r="r" b="b"/>
                  <a:pathLst>
                    <a:path w="752475" h="110750">
                      <a:moveTo>
                        <a:pt x="0" y="0"/>
                      </a:moveTo>
                      <a:lnTo>
                        <a:pt x="752475" y="0"/>
                      </a:lnTo>
                      <a:lnTo>
                        <a:pt x="752475" y="110750"/>
                      </a:lnTo>
                      <a:lnTo>
                        <a:pt x="0" y="110750"/>
                      </a:lnTo>
                      <a:close/>
                    </a:path>
                  </a:pathLst>
                </a:custGeom>
                <a:noFill/>
                <a:ln>
                  <a:noFill/>
                </a:ln>
              </p:spPr>
            </p:sp>
            <p:sp>
              <p:nvSpPr>
                <p:cNvPr id="132" name="Freeform 132"/>
                <p:cNvSpPr/>
                <p:nvPr/>
              </p:nvSpPr>
              <p:spPr>
                <a:xfrm>
                  <a:off x="3586162" y="4779131"/>
                  <a:ext cx="238125" cy="9525"/>
                </a:xfrm>
                <a:custGeom>
                  <a:avLst/>
                  <a:gdLst/>
                  <a:ahLst/>
                  <a:cxnLst/>
                  <a:rect l="l" t="t" r="r" b="b"/>
                  <a:pathLst>
                    <a:path w="238125" h="9525">
                      <a:moveTo>
                        <a:pt x="0" y="0"/>
                      </a:moveTo>
                      <a:lnTo>
                        <a:pt x="238125" y="0"/>
                      </a:lnTo>
                    </a:path>
                  </a:pathLst>
                </a:custGeom>
                <a:solidFill>
                  <a:srgbClr val="000000"/>
                </a:solidFill>
                <a:ln w="19050" cap="flat">
                  <a:solidFill>
                    <a:srgbClr val="22C55E"/>
                  </a:solidFill>
                </a:ln>
              </p:spPr>
            </p:sp>
            <p:sp>
              <p:nvSpPr>
                <p:cNvPr id="133" name="Freeform 133"/>
                <p:cNvSpPr/>
                <p:nvPr/>
              </p:nvSpPr>
              <p:spPr>
                <a:xfrm>
                  <a:off x="3651885" y="4732143"/>
                  <a:ext cx="106680" cy="93971"/>
                </a:xfrm>
                <a:custGeom>
                  <a:avLst/>
                  <a:gdLst/>
                  <a:ahLst/>
                  <a:cxnLst/>
                  <a:rect l="l" t="t" r="r" b="b"/>
                  <a:pathLst>
                    <a:path w="106680" h="93971">
                      <a:moveTo>
                        <a:pt x="106680" y="46988"/>
                      </a:moveTo>
                      <a:cubicBezTo>
                        <a:pt x="106678" y="72937"/>
                        <a:pt x="82797" y="93971"/>
                        <a:pt x="53339" y="93971"/>
                      </a:cubicBezTo>
                      <a:cubicBezTo>
                        <a:pt x="23880" y="93970"/>
                        <a:pt x="0" y="72934"/>
                        <a:pt x="0" y="46986"/>
                      </a:cubicBezTo>
                      <a:cubicBezTo>
                        <a:pt x="0" y="21037"/>
                        <a:pt x="23880" y="1"/>
                        <a:pt x="53339" y="1"/>
                      </a:cubicBezTo>
                      <a:cubicBezTo>
                        <a:pt x="82797" y="0"/>
                        <a:pt x="106678" y="21035"/>
                        <a:pt x="106680" y="46983"/>
                      </a:cubicBezTo>
                    </a:path>
                  </a:pathLst>
                </a:custGeom>
                <a:solidFill>
                  <a:srgbClr val="22C55E"/>
                </a:solidFill>
                <a:ln>
                  <a:noFill/>
                </a:ln>
              </p:spPr>
            </p:sp>
            <p:sp>
              <p:nvSpPr>
                <p:cNvPr id="134" name="TextBox 134"/>
                <p:cNvSpPr txBox="1"/>
                <p:nvPr/>
              </p:nvSpPr>
              <p:spPr>
                <a:xfrm>
                  <a:off x="3861844" y="4688331"/>
                  <a:ext cx="599059" cy="161091"/>
                </a:xfrm>
                <a:prstGeom prst="rect">
                  <a:avLst/>
                </a:prstGeom>
                <a:noFill/>
                <a:ln>
                  <a:noFill/>
                </a:ln>
              </p:spPr>
              <p:txBody>
                <a:bodyPr wrap="none" lIns="0" tIns="0" rIns="0" bIns="0" anchor="t" anchorCtr="0">
                  <a:spAutoFit/>
                </a:bodyPr>
                <a:lstStyle/>
                <a:p>
                  <a:pPr algn="l"/>
                  <a:r>
                    <a:rPr lang="zh-CN" sz="795" dirty="0">
                      <a:solidFill>
                        <a:srgbClr val="0A0A0A"/>
                      </a:solidFill>
                      <a:latin typeface="Segoe UI"/>
                      <a:ea typeface="微软雅黑"/>
                      <a:cs typeface="Segoe UI"/>
                    </a:rPr>
                    <a:t>累计净增益</a:t>
                  </a:r>
                  <a:endParaRPr lang="zh-CN" sz="795" dirty="0">
                    <a:solidFill>
                      <a:srgbClr val="0A0A0A"/>
                    </a:solidFill>
                    <a:latin typeface="Segoe UI"/>
                    <a:ea typeface="微软雅黑"/>
                    <a:cs typeface="Segoe UI"/>
                  </a:endParaRPr>
                </a:p>
              </p:txBody>
            </p:sp>
            <p:sp>
              <p:nvSpPr>
                <p:cNvPr id="135" name="Freeform 135"/>
                <p:cNvSpPr/>
                <p:nvPr/>
              </p:nvSpPr>
              <p:spPr>
                <a:xfrm>
                  <a:off x="3576638" y="4728790"/>
                  <a:ext cx="866775" cy="100682"/>
                </a:xfrm>
                <a:custGeom>
                  <a:avLst/>
                  <a:gdLst/>
                  <a:ahLst/>
                  <a:cxnLst/>
                  <a:rect l="l" t="t" r="r" b="b"/>
                  <a:pathLst>
                    <a:path w="866775" h="100682">
                      <a:moveTo>
                        <a:pt x="0" y="0"/>
                      </a:moveTo>
                      <a:lnTo>
                        <a:pt x="866775" y="0"/>
                      </a:lnTo>
                      <a:lnTo>
                        <a:pt x="866775" y="100682"/>
                      </a:lnTo>
                      <a:lnTo>
                        <a:pt x="0" y="100682"/>
                      </a:lnTo>
                      <a:close/>
                    </a:path>
                  </a:pathLst>
                </a:custGeom>
                <a:noFill/>
                <a:ln>
                  <a:noFill/>
                </a:ln>
              </p:spPr>
            </p:sp>
            <p:sp>
              <p:nvSpPr>
                <p:cNvPr id="136" name="Freeform 136"/>
                <p:cNvSpPr/>
                <p:nvPr/>
              </p:nvSpPr>
              <p:spPr>
                <a:xfrm>
                  <a:off x="498522" y="4661598"/>
                  <a:ext cx="12605" cy="14987"/>
                </a:xfrm>
                <a:custGeom>
                  <a:avLst/>
                  <a:gdLst/>
                  <a:ahLst/>
                  <a:cxnLst/>
                  <a:rect l="l" t="t" r="r" b="b"/>
                  <a:pathLst>
                    <a:path w="12605" h="14987">
                      <a:moveTo>
                        <a:pt x="1139" y="7556"/>
                      </a:moveTo>
                      <a:cubicBezTo>
                        <a:pt x="0" y="5440"/>
                        <a:pt x="667" y="2912"/>
                        <a:pt x="2748" y="1456"/>
                      </a:cubicBezTo>
                      <a:cubicBezTo>
                        <a:pt x="4830" y="0"/>
                        <a:pt x="7776" y="0"/>
                        <a:pt x="9857" y="1456"/>
                      </a:cubicBezTo>
                      <a:cubicBezTo>
                        <a:pt x="11939" y="2912"/>
                        <a:pt x="12605" y="5440"/>
                        <a:pt x="11466" y="7556"/>
                      </a:cubicBezTo>
                      <a:cubicBezTo>
                        <a:pt x="9996" y="10284"/>
                        <a:pt x="6303" y="11463"/>
                        <a:pt x="6303" y="14987"/>
                      </a:cubicBezTo>
                      <a:cubicBezTo>
                        <a:pt x="6303" y="11463"/>
                        <a:pt x="2609" y="10284"/>
                        <a:pt x="1139" y="7556"/>
                      </a:cubicBezTo>
                      <a:close/>
                    </a:path>
                  </a:pathLst>
                </a:custGeom>
                <a:solidFill>
                  <a:srgbClr val="0070F3"/>
                </a:solidFill>
                <a:ln>
                  <a:noFill/>
                </a:ln>
              </p:spPr>
            </p:sp>
            <p:sp>
              <p:nvSpPr>
                <p:cNvPr id="137" name="TextBox 137"/>
                <p:cNvSpPr txBox="1"/>
                <p:nvPr/>
              </p:nvSpPr>
              <p:spPr>
                <a:xfrm>
                  <a:off x="2236371" y="5496857"/>
                  <a:ext cx="488195" cy="161091"/>
                </a:xfrm>
                <a:prstGeom prst="rect">
                  <a:avLst/>
                </a:prstGeom>
                <a:noFill/>
                <a:ln>
                  <a:noFill/>
                </a:ln>
              </p:spPr>
              <p:txBody>
                <a:bodyPr wrap="none" lIns="0" tIns="0" rIns="0" bIns="0" anchor="t" anchorCtr="0">
                  <a:spAutoFit/>
                </a:bodyPr>
                <a:lstStyle/>
                <a:p>
                  <a:pPr algn="ctr"/>
                  <a:r>
                    <a:rPr lang="zh-CN" sz="795" b="1" dirty="0">
                      <a:solidFill>
                        <a:srgbClr val="FFFFFF"/>
                      </a:solidFill>
                      <a:latin typeface="Segoe UI"/>
                      <a:ea typeface="微软雅黑"/>
                      <a:cs typeface="Segoe UI"/>
                    </a:rPr>
                    <a:t>12月回收</a:t>
                  </a:r>
                  <a:endParaRPr lang="zh-CN" sz="795" b="1" dirty="0">
                    <a:solidFill>
                      <a:srgbClr val="FFFFFF"/>
                    </a:solidFill>
                    <a:latin typeface="Segoe UI"/>
                    <a:ea typeface="微软雅黑"/>
                    <a:cs typeface="Segoe UI"/>
                  </a:endParaRPr>
                </a:p>
              </p:txBody>
            </p:sp>
          </p:grpSp>
        </p:grpSp>
        <p:sp>
          <p:nvSpPr>
            <p:cNvPr id="140" name="TextBox 140"/>
            <p:cNvSpPr txBox="1"/>
            <p:nvPr/>
          </p:nvSpPr>
          <p:spPr>
            <a:xfrm>
              <a:off x="493395" y="6875145"/>
              <a:ext cx="5990463"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3年累计 ROI= 3年累计回报 /初始投入× 100%。假设一次性建设投入 900万元，首年综合回报 900万元，</a:t>
              </a:r>
              <a:endParaRPr lang="zh-CN" sz="900" dirty="0">
                <a:solidFill>
                  <a:srgbClr val="0A0A0A"/>
                </a:solidFill>
                <a:latin typeface="Arial" panose="020B0604020202090204"/>
                <a:ea typeface="微软雅黑"/>
                <a:cs typeface="Arial" panose="020B0604020202090204"/>
              </a:endParaRPr>
            </a:p>
          </p:txBody>
        </p:sp>
        <p:sp>
          <p:nvSpPr>
            <p:cNvPr id="141" name="Rectangle 141"/>
            <p:cNvSpPr/>
            <p:nvPr/>
          </p:nvSpPr>
          <p:spPr>
            <a:xfrm>
              <a:off x="6172200" y="3986022"/>
              <a:ext cx="5715000" cy="2871978"/>
            </a:xfrm>
            <a:prstGeom prst="roundRect">
              <a:avLst>
                <a:gd name="adj" fmla="val 5970"/>
              </a:avLst>
            </a:prstGeom>
            <a:solidFill>
              <a:srgbClr val="FFFFFF">
                <a:alpha val="78000"/>
              </a:srgbClr>
            </a:solidFill>
            <a:ln>
              <a:noFill/>
            </a:ln>
          </p:spPr>
        </p:sp>
        <p:sp>
          <p:nvSpPr>
            <p:cNvPr id="142" name="Line 142"/>
            <p:cNvSpPr/>
            <p:nvPr/>
          </p:nvSpPr>
          <p:spPr>
            <a:xfrm>
              <a:off x="6172200" y="3986022"/>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143" name="Line 143"/>
            <p:cNvSpPr/>
            <p:nvPr/>
          </p:nvSpPr>
          <p:spPr>
            <a:xfrm>
              <a:off x="118872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144" name="Line 144"/>
            <p:cNvSpPr/>
            <p:nvPr/>
          </p:nvSpPr>
          <p:spPr>
            <a:xfrm>
              <a:off x="6172200" y="6858000"/>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145" name="Line 145"/>
            <p:cNvSpPr/>
            <p:nvPr/>
          </p:nvSpPr>
          <p:spPr>
            <a:xfrm>
              <a:off x="61722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146" name="TextBox 146"/>
            <p:cNvSpPr txBox="1"/>
            <p:nvPr/>
          </p:nvSpPr>
          <p:spPr>
            <a:xfrm>
              <a:off x="6357938" y="4188428"/>
              <a:ext cx="1555391"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AI从零到千亿市场用</a:t>
              </a:r>
              <a:endParaRPr lang="zh-CN" sz="1125" b="1" dirty="0">
                <a:solidFill>
                  <a:srgbClr val="0A0A0A"/>
                </a:solidFill>
                <a:latin typeface="Arial" panose="020B0604020202090204"/>
                <a:ea typeface="微软雅黑"/>
                <a:cs typeface="Arial" panose="020B0604020202090204"/>
              </a:endParaRPr>
            </a:p>
          </p:txBody>
        </p:sp>
        <p:sp>
          <p:nvSpPr>
            <p:cNvPr id="147" name="TextBox 147"/>
            <p:cNvSpPr txBox="1"/>
            <p:nvPr/>
          </p:nvSpPr>
          <p:spPr>
            <a:xfrm>
              <a:off x="6357938" y="4367022"/>
              <a:ext cx="1581269"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时最短，增速远超互</a:t>
              </a:r>
              <a:endParaRPr lang="zh-CN" sz="1125" b="1" dirty="0">
                <a:solidFill>
                  <a:srgbClr val="0A0A0A"/>
                </a:solidFill>
                <a:latin typeface="Arial" panose="020B0604020202090204"/>
                <a:ea typeface="微软雅黑"/>
                <a:cs typeface="Arial" panose="020B0604020202090204"/>
              </a:endParaRPr>
            </a:p>
          </p:txBody>
        </p:sp>
        <p:sp>
          <p:nvSpPr>
            <p:cNvPr id="148" name="TextBox 148"/>
            <p:cNvSpPr txBox="1"/>
            <p:nvPr/>
          </p:nvSpPr>
          <p:spPr>
            <a:xfrm>
              <a:off x="6357938" y="4545616"/>
              <a:ext cx="1408747"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联网、移动互联网</a:t>
              </a:r>
              <a:endParaRPr lang="zh-CN" sz="1125" b="1" dirty="0">
                <a:solidFill>
                  <a:srgbClr val="0A0A0A"/>
                </a:solidFill>
                <a:latin typeface="Arial" panose="020B0604020202090204"/>
                <a:ea typeface="微软雅黑"/>
                <a:cs typeface="Arial" panose="020B0604020202090204"/>
              </a:endParaRPr>
            </a:p>
          </p:txBody>
        </p:sp>
        <p:sp>
          <p:nvSpPr>
            <p:cNvPr id="149" name="TextBox 149"/>
            <p:cNvSpPr txBox="1"/>
            <p:nvPr/>
          </p:nvSpPr>
          <p:spPr>
            <a:xfrm>
              <a:off x="6360795" y="4822317"/>
              <a:ext cx="146875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保持同一业务量口径，对</a:t>
              </a:r>
              <a:endParaRPr lang="zh-CN" sz="900" dirty="0">
                <a:solidFill>
                  <a:srgbClr val="94A3B8"/>
                </a:solidFill>
                <a:latin typeface="Arial" panose="020B0604020202090204"/>
                <a:ea typeface="微软雅黑"/>
                <a:cs typeface="Arial" panose="020B0604020202090204"/>
              </a:endParaRPr>
            </a:p>
          </p:txBody>
        </p:sp>
        <p:sp>
          <p:nvSpPr>
            <p:cNvPr id="150" name="TextBox 150"/>
            <p:cNvSpPr txBox="1"/>
            <p:nvPr/>
          </p:nvSpPr>
          <p:spPr>
            <a:xfrm>
              <a:off x="6360795" y="4965192"/>
              <a:ext cx="146875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比三类核心成本。年度节</a:t>
              </a:r>
              <a:endParaRPr lang="zh-CN" sz="900" dirty="0">
                <a:solidFill>
                  <a:srgbClr val="94A3B8"/>
                </a:solidFill>
                <a:latin typeface="Arial" panose="020B0604020202090204"/>
                <a:ea typeface="微软雅黑"/>
                <a:cs typeface="Arial" panose="020B0604020202090204"/>
              </a:endParaRPr>
            </a:p>
          </p:txBody>
        </p:sp>
        <p:sp>
          <p:nvSpPr>
            <p:cNvPr id="151" name="TextBox 151"/>
            <p:cNvSpPr txBox="1"/>
            <p:nvPr/>
          </p:nvSpPr>
          <p:spPr>
            <a:xfrm>
              <a:off x="6360795" y="5108067"/>
              <a:ext cx="1067848"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省合计 720万元。</a:t>
              </a:r>
              <a:endParaRPr lang="zh-CN" sz="900" dirty="0">
                <a:solidFill>
                  <a:srgbClr val="94A3B8"/>
                </a:solidFill>
                <a:latin typeface="Arial" panose="020B0604020202090204"/>
                <a:ea typeface="微软雅黑"/>
                <a:cs typeface="Arial" panose="020B0604020202090204"/>
              </a:endParaRPr>
            </a:p>
          </p:txBody>
        </p:sp>
        <p:sp>
          <p:nvSpPr>
            <p:cNvPr id="152" name="Rectangle 152"/>
            <p:cNvSpPr/>
            <p:nvPr/>
          </p:nvSpPr>
          <p:spPr>
            <a:xfrm>
              <a:off x="7838408" y="4166997"/>
              <a:ext cx="3848767" cy="271462"/>
            </a:xfrm>
            <a:prstGeom prst="roundRect">
              <a:avLst>
                <a:gd name="adj" fmla="val 50000"/>
              </a:avLst>
            </a:prstGeom>
            <a:solidFill>
              <a:srgbClr val="0070F3">
                <a:alpha val="12000"/>
              </a:srgbClr>
            </a:solidFill>
            <a:ln>
              <a:noFill/>
            </a:ln>
          </p:spPr>
        </p:sp>
        <p:sp>
          <p:nvSpPr>
            <p:cNvPr id="153" name="TextBox 153"/>
            <p:cNvSpPr txBox="1"/>
            <p:nvPr/>
          </p:nvSpPr>
          <p:spPr>
            <a:xfrm>
              <a:off x="7922228" y="4241292"/>
              <a:ext cx="4229100"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节省比例：人工与外包 -71.8% /系统与工具 -31.8% /质检与管理 -50.0%</a:t>
              </a:r>
              <a:endParaRPr lang="zh-CN" sz="900" dirty="0">
                <a:solidFill>
                  <a:srgbClr val="0070F3"/>
                </a:solidFill>
                <a:latin typeface="Arial" panose="020B0604020202090204"/>
                <a:ea typeface="微软雅黑"/>
                <a:cs typeface="Arial" panose="020B0604020202090204"/>
              </a:endParaRPr>
            </a:p>
          </p:txBody>
        </p:sp>
        <p:grpSp>
          <p:nvGrpSpPr>
            <p:cNvPr id="195" name="Group 195"/>
            <p:cNvGrpSpPr/>
            <p:nvPr/>
          </p:nvGrpSpPr>
          <p:grpSpPr>
            <a:xfrm>
              <a:off x="6372225" y="5390960"/>
              <a:ext cx="5547467" cy="1467074"/>
              <a:chOff x="6372225" y="5390960"/>
              <a:chExt cx="5547467" cy="1467074"/>
            </a:xfrm>
          </p:grpSpPr>
          <p:sp>
            <p:nvSpPr>
              <p:cNvPr id="154" name="Rectangle 154"/>
              <p:cNvSpPr/>
              <p:nvPr/>
            </p:nvSpPr>
            <p:spPr>
              <a:xfrm>
                <a:off x="6372225" y="5390960"/>
                <a:ext cx="5314950" cy="1467074"/>
              </a:xfrm>
              <a:prstGeom prst="rect">
                <a:avLst/>
              </a:prstGeom>
              <a:noFill/>
              <a:ln>
                <a:noFill/>
              </a:ln>
            </p:spPr>
          </p:sp>
          <p:grpSp>
            <p:nvGrpSpPr>
              <p:cNvPr id="194" name="Group 194"/>
              <p:cNvGrpSpPr/>
              <p:nvPr/>
            </p:nvGrpSpPr>
            <p:grpSpPr>
              <a:xfrm>
                <a:off x="6694172" y="5401116"/>
                <a:ext cx="5225520" cy="1338423"/>
                <a:chOff x="6694172" y="5401116"/>
                <a:chExt cx="5225520" cy="1338423"/>
              </a:xfrm>
            </p:grpSpPr>
            <p:sp>
              <p:nvSpPr>
                <p:cNvPr id="155" name="Freeform 155"/>
                <p:cNvSpPr/>
                <p:nvPr/>
              </p:nvSpPr>
              <p:spPr>
                <a:xfrm>
                  <a:off x="6905625" y="6612580"/>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56" name="Freeform 156"/>
                <p:cNvSpPr/>
                <p:nvPr/>
              </p:nvSpPr>
              <p:spPr>
                <a:xfrm>
                  <a:off x="6905625" y="6375592"/>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57" name="Freeform 157"/>
                <p:cNvSpPr/>
                <p:nvPr/>
              </p:nvSpPr>
              <p:spPr>
                <a:xfrm>
                  <a:off x="6905625" y="6138603"/>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58" name="Freeform 158"/>
                <p:cNvSpPr/>
                <p:nvPr/>
              </p:nvSpPr>
              <p:spPr>
                <a:xfrm>
                  <a:off x="6905625" y="5901614"/>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59" name="Freeform 159"/>
                <p:cNvSpPr/>
                <p:nvPr/>
              </p:nvSpPr>
              <p:spPr>
                <a:xfrm>
                  <a:off x="6905625" y="5664625"/>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60" name="TextBox 160"/>
                <p:cNvSpPr txBox="1"/>
                <p:nvPr/>
              </p:nvSpPr>
              <p:spPr>
                <a:xfrm>
                  <a:off x="6760639" y="5485755"/>
                  <a:ext cx="289973" cy="108338"/>
                </a:xfrm>
                <a:prstGeom prst="rect">
                  <a:avLst/>
                </a:prstGeom>
                <a:noFill/>
                <a:ln>
                  <a:noFill/>
                </a:ln>
              </p:spPr>
              <p:txBody>
                <a:bodyPr wrap="none" lIns="0" tIns="0" rIns="0" bIns="0" anchor="t" anchorCtr="0">
                  <a:spAutoFit/>
                </a:bodyPr>
                <a:lstStyle/>
                <a:p>
                  <a:pPr algn="ctr"/>
                  <a:r>
                    <a:rPr lang="zh-CN" sz="535" dirty="0">
                      <a:solidFill>
                        <a:srgbClr val="475569"/>
                      </a:solidFill>
                      <a:latin typeface="Segoe UI"/>
                      <a:ea typeface="微软雅黑"/>
                      <a:cs typeface="Segoe UI"/>
                    </a:rPr>
                    <a:t>万元/年</a:t>
                  </a:r>
                  <a:endParaRPr lang="zh-CN" sz="535" dirty="0">
                    <a:solidFill>
                      <a:srgbClr val="475569"/>
                    </a:solidFill>
                    <a:latin typeface="Segoe UI"/>
                    <a:ea typeface="微软雅黑"/>
                    <a:cs typeface="Segoe UI"/>
                  </a:endParaRPr>
                </a:p>
              </p:txBody>
            </p:sp>
            <p:sp>
              <p:nvSpPr>
                <p:cNvPr id="161" name="Freeform 161"/>
                <p:cNvSpPr/>
                <p:nvPr/>
              </p:nvSpPr>
              <p:spPr>
                <a:xfrm>
                  <a:off x="6905625" y="6612580"/>
                  <a:ext cx="4552950" cy="9525"/>
                </a:xfrm>
                <a:custGeom>
                  <a:avLst/>
                  <a:gdLst/>
                  <a:ahLst/>
                  <a:cxnLst/>
                  <a:rect l="l" t="t" r="r" b="b"/>
                  <a:pathLst>
                    <a:path w="4552950" h="9525">
                      <a:moveTo>
                        <a:pt x="0" y="0"/>
                      </a:moveTo>
                      <a:lnTo>
                        <a:pt x="4552950" y="0"/>
                      </a:lnTo>
                    </a:path>
                  </a:pathLst>
                </a:custGeom>
                <a:noFill/>
                <a:ln w="9525" cap="rnd">
                  <a:solidFill>
                    <a:srgbClr val="475569"/>
                  </a:solidFill>
                </a:ln>
              </p:spPr>
            </p:sp>
            <p:sp>
              <p:nvSpPr>
                <p:cNvPr id="162" name="TextBox 162"/>
                <p:cNvSpPr txBox="1"/>
                <p:nvPr/>
              </p:nvSpPr>
              <p:spPr>
                <a:xfrm>
                  <a:off x="11594679" y="6552205"/>
                  <a:ext cx="325013" cy="108338"/>
                </a:xfrm>
                <a:prstGeom prst="rect">
                  <a:avLst/>
                </a:prstGeom>
                <a:noFill/>
                <a:ln>
                  <a:noFill/>
                </a:ln>
              </p:spPr>
              <p:txBody>
                <a:bodyPr wrap="none" lIns="0" tIns="0" rIns="0" bIns="0" anchor="t" anchorCtr="0">
                  <a:spAutoFit/>
                </a:bodyPr>
                <a:lstStyle/>
                <a:p>
                  <a:pPr algn="l"/>
                  <a:r>
                    <a:rPr lang="zh-CN" sz="535" dirty="0">
                      <a:solidFill>
                        <a:srgbClr val="475569"/>
                      </a:solidFill>
                      <a:latin typeface="Segoe UI"/>
                      <a:ea typeface="微软雅黑"/>
                      <a:cs typeface="Segoe UI"/>
                    </a:rPr>
                    <a:t>成本类型</a:t>
                  </a:r>
                  <a:endParaRPr lang="zh-CN" sz="535" dirty="0">
                    <a:solidFill>
                      <a:srgbClr val="475569"/>
                    </a:solidFill>
                    <a:latin typeface="Segoe UI"/>
                    <a:ea typeface="微软雅黑"/>
                    <a:cs typeface="Segoe UI"/>
                  </a:endParaRPr>
                </a:p>
              </p:txBody>
            </p:sp>
            <p:sp>
              <p:nvSpPr>
                <p:cNvPr id="163" name="Freeform 163"/>
                <p:cNvSpPr/>
                <p:nvPr/>
              </p:nvSpPr>
              <p:spPr>
                <a:xfrm>
                  <a:off x="6910388"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64" name="Freeform 164"/>
                <p:cNvSpPr/>
                <p:nvPr/>
              </p:nvSpPr>
              <p:spPr>
                <a:xfrm>
                  <a:off x="8424862"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65" name="Freeform 165"/>
                <p:cNvSpPr/>
                <p:nvPr/>
              </p:nvSpPr>
              <p:spPr>
                <a:xfrm>
                  <a:off x="9939338"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66" name="Freeform 166"/>
                <p:cNvSpPr/>
                <p:nvPr/>
              </p:nvSpPr>
              <p:spPr>
                <a:xfrm>
                  <a:off x="11463338"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67" name="TextBox 167"/>
                <p:cNvSpPr txBox="1"/>
                <p:nvPr/>
              </p:nvSpPr>
              <p:spPr>
                <a:xfrm>
                  <a:off x="6779827" y="6552205"/>
                  <a:ext cx="56369"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0</a:t>
                  </a:r>
                  <a:endParaRPr lang="zh-CN" sz="535" dirty="0">
                    <a:solidFill>
                      <a:srgbClr val="94A3B8"/>
                    </a:solidFill>
                    <a:latin typeface="Segoe UI"/>
                    <a:ea typeface="微软雅黑"/>
                    <a:cs typeface="Segoe UI"/>
                  </a:endParaRPr>
                </a:p>
              </p:txBody>
            </p:sp>
            <p:sp>
              <p:nvSpPr>
                <p:cNvPr id="168" name="TextBox 168"/>
                <p:cNvSpPr txBox="1"/>
                <p:nvPr/>
              </p:nvSpPr>
              <p:spPr>
                <a:xfrm>
                  <a:off x="6694172" y="6315216"/>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200</a:t>
                  </a:r>
                  <a:endParaRPr lang="zh-CN" sz="535" dirty="0">
                    <a:solidFill>
                      <a:srgbClr val="94A3B8"/>
                    </a:solidFill>
                    <a:latin typeface="Segoe UI"/>
                    <a:ea typeface="微软雅黑"/>
                    <a:cs typeface="Segoe UI"/>
                  </a:endParaRPr>
                </a:p>
              </p:txBody>
            </p:sp>
            <p:sp>
              <p:nvSpPr>
                <p:cNvPr id="169" name="TextBox 169"/>
                <p:cNvSpPr txBox="1"/>
                <p:nvPr/>
              </p:nvSpPr>
              <p:spPr>
                <a:xfrm>
                  <a:off x="6694172" y="6078227"/>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400</a:t>
                  </a:r>
                  <a:endParaRPr lang="zh-CN" sz="535" dirty="0">
                    <a:solidFill>
                      <a:srgbClr val="94A3B8"/>
                    </a:solidFill>
                    <a:latin typeface="Segoe UI"/>
                    <a:ea typeface="微软雅黑"/>
                    <a:cs typeface="Segoe UI"/>
                  </a:endParaRPr>
                </a:p>
              </p:txBody>
            </p:sp>
            <p:sp>
              <p:nvSpPr>
                <p:cNvPr id="170" name="TextBox 170"/>
                <p:cNvSpPr txBox="1"/>
                <p:nvPr/>
              </p:nvSpPr>
              <p:spPr>
                <a:xfrm>
                  <a:off x="6694172" y="5841238"/>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600</a:t>
                  </a:r>
                  <a:endParaRPr lang="zh-CN" sz="535" dirty="0">
                    <a:solidFill>
                      <a:srgbClr val="94A3B8"/>
                    </a:solidFill>
                    <a:latin typeface="Segoe UI"/>
                    <a:ea typeface="微软雅黑"/>
                    <a:cs typeface="Segoe UI"/>
                  </a:endParaRPr>
                </a:p>
              </p:txBody>
            </p:sp>
            <p:sp>
              <p:nvSpPr>
                <p:cNvPr id="171" name="TextBox 171"/>
                <p:cNvSpPr txBox="1"/>
                <p:nvPr/>
              </p:nvSpPr>
              <p:spPr>
                <a:xfrm>
                  <a:off x="6694172" y="5604249"/>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800</a:t>
                  </a:r>
                  <a:endParaRPr lang="zh-CN" sz="535" dirty="0">
                    <a:solidFill>
                      <a:srgbClr val="94A3B8"/>
                    </a:solidFill>
                    <a:latin typeface="Segoe UI"/>
                    <a:ea typeface="微软雅黑"/>
                    <a:cs typeface="Segoe UI"/>
                  </a:endParaRPr>
                </a:p>
              </p:txBody>
            </p:sp>
            <p:sp>
              <p:nvSpPr>
                <p:cNvPr id="172" name="TextBox 172"/>
                <p:cNvSpPr txBox="1"/>
                <p:nvPr/>
              </p:nvSpPr>
              <p:spPr>
                <a:xfrm>
                  <a:off x="7463010" y="6631201"/>
                  <a:ext cx="402881" cy="108338"/>
                </a:xfrm>
                <a:prstGeom prst="rect">
                  <a:avLst/>
                </a:prstGeom>
                <a:noFill/>
                <a:ln>
                  <a:noFill/>
                </a:ln>
              </p:spPr>
              <p:txBody>
                <a:bodyPr wrap="none" lIns="0" tIns="0" rIns="0" bIns="0" anchor="t" anchorCtr="0">
                  <a:spAutoFit/>
                </a:bodyPr>
                <a:lstStyle/>
                <a:p>
                  <a:pPr algn="ctr"/>
                  <a:r>
                    <a:rPr lang="zh-CN" sz="535" dirty="0">
                      <a:solidFill>
                        <a:srgbClr val="94A3B8"/>
                      </a:solidFill>
                      <a:latin typeface="Segoe UI"/>
                      <a:ea typeface="微软雅黑"/>
                      <a:cs typeface="Segoe UI"/>
                    </a:rPr>
                    <a:t>人工与外包</a:t>
                  </a:r>
                  <a:endParaRPr lang="zh-CN" sz="535" dirty="0">
                    <a:solidFill>
                      <a:srgbClr val="94A3B8"/>
                    </a:solidFill>
                    <a:latin typeface="Segoe UI"/>
                    <a:ea typeface="微软雅黑"/>
                    <a:cs typeface="Segoe UI"/>
                  </a:endParaRPr>
                </a:p>
              </p:txBody>
            </p:sp>
            <p:sp>
              <p:nvSpPr>
                <p:cNvPr id="173" name="TextBox 173"/>
                <p:cNvSpPr txBox="1"/>
                <p:nvPr/>
              </p:nvSpPr>
              <p:spPr>
                <a:xfrm>
                  <a:off x="8980660" y="6631201"/>
                  <a:ext cx="402881" cy="108338"/>
                </a:xfrm>
                <a:prstGeom prst="rect">
                  <a:avLst/>
                </a:prstGeom>
                <a:noFill/>
                <a:ln>
                  <a:noFill/>
                </a:ln>
              </p:spPr>
              <p:txBody>
                <a:bodyPr wrap="none" lIns="0" tIns="0" rIns="0" bIns="0" anchor="t" anchorCtr="0">
                  <a:spAutoFit/>
                </a:bodyPr>
                <a:lstStyle/>
                <a:p>
                  <a:pPr algn="ctr"/>
                  <a:r>
                    <a:rPr lang="zh-CN" sz="535" dirty="0">
                      <a:solidFill>
                        <a:srgbClr val="94A3B8"/>
                      </a:solidFill>
                      <a:latin typeface="Segoe UI"/>
                      <a:ea typeface="微软雅黑"/>
                      <a:cs typeface="Segoe UI"/>
                    </a:rPr>
                    <a:t>系统与工具</a:t>
                  </a:r>
                  <a:endParaRPr lang="zh-CN" sz="535" dirty="0">
                    <a:solidFill>
                      <a:srgbClr val="94A3B8"/>
                    </a:solidFill>
                    <a:latin typeface="Segoe UI"/>
                    <a:ea typeface="微软雅黑"/>
                    <a:cs typeface="Segoe UI"/>
                  </a:endParaRPr>
                </a:p>
              </p:txBody>
            </p:sp>
            <p:sp>
              <p:nvSpPr>
                <p:cNvPr id="174" name="TextBox 174"/>
                <p:cNvSpPr txBox="1"/>
                <p:nvPr/>
              </p:nvSpPr>
              <p:spPr>
                <a:xfrm>
                  <a:off x="10498309" y="6631201"/>
                  <a:ext cx="402881" cy="108338"/>
                </a:xfrm>
                <a:prstGeom prst="rect">
                  <a:avLst/>
                </a:prstGeom>
                <a:noFill/>
                <a:ln>
                  <a:noFill/>
                </a:ln>
              </p:spPr>
              <p:txBody>
                <a:bodyPr wrap="none" lIns="0" tIns="0" rIns="0" bIns="0" anchor="t" anchorCtr="0">
                  <a:spAutoFit/>
                </a:bodyPr>
                <a:lstStyle/>
                <a:p>
                  <a:pPr algn="ctr"/>
                  <a:r>
                    <a:rPr lang="zh-CN" sz="535" dirty="0">
                      <a:solidFill>
                        <a:srgbClr val="94A3B8"/>
                      </a:solidFill>
                      <a:latin typeface="Segoe UI"/>
                      <a:ea typeface="微软雅黑"/>
                      <a:cs typeface="Segoe UI"/>
                    </a:rPr>
                    <a:t>质检与管理</a:t>
                  </a:r>
                  <a:endParaRPr lang="zh-CN" sz="535" dirty="0">
                    <a:solidFill>
                      <a:srgbClr val="94A3B8"/>
                    </a:solidFill>
                    <a:latin typeface="Segoe UI"/>
                    <a:ea typeface="微软雅黑"/>
                    <a:cs typeface="Segoe UI"/>
                  </a:endParaRPr>
                </a:p>
              </p:txBody>
            </p:sp>
            <p:sp>
              <p:nvSpPr>
                <p:cNvPr id="175" name="Freeform 175"/>
                <p:cNvSpPr/>
                <p:nvPr/>
              </p:nvSpPr>
              <p:spPr>
                <a:xfrm>
                  <a:off x="7371080" y="5685503"/>
                  <a:ext cx="266700" cy="924256"/>
                </a:xfrm>
                <a:custGeom>
                  <a:avLst/>
                  <a:gdLst/>
                  <a:ahLst/>
                  <a:cxnLst/>
                  <a:rect l="l" t="t" r="r" b="b"/>
                  <a:pathLst>
                    <a:path w="266700" h="924256">
                      <a:moveTo>
                        <a:pt x="76200" y="0"/>
                      </a:moveTo>
                      <a:lnTo>
                        <a:pt x="190500" y="0"/>
                      </a:lnTo>
                      <a:cubicBezTo>
                        <a:pt x="210709" y="0"/>
                        <a:pt x="230091" y="4756"/>
                        <a:pt x="244382" y="13221"/>
                      </a:cubicBezTo>
                      <a:cubicBezTo>
                        <a:pt x="258672" y="21687"/>
                        <a:pt x="266700" y="33169"/>
                        <a:pt x="266700" y="45141"/>
                      </a:cubicBezTo>
                      <a:lnTo>
                        <a:pt x="266700" y="924256"/>
                      </a:lnTo>
                      <a:lnTo>
                        <a:pt x="0" y="924256"/>
                      </a:lnTo>
                      <a:lnTo>
                        <a:pt x="0" y="45141"/>
                      </a:lnTo>
                      <a:cubicBezTo>
                        <a:pt x="0" y="20210"/>
                        <a:pt x="34116" y="0"/>
                        <a:pt x="76200" y="0"/>
                      </a:cubicBezTo>
                    </a:path>
                  </a:pathLst>
                </a:custGeom>
                <a:solidFill>
                  <a:srgbClr val="64748B"/>
                </a:solidFill>
                <a:ln>
                  <a:noFill/>
                </a:ln>
              </p:spPr>
            </p:sp>
            <p:sp>
              <p:nvSpPr>
                <p:cNvPr id="176" name="Freeform 176"/>
                <p:cNvSpPr/>
                <p:nvPr/>
              </p:nvSpPr>
              <p:spPr>
                <a:xfrm>
                  <a:off x="8888730" y="6349071"/>
                  <a:ext cx="266700" cy="260688"/>
                </a:xfrm>
                <a:custGeom>
                  <a:avLst/>
                  <a:gdLst/>
                  <a:ahLst/>
                  <a:cxnLst/>
                  <a:rect l="l" t="t" r="r" b="b"/>
                  <a:pathLst>
                    <a:path w="266700" h="260688">
                      <a:moveTo>
                        <a:pt x="76200" y="0"/>
                      </a:moveTo>
                      <a:lnTo>
                        <a:pt x="190500" y="0"/>
                      </a:lnTo>
                      <a:cubicBezTo>
                        <a:pt x="232584" y="0"/>
                        <a:pt x="266700" y="20210"/>
                        <a:pt x="266700" y="45141"/>
                      </a:cubicBezTo>
                      <a:lnTo>
                        <a:pt x="266700" y="260688"/>
                      </a:lnTo>
                      <a:lnTo>
                        <a:pt x="0" y="260688"/>
                      </a:lnTo>
                      <a:lnTo>
                        <a:pt x="0" y="45141"/>
                      </a:lnTo>
                      <a:cubicBezTo>
                        <a:pt x="0" y="20210"/>
                        <a:pt x="34116" y="0"/>
                        <a:pt x="76200" y="0"/>
                      </a:cubicBezTo>
                    </a:path>
                  </a:pathLst>
                </a:custGeom>
                <a:solidFill>
                  <a:srgbClr val="64748B"/>
                </a:solidFill>
                <a:ln>
                  <a:noFill/>
                </a:ln>
              </p:spPr>
            </p:sp>
            <p:sp>
              <p:nvSpPr>
                <p:cNvPr id="177" name="Freeform 177"/>
                <p:cNvSpPr/>
                <p:nvPr/>
              </p:nvSpPr>
              <p:spPr>
                <a:xfrm>
                  <a:off x="10406380" y="6396469"/>
                  <a:ext cx="266700" cy="213290"/>
                </a:xfrm>
                <a:custGeom>
                  <a:avLst/>
                  <a:gdLst/>
                  <a:ahLst/>
                  <a:cxnLst/>
                  <a:rect l="l" t="t" r="r" b="b"/>
                  <a:pathLst>
                    <a:path w="266700" h="213290">
                      <a:moveTo>
                        <a:pt x="76200" y="0"/>
                      </a:moveTo>
                      <a:lnTo>
                        <a:pt x="190500" y="0"/>
                      </a:lnTo>
                      <a:cubicBezTo>
                        <a:pt x="232584" y="0"/>
                        <a:pt x="266700" y="20210"/>
                        <a:pt x="266700" y="45141"/>
                      </a:cubicBezTo>
                      <a:lnTo>
                        <a:pt x="266700" y="213290"/>
                      </a:lnTo>
                      <a:lnTo>
                        <a:pt x="0" y="213290"/>
                      </a:lnTo>
                      <a:lnTo>
                        <a:pt x="0" y="45141"/>
                      </a:lnTo>
                      <a:cubicBezTo>
                        <a:pt x="0" y="20210"/>
                        <a:pt x="34116" y="0"/>
                        <a:pt x="76200" y="0"/>
                      </a:cubicBezTo>
                    </a:path>
                  </a:pathLst>
                </a:custGeom>
                <a:solidFill>
                  <a:srgbClr val="64748B"/>
                </a:solidFill>
                <a:ln>
                  <a:noFill/>
                </a:ln>
              </p:spPr>
            </p:sp>
            <p:sp>
              <p:nvSpPr>
                <p:cNvPr id="178" name="Freeform 178"/>
                <p:cNvSpPr/>
                <p:nvPr/>
              </p:nvSpPr>
              <p:spPr>
                <a:xfrm>
                  <a:off x="7691120" y="6349071"/>
                  <a:ext cx="266700" cy="260688"/>
                </a:xfrm>
                <a:custGeom>
                  <a:avLst/>
                  <a:gdLst/>
                  <a:ahLst/>
                  <a:cxnLst/>
                  <a:rect l="l" t="t" r="r" b="b"/>
                  <a:pathLst>
                    <a:path w="266700" h="260688">
                      <a:moveTo>
                        <a:pt x="76200" y="0"/>
                      </a:moveTo>
                      <a:lnTo>
                        <a:pt x="190500" y="0"/>
                      </a:lnTo>
                      <a:cubicBezTo>
                        <a:pt x="232584" y="0"/>
                        <a:pt x="266700" y="20210"/>
                        <a:pt x="266700" y="45141"/>
                      </a:cubicBezTo>
                      <a:lnTo>
                        <a:pt x="266700" y="260688"/>
                      </a:lnTo>
                      <a:lnTo>
                        <a:pt x="0" y="260688"/>
                      </a:lnTo>
                      <a:lnTo>
                        <a:pt x="0" y="45141"/>
                      </a:lnTo>
                      <a:cubicBezTo>
                        <a:pt x="0" y="20210"/>
                        <a:pt x="34116" y="0"/>
                        <a:pt x="76200" y="0"/>
                      </a:cubicBezTo>
                    </a:path>
                  </a:pathLst>
                </a:custGeom>
                <a:solidFill>
                  <a:srgbClr val="0070F3"/>
                </a:solidFill>
                <a:ln>
                  <a:noFill/>
                </a:ln>
              </p:spPr>
            </p:sp>
            <p:sp>
              <p:nvSpPr>
                <p:cNvPr id="179" name="Freeform 179"/>
                <p:cNvSpPr/>
                <p:nvPr/>
              </p:nvSpPr>
              <p:spPr>
                <a:xfrm>
                  <a:off x="9208770" y="6432018"/>
                  <a:ext cx="266700" cy="177742"/>
                </a:xfrm>
                <a:custGeom>
                  <a:avLst/>
                  <a:gdLst/>
                  <a:ahLst/>
                  <a:cxnLst/>
                  <a:rect l="l" t="t" r="r" b="b"/>
                  <a:pathLst>
                    <a:path w="266700" h="177742">
                      <a:moveTo>
                        <a:pt x="76200" y="0"/>
                      </a:moveTo>
                      <a:lnTo>
                        <a:pt x="190500" y="0"/>
                      </a:lnTo>
                      <a:cubicBezTo>
                        <a:pt x="232584" y="0"/>
                        <a:pt x="266700" y="20210"/>
                        <a:pt x="266700" y="45141"/>
                      </a:cubicBezTo>
                      <a:lnTo>
                        <a:pt x="266700" y="177742"/>
                      </a:lnTo>
                      <a:lnTo>
                        <a:pt x="0" y="177742"/>
                      </a:lnTo>
                      <a:lnTo>
                        <a:pt x="0" y="45141"/>
                      </a:lnTo>
                      <a:cubicBezTo>
                        <a:pt x="0" y="20210"/>
                        <a:pt x="34116" y="0"/>
                        <a:pt x="76200" y="0"/>
                      </a:cubicBezTo>
                    </a:path>
                  </a:pathLst>
                </a:custGeom>
                <a:solidFill>
                  <a:srgbClr val="0070F3"/>
                </a:solidFill>
                <a:ln>
                  <a:noFill/>
                </a:ln>
              </p:spPr>
            </p:sp>
            <p:sp>
              <p:nvSpPr>
                <p:cNvPr id="180" name="Freeform 180"/>
                <p:cNvSpPr/>
                <p:nvPr/>
              </p:nvSpPr>
              <p:spPr>
                <a:xfrm>
                  <a:off x="10726420" y="6503114"/>
                  <a:ext cx="266700" cy="106645"/>
                </a:xfrm>
                <a:custGeom>
                  <a:avLst/>
                  <a:gdLst/>
                  <a:ahLst/>
                  <a:cxnLst/>
                  <a:rect l="l" t="t" r="r" b="b"/>
                  <a:pathLst>
                    <a:path w="266700" h="106645">
                      <a:moveTo>
                        <a:pt x="76200" y="0"/>
                      </a:moveTo>
                      <a:lnTo>
                        <a:pt x="190500" y="0"/>
                      </a:lnTo>
                      <a:cubicBezTo>
                        <a:pt x="232584" y="0"/>
                        <a:pt x="266700" y="20210"/>
                        <a:pt x="266700" y="45141"/>
                      </a:cubicBezTo>
                      <a:lnTo>
                        <a:pt x="266700" y="106645"/>
                      </a:lnTo>
                      <a:lnTo>
                        <a:pt x="0" y="106645"/>
                      </a:lnTo>
                      <a:lnTo>
                        <a:pt x="0" y="45141"/>
                      </a:lnTo>
                      <a:cubicBezTo>
                        <a:pt x="0" y="20210"/>
                        <a:pt x="34116" y="0"/>
                        <a:pt x="76200" y="0"/>
                      </a:cubicBezTo>
                    </a:path>
                  </a:pathLst>
                </a:custGeom>
                <a:solidFill>
                  <a:srgbClr val="0070F3"/>
                </a:solidFill>
                <a:ln>
                  <a:noFill/>
                </a:ln>
              </p:spPr>
            </p:sp>
            <p:sp>
              <p:nvSpPr>
                <p:cNvPr id="181" name="TextBox 181"/>
                <p:cNvSpPr txBox="1"/>
                <p:nvPr/>
              </p:nvSpPr>
              <p:spPr>
                <a:xfrm>
                  <a:off x="7433418" y="5565880"/>
                  <a:ext cx="142024" cy="108338"/>
                </a:xfrm>
                <a:prstGeom prst="rect">
                  <a:avLst/>
                </a:prstGeom>
                <a:noFill/>
                <a:ln>
                  <a:noFill/>
                </a:ln>
              </p:spPr>
              <p:txBody>
                <a:bodyPr wrap="none" lIns="0" tIns="0" rIns="0" bIns="0" anchor="t" anchorCtr="0">
                  <a:spAutoFit/>
                </a:bodyPr>
                <a:lstStyle/>
                <a:p>
                  <a:pPr algn="ctr"/>
                  <a:r>
                    <a:rPr lang="zh-CN" sz="535" dirty="0">
                      <a:solidFill>
                        <a:srgbClr val="0A0A0A"/>
                      </a:solidFill>
                      <a:latin typeface="Segoe UI"/>
                      <a:ea typeface="微软雅黑"/>
                      <a:cs typeface="Segoe UI"/>
                    </a:rPr>
                    <a:t>780</a:t>
                  </a:r>
                  <a:endParaRPr lang="zh-CN" sz="535" dirty="0">
                    <a:solidFill>
                      <a:srgbClr val="0A0A0A"/>
                    </a:solidFill>
                    <a:latin typeface="Segoe UI"/>
                    <a:ea typeface="微软雅黑"/>
                    <a:cs typeface="Segoe UI"/>
                  </a:endParaRPr>
                </a:p>
              </p:txBody>
            </p:sp>
            <p:sp>
              <p:nvSpPr>
                <p:cNvPr id="182" name="TextBox 182"/>
                <p:cNvSpPr txBox="1"/>
                <p:nvPr/>
              </p:nvSpPr>
              <p:spPr>
                <a:xfrm>
                  <a:off x="8951068" y="6229449"/>
                  <a:ext cx="142024" cy="108338"/>
                </a:xfrm>
                <a:prstGeom prst="rect">
                  <a:avLst/>
                </a:prstGeom>
                <a:noFill/>
                <a:ln>
                  <a:noFill/>
                </a:ln>
              </p:spPr>
              <p:txBody>
                <a:bodyPr wrap="none" lIns="0" tIns="0" rIns="0" bIns="0" anchor="t" anchorCtr="0">
                  <a:spAutoFit/>
                </a:bodyPr>
                <a:lstStyle/>
                <a:p>
                  <a:pPr algn="ctr"/>
                  <a:r>
                    <a:rPr lang="zh-CN" sz="535" dirty="0">
                      <a:solidFill>
                        <a:srgbClr val="0A0A0A"/>
                      </a:solidFill>
                      <a:latin typeface="Segoe UI"/>
                      <a:ea typeface="微软雅黑"/>
                      <a:cs typeface="Segoe UI"/>
                    </a:rPr>
                    <a:t>220</a:t>
                  </a:r>
                  <a:endParaRPr lang="zh-CN" sz="535" dirty="0">
                    <a:solidFill>
                      <a:srgbClr val="0A0A0A"/>
                    </a:solidFill>
                    <a:latin typeface="Segoe UI"/>
                    <a:ea typeface="微软雅黑"/>
                    <a:cs typeface="Segoe UI"/>
                  </a:endParaRPr>
                </a:p>
              </p:txBody>
            </p:sp>
            <p:sp>
              <p:nvSpPr>
                <p:cNvPr id="183" name="TextBox 183"/>
                <p:cNvSpPr txBox="1"/>
                <p:nvPr/>
              </p:nvSpPr>
              <p:spPr>
                <a:xfrm>
                  <a:off x="10478451" y="6276846"/>
                  <a:ext cx="122557" cy="108338"/>
                </a:xfrm>
                <a:prstGeom prst="rect">
                  <a:avLst/>
                </a:prstGeom>
                <a:noFill/>
                <a:ln>
                  <a:noFill/>
                </a:ln>
              </p:spPr>
              <p:txBody>
                <a:bodyPr wrap="none" lIns="0" tIns="0" rIns="0" bIns="0" anchor="t" anchorCtr="0">
                  <a:spAutoFit/>
                </a:bodyPr>
                <a:lstStyle/>
                <a:p>
                  <a:pPr algn="ctr"/>
                  <a:r>
                    <a:rPr lang="zh-CN" sz="535" dirty="0">
                      <a:solidFill>
                        <a:srgbClr val="0A0A0A"/>
                      </a:solidFill>
                      <a:latin typeface="Segoe UI"/>
                      <a:ea typeface="微软雅黑"/>
                      <a:cs typeface="Segoe UI"/>
                    </a:rPr>
                    <a:t>180</a:t>
                  </a:r>
                  <a:endParaRPr lang="zh-CN" sz="535" dirty="0">
                    <a:solidFill>
                      <a:srgbClr val="0A0A0A"/>
                    </a:solidFill>
                    <a:latin typeface="Segoe UI"/>
                    <a:ea typeface="微软雅黑"/>
                    <a:cs typeface="Segoe UI"/>
                  </a:endParaRPr>
                </a:p>
              </p:txBody>
            </p:sp>
            <p:sp>
              <p:nvSpPr>
                <p:cNvPr id="184" name="TextBox 184"/>
                <p:cNvSpPr txBox="1"/>
                <p:nvPr/>
              </p:nvSpPr>
              <p:spPr>
                <a:xfrm>
                  <a:off x="7591883" y="6229449"/>
                  <a:ext cx="465175" cy="108338"/>
                </a:xfrm>
                <a:prstGeom prst="rect">
                  <a:avLst/>
                </a:prstGeom>
                <a:noFill/>
                <a:ln>
                  <a:noFill/>
                </a:ln>
              </p:spPr>
              <p:txBody>
                <a:bodyPr wrap="none" lIns="0" tIns="0" rIns="0" bIns="0" anchor="t" anchorCtr="0">
                  <a:spAutoFit/>
                </a:bodyPr>
                <a:lstStyle/>
                <a:p>
                  <a:pPr algn="ctr"/>
                  <a:r>
                    <a:rPr lang="zh-CN" sz="535" dirty="0">
                      <a:solidFill>
                        <a:srgbClr val="0070F3"/>
                      </a:solidFill>
                      <a:latin typeface="Segoe UI"/>
                      <a:ea typeface="微软雅黑"/>
                      <a:cs typeface="Segoe UI"/>
                    </a:rPr>
                    <a:t>220\n↓71.8%</a:t>
                  </a:r>
                  <a:endParaRPr lang="zh-CN" sz="535" dirty="0">
                    <a:solidFill>
                      <a:srgbClr val="0070F3"/>
                    </a:solidFill>
                    <a:latin typeface="Segoe UI"/>
                    <a:ea typeface="微软雅黑"/>
                    <a:cs typeface="Segoe UI"/>
                  </a:endParaRPr>
                </a:p>
              </p:txBody>
            </p:sp>
            <p:sp>
              <p:nvSpPr>
                <p:cNvPr id="185" name="TextBox 185"/>
                <p:cNvSpPr txBox="1"/>
                <p:nvPr/>
              </p:nvSpPr>
              <p:spPr>
                <a:xfrm>
                  <a:off x="9119266" y="6312395"/>
                  <a:ext cx="445708" cy="108338"/>
                </a:xfrm>
                <a:prstGeom prst="rect">
                  <a:avLst/>
                </a:prstGeom>
                <a:noFill/>
                <a:ln>
                  <a:noFill/>
                </a:ln>
              </p:spPr>
              <p:txBody>
                <a:bodyPr wrap="none" lIns="0" tIns="0" rIns="0" bIns="0" anchor="t" anchorCtr="0">
                  <a:spAutoFit/>
                </a:bodyPr>
                <a:lstStyle/>
                <a:p>
                  <a:pPr algn="ctr"/>
                  <a:r>
                    <a:rPr lang="zh-CN" sz="535" dirty="0">
                      <a:solidFill>
                        <a:srgbClr val="0070F3"/>
                      </a:solidFill>
                      <a:latin typeface="Segoe UI"/>
                      <a:ea typeface="微软雅黑"/>
                      <a:cs typeface="Segoe UI"/>
                    </a:rPr>
                    <a:t>150\n↓31.8%</a:t>
                  </a:r>
                  <a:endParaRPr lang="zh-CN" sz="535" dirty="0">
                    <a:solidFill>
                      <a:srgbClr val="0070F3"/>
                    </a:solidFill>
                    <a:latin typeface="Segoe UI"/>
                    <a:ea typeface="微软雅黑"/>
                    <a:cs typeface="Segoe UI"/>
                  </a:endParaRPr>
                </a:p>
              </p:txBody>
            </p:sp>
            <p:sp>
              <p:nvSpPr>
                <p:cNvPr id="186" name="TextBox 186"/>
                <p:cNvSpPr txBox="1"/>
                <p:nvPr/>
              </p:nvSpPr>
              <p:spPr>
                <a:xfrm>
                  <a:off x="10638862" y="6383491"/>
                  <a:ext cx="441815" cy="108338"/>
                </a:xfrm>
                <a:prstGeom prst="rect">
                  <a:avLst/>
                </a:prstGeom>
                <a:noFill/>
                <a:ln>
                  <a:noFill/>
                </a:ln>
              </p:spPr>
              <p:txBody>
                <a:bodyPr wrap="none" lIns="0" tIns="0" rIns="0" bIns="0" anchor="t" anchorCtr="0">
                  <a:spAutoFit/>
                </a:bodyPr>
                <a:lstStyle/>
                <a:p>
                  <a:pPr algn="ctr"/>
                  <a:r>
                    <a:rPr lang="zh-CN" sz="535" dirty="0">
                      <a:solidFill>
                        <a:srgbClr val="0070F3"/>
                      </a:solidFill>
                      <a:latin typeface="Segoe UI"/>
                      <a:ea typeface="微软雅黑"/>
                      <a:cs typeface="Segoe UI"/>
                    </a:rPr>
                    <a:t>90\n↓50.0%</a:t>
                  </a:r>
                  <a:endParaRPr lang="zh-CN" sz="535" dirty="0">
                    <a:solidFill>
                      <a:srgbClr val="0070F3"/>
                    </a:solidFill>
                    <a:latin typeface="Segoe UI"/>
                    <a:ea typeface="微软雅黑"/>
                    <a:cs typeface="Segoe UI"/>
                  </a:endParaRPr>
                </a:p>
              </p:txBody>
            </p:sp>
            <p:sp>
              <p:nvSpPr>
                <p:cNvPr id="187" name="Freeform 187"/>
                <p:cNvSpPr/>
                <p:nvPr/>
              </p:nvSpPr>
              <p:spPr>
                <a:xfrm>
                  <a:off x="8254708" y="5410372"/>
                  <a:ext cx="1549984" cy="135422"/>
                </a:xfrm>
                <a:custGeom>
                  <a:avLst/>
                  <a:gdLst/>
                  <a:ahLst/>
                  <a:cxnLst/>
                  <a:rect l="l" t="t" r="r" b="b"/>
                  <a:pathLst>
                    <a:path w="1549984" h="135422">
                      <a:moveTo>
                        <a:pt x="0" y="0"/>
                      </a:moveTo>
                      <a:lnTo>
                        <a:pt x="1549984" y="0"/>
                      </a:lnTo>
                      <a:lnTo>
                        <a:pt x="1549984" y="135422"/>
                      </a:lnTo>
                      <a:lnTo>
                        <a:pt x="0" y="135422"/>
                      </a:lnTo>
                      <a:close/>
                    </a:path>
                  </a:pathLst>
                </a:custGeom>
                <a:solidFill>
                  <a:srgbClr val="000000">
                    <a:alpha val="0"/>
                  </a:srgbClr>
                </a:solidFill>
                <a:ln w="0">
                  <a:solidFill>
                    <a:srgbClr val="CCCCCC"/>
                  </a:solidFill>
                </a:ln>
              </p:spPr>
            </p:sp>
            <p:sp>
              <p:nvSpPr>
                <p:cNvPr id="188" name="Freeform 188"/>
                <p:cNvSpPr/>
                <p:nvPr/>
              </p:nvSpPr>
              <p:spPr>
                <a:xfrm>
                  <a:off x="8302333" y="5438584"/>
                  <a:ext cx="238125" cy="78996"/>
                </a:xfrm>
                <a:custGeom>
                  <a:avLst/>
                  <a:gdLst/>
                  <a:ahLst/>
                  <a:cxnLst/>
                  <a:rect l="l" t="t" r="r" b="b"/>
                  <a:pathLst>
                    <a:path w="238125" h="78996">
                      <a:moveTo>
                        <a:pt x="33338" y="0"/>
                      </a:moveTo>
                      <a:lnTo>
                        <a:pt x="204788" y="0"/>
                      </a:lnTo>
                      <a:cubicBezTo>
                        <a:pt x="223199" y="0"/>
                        <a:pt x="238125" y="8842"/>
                        <a:pt x="238125" y="19749"/>
                      </a:cubicBezTo>
                      <a:lnTo>
                        <a:pt x="238125" y="59247"/>
                      </a:lnTo>
                      <a:cubicBezTo>
                        <a:pt x="238125" y="70154"/>
                        <a:pt x="223199" y="78996"/>
                        <a:pt x="204788" y="78996"/>
                      </a:cubicBezTo>
                      <a:lnTo>
                        <a:pt x="33338" y="78996"/>
                      </a:lnTo>
                      <a:cubicBezTo>
                        <a:pt x="14926" y="78996"/>
                        <a:pt x="0" y="70154"/>
                        <a:pt x="0" y="59247"/>
                      </a:cubicBezTo>
                      <a:lnTo>
                        <a:pt x="0" y="19749"/>
                      </a:lnTo>
                      <a:cubicBezTo>
                        <a:pt x="0" y="8842"/>
                        <a:pt x="14926" y="0"/>
                        <a:pt x="33338" y="0"/>
                      </a:cubicBezTo>
                    </a:path>
                  </a:pathLst>
                </a:custGeom>
                <a:solidFill>
                  <a:srgbClr val="64748B"/>
                </a:solidFill>
                <a:ln>
                  <a:noFill/>
                </a:ln>
              </p:spPr>
            </p:sp>
            <p:sp>
              <p:nvSpPr>
                <p:cNvPr id="189" name="TextBox 189"/>
                <p:cNvSpPr txBox="1"/>
                <p:nvPr/>
              </p:nvSpPr>
              <p:spPr>
                <a:xfrm>
                  <a:off x="8581312" y="5401116"/>
                  <a:ext cx="325013" cy="108338"/>
                </a:xfrm>
                <a:prstGeom prst="rect">
                  <a:avLst/>
                </a:prstGeom>
                <a:noFill/>
                <a:ln>
                  <a:noFill/>
                </a:ln>
              </p:spPr>
              <p:txBody>
                <a:bodyPr wrap="none" lIns="0" tIns="0" rIns="0" bIns="0" anchor="t" anchorCtr="0">
                  <a:spAutoFit/>
                </a:bodyPr>
                <a:lstStyle/>
                <a:p>
                  <a:pPr algn="l"/>
                  <a:r>
                    <a:rPr lang="zh-CN" sz="535" dirty="0">
                      <a:solidFill>
                        <a:srgbClr val="0A0A0A"/>
                      </a:solidFill>
                      <a:latin typeface="Segoe UI"/>
                      <a:ea typeface="微软雅黑"/>
                      <a:cs typeface="Segoe UI"/>
                    </a:rPr>
                    <a:t>传统方案</a:t>
                  </a:r>
                  <a:endParaRPr lang="zh-CN" sz="535" dirty="0">
                    <a:solidFill>
                      <a:srgbClr val="0A0A0A"/>
                    </a:solidFill>
                    <a:latin typeface="Segoe UI"/>
                    <a:ea typeface="微软雅黑"/>
                    <a:cs typeface="Segoe UI"/>
                  </a:endParaRPr>
                </a:p>
              </p:txBody>
            </p:sp>
            <p:sp>
              <p:nvSpPr>
                <p:cNvPr id="190" name="Freeform 190"/>
                <p:cNvSpPr/>
                <p:nvPr/>
              </p:nvSpPr>
              <p:spPr>
                <a:xfrm>
                  <a:off x="8302333" y="5438584"/>
                  <a:ext cx="742950" cy="78996"/>
                </a:xfrm>
                <a:custGeom>
                  <a:avLst/>
                  <a:gdLst/>
                  <a:ahLst/>
                  <a:cxnLst/>
                  <a:rect l="l" t="t" r="r" b="b"/>
                  <a:pathLst>
                    <a:path w="742950" h="78996">
                      <a:moveTo>
                        <a:pt x="0" y="0"/>
                      </a:moveTo>
                      <a:lnTo>
                        <a:pt x="742950" y="0"/>
                      </a:lnTo>
                      <a:lnTo>
                        <a:pt x="742950" y="78996"/>
                      </a:lnTo>
                      <a:lnTo>
                        <a:pt x="0" y="78996"/>
                      </a:lnTo>
                      <a:close/>
                    </a:path>
                  </a:pathLst>
                </a:custGeom>
                <a:noFill/>
                <a:ln>
                  <a:noFill/>
                </a:ln>
              </p:spPr>
            </p:sp>
            <p:sp>
              <p:nvSpPr>
                <p:cNvPr id="191" name="Freeform 191"/>
                <p:cNvSpPr/>
                <p:nvPr/>
              </p:nvSpPr>
              <p:spPr>
                <a:xfrm>
                  <a:off x="9140533" y="5438584"/>
                  <a:ext cx="238125" cy="78996"/>
                </a:xfrm>
                <a:custGeom>
                  <a:avLst/>
                  <a:gdLst/>
                  <a:ahLst/>
                  <a:cxnLst/>
                  <a:rect l="l" t="t" r="r" b="b"/>
                  <a:pathLst>
                    <a:path w="238125" h="78996">
                      <a:moveTo>
                        <a:pt x="33338" y="0"/>
                      </a:moveTo>
                      <a:lnTo>
                        <a:pt x="204788" y="0"/>
                      </a:lnTo>
                      <a:cubicBezTo>
                        <a:pt x="223199" y="0"/>
                        <a:pt x="238125" y="8842"/>
                        <a:pt x="238125" y="19749"/>
                      </a:cubicBezTo>
                      <a:lnTo>
                        <a:pt x="238125" y="59247"/>
                      </a:lnTo>
                      <a:cubicBezTo>
                        <a:pt x="238125" y="70154"/>
                        <a:pt x="223199" y="78996"/>
                        <a:pt x="204788" y="78996"/>
                      </a:cubicBezTo>
                      <a:lnTo>
                        <a:pt x="33338" y="78996"/>
                      </a:lnTo>
                      <a:cubicBezTo>
                        <a:pt x="14926" y="78996"/>
                        <a:pt x="0" y="70154"/>
                        <a:pt x="0" y="59247"/>
                      </a:cubicBezTo>
                      <a:lnTo>
                        <a:pt x="0" y="19749"/>
                      </a:lnTo>
                      <a:cubicBezTo>
                        <a:pt x="0" y="8842"/>
                        <a:pt x="14926" y="0"/>
                        <a:pt x="33338" y="0"/>
                      </a:cubicBezTo>
                    </a:path>
                  </a:pathLst>
                </a:custGeom>
                <a:solidFill>
                  <a:srgbClr val="0070F3"/>
                </a:solidFill>
                <a:ln>
                  <a:noFill/>
                </a:ln>
              </p:spPr>
            </p:sp>
            <p:sp>
              <p:nvSpPr>
                <p:cNvPr id="192" name="TextBox 192"/>
                <p:cNvSpPr txBox="1"/>
                <p:nvPr/>
              </p:nvSpPr>
              <p:spPr>
                <a:xfrm>
                  <a:off x="9419512" y="5401116"/>
                  <a:ext cx="235465" cy="108338"/>
                </a:xfrm>
                <a:prstGeom prst="rect">
                  <a:avLst/>
                </a:prstGeom>
                <a:noFill/>
                <a:ln>
                  <a:noFill/>
                </a:ln>
              </p:spPr>
              <p:txBody>
                <a:bodyPr wrap="none" lIns="0" tIns="0" rIns="0" bIns="0" anchor="t" anchorCtr="0">
                  <a:spAutoFit/>
                </a:bodyPr>
                <a:lstStyle/>
                <a:p>
                  <a:pPr algn="l"/>
                  <a:r>
                    <a:rPr lang="zh-CN" sz="535" dirty="0">
                      <a:solidFill>
                        <a:srgbClr val="0A0A0A"/>
                      </a:solidFill>
                      <a:latin typeface="Segoe UI"/>
                      <a:ea typeface="微软雅黑"/>
                      <a:cs typeface="Segoe UI"/>
                    </a:rPr>
                    <a:t>AI方案</a:t>
                  </a:r>
                  <a:endParaRPr lang="zh-CN" sz="535" dirty="0">
                    <a:solidFill>
                      <a:srgbClr val="0A0A0A"/>
                    </a:solidFill>
                    <a:latin typeface="Segoe UI"/>
                    <a:ea typeface="微软雅黑"/>
                    <a:cs typeface="Segoe UI"/>
                  </a:endParaRPr>
                </a:p>
              </p:txBody>
            </p:sp>
            <p:sp>
              <p:nvSpPr>
                <p:cNvPr id="193" name="Freeform 193"/>
                <p:cNvSpPr/>
                <p:nvPr/>
              </p:nvSpPr>
              <p:spPr>
                <a:xfrm>
                  <a:off x="9140533" y="5438584"/>
                  <a:ext cx="616534" cy="78996"/>
                </a:xfrm>
                <a:custGeom>
                  <a:avLst/>
                  <a:gdLst/>
                  <a:ahLst/>
                  <a:cxnLst/>
                  <a:rect l="l" t="t" r="r" b="b"/>
                  <a:pathLst>
                    <a:path w="616534" h="78996">
                      <a:moveTo>
                        <a:pt x="0" y="0"/>
                      </a:moveTo>
                      <a:lnTo>
                        <a:pt x="616534" y="0"/>
                      </a:lnTo>
                      <a:lnTo>
                        <a:pt x="616534" y="78996"/>
                      </a:lnTo>
                      <a:lnTo>
                        <a:pt x="0" y="78996"/>
                      </a:lnTo>
                      <a:close/>
                    </a:path>
                  </a:pathLst>
                </a:custGeom>
                <a:noFill/>
                <a:ln>
                  <a:noFill/>
                </a:ln>
              </p:spPr>
            </p:sp>
          </p:grpSp>
        </p:grpSp>
        <p:sp>
          <p:nvSpPr>
            <p:cNvPr id="196" name="TextBox 196"/>
            <p:cNvSpPr txBox="1"/>
            <p:nvPr/>
          </p:nvSpPr>
          <p:spPr>
            <a:xfrm>
              <a:off x="6360795" y="6875145"/>
              <a:ext cx="3420713"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AI从零到千亿市场用时最短，增速远超互联网、移动互联网</a:t>
              </a:r>
              <a:endParaRPr lang="zh-CN" sz="900" dirty="0">
                <a:solidFill>
                  <a:srgbClr val="0A0A0A"/>
                </a:solidFill>
                <a:latin typeface="Arial" panose="020B0604020202090204"/>
                <a:ea typeface="微软雅黑"/>
                <a:cs typeface="Arial" panose="020B0604020202090204"/>
              </a:endParaRPr>
            </a:p>
          </p:txBody>
        </p:sp>
        <p:sp>
          <p:nvSpPr>
            <p:cNvPr id="197" name="TextBox 197"/>
            <p:cNvSpPr txBox="1"/>
            <p:nvPr/>
          </p:nvSpPr>
          <p:spPr>
            <a:xfrm>
              <a:off x="9421558" y="6875145"/>
              <a:ext cx="1711928"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传统方案总成本 1180万元 /年</a:t>
              </a:r>
              <a:endParaRPr lang="zh-CN" sz="900" dirty="0">
                <a:solidFill>
                  <a:srgbClr val="0A0A0A"/>
                </a:solidFill>
                <a:latin typeface="Arial" panose="020B0604020202090204"/>
                <a:ea typeface="微软雅黑"/>
                <a:cs typeface="Arial" panose="020B0604020202090204"/>
              </a:endParaRPr>
            </a:p>
          </p:txBody>
        </p:sp>
        <p:sp>
          <p:nvSpPr>
            <p:cNvPr id="198" name="TextBox 198"/>
            <p:cNvSpPr txBox="1"/>
            <p:nvPr/>
          </p:nvSpPr>
          <p:spPr>
            <a:xfrm>
              <a:off x="6360795" y="6875145"/>
              <a:ext cx="1554194"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AI方案总成本 460万元 /年</a:t>
              </a:r>
              <a:endParaRPr lang="zh-CN" sz="900" dirty="0">
                <a:solidFill>
                  <a:srgbClr val="0A0A0A"/>
                </a:solidFill>
                <a:latin typeface="Arial" panose="020B0604020202090204"/>
                <a:ea typeface="微软雅黑"/>
                <a:cs typeface="Arial" panose="020B0604020202090204"/>
              </a:endParaRPr>
            </a:p>
          </p:txBody>
        </p:sp>
        <p:sp>
          <p:nvSpPr>
            <p:cNvPr id="199" name="TextBox 199"/>
            <p:cNvSpPr txBox="1"/>
            <p:nvPr/>
          </p:nvSpPr>
          <p:spPr>
            <a:xfrm>
              <a:off x="7796212" y="6875145"/>
              <a:ext cx="1311021"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成本节省 720万元 /年</a:t>
              </a:r>
              <a:endParaRPr lang="zh-CN" sz="900" dirty="0">
                <a:solidFill>
                  <a:srgbClr val="0A0A0A"/>
                </a:solidFill>
                <a:latin typeface="Arial" panose="020B0604020202090204"/>
                <a:ea typeface="微软雅黑"/>
                <a:cs typeface="Arial" panose="020B0604020202090204"/>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136" name="Group 136"/>
          <p:cNvGrpSpPr/>
          <p:nvPr/>
        </p:nvGrpSpPr>
        <p:grpSpPr>
          <a:xfrm>
            <a:off x="243840" y="190500"/>
            <a:ext cx="11719084" cy="6489383"/>
            <a:chOff x="243840" y="190500"/>
            <a:chExt cx="11719084" cy="6489383"/>
          </a:xfrm>
        </p:grpSpPr>
        <p:sp>
          <p:nvSpPr>
            <p:cNvPr id="5" name="TextBox 5"/>
            <p:cNvSpPr txBox="1"/>
            <p:nvPr/>
          </p:nvSpPr>
          <p:spPr>
            <a:xfrm>
              <a:off x="243840" y="224790"/>
              <a:ext cx="7070798" cy="365760"/>
            </a:xfrm>
            <a:prstGeom prst="rect">
              <a:avLst/>
            </a:prstGeom>
            <a:noFill/>
            <a:ln>
              <a:noFill/>
            </a:ln>
          </p:spPr>
          <p:txBody>
            <a:bodyPr wrap="none" lIns="0" tIns="0" rIns="0" bIns="0" anchor="t" anchorCtr="0">
              <a:spAutoFit/>
            </a:bodyPr>
            <a:lstStyle/>
            <a:p>
              <a:pPr algn="l"/>
              <a:r>
                <a:rPr lang="zh-CN" sz="1800" b="1" dirty="0">
                  <a:solidFill>
                    <a:srgbClr val="0A0A0A"/>
                  </a:solidFill>
                  <a:latin typeface="Times New Roman" panose="02020503050405090304"/>
                  <a:ea typeface="宋体"/>
                  <a:cs typeface="Times New Roman" panose="02020503050405090304"/>
                </a:rPr>
                <a:t>企业 AI采用率达 73%临界点，成熟企业生产率提升 15-30%</a:t>
              </a:r>
              <a:endParaRPr lang="zh-CN" sz="180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255270" y="539115"/>
              <a:ext cx="3591592"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揭示企业 AI应用已进入规模化临界点，展示成熟企业价值产出</a:t>
              </a:r>
              <a:endParaRPr lang="zh-CN" sz="900" dirty="0">
                <a:solidFill>
                  <a:srgbClr val="0A0A0A"/>
                </a:solidFill>
                <a:latin typeface="Arial" panose="020B0604020202090204"/>
                <a:ea typeface="微软雅黑"/>
                <a:cs typeface="Arial" panose="020B0604020202090204"/>
              </a:endParaRPr>
            </a:p>
          </p:txBody>
        </p:sp>
        <p:sp>
          <p:nvSpPr>
            <p:cNvPr id="7" name="Rectangle 7"/>
            <p:cNvSpPr/>
            <p:nvPr/>
          </p:nvSpPr>
          <p:spPr>
            <a:xfrm>
              <a:off x="10772775" y="190500"/>
              <a:ext cx="1152525" cy="276225"/>
            </a:xfrm>
            <a:prstGeom prst="roundRect">
              <a:avLst>
                <a:gd name="adj" fmla="val 50000"/>
              </a:avLst>
            </a:prstGeom>
            <a:solidFill>
              <a:srgbClr val="0070F3">
                <a:alpha val="12000"/>
              </a:srgbClr>
            </a:solidFill>
            <a:ln>
              <a:noFill/>
            </a:ln>
          </p:spPr>
        </p:sp>
        <p:sp>
          <p:nvSpPr>
            <p:cNvPr id="8" name="Line 8"/>
            <p:cNvSpPr/>
            <p:nvPr/>
          </p:nvSpPr>
          <p:spPr>
            <a:xfrm>
              <a:off x="10772775" y="190500"/>
              <a:ext cx="1152525" cy="9525"/>
            </a:xfrm>
            <a:custGeom>
              <a:avLst/>
              <a:gdLst/>
              <a:ahLst/>
              <a:cxnLst/>
              <a:rect l="l" t="t" r="r" b="b"/>
              <a:pathLst>
                <a:path w="1152525" h="9525">
                  <a:moveTo>
                    <a:pt x="0" y="0"/>
                  </a:moveTo>
                  <a:lnTo>
                    <a:pt x="1152525" y="0"/>
                  </a:lnTo>
                </a:path>
              </a:pathLst>
            </a:custGeom>
            <a:noFill/>
            <a:ln w="9525">
              <a:solidFill>
                <a:srgbClr val="0070F3">
                  <a:alpha val="24000"/>
                </a:srgbClr>
              </a:solidFill>
            </a:ln>
          </p:spPr>
        </p:sp>
        <p:sp>
          <p:nvSpPr>
            <p:cNvPr id="9" name="Line 9"/>
            <p:cNvSpPr/>
            <p:nvPr/>
          </p:nvSpPr>
          <p:spPr>
            <a:xfrm>
              <a:off x="11925300" y="190500"/>
              <a:ext cx="9525" cy="276225"/>
            </a:xfrm>
            <a:custGeom>
              <a:avLst/>
              <a:gdLst/>
              <a:ahLst/>
              <a:cxnLst/>
              <a:rect l="l" t="t" r="r" b="b"/>
              <a:pathLst>
                <a:path w="9525" h="276225">
                  <a:moveTo>
                    <a:pt x="0" y="0"/>
                  </a:moveTo>
                  <a:lnTo>
                    <a:pt x="0" y="276225"/>
                  </a:lnTo>
                </a:path>
              </a:pathLst>
            </a:custGeom>
            <a:noFill/>
            <a:ln w="9525">
              <a:solidFill>
                <a:srgbClr val="0070F3">
                  <a:alpha val="24000"/>
                </a:srgbClr>
              </a:solidFill>
            </a:ln>
          </p:spPr>
        </p:sp>
        <p:sp>
          <p:nvSpPr>
            <p:cNvPr id="10" name="Line 10"/>
            <p:cNvSpPr/>
            <p:nvPr/>
          </p:nvSpPr>
          <p:spPr>
            <a:xfrm>
              <a:off x="10772775" y="466725"/>
              <a:ext cx="1152525" cy="9525"/>
            </a:xfrm>
            <a:custGeom>
              <a:avLst/>
              <a:gdLst/>
              <a:ahLst/>
              <a:cxnLst/>
              <a:rect l="l" t="t" r="r" b="b"/>
              <a:pathLst>
                <a:path w="1152525" h="9525">
                  <a:moveTo>
                    <a:pt x="0" y="0"/>
                  </a:moveTo>
                  <a:lnTo>
                    <a:pt x="1152525" y="0"/>
                  </a:lnTo>
                </a:path>
              </a:pathLst>
            </a:custGeom>
            <a:noFill/>
            <a:ln w="9525">
              <a:solidFill>
                <a:srgbClr val="0070F3">
                  <a:alpha val="24000"/>
                </a:srgbClr>
              </a:solidFill>
            </a:ln>
          </p:spPr>
        </p:sp>
        <p:sp>
          <p:nvSpPr>
            <p:cNvPr id="11" name="Line 11"/>
            <p:cNvSpPr/>
            <p:nvPr/>
          </p:nvSpPr>
          <p:spPr>
            <a:xfrm>
              <a:off x="10772775" y="190500"/>
              <a:ext cx="9525" cy="276225"/>
            </a:xfrm>
            <a:custGeom>
              <a:avLst/>
              <a:gdLst/>
              <a:ahLst/>
              <a:cxnLst/>
              <a:rect l="l" t="t" r="r" b="b"/>
              <a:pathLst>
                <a:path w="9525" h="276225">
                  <a:moveTo>
                    <a:pt x="0" y="0"/>
                  </a:moveTo>
                  <a:lnTo>
                    <a:pt x="0" y="276225"/>
                  </a:lnTo>
                </a:path>
              </a:pathLst>
            </a:custGeom>
            <a:noFill/>
            <a:ln w="9525">
              <a:solidFill>
                <a:srgbClr val="0070F3">
                  <a:alpha val="24000"/>
                </a:srgbClr>
              </a:solidFill>
            </a:ln>
          </p:spPr>
        </p:sp>
        <p:sp>
          <p:nvSpPr>
            <p:cNvPr id="12" name="TextBox 12"/>
            <p:cNvSpPr txBox="1"/>
            <p:nvPr/>
          </p:nvSpPr>
          <p:spPr>
            <a:xfrm>
              <a:off x="10857548" y="263366"/>
              <a:ext cx="1105376"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数据来源：行业调研</a:t>
              </a:r>
              <a:endParaRPr lang="zh-CN" sz="825" dirty="0">
                <a:solidFill>
                  <a:srgbClr val="0070F3"/>
                </a:solidFill>
                <a:latin typeface="Arial" panose="020B0604020202090204"/>
                <a:ea typeface="微软雅黑"/>
                <a:cs typeface="Arial" panose="020B0604020202090204"/>
              </a:endParaRPr>
            </a:p>
          </p:txBody>
        </p:sp>
        <p:sp>
          <p:nvSpPr>
            <p:cNvPr id="13" name="TextBox 13"/>
            <p:cNvSpPr txBox="1"/>
            <p:nvPr/>
          </p:nvSpPr>
          <p:spPr>
            <a:xfrm>
              <a:off x="254318" y="826294"/>
              <a:ext cx="921877" cy="198120"/>
            </a:xfrm>
            <a:prstGeom prst="rect">
              <a:avLst/>
            </a:prstGeom>
            <a:noFill/>
            <a:ln>
              <a:noFill/>
            </a:ln>
          </p:spPr>
          <p:txBody>
            <a:bodyPr wrap="non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投资回报分析</a:t>
              </a:r>
              <a:endParaRPr lang="zh-CN" sz="975" b="1" dirty="0">
                <a:solidFill>
                  <a:srgbClr val="0A0A0A"/>
                </a:solidFill>
                <a:latin typeface="Arial" panose="020B0604020202090204"/>
                <a:ea typeface="微软雅黑"/>
                <a:cs typeface="Arial" panose="020B0604020202090204"/>
              </a:endParaRPr>
            </a:p>
          </p:txBody>
        </p:sp>
        <p:sp>
          <p:nvSpPr>
            <p:cNvPr id="14" name="TextBox 14"/>
            <p:cNvSpPr txBox="1"/>
            <p:nvPr/>
          </p:nvSpPr>
          <p:spPr>
            <a:xfrm>
              <a:off x="255270" y="1039178"/>
              <a:ext cx="4084511"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[Data: 900万元]一次性投入，成熟企业 3年累计 ROI达[Data: 320%]</a:t>
              </a:r>
              <a:endParaRPr lang="zh-CN" sz="900" dirty="0">
                <a:solidFill>
                  <a:srgbClr val="0A0A0A"/>
                </a:solidFill>
                <a:latin typeface="Arial" panose="020B0604020202090204"/>
                <a:ea typeface="微软雅黑"/>
                <a:cs typeface="Arial" panose="020B0604020202090204"/>
              </a:endParaRPr>
            </a:p>
          </p:txBody>
        </p:sp>
        <p:sp>
          <p:nvSpPr>
            <p:cNvPr id="15" name="Rectangle 15"/>
            <p:cNvSpPr/>
            <p:nvPr/>
          </p:nvSpPr>
          <p:spPr>
            <a:xfrm>
              <a:off x="266700" y="1288732"/>
              <a:ext cx="3822668" cy="904875"/>
            </a:xfrm>
            <a:prstGeom prst="roundRect">
              <a:avLst>
                <a:gd name="adj" fmla="val 12632"/>
              </a:avLst>
            </a:prstGeom>
            <a:solidFill>
              <a:srgbClr val="FFFFFF">
                <a:alpha val="72000"/>
              </a:srgbClr>
            </a:solidFill>
            <a:ln>
              <a:noFill/>
            </a:ln>
          </p:spPr>
        </p:sp>
        <p:sp>
          <p:nvSpPr>
            <p:cNvPr id="16" name="Line 16"/>
            <p:cNvSpPr/>
            <p:nvPr/>
          </p:nvSpPr>
          <p:spPr>
            <a:xfrm>
              <a:off x="266700" y="1288732"/>
              <a:ext cx="3822668" cy="9525"/>
            </a:xfrm>
            <a:custGeom>
              <a:avLst/>
              <a:gdLst/>
              <a:ahLst/>
              <a:cxnLst/>
              <a:rect l="l" t="t" r="r" b="b"/>
              <a:pathLst>
                <a:path w="3822668" h="9525">
                  <a:moveTo>
                    <a:pt x="0" y="0"/>
                  </a:moveTo>
                  <a:lnTo>
                    <a:pt x="3822668" y="0"/>
                  </a:lnTo>
                </a:path>
              </a:pathLst>
            </a:custGeom>
            <a:noFill/>
            <a:ln w="9525">
              <a:solidFill>
                <a:srgbClr val="0070F3">
                  <a:alpha val="16000"/>
                </a:srgbClr>
              </a:solidFill>
            </a:ln>
          </p:spPr>
        </p:sp>
        <p:sp>
          <p:nvSpPr>
            <p:cNvPr id="17" name="Line 17"/>
            <p:cNvSpPr/>
            <p:nvPr/>
          </p:nvSpPr>
          <p:spPr>
            <a:xfrm>
              <a:off x="4089368" y="1288732"/>
              <a:ext cx="9525" cy="904875"/>
            </a:xfrm>
            <a:custGeom>
              <a:avLst/>
              <a:gdLst/>
              <a:ahLst/>
              <a:cxnLst/>
              <a:rect l="l" t="t" r="r" b="b"/>
              <a:pathLst>
                <a:path w="9525" h="904875">
                  <a:moveTo>
                    <a:pt x="0" y="0"/>
                  </a:moveTo>
                  <a:lnTo>
                    <a:pt x="0" y="904875"/>
                  </a:lnTo>
                </a:path>
              </a:pathLst>
            </a:custGeom>
            <a:noFill/>
            <a:ln w="9525">
              <a:solidFill>
                <a:srgbClr val="0070F3">
                  <a:alpha val="16000"/>
                </a:srgbClr>
              </a:solidFill>
            </a:ln>
          </p:spPr>
        </p:sp>
        <p:sp>
          <p:nvSpPr>
            <p:cNvPr id="18" name="Line 18"/>
            <p:cNvSpPr/>
            <p:nvPr/>
          </p:nvSpPr>
          <p:spPr>
            <a:xfrm>
              <a:off x="266700" y="2193608"/>
              <a:ext cx="3822668" cy="9525"/>
            </a:xfrm>
            <a:custGeom>
              <a:avLst/>
              <a:gdLst/>
              <a:ahLst/>
              <a:cxnLst/>
              <a:rect l="l" t="t" r="r" b="b"/>
              <a:pathLst>
                <a:path w="3822668" h="9525">
                  <a:moveTo>
                    <a:pt x="0" y="0"/>
                  </a:moveTo>
                  <a:lnTo>
                    <a:pt x="3822668" y="0"/>
                  </a:lnTo>
                </a:path>
              </a:pathLst>
            </a:custGeom>
            <a:noFill/>
            <a:ln w="9525">
              <a:solidFill>
                <a:srgbClr val="0070F3">
                  <a:alpha val="16000"/>
                </a:srgbClr>
              </a:solidFill>
            </a:ln>
          </p:spPr>
        </p:sp>
        <p:sp>
          <p:nvSpPr>
            <p:cNvPr id="19" name="Line 19"/>
            <p:cNvSpPr/>
            <p:nvPr/>
          </p:nvSpPr>
          <p:spPr>
            <a:xfrm>
              <a:off x="266700" y="1288732"/>
              <a:ext cx="9525" cy="904875"/>
            </a:xfrm>
            <a:custGeom>
              <a:avLst/>
              <a:gdLst/>
              <a:ahLst/>
              <a:cxnLst/>
              <a:rect l="l" t="t" r="r" b="b"/>
              <a:pathLst>
                <a:path w="9525" h="904875">
                  <a:moveTo>
                    <a:pt x="0" y="0"/>
                  </a:moveTo>
                  <a:lnTo>
                    <a:pt x="0" y="904875"/>
                  </a:lnTo>
                </a:path>
              </a:pathLst>
            </a:custGeom>
            <a:noFill/>
            <a:ln w="9525">
              <a:solidFill>
                <a:srgbClr val="0070F3">
                  <a:alpha val="16000"/>
                </a:srgbClr>
              </a:solidFill>
            </a:ln>
          </p:spPr>
        </p:sp>
        <p:sp>
          <p:nvSpPr>
            <p:cNvPr id="20" name="TextBox 20"/>
            <p:cNvSpPr txBox="1"/>
            <p:nvPr/>
          </p:nvSpPr>
          <p:spPr>
            <a:xfrm>
              <a:off x="399098" y="1428274"/>
              <a:ext cx="623411"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投资回收期</a:t>
              </a:r>
              <a:endParaRPr lang="zh-CN" sz="825" dirty="0">
                <a:solidFill>
                  <a:srgbClr val="94A3B8"/>
                </a:solidFill>
                <a:latin typeface="Arial" panose="020B0604020202090204"/>
                <a:ea typeface="微软雅黑"/>
                <a:cs typeface="Arial" panose="020B0604020202090204"/>
              </a:endParaRPr>
            </a:p>
          </p:txBody>
        </p:sp>
        <p:sp>
          <p:nvSpPr>
            <p:cNvPr id="21" name="TextBox 21"/>
            <p:cNvSpPr txBox="1"/>
            <p:nvPr/>
          </p:nvSpPr>
          <p:spPr>
            <a:xfrm>
              <a:off x="388620" y="1624965"/>
              <a:ext cx="1813131" cy="335280"/>
            </a:xfrm>
            <a:prstGeom prst="rect">
              <a:avLst/>
            </a:prstGeom>
            <a:noFill/>
            <a:ln>
              <a:noFill/>
            </a:ln>
          </p:spPr>
          <p:txBody>
            <a:bodyPr wrap="none" lIns="0" tIns="0" rIns="0" bIns="0" anchor="t" anchorCtr="0">
              <a:spAutoFit/>
            </a:bodyPr>
            <a:lstStyle/>
            <a:p>
              <a:pPr algn="l"/>
              <a:r>
                <a:rPr lang="zh-CN" sz="1650" b="1" dirty="0">
                  <a:solidFill>
                    <a:srgbClr val="0A0A0A"/>
                  </a:solidFill>
                  <a:latin typeface="Arial" panose="020B0604020202090204"/>
                  <a:ea typeface="微软雅黑"/>
                  <a:cs typeface="Arial" panose="020B0604020202090204"/>
                </a:rPr>
                <a:t>[Data: 12个月]</a:t>
              </a:r>
              <a:endParaRPr lang="zh-CN" sz="1650" b="1" dirty="0">
                <a:solidFill>
                  <a:srgbClr val="0A0A0A"/>
                </a:solidFill>
                <a:latin typeface="Arial" panose="020B0604020202090204"/>
                <a:ea typeface="微软雅黑"/>
                <a:cs typeface="Arial" panose="020B0604020202090204"/>
              </a:endParaRPr>
            </a:p>
          </p:txBody>
        </p:sp>
        <p:sp>
          <p:nvSpPr>
            <p:cNvPr id="22" name="TextBox 22"/>
            <p:cNvSpPr txBox="1"/>
            <p:nvPr/>
          </p:nvSpPr>
          <p:spPr>
            <a:xfrm>
              <a:off x="399098" y="1942624"/>
              <a:ext cx="1496973"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月均回报约[Data: 75万元]</a:t>
              </a:r>
              <a:endParaRPr lang="zh-CN" sz="825" dirty="0">
                <a:solidFill>
                  <a:srgbClr val="0070F3"/>
                </a:solidFill>
                <a:latin typeface="Arial" panose="020B0604020202090204"/>
                <a:ea typeface="微软雅黑"/>
                <a:cs typeface="Arial" panose="020B0604020202090204"/>
              </a:endParaRPr>
            </a:p>
          </p:txBody>
        </p:sp>
        <p:sp>
          <p:nvSpPr>
            <p:cNvPr id="23" name="Rectangle 23"/>
            <p:cNvSpPr/>
            <p:nvPr/>
          </p:nvSpPr>
          <p:spPr>
            <a:xfrm>
              <a:off x="4184618" y="1288732"/>
              <a:ext cx="3822763" cy="904875"/>
            </a:xfrm>
            <a:prstGeom prst="roundRect">
              <a:avLst>
                <a:gd name="adj" fmla="val 12632"/>
              </a:avLst>
            </a:prstGeom>
            <a:solidFill>
              <a:srgbClr val="FFFFFF">
                <a:alpha val="72000"/>
              </a:srgbClr>
            </a:solidFill>
            <a:ln>
              <a:noFill/>
            </a:ln>
          </p:spPr>
        </p:sp>
        <p:sp>
          <p:nvSpPr>
            <p:cNvPr id="24" name="Line 24"/>
            <p:cNvSpPr/>
            <p:nvPr/>
          </p:nvSpPr>
          <p:spPr>
            <a:xfrm>
              <a:off x="4184618" y="1288732"/>
              <a:ext cx="3822668" cy="9525"/>
            </a:xfrm>
            <a:custGeom>
              <a:avLst/>
              <a:gdLst/>
              <a:ahLst/>
              <a:cxnLst/>
              <a:rect l="l" t="t" r="r" b="b"/>
              <a:pathLst>
                <a:path w="3822668" h="9525">
                  <a:moveTo>
                    <a:pt x="0" y="0"/>
                  </a:moveTo>
                  <a:lnTo>
                    <a:pt x="3822668" y="0"/>
                  </a:lnTo>
                </a:path>
              </a:pathLst>
            </a:custGeom>
            <a:noFill/>
            <a:ln w="9525">
              <a:solidFill>
                <a:srgbClr val="0070F3">
                  <a:alpha val="16000"/>
                </a:srgbClr>
              </a:solidFill>
            </a:ln>
          </p:spPr>
        </p:sp>
        <p:sp>
          <p:nvSpPr>
            <p:cNvPr id="25" name="Line 25"/>
            <p:cNvSpPr/>
            <p:nvPr/>
          </p:nvSpPr>
          <p:spPr>
            <a:xfrm>
              <a:off x="8007286" y="1288732"/>
              <a:ext cx="9525" cy="904875"/>
            </a:xfrm>
            <a:custGeom>
              <a:avLst/>
              <a:gdLst/>
              <a:ahLst/>
              <a:cxnLst/>
              <a:rect l="l" t="t" r="r" b="b"/>
              <a:pathLst>
                <a:path w="9525" h="904875">
                  <a:moveTo>
                    <a:pt x="0" y="0"/>
                  </a:moveTo>
                  <a:lnTo>
                    <a:pt x="0" y="904875"/>
                  </a:lnTo>
                </a:path>
              </a:pathLst>
            </a:custGeom>
            <a:noFill/>
            <a:ln w="9525">
              <a:solidFill>
                <a:srgbClr val="0070F3">
                  <a:alpha val="16000"/>
                </a:srgbClr>
              </a:solidFill>
            </a:ln>
          </p:spPr>
        </p:sp>
        <p:sp>
          <p:nvSpPr>
            <p:cNvPr id="26" name="Line 26"/>
            <p:cNvSpPr/>
            <p:nvPr/>
          </p:nvSpPr>
          <p:spPr>
            <a:xfrm>
              <a:off x="4184618" y="2193608"/>
              <a:ext cx="3822668" cy="9525"/>
            </a:xfrm>
            <a:custGeom>
              <a:avLst/>
              <a:gdLst/>
              <a:ahLst/>
              <a:cxnLst/>
              <a:rect l="l" t="t" r="r" b="b"/>
              <a:pathLst>
                <a:path w="3822668" h="9525">
                  <a:moveTo>
                    <a:pt x="0" y="0"/>
                  </a:moveTo>
                  <a:lnTo>
                    <a:pt x="3822668" y="0"/>
                  </a:lnTo>
                </a:path>
              </a:pathLst>
            </a:custGeom>
            <a:noFill/>
            <a:ln w="9525">
              <a:solidFill>
                <a:srgbClr val="0070F3">
                  <a:alpha val="16000"/>
                </a:srgbClr>
              </a:solidFill>
            </a:ln>
          </p:spPr>
        </p:sp>
        <p:sp>
          <p:nvSpPr>
            <p:cNvPr id="27" name="Line 27"/>
            <p:cNvSpPr/>
            <p:nvPr/>
          </p:nvSpPr>
          <p:spPr>
            <a:xfrm>
              <a:off x="4184618" y="1288732"/>
              <a:ext cx="9525" cy="904875"/>
            </a:xfrm>
            <a:custGeom>
              <a:avLst/>
              <a:gdLst/>
              <a:ahLst/>
              <a:cxnLst/>
              <a:rect l="l" t="t" r="r" b="b"/>
              <a:pathLst>
                <a:path w="9525" h="904875">
                  <a:moveTo>
                    <a:pt x="0" y="0"/>
                  </a:moveTo>
                  <a:lnTo>
                    <a:pt x="0" y="904875"/>
                  </a:lnTo>
                </a:path>
              </a:pathLst>
            </a:custGeom>
            <a:noFill/>
            <a:ln w="9525">
              <a:solidFill>
                <a:srgbClr val="0070F3">
                  <a:alpha val="16000"/>
                </a:srgbClr>
              </a:solidFill>
            </a:ln>
          </p:spPr>
        </p:sp>
        <p:sp>
          <p:nvSpPr>
            <p:cNvPr id="28" name="TextBox 28"/>
            <p:cNvSpPr txBox="1"/>
            <p:nvPr/>
          </p:nvSpPr>
          <p:spPr>
            <a:xfrm>
              <a:off x="4317016" y="1428274"/>
              <a:ext cx="7439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首年综合回报</a:t>
              </a:r>
              <a:endParaRPr lang="zh-CN" sz="825" dirty="0">
                <a:solidFill>
                  <a:srgbClr val="94A3B8"/>
                </a:solidFill>
                <a:latin typeface="Arial" panose="020B0604020202090204"/>
                <a:ea typeface="微软雅黑"/>
                <a:cs typeface="Arial" panose="020B0604020202090204"/>
              </a:endParaRPr>
            </a:p>
          </p:txBody>
        </p:sp>
        <p:sp>
          <p:nvSpPr>
            <p:cNvPr id="29" name="TextBox 29"/>
            <p:cNvSpPr txBox="1"/>
            <p:nvPr/>
          </p:nvSpPr>
          <p:spPr>
            <a:xfrm>
              <a:off x="4306538" y="1624965"/>
              <a:ext cx="2015557" cy="335280"/>
            </a:xfrm>
            <a:prstGeom prst="rect">
              <a:avLst/>
            </a:prstGeom>
            <a:noFill/>
            <a:ln>
              <a:noFill/>
            </a:ln>
          </p:spPr>
          <p:txBody>
            <a:bodyPr wrap="none" lIns="0" tIns="0" rIns="0" bIns="0" anchor="t" anchorCtr="0">
              <a:spAutoFit/>
            </a:bodyPr>
            <a:lstStyle/>
            <a:p>
              <a:pPr algn="l"/>
              <a:r>
                <a:rPr lang="zh-CN" sz="1650" b="1" dirty="0">
                  <a:solidFill>
                    <a:srgbClr val="0A0A0A"/>
                  </a:solidFill>
                  <a:latin typeface="Arial" panose="020B0604020202090204"/>
                  <a:ea typeface="微软雅黑"/>
                  <a:cs typeface="Arial" panose="020B0604020202090204"/>
                </a:rPr>
                <a:t>[Data: 900万元]</a:t>
              </a:r>
              <a:endParaRPr lang="zh-CN" sz="1650" b="1" dirty="0">
                <a:solidFill>
                  <a:srgbClr val="0A0A0A"/>
                </a:solidFill>
                <a:latin typeface="Arial" panose="020B0604020202090204"/>
                <a:ea typeface="微软雅黑"/>
                <a:cs typeface="Arial" panose="020B0604020202090204"/>
              </a:endParaRPr>
            </a:p>
          </p:txBody>
        </p:sp>
        <p:sp>
          <p:nvSpPr>
            <p:cNvPr id="30" name="TextBox 30"/>
            <p:cNvSpPr txBox="1"/>
            <p:nvPr/>
          </p:nvSpPr>
          <p:spPr>
            <a:xfrm>
              <a:off x="4317016" y="1942624"/>
              <a:ext cx="846320"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成本节省 +增收</a:t>
              </a:r>
              <a:endParaRPr lang="zh-CN" sz="825" dirty="0">
                <a:solidFill>
                  <a:srgbClr val="0070F3"/>
                </a:solidFill>
                <a:latin typeface="Arial" panose="020B0604020202090204"/>
                <a:ea typeface="微软雅黑"/>
                <a:cs typeface="Arial" panose="020B0604020202090204"/>
              </a:endParaRPr>
            </a:p>
          </p:txBody>
        </p:sp>
        <p:sp>
          <p:nvSpPr>
            <p:cNvPr id="31" name="Rectangle 31"/>
            <p:cNvSpPr/>
            <p:nvPr/>
          </p:nvSpPr>
          <p:spPr>
            <a:xfrm>
              <a:off x="8102536" y="1288732"/>
              <a:ext cx="3822763" cy="904875"/>
            </a:xfrm>
            <a:prstGeom prst="roundRect">
              <a:avLst>
                <a:gd name="adj" fmla="val 12632"/>
              </a:avLst>
            </a:prstGeom>
            <a:solidFill>
              <a:srgbClr val="FFFFFF">
                <a:alpha val="72000"/>
              </a:srgbClr>
            </a:solidFill>
            <a:ln>
              <a:noFill/>
            </a:ln>
          </p:spPr>
        </p:sp>
        <p:sp>
          <p:nvSpPr>
            <p:cNvPr id="32" name="Line 32"/>
            <p:cNvSpPr/>
            <p:nvPr/>
          </p:nvSpPr>
          <p:spPr>
            <a:xfrm>
              <a:off x="8102536" y="1288732"/>
              <a:ext cx="3822764" cy="9525"/>
            </a:xfrm>
            <a:custGeom>
              <a:avLst/>
              <a:gdLst/>
              <a:ahLst/>
              <a:cxnLst/>
              <a:rect l="l" t="t" r="r" b="b"/>
              <a:pathLst>
                <a:path w="3822764" h="9525">
                  <a:moveTo>
                    <a:pt x="0" y="0"/>
                  </a:moveTo>
                  <a:lnTo>
                    <a:pt x="3822764" y="0"/>
                  </a:lnTo>
                </a:path>
              </a:pathLst>
            </a:custGeom>
            <a:noFill/>
            <a:ln w="9525">
              <a:solidFill>
                <a:srgbClr val="0070F3">
                  <a:alpha val="16000"/>
                </a:srgbClr>
              </a:solidFill>
            </a:ln>
          </p:spPr>
        </p:sp>
        <p:sp>
          <p:nvSpPr>
            <p:cNvPr id="33" name="Line 33"/>
            <p:cNvSpPr/>
            <p:nvPr/>
          </p:nvSpPr>
          <p:spPr>
            <a:xfrm>
              <a:off x="11925300" y="1288732"/>
              <a:ext cx="9525" cy="904875"/>
            </a:xfrm>
            <a:custGeom>
              <a:avLst/>
              <a:gdLst/>
              <a:ahLst/>
              <a:cxnLst/>
              <a:rect l="l" t="t" r="r" b="b"/>
              <a:pathLst>
                <a:path w="9525" h="904875">
                  <a:moveTo>
                    <a:pt x="0" y="0"/>
                  </a:moveTo>
                  <a:lnTo>
                    <a:pt x="0" y="904875"/>
                  </a:lnTo>
                </a:path>
              </a:pathLst>
            </a:custGeom>
            <a:noFill/>
            <a:ln w="9525">
              <a:solidFill>
                <a:srgbClr val="0070F3">
                  <a:alpha val="16000"/>
                </a:srgbClr>
              </a:solidFill>
            </a:ln>
          </p:spPr>
        </p:sp>
        <p:sp>
          <p:nvSpPr>
            <p:cNvPr id="34" name="Line 34"/>
            <p:cNvSpPr/>
            <p:nvPr/>
          </p:nvSpPr>
          <p:spPr>
            <a:xfrm>
              <a:off x="8102536" y="2193608"/>
              <a:ext cx="3822764" cy="9525"/>
            </a:xfrm>
            <a:custGeom>
              <a:avLst/>
              <a:gdLst/>
              <a:ahLst/>
              <a:cxnLst/>
              <a:rect l="l" t="t" r="r" b="b"/>
              <a:pathLst>
                <a:path w="3822764" h="9525">
                  <a:moveTo>
                    <a:pt x="0" y="0"/>
                  </a:moveTo>
                  <a:lnTo>
                    <a:pt x="3822764" y="0"/>
                  </a:lnTo>
                </a:path>
              </a:pathLst>
            </a:custGeom>
            <a:noFill/>
            <a:ln w="9525">
              <a:solidFill>
                <a:srgbClr val="0070F3">
                  <a:alpha val="16000"/>
                </a:srgbClr>
              </a:solidFill>
            </a:ln>
          </p:spPr>
        </p:sp>
        <p:sp>
          <p:nvSpPr>
            <p:cNvPr id="35" name="Line 35"/>
            <p:cNvSpPr/>
            <p:nvPr/>
          </p:nvSpPr>
          <p:spPr>
            <a:xfrm>
              <a:off x="8102536" y="1288732"/>
              <a:ext cx="9525" cy="904875"/>
            </a:xfrm>
            <a:custGeom>
              <a:avLst/>
              <a:gdLst/>
              <a:ahLst/>
              <a:cxnLst/>
              <a:rect l="l" t="t" r="r" b="b"/>
              <a:pathLst>
                <a:path w="9525" h="904875">
                  <a:moveTo>
                    <a:pt x="0" y="0"/>
                  </a:moveTo>
                  <a:lnTo>
                    <a:pt x="0" y="904875"/>
                  </a:lnTo>
                </a:path>
              </a:pathLst>
            </a:custGeom>
            <a:noFill/>
            <a:ln w="9525">
              <a:solidFill>
                <a:srgbClr val="0070F3">
                  <a:alpha val="16000"/>
                </a:srgbClr>
              </a:solidFill>
            </a:ln>
          </p:spPr>
        </p:sp>
        <p:sp>
          <p:nvSpPr>
            <p:cNvPr id="36" name="TextBox 36"/>
            <p:cNvSpPr txBox="1"/>
            <p:nvPr/>
          </p:nvSpPr>
          <p:spPr>
            <a:xfrm>
              <a:off x="8234934" y="1428274"/>
              <a:ext cx="67763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3年累计 ROI</a:t>
              </a:r>
              <a:endParaRPr lang="zh-CN" sz="825" dirty="0">
                <a:solidFill>
                  <a:srgbClr val="94A3B8"/>
                </a:solidFill>
                <a:latin typeface="Arial" panose="020B0604020202090204"/>
                <a:ea typeface="微软雅黑"/>
                <a:cs typeface="Arial" panose="020B0604020202090204"/>
              </a:endParaRPr>
            </a:p>
          </p:txBody>
        </p:sp>
        <p:sp>
          <p:nvSpPr>
            <p:cNvPr id="37" name="TextBox 37"/>
            <p:cNvSpPr txBox="1"/>
            <p:nvPr/>
          </p:nvSpPr>
          <p:spPr>
            <a:xfrm>
              <a:off x="8224456" y="1624965"/>
              <a:ext cx="1648661" cy="335280"/>
            </a:xfrm>
            <a:prstGeom prst="rect">
              <a:avLst/>
            </a:prstGeom>
            <a:noFill/>
            <a:ln>
              <a:noFill/>
            </a:ln>
          </p:spPr>
          <p:txBody>
            <a:bodyPr wrap="none" lIns="0" tIns="0" rIns="0" bIns="0" anchor="t" anchorCtr="0">
              <a:spAutoFit/>
            </a:bodyPr>
            <a:lstStyle/>
            <a:p>
              <a:pPr algn="l"/>
              <a:r>
                <a:rPr lang="zh-CN" sz="1650" b="1" dirty="0">
                  <a:solidFill>
                    <a:srgbClr val="0A0A0A"/>
                  </a:solidFill>
                  <a:latin typeface="Arial" panose="020B0604020202090204"/>
                  <a:ea typeface="微软雅黑"/>
                  <a:cs typeface="Arial" panose="020B0604020202090204"/>
                </a:rPr>
                <a:t>[Data: 320%]</a:t>
              </a:r>
              <a:endParaRPr lang="zh-CN" sz="1650" b="1" dirty="0">
                <a:solidFill>
                  <a:srgbClr val="0A0A0A"/>
                </a:solidFill>
                <a:latin typeface="Arial" panose="020B0604020202090204"/>
                <a:ea typeface="微软雅黑"/>
                <a:cs typeface="Arial" panose="020B0604020202090204"/>
              </a:endParaRPr>
            </a:p>
          </p:txBody>
        </p:sp>
        <p:sp>
          <p:nvSpPr>
            <p:cNvPr id="38" name="TextBox 38"/>
            <p:cNvSpPr txBox="1"/>
            <p:nvPr/>
          </p:nvSpPr>
          <p:spPr>
            <a:xfrm>
              <a:off x="8234934" y="1885474"/>
              <a:ext cx="1695783"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3年累计回报[Data: 2880万元]</a:t>
              </a:r>
              <a:endParaRPr lang="zh-CN" sz="825" dirty="0">
                <a:solidFill>
                  <a:srgbClr val="0070F3"/>
                </a:solidFill>
                <a:latin typeface="Arial" panose="020B0604020202090204"/>
                <a:ea typeface="微软雅黑"/>
                <a:cs typeface="Arial" panose="020B0604020202090204"/>
              </a:endParaRPr>
            </a:p>
          </p:txBody>
        </p:sp>
        <p:sp>
          <p:nvSpPr>
            <p:cNvPr id="39" name="Rectangle 39"/>
            <p:cNvSpPr/>
            <p:nvPr/>
          </p:nvSpPr>
          <p:spPr>
            <a:xfrm>
              <a:off x="266700" y="2288858"/>
              <a:ext cx="11658600" cy="366712"/>
            </a:xfrm>
            <a:prstGeom prst="roundRect">
              <a:avLst>
                <a:gd name="adj" fmla="val 31169"/>
              </a:avLst>
            </a:prstGeom>
            <a:solidFill>
              <a:srgbClr val="FFFFFF">
                <a:alpha val="80000"/>
              </a:srgbClr>
            </a:solidFill>
            <a:ln>
              <a:noFill/>
            </a:ln>
          </p:spPr>
        </p:sp>
        <p:sp>
          <p:nvSpPr>
            <p:cNvPr id="40" name="Line 40"/>
            <p:cNvSpPr/>
            <p:nvPr/>
          </p:nvSpPr>
          <p:spPr>
            <a:xfrm>
              <a:off x="266700" y="2288858"/>
              <a:ext cx="11658600" cy="9525"/>
            </a:xfrm>
            <a:custGeom>
              <a:avLst/>
              <a:gdLst/>
              <a:ahLst/>
              <a:cxnLst/>
              <a:rect l="l" t="t" r="r" b="b"/>
              <a:pathLst>
                <a:path w="11658600" h="9525">
                  <a:moveTo>
                    <a:pt x="0" y="0"/>
                  </a:moveTo>
                  <a:lnTo>
                    <a:pt x="11658600" y="0"/>
                  </a:lnTo>
                </a:path>
              </a:pathLst>
            </a:custGeom>
            <a:noFill/>
            <a:ln w="9525">
              <a:solidFill>
                <a:srgbClr val="94A3B8">
                  <a:alpha val="16000"/>
                </a:srgbClr>
              </a:solidFill>
            </a:ln>
          </p:spPr>
        </p:sp>
        <p:sp>
          <p:nvSpPr>
            <p:cNvPr id="41" name="Line 41"/>
            <p:cNvSpPr/>
            <p:nvPr/>
          </p:nvSpPr>
          <p:spPr>
            <a:xfrm>
              <a:off x="11925300" y="2288858"/>
              <a:ext cx="9525" cy="366712"/>
            </a:xfrm>
            <a:custGeom>
              <a:avLst/>
              <a:gdLst/>
              <a:ahLst/>
              <a:cxnLst/>
              <a:rect l="l" t="t" r="r" b="b"/>
              <a:pathLst>
                <a:path w="9525" h="366712">
                  <a:moveTo>
                    <a:pt x="0" y="0"/>
                  </a:moveTo>
                  <a:lnTo>
                    <a:pt x="0" y="366712"/>
                  </a:lnTo>
                </a:path>
              </a:pathLst>
            </a:custGeom>
            <a:noFill/>
            <a:ln w="9525">
              <a:solidFill>
                <a:srgbClr val="94A3B8">
                  <a:alpha val="16000"/>
                </a:srgbClr>
              </a:solidFill>
            </a:ln>
          </p:spPr>
        </p:sp>
        <p:sp>
          <p:nvSpPr>
            <p:cNvPr id="42" name="Line 42"/>
            <p:cNvSpPr/>
            <p:nvPr/>
          </p:nvSpPr>
          <p:spPr>
            <a:xfrm>
              <a:off x="266700" y="2655570"/>
              <a:ext cx="11658600" cy="9525"/>
            </a:xfrm>
            <a:custGeom>
              <a:avLst/>
              <a:gdLst/>
              <a:ahLst/>
              <a:cxnLst/>
              <a:rect l="l" t="t" r="r" b="b"/>
              <a:pathLst>
                <a:path w="11658600" h="9525">
                  <a:moveTo>
                    <a:pt x="0" y="0"/>
                  </a:moveTo>
                  <a:lnTo>
                    <a:pt x="11658600" y="0"/>
                  </a:lnTo>
                </a:path>
              </a:pathLst>
            </a:custGeom>
            <a:noFill/>
            <a:ln w="9525">
              <a:solidFill>
                <a:srgbClr val="94A3B8">
                  <a:alpha val="16000"/>
                </a:srgbClr>
              </a:solidFill>
            </a:ln>
          </p:spPr>
        </p:sp>
        <p:sp>
          <p:nvSpPr>
            <p:cNvPr id="43" name="Line 43"/>
            <p:cNvSpPr/>
            <p:nvPr/>
          </p:nvSpPr>
          <p:spPr>
            <a:xfrm>
              <a:off x="266700" y="2288858"/>
              <a:ext cx="9525" cy="366712"/>
            </a:xfrm>
            <a:custGeom>
              <a:avLst/>
              <a:gdLst/>
              <a:ahLst/>
              <a:cxnLst/>
              <a:rect l="l" t="t" r="r" b="b"/>
              <a:pathLst>
                <a:path w="9525" h="366712">
                  <a:moveTo>
                    <a:pt x="0" y="0"/>
                  </a:moveTo>
                  <a:lnTo>
                    <a:pt x="0" y="366712"/>
                  </a:lnTo>
                </a:path>
              </a:pathLst>
            </a:custGeom>
            <a:noFill/>
            <a:ln w="9525">
              <a:solidFill>
                <a:srgbClr val="94A3B8">
                  <a:alpha val="16000"/>
                </a:srgbClr>
              </a:solidFill>
            </a:ln>
          </p:spPr>
        </p:sp>
        <p:sp>
          <p:nvSpPr>
            <p:cNvPr id="44" name="TextBox 44"/>
            <p:cNvSpPr txBox="1"/>
            <p:nvPr/>
          </p:nvSpPr>
          <p:spPr>
            <a:xfrm>
              <a:off x="380048" y="2409349"/>
              <a:ext cx="527018" cy="167640"/>
            </a:xfrm>
            <a:prstGeom prst="rect">
              <a:avLst/>
            </a:prstGeom>
            <a:noFill/>
            <a:ln>
              <a:noFill/>
            </a:ln>
          </p:spPr>
          <p:txBody>
            <a:bodyPr wrap="none" lIns="0" tIns="0" rIns="0" bIns="0" anchor="t" anchorCtr="0">
              <a:spAutoFit/>
            </a:bodyPr>
            <a:lstStyle/>
            <a:p>
              <a:pPr algn="l"/>
              <a:r>
                <a:rPr lang="zh-CN" sz="825" b="1" dirty="0">
                  <a:solidFill>
                    <a:srgbClr val="0A0A0A"/>
                  </a:solidFill>
                  <a:latin typeface="Arial" panose="020B0604020202090204"/>
                  <a:ea typeface="微软雅黑"/>
                  <a:cs typeface="Arial" panose="020B0604020202090204"/>
                </a:rPr>
                <a:t>关键假设</a:t>
              </a:r>
              <a:endParaRPr lang="zh-CN" sz="825" b="1" dirty="0">
                <a:solidFill>
                  <a:srgbClr val="0A0A0A"/>
                </a:solidFill>
                <a:latin typeface="Arial" panose="020B0604020202090204"/>
                <a:ea typeface="微软雅黑"/>
                <a:cs typeface="Arial" panose="020B0604020202090204"/>
              </a:endParaRPr>
            </a:p>
          </p:txBody>
        </p:sp>
        <p:sp>
          <p:nvSpPr>
            <p:cNvPr id="45" name="TextBox 45"/>
            <p:cNvSpPr txBox="1"/>
            <p:nvPr/>
          </p:nvSpPr>
          <p:spPr>
            <a:xfrm>
              <a:off x="875348" y="2409349"/>
              <a:ext cx="1804225"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一次性建设投入[Data: 900万元]</a:t>
              </a:r>
              <a:endParaRPr lang="zh-CN" sz="825" dirty="0">
                <a:solidFill>
                  <a:srgbClr val="0A0A0A"/>
                </a:solidFill>
                <a:latin typeface="Arial" panose="020B0604020202090204"/>
                <a:ea typeface="微软雅黑"/>
                <a:cs typeface="Arial" panose="020B0604020202090204"/>
              </a:endParaRPr>
            </a:p>
          </p:txBody>
        </p:sp>
        <p:sp>
          <p:nvSpPr>
            <p:cNvPr id="46" name="TextBox 46"/>
            <p:cNvSpPr txBox="1"/>
            <p:nvPr/>
          </p:nvSpPr>
          <p:spPr>
            <a:xfrm>
              <a:off x="2436304" y="2409349"/>
              <a:ext cx="1683734"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首年成本节省[Data: 720万元]</a:t>
              </a:r>
              <a:endParaRPr lang="zh-CN" sz="825" dirty="0">
                <a:solidFill>
                  <a:srgbClr val="0A0A0A"/>
                </a:solidFill>
                <a:latin typeface="Arial" panose="020B0604020202090204"/>
                <a:ea typeface="微软雅黑"/>
                <a:cs typeface="Arial" panose="020B0604020202090204"/>
              </a:endParaRPr>
            </a:p>
          </p:txBody>
        </p:sp>
        <p:sp>
          <p:nvSpPr>
            <p:cNvPr id="47" name="TextBox 47"/>
            <p:cNvSpPr txBox="1"/>
            <p:nvPr/>
          </p:nvSpPr>
          <p:spPr>
            <a:xfrm>
              <a:off x="3892391" y="2409349"/>
              <a:ext cx="2015085"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首年增收与留存收益[Data: 180万元]</a:t>
              </a:r>
              <a:endParaRPr lang="zh-CN" sz="825" dirty="0">
                <a:solidFill>
                  <a:srgbClr val="0A0A0A"/>
                </a:solidFill>
                <a:latin typeface="Arial" panose="020B0604020202090204"/>
                <a:ea typeface="微软雅黑"/>
                <a:cs typeface="Arial" panose="020B0604020202090204"/>
              </a:endParaRPr>
            </a:p>
          </p:txBody>
        </p:sp>
        <p:sp>
          <p:nvSpPr>
            <p:cNvPr id="48" name="TextBox 48"/>
            <p:cNvSpPr txBox="1"/>
            <p:nvPr/>
          </p:nvSpPr>
          <p:spPr>
            <a:xfrm>
              <a:off x="5662898" y="2409349"/>
              <a:ext cx="2370534"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3年累计 ROI= 3年累计回报 /初始投入× 100%</a:t>
              </a:r>
              <a:endParaRPr lang="zh-CN" sz="825" dirty="0">
                <a:solidFill>
                  <a:srgbClr val="0A0A0A"/>
                </a:solidFill>
                <a:latin typeface="Arial" panose="020B0604020202090204"/>
                <a:ea typeface="微软雅黑"/>
                <a:cs typeface="Arial" panose="020B0604020202090204"/>
              </a:endParaRPr>
            </a:p>
          </p:txBody>
        </p:sp>
        <p:sp>
          <p:nvSpPr>
            <p:cNvPr id="49" name="Rectangle 49"/>
            <p:cNvSpPr/>
            <p:nvPr/>
          </p:nvSpPr>
          <p:spPr>
            <a:xfrm>
              <a:off x="266700" y="2769870"/>
              <a:ext cx="5772150" cy="3900488"/>
            </a:xfrm>
            <a:prstGeom prst="roundRect">
              <a:avLst>
                <a:gd name="adj" fmla="val 3907"/>
              </a:avLst>
            </a:prstGeom>
            <a:solidFill>
              <a:srgbClr val="FFFFFF">
                <a:alpha val="78000"/>
              </a:srgbClr>
            </a:solidFill>
            <a:ln>
              <a:noFill/>
            </a:ln>
          </p:spPr>
        </p:sp>
        <p:sp>
          <p:nvSpPr>
            <p:cNvPr id="50" name="Line 50"/>
            <p:cNvSpPr/>
            <p:nvPr/>
          </p:nvSpPr>
          <p:spPr>
            <a:xfrm>
              <a:off x="266700" y="2769870"/>
              <a:ext cx="5772150" cy="9525"/>
            </a:xfrm>
            <a:custGeom>
              <a:avLst/>
              <a:gdLst/>
              <a:ahLst/>
              <a:cxnLst/>
              <a:rect l="l" t="t" r="r" b="b"/>
              <a:pathLst>
                <a:path w="5772150" h="9525">
                  <a:moveTo>
                    <a:pt x="0" y="0"/>
                  </a:moveTo>
                  <a:lnTo>
                    <a:pt x="5772150" y="0"/>
                  </a:lnTo>
                </a:path>
              </a:pathLst>
            </a:custGeom>
            <a:noFill/>
            <a:ln w="9525">
              <a:solidFill>
                <a:srgbClr val="0070F3">
                  <a:alpha val="14000"/>
                </a:srgbClr>
              </a:solidFill>
            </a:ln>
          </p:spPr>
        </p:sp>
        <p:sp>
          <p:nvSpPr>
            <p:cNvPr id="51" name="Line 51"/>
            <p:cNvSpPr/>
            <p:nvPr/>
          </p:nvSpPr>
          <p:spPr>
            <a:xfrm>
              <a:off x="6038850" y="2769870"/>
              <a:ext cx="9525" cy="3900487"/>
            </a:xfrm>
            <a:custGeom>
              <a:avLst/>
              <a:gdLst/>
              <a:ahLst/>
              <a:cxnLst/>
              <a:rect l="l" t="t" r="r" b="b"/>
              <a:pathLst>
                <a:path w="9525" h="3900487">
                  <a:moveTo>
                    <a:pt x="0" y="0"/>
                  </a:moveTo>
                  <a:lnTo>
                    <a:pt x="0" y="3900487"/>
                  </a:lnTo>
                </a:path>
              </a:pathLst>
            </a:custGeom>
            <a:noFill/>
            <a:ln w="9525">
              <a:solidFill>
                <a:srgbClr val="0070F3">
                  <a:alpha val="14000"/>
                </a:srgbClr>
              </a:solidFill>
            </a:ln>
          </p:spPr>
        </p:sp>
        <p:sp>
          <p:nvSpPr>
            <p:cNvPr id="52" name="Line 52"/>
            <p:cNvSpPr/>
            <p:nvPr/>
          </p:nvSpPr>
          <p:spPr>
            <a:xfrm>
              <a:off x="266700" y="6670358"/>
              <a:ext cx="5772150" cy="9525"/>
            </a:xfrm>
            <a:custGeom>
              <a:avLst/>
              <a:gdLst/>
              <a:ahLst/>
              <a:cxnLst/>
              <a:rect l="l" t="t" r="r" b="b"/>
              <a:pathLst>
                <a:path w="5772150" h="9525">
                  <a:moveTo>
                    <a:pt x="0" y="0"/>
                  </a:moveTo>
                  <a:lnTo>
                    <a:pt x="5772150" y="0"/>
                  </a:lnTo>
                </a:path>
              </a:pathLst>
            </a:custGeom>
            <a:noFill/>
            <a:ln w="9525">
              <a:solidFill>
                <a:srgbClr val="0070F3">
                  <a:alpha val="14000"/>
                </a:srgbClr>
              </a:solidFill>
            </a:ln>
          </p:spPr>
        </p:sp>
        <p:sp>
          <p:nvSpPr>
            <p:cNvPr id="53" name="Line 53"/>
            <p:cNvSpPr/>
            <p:nvPr/>
          </p:nvSpPr>
          <p:spPr>
            <a:xfrm>
              <a:off x="266700" y="2769870"/>
              <a:ext cx="9525" cy="3900487"/>
            </a:xfrm>
            <a:custGeom>
              <a:avLst/>
              <a:gdLst/>
              <a:ahLst/>
              <a:cxnLst/>
              <a:rect l="l" t="t" r="r" b="b"/>
              <a:pathLst>
                <a:path w="9525" h="3900487">
                  <a:moveTo>
                    <a:pt x="0" y="0"/>
                  </a:moveTo>
                  <a:lnTo>
                    <a:pt x="0" y="3900487"/>
                  </a:lnTo>
                </a:path>
              </a:pathLst>
            </a:custGeom>
            <a:noFill/>
            <a:ln w="9525">
              <a:solidFill>
                <a:srgbClr val="0070F3">
                  <a:alpha val="14000"/>
                </a:srgbClr>
              </a:solidFill>
            </a:ln>
          </p:spPr>
        </p:sp>
        <p:sp>
          <p:nvSpPr>
            <p:cNvPr id="54" name="TextBox 54"/>
            <p:cNvSpPr txBox="1"/>
            <p:nvPr/>
          </p:nvSpPr>
          <p:spPr>
            <a:xfrm>
              <a:off x="416242" y="2931319"/>
              <a:ext cx="1392861" cy="198120"/>
            </a:xfrm>
            <a:prstGeom prst="rect">
              <a:avLst/>
            </a:prstGeom>
            <a:noFill/>
            <a:ln>
              <a:noFill/>
            </a:ln>
          </p:spPr>
          <p:txBody>
            <a:bodyPr wrap="non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企业 AI采用阶段分布</a:t>
              </a:r>
              <a:endParaRPr lang="zh-CN" sz="975" b="1" dirty="0">
                <a:solidFill>
                  <a:srgbClr val="0A0A0A"/>
                </a:solidFill>
                <a:latin typeface="Arial" panose="020B0604020202090204"/>
                <a:ea typeface="微软雅黑"/>
                <a:cs typeface="Arial" panose="020B0604020202090204"/>
              </a:endParaRPr>
            </a:p>
          </p:txBody>
        </p:sp>
        <p:sp>
          <p:nvSpPr>
            <p:cNvPr id="55" name="TextBox 55"/>
            <p:cNvSpPr txBox="1"/>
            <p:nvPr/>
          </p:nvSpPr>
          <p:spPr>
            <a:xfrm>
              <a:off x="418148" y="3133249"/>
              <a:ext cx="219582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完全部署 35%、正在试验 42%、无计划 13</a:t>
              </a:r>
              <a:endParaRPr lang="zh-CN" sz="825" dirty="0">
                <a:solidFill>
                  <a:srgbClr val="94A3B8"/>
                </a:solidFill>
                <a:latin typeface="Arial" panose="020B0604020202090204"/>
                <a:ea typeface="微软雅黑"/>
                <a:cs typeface="Arial" panose="020B0604020202090204"/>
              </a:endParaRPr>
            </a:p>
          </p:txBody>
        </p:sp>
        <p:sp>
          <p:nvSpPr>
            <p:cNvPr id="56" name="TextBox 56"/>
            <p:cNvSpPr txBox="1"/>
            <p:nvPr/>
          </p:nvSpPr>
          <p:spPr>
            <a:xfrm>
              <a:off x="418148" y="3264218"/>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a:t>
              </a:r>
              <a:endParaRPr lang="zh-CN" sz="825" dirty="0">
                <a:solidFill>
                  <a:srgbClr val="94A3B8"/>
                </a:solidFill>
                <a:latin typeface="Arial" panose="020B0604020202090204"/>
                <a:ea typeface="微软雅黑"/>
                <a:cs typeface="Arial" panose="020B0604020202090204"/>
              </a:endParaRPr>
            </a:p>
          </p:txBody>
        </p:sp>
        <p:sp>
          <p:nvSpPr>
            <p:cNvPr id="57" name="Rectangle 57"/>
            <p:cNvSpPr/>
            <p:nvPr/>
          </p:nvSpPr>
          <p:spPr>
            <a:xfrm>
              <a:off x="5200460" y="2912745"/>
              <a:ext cx="676466" cy="219075"/>
            </a:xfrm>
            <a:prstGeom prst="roundRect">
              <a:avLst>
                <a:gd name="adj" fmla="val 50000"/>
              </a:avLst>
            </a:prstGeom>
            <a:solidFill>
              <a:srgbClr val="0070F3">
                <a:alpha val="12000"/>
              </a:srgbClr>
            </a:solidFill>
            <a:ln>
              <a:noFill/>
            </a:ln>
          </p:spPr>
        </p:sp>
        <p:sp>
          <p:nvSpPr>
            <p:cNvPr id="58" name="TextBox 58"/>
            <p:cNvSpPr txBox="1"/>
            <p:nvPr/>
          </p:nvSpPr>
          <p:spPr>
            <a:xfrm>
              <a:off x="5266182" y="2966561"/>
              <a:ext cx="581239"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73%采用中</a:t>
              </a:r>
              <a:endParaRPr lang="zh-CN" sz="825" dirty="0">
                <a:solidFill>
                  <a:srgbClr val="0070F3"/>
                </a:solidFill>
                <a:latin typeface="Arial" panose="020B0604020202090204"/>
                <a:ea typeface="微软雅黑"/>
                <a:cs typeface="Arial" panose="020B0604020202090204"/>
              </a:endParaRPr>
            </a:p>
          </p:txBody>
        </p:sp>
        <p:grpSp>
          <p:nvGrpSpPr>
            <p:cNvPr id="94" name="Group 94"/>
            <p:cNvGrpSpPr/>
            <p:nvPr/>
          </p:nvGrpSpPr>
          <p:grpSpPr>
            <a:xfrm>
              <a:off x="428625" y="3336608"/>
              <a:ext cx="5448300" cy="3190875"/>
              <a:chOff x="428625" y="3336608"/>
              <a:chExt cx="5448300" cy="3190875"/>
            </a:xfrm>
          </p:grpSpPr>
          <p:sp>
            <p:nvSpPr>
              <p:cNvPr id="59" name="Rectangle 59"/>
              <p:cNvSpPr/>
              <p:nvPr/>
            </p:nvSpPr>
            <p:spPr>
              <a:xfrm>
                <a:off x="428625" y="3336608"/>
                <a:ext cx="5448300" cy="3190875"/>
              </a:xfrm>
              <a:prstGeom prst="rect">
                <a:avLst/>
              </a:prstGeom>
              <a:noFill/>
              <a:ln>
                <a:noFill/>
              </a:ln>
            </p:spPr>
          </p:sp>
          <p:grpSp>
            <p:nvGrpSpPr>
              <p:cNvPr id="93" name="Group 93"/>
              <p:cNvGrpSpPr/>
              <p:nvPr/>
            </p:nvGrpSpPr>
            <p:grpSpPr>
              <a:xfrm>
                <a:off x="614791" y="3336608"/>
                <a:ext cx="5124022" cy="3093243"/>
                <a:chOff x="614791" y="3336608"/>
                <a:chExt cx="5124022" cy="3093243"/>
              </a:xfrm>
            </p:grpSpPr>
            <p:sp>
              <p:nvSpPr>
                <p:cNvPr id="60" name="Freeform 60"/>
                <p:cNvSpPr/>
                <p:nvPr/>
              </p:nvSpPr>
              <p:spPr>
                <a:xfrm>
                  <a:off x="885825" y="622744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61" name="Freeform 61"/>
                <p:cNvSpPr/>
                <p:nvPr/>
              </p:nvSpPr>
              <p:spPr>
                <a:xfrm>
                  <a:off x="885825" y="571309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62" name="Freeform 62"/>
                <p:cNvSpPr/>
                <p:nvPr/>
              </p:nvSpPr>
              <p:spPr>
                <a:xfrm>
                  <a:off x="885825" y="5208270"/>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63" name="Freeform 63"/>
                <p:cNvSpPr/>
                <p:nvPr/>
              </p:nvSpPr>
              <p:spPr>
                <a:xfrm>
                  <a:off x="885825" y="470344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64" name="Freeform 64"/>
                <p:cNvSpPr/>
                <p:nvPr/>
              </p:nvSpPr>
              <p:spPr>
                <a:xfrm>
                  <a:off x="885825" y="418909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65" name="Freeform 65"/>
                <p:cNvSpPr/>
                <p:nvPr/>
              </p:nvSpPr>
              <p:spPr>
                <a:xfrm>
                  <a:off x="885825" y="3684270"/>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66" name="TextBox 66"/>
                <p:cNvSpPr txBox="1"/>
                <p:nvPr/>
              </p:nvSpPr>
              <p:spPr>
                <a:xfrm>
                  <a:off x="614791" y="3382328"/>
                  <a:ext cx="542068"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Segoe UI"/>
                      <a:ea typeface="微软雅黑"/>
                      <a:cs typeface="Segoe UI"/>
                    </a:rPr>
                    <a:t>占比 (%)</a:t>
                  </a:r>
                  <a:endParaRPr lang="zh-CN" sz="900" dirty="0">
                    <a:solidFill>
                      <a:srgbClr val="475569"/>
                    </a:solidFill>
                    <a:latin typeface="Segoe UI"/>
                    <a:ea typeface="微软雅黑"/>
                    <a:cs typeface="Segoe UI"/>
                  </a:endParaRPr>
                </a:p>
              </p:txBody>
            </p:sp>
            <p:sp>
              <p:nvSpPr>
                <p:cNvPr id="67" name="Freeform 67"/>
                <p:cNvSpPr/>
                <p:nvPr/>
              </p:nvSpPr>
              <p:spPr>
                <a:xfrm>
                  <a:off x="885825" y="6227445"/>
                  <a:ext cx="4838700" cy="9525"/>
                </a:xfrm>
                <a:custGeom>
                  <a:avLst/>
                  <a:gdLst/>
                  <a:ahLst/>
                  <a:cxnLst/>
                  <a:rect l="l" t="t" r="r" b="b"/>
                  <a:pathLst>
                    <a:path w="4838700" h="9525">
                      <a:moveTo>
                        <a:pt x="0" y="0"/>
                      </a:moveTo>
                      <a:lnTo>
                        <a:pt x="4838700" y="0"/>
                      </a:lnTo>
                    </a:path>
                  </a:pathLst>
                </a:custGeom>
                <a:noFill/>
                <a:ln w="9525" cap="rnd">
                  <a:solidFill>
                    <a:srgbClr val="475569"/>
                  </a:solidFill>
                </a:ln>
              </p:spPr>
            </p:sp>
            <p:sp>
              <p:nvSpPr>
                <p:cNvPr id="68" name="Freeform 68"/>
                <p:cNvSpPr/>
                <p:nvPr/>
              </p:nvSpPr>
              <p:spPr>
                <a:xfrm>
                  <a:off x="890588" y="6222682"/>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69" name="Freeform 69"/>
                <p:cNvSpPr/>
                <p:nvPr/>
              </p:nvSpPr>
              <p:spPr>
                <a:xfrm>
                  <a:off x="5729288" y="6222682"/>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70" name="TextBox 70"/>
                <p:cNvSpPr txBox="1"/>
                <p:nvPr/>
              </p:nvSpPr>
              <p:spPr>
                <a:xfrm>
                  <a:off x="732877" y="6133624"/>
                  <a:ext cx="8722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0</a:t>
                  </a:r>
                  <a:endParaRPr lang="zh-CN" sz="825" dirty="0">
                    <a:solidFill>
                      <a:srgbClr val="94A3B8"/>
                    </a:solidFill>
                    <a:latin typeface="Segoe UI"/>
                    <a:ea typeface="微软雅黑"/>
                    <a:cs typeface="Segoe UI"/>
                  </a:endParaRPr>
                </a:p>
              </p:txBody>
            </p:sp>
            <p:sp>
              <p:nvSpPr>
                <p:cNvPr id="71" name="TextBox 71"/>
                <p:cNvSpPr txBox="1"/>
                <p:nvPr/>
              </p:nvSpPr>
              <p:spPr>
                <a:xfrm>
                  <a:off x="666607" y="5624989"/>
                  <a:ext cx="15349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20</a:t>
                  </a:r>
                  <a:endParaRPr lang="zh-CN" sz="825" dirty="0">
                    <a:solidFill>
                      <a:srgbClr val="94A3B8"/>
                    </a:solidFill>
                    <a:latin typeface="Segoe UI"/>
                    <a:ea typeface="微软雅黑"/>
                    <a:cs typeface="Segoe UI"/>
                  </a:endParaRPr>
                </a:p>
              </p:txBody>
            </p:sp>
            <p:sp>
              <p:nvSpPr>
                <p:cNvPr id="72" name="TextBox 72"/>
                <p:cNvSpPr txBox="1"/>
                <p:nvPr/>
              </p:nvSpPr>
              <p:spPr>
                <a:xfrm>
                  <a:off x="666607" y="5116354"/>
                  <a:ext cx="15349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40</a:t>
                  </a:r>
                  <a:endParaRPr lang="zh-CN" sz="825" dirty="0">
                    <a:solidFill>
                      <a:srgbClr val="94A3B8"/>
                    </a:solidFill>
                    <a:latin typeface="Segoe UI"/>
                    <a:ea typeface="微软雅黑"/>
                    <a:cs typeface="Segoe UI"/>
                  </a:endParaRPr>
                </a:p>
              </p:txBody>
            </p:sp>
            <p:sp>
              <p:nvSpPr>
                <p:cNvPr id="73" name="TextBox 73"/>
                <p:cNvSpPr txBox="1"/>
                <p:nvPr/>
              </p:nvSpPr>
              <p:spPr>
                <a:xfrm>
                  <a:off x="666607" y="4607719"/>
                  <a:ext cx="15349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60</a:t>
                  </a:r>
                  <a:endParaRPr lang="zh-CN" sz="825" dirty="0">
                    <a:solidFill>
                      <a:srgbClr val="94A3B8"/>
                    </a:solidFill>
                    <a:latin typeface="Segoe UI"/>
                    <a:ea typeface="微软雅黑"/>
                    <a:cs typeface="Segoe UI"/>
                  </a:endParaRPr>
                </a:p>
              </p:txBody>
            </p:sp>
            <p:sp>
              <p:nvSpPr>
                <p:cNvPr id="74" name="TextBox 74"/>
                <p:cNvSpPr txBox="1"/>
                <p:nvPr/>
              </p:nvSpPr>
              <p:spPr>
                <a:xfrm>
                  <a:off x="666607" y="4099084"/>
                  <a:ext cx="15349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80</a:t>
                  </a:r>
                  <a:endParaRPr lang="zh-CN" sz="825" dirty="0">
                    <a:solidFill>
                      <a:srgbClr val="94A3B8"/>
                    </a:solidFill>
                    <a:latin typeface="Segoe UI"/>
                    <a:ea typeface="微软雅黑"/>
                    <a:cs typeface="Segoe UI"/>
                  </a:endParaRPr>
                </a:p>
              </p:txBody>
            </p:sp>
            <p:sp>
              <p:nvSpPr>
                <p:cNvPr id="75" name="TextBox 75"/>
                <p:cNvSpPr txBox="1"/>
                <p:nvPr/>
              </p:nvSpPr>
              <p:spPr>
                <a:xfrm>
                  <a:off x="630460" y="3590449"/>
                  <a:ext cx="189643"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100</a:t>
                  </a:r>
                  <a:endParaRPr lang="zh-CN" sz="825" dirty="0">
                    <a:solidFill>
                      <a:srgbClr val="94A3B8"/>
                    </a:solidFill>
                    <a:latin typeface="Segoe UI"/>
                    <a:ea typeface="微软雅黑"/>
                    <a:cs typeface="Segoe UI"/>
                  </a:endParaRPr>
                </a:p>
              </p:txBody>
            </p:sp>
            <p:sp>
              <p:nvSpPr>
                <p:cNvPr id="76" name="TextBox 76"/>
                <p:cNvSpPr txBox="1"/>
                <p:nvPr/>
              </p:nvSpPr>
              <p:spPr>
                <a:xfrm>
                  <a:off x="2882015" y="6262211"/>
                  <a:ext cx="846320"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企业AI采用阶段</a:t>
                  </a:r>
                  <a:endParaRPr lang="zh-CN" sz="825" dirty="0">
                    <a:solidFill>
                      <a:srgbClr val="94A3B8"/>
                    </a:solidFill>
                    <a:latin typeface="Segoe UI"/>
                    <a:ea typeface="微软雅黑"/>
                    <a:cs typeface="Segoe UI"/>
                  </a:endParaRPr>
                </a:p>
              </p:txBody>
            </p:sp>
            <p:sp>
              <p:nvSpPr>
                <p:cNvPr id="77" name="Freeform 77"/>
                <p:cNvSpPr/>
                <p:nvPr/>
              </p:nvSpPr>
              <p:spPr>
                <a:xfrm>
                  <a:off x="3019425" y="5332571"/>
                  <a:ext cx="571500" cy="890111"/>
                </a:xfrm>
                <a:custGeom>
                  <a:avLst/>
                  <a:gdLst/>
                  <a:ahLst/>
                  <a:cxnLst/>
                  <a:rect l="l" t="t" r="r" b="b"/>
                  <a:pathLst>
                    <a:path w="571500" h="890111">
                      <a:moveTo>
                        <a:pt x="38100" y="0"/>
                      </a:moveTo>
                      <a:lnTo>
                        <a:pt x="533400" y="0"/>
                      </a:lnTo>
                      <a:cubicBezTo>
                        <a:pt x="554442" y="0"/>
                        <a:pt x="571500" y="17058"/>
                        <a:pt x="571500" y="38100"/>
                      </a:cubicBezTo>
                      <a:lnTo>
                        <a:pt x="571500" y="890111"/>
                      </a:lnTo>
                      <a:lnTo>
                        <a:pt x="0" y="890111"/>
                      </a:lnTo>
                      <a:lnTo>
                        <a:pt x="0" y="38100"/>
                      </a:lnTo>
                      <a:cubicBezTo>
                        <a:pt x="0" y="17058"/>
                        <a:pt x="17058" y="0"/>
                        <a:pt x="38100" y="0"/>
                      </a:cubicBezTo>
                    </a:path>
                  </a:pathLst>
                </a:custGeom>
                <a:solidFill>
                  <a:srgbClr val="0070F3"/>
                </a:solidFill>
                <a:ln>
                  <a:noFill/>
                </a:ln>
              </p:spPr>
            </p:sp>
            <p:sp>
              <p:nvSpPr>
                <p:cNvPr id="78" name="Freeform 78"/>
                <p:cNvSpPr/>
                <p:nvPr/>
              </p:nvSpPr>
              <p:spPr>
                <a:xfrm>
                  <a:off x="3019425" y="4264438"/>
                  <a:ext cx="571500" cy="1068133"/>
                </a:xfrm>
                <a:custGeom>
                  <a:avLst/>
                  <a:gdLst/>
                  <a:ahLst/>
                  <a:cxnLst/>
                  <a:rect l="l" t="t" r="r" b="b"/>
                  <a:pathLst>
                    <a:path w="571500" h="1068133">
                      <a:moveTo>
                        <a:pt x="0" y="0"/>
                      </a:moveTo>
                      <a:lnTo>
                        <a:pt x="571500" y="0"/>
                      </a:lnTo>
                      <a:lnTo>
                        <a:pt x="571500" y="1068133"/>
                      </a:lnTo>
                      <a:lnTo>
                        <a:pt x="0" y="1068133"/>
                      </a:lnTo>
                      <a:lnTo>
                        <a:pt x="0" y="0"/>
                      </a:lnTo>
                    </a:path>
                  </a:pathLst>
                </a:custGeom>
                <a:solidFill>
                  <a:srgbClr val="4A90D9"/>
                </a:solidFill>
                <a:ln>
                  <a:noFill/>
                </a:ln>
              </p:spPr>
            </p:sp>
            <p:sp>
              <p:nvSpPr>
                <p:cNvPr id="79" name="Freeform 79"/>
                <p:cNvSpPr/>
                <p:nvPr/>
              </p:nvSpPr>
              <p:spPr>
                <a:xfrm>
                  <a:off x="3019425" y="3933825"/>
                  <a:ext cx="571500" cy="330613"/>
                </a:xfrm>
                <a:custGeom>
                  <a:avLst/>
                  <a:gdLst/>
                  <a:ahLst/>
                  <a:cxnLst/>
                  <a:rect l="l" t="t" r="r" b="b"/>
                  <a:pathLst>
                    <a:path w="571500" h="330613">
                      <a:moveTo>
                        <a:pt x="0" y="0"/>
                      </a:moveTo>
                      <a:lnTo>
                        <a:pt x="533400" y="0"/>
                      </a:lnTo>
                      <a:cubicBezTo>
                        <a:pt x="554442" y="0"/>
                        <a:pt x="571500" y="17058"/>
                        <a:pt x="571500" y="38100"/>
                      </a:cubicBezTo>
                      <a:lnTo>
                        <a:pt x="571500" y="292513"/>
                      </a:lnTo>
                      <a:cubicBezTo>
                        <a:pt x="571500" y="313555"/>
                        <a:pt x="554442" y="330613"/>
                        <a:pt x="533400" y="330613"/>
                      </a:cubicBezTo>
                      <a:lnTo>
                        <a:pt x="0" y="330613"/>
                      </a:lnTo>
                      <a:lnTo>
                        <a:pt x="0" y="0"/>
                      </a:lnTo>
                    </a:path>
                  </a:pathLst>
                </a:custGeom>
                <a:solidFill>
                  <a:srgbClr val="CBD5E1"/>
                </a:solidFill>
                <a:ln>
                  <a:noFill/>
                </a:ln>
              </p:spPr>
            </p:sp>
            <p:sp>
              <p:nvSpPr>
                <p:cNvPr id="80" name="TextBox 80"/>
                <p:cNvSpPr txBox="1"/>
                <p:nvPr/>
              </p:nvSpPr>
              <p:spPr>
                <a:xfrm>
                  <a:off x="3195292" y="5688568"/>
                  <a:ext cx="219766"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Segoe UI"/>
                      <a:ea typeface="微软雅黑"/>
                      <a:cs typeface="Segoe UI"/>
                    </a:rPr>
                    <a:t>35%</a:t>
                  </a:r>
                  <a:endParaRPr lang="zh-CN" sz="825" dirty="0">
                    <a:solidFill>
                      <a:srgbClr val="FFFFFF"/>
                    </a:solidFill>
                    <a:latin typeface="Segoe UI"/>
                    <a:ea typeface="微软雅黑"/>
                    <a:cs typeface="Segoe UI"/>
                  </a:endParaRPr>
                </a:p>
              </p:txBody>
            </p:sp>
            <p:sp>
              <p:nvSpPr>
                <p:cNvPr id="81" name="TextBox 81"/>
                <p:cNvSpPr txBox="1"/>
                <p:nvPr/>
              </p:nvSpPr>
              <p:spPr>
                <a:xfrm>
                  <a:off x="3195292" y="4709446"/>
                  <a:ext cx="219766"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Segoe UI"/>
                      <a:ea typeface="微软雅黑"/>
                      <a:cs typeface="Segoe UI"/>
                    </a:rPr>
                    <a:t>42%</a:t>
                  </a:r>
                  <a:endParaRPr lang="zh-CN" sz="825" dirty="0">
                    <a:solidFill>
                      <a:srgbClr val="FFFFFF"/>
                    </a:solidFill>
                    <a:latin typeface="Segoe UI"/>
                    <a:ea typeface="微软雅黑"/>
                    <a:cs typeface="Segoe UI"/>
                  </a:endParaRPr>
                </a:p>
              </p:txBody>
            </p:sp>
            <p:sp>
              <p:nvSpPr>
                <p:cNvPr id="82" name="TextBox 82"/>
                <p:cNvSpPr txBox="1"/>
                <p:nvPr/>
              </p:nvSpPr>
              <p:spPr>
                <a:xfrm>
                  <a:off x="3210354" y="4010073"/>
                  <a:ext cx="189643" cy="167640"/>
                </a:xfrm>
                <a:prstGeom prst="rect">
                  <a:avLst/>
                </a:prstGeom>
                <a:noFill/>
                <a:ln>
                  <a:noFill/>
                </a:ln>
              </p:spPr>
              <p:txBody>
                <a:bodyPr wrap="none" lIns="0" tIns="0" rIns="0" bIns="0" anchor="t" anchorCtr="0">
                  <a:spAutoFit/>
                </a:bodyPr>
                <a:lstStyle/>
                <a:p>
                  <a:pPr algn="ctr"/>
                  <a:r>
                    <a:rPr lang="zh-CN" sz="825" dirty="0">
                      <a:solidFill>
                        <a:srgbClr val="0A0A0A"/>
                      </a:solidFill>
                      <a:latin typeface="Segoe UI"/>
                      <a:ea typeface="微软雅黑"/>
                      <a:cs typeface="Segoe UI"/>
                    </a:rPr>
                    <a:t>13%</a:t>
                  </a:r>
                  <a:endParaRPr lang="zh-CN" sz="825" dirty="0">
                    <a:solidFill>
                      <a:srgbClr val="0A0A0A"/>
                    </a:solidFill>
                    <a:latin typeface="Segoe UI"/>
                    <a:ea typeface="微软雅黑"/>
                    <a:cs typeface="Segoe UI"/>
                  </a:endParaRPr>
                </a:p>
              </p:txBody>
            </p:sp>
            <p:sp>
              <p:nvSpPr>
                <p:cNvPr id="83" name="Freeform 83"/>
                <p:cNvSpPr/>
                <p:nvPr/>
              </p:nvSpPr>
              <p:spPr>
                <a:xfrm>
                  <a:off x="2005012" y="3336608"/>
                  <a:ext cx="2295525" cy="228600"/>
                </a:xfrm>
                <a:custGeom>
                  <a:avLst/>
                  <a:gdLst/>
                  <a:ahLst/>
                  <a:cxnLst/>
                  <a:rect l="l" t="t" r="r" b="b"/>
                  <a:pathLst>
                    <a:path w="2295525" h="228600">
                      <a:moveTo>
                        <a:pt x="0" y="0"/>
                      </a:moveTo>
                      <a:lnTo>
                        <a:pt x="2295525" y="0"/>
                      </a:lnTo>
                      <a:lnTo>
                        <a:pt x="2295525" y="228600"/>
                      </a:lnTo>
                      <a:lnTo>
                        <a:pt x="0" y="228600"/>
                      </a:lnTo>
                      <a:close/>
                    </a:path>
                  </a:pathLst>
                </a:custGeom>
                <a:solidFill>
                  <a:srgbClr val="000000">
                    <a:alpha val="0"/>
                  </a:srgbClr>
                </a:solidFill>
                <a:ln w="0">
                  <a:solidFill>
                    <a:srgbClr val="CCCCCC"/>
                  </a:solidFill>
                </a:ln>
              </p:spPr>
            </p:sp>
            <p:sp>
              <p:nvSpPr>
                <p:cNvPr id="84" name="Freeform 84"/>
                <p:cNvSpPr/>
                <p:nvPr/>
              </p:nvSpPr>
              <p:spPr>
                <a:xfrm>
                  <a:off x="2052638" y="3384232"/>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0070F3"/>
                </a:solidFill>
                <a:ln>
                  <a:noFill/>
                </a:ln>
              </p:spPr>
            </p:sp>
            <p:sp>
              <p:nvSpPr>
                <p:cNvPr id="85" name="TextBox 85"/>
                <p:cNvSpPr txBox="1"/>
                <p:nvPr/>
              </p:nvSpPr>
              <p:spPr>
                <a:xfrm>
                  <a:off x="2327910" y="3361849"/>
                  <a:ext cx="502920" cy="167640"/>
                </a:xfrm>
                <a:prstGeom prst="rect">
                  <a:avLst/>
                </a:prstGeom>
                <a:noFill/>
                <a:ln>
                  <a:noFill/>
                </a:ln>
              </p:spPr>
              <p:txBody>
                <a:bodyPr wrap="none" lIns="0" tIns="0" rIns="0" bIns="0" anchor="t" anchorCtr="0">
                  <a:spAutoFit/>
                </a:bodyPr>
                <a:lstStyle/>
                <a:p>
                  <a:pPr algn="l"/>
                  <a:r>
                    <a:rPr lang="zh-CN" sz="825" dirty="0">
                      <a:solidFill>
                        <a:srgbClr val="0A0A0A"/>
                      </a:solidFill>
                      <a:latin typeface="Segoe UI"/>
                      <a:ea typeface="微软雅黑"/>
                      <a:cs typeface="Segoe UI"/>
                    </a:rPr>
                    <a:t>完全部署</a:t>
                  </a:r>
                  <a:endParaRPr lang="zh-CN" sz="825" dirty="0">
                    <a:solidFill>
                      <a:srgbClr val="0A0A0A"/>
                    </a:solidFill>
                    <a:latin typeface="Segoe UI"/>
                    <a:ea typeface="微软雅黑"/>
                    <a:cs typeface="Segoe UI"/>
                  </a:endParaRPr>
                </a:p>
              </p:txBody>
            </p:sp>
            <p:sp>
              <p:nvSpPr>
                <p:cNvPr id="86" name="Freeform 86"/>
                <p:cNvSpPr/>
                <p:nvPr/>
              </p:nvSpPr>
              <p:spPr>
                <a:xfrm>
                  <a:off x="2052638" y="3384232"/>
                  <a:ext cx="704850" cy="133350"/>
                </a:xfrm>
                <a:custGeom>
                  <a:avLst/>
                  <a:gdLst/>
                  <a:ahLst/>
                  <a:cxnLst/>
                  <a:rect l="l" t="t" r="r" b="b"/>
                  <a:pathLst>
                    <a:path w="704850" h="133350">
                      <a:moveTo>
                        <a:pt x="0" y="0"/>
                      </a:moveTo>
                      <a:lnTo>
                        <a:pt x="704850" y="0"/>
                      </a:lnTo>
                      <a:lnTo>
                        <a:pt x="704850" y="133350"/>
                      </a:lnTo>
                      <a:lnTo>
                        <a:pt x="0" y="133350"/>
                      </a:lnTo>
                      <a:close/>
                    </a:path>
                  </a:pathLst>
                </a:custGeom>
                <a:noFill/>
                <a:ln>
                  <a:noFill/>
                </a:ln>
              </p:spPr>
            </p:sp>
            <p:sp>
              <p:nvSpPr>
                <p:cNvPr id="87" name="Freeform 87"/>
                <p:cNvSpPr/>
                <p:nvPr/>
              </p:nvSpPr>
              <p:spPr>
                <a:xfrm>
                  <a:off x="2852738" y="3384232"/>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4A90D9"/>
                </a:solidFill>
                <a:ln>
                  <a:noFill/>
                </a:ln>
              </p:spPr>
            </p:sp>
            <p:sp>
              <p:nvSpPr>
                <p:cNvPr id="88" name="TextBox 88"/>
                <p:cNvSpPr txBox="1"/>
                <p:nvPr/>
              </p:nvSpPr>
              <p:spPr>
                <a:xfrm>
                  <a:off x="3128010" y="3361849"/>
                  <a:ext cx="502920" cy="167640"/>
                </a:xfrm>
                <a:prstGeom prst="rect">
                  <a:avLst/>
                </a:prstGeom>
                <a:noFill/>
                <a:ln>
                  <a:noFill/>
                </a:ln>
              </p:spPr>
              <p:txBody>
                <a:bodyPr wrap="none" lIns="0" tIns="0" rIns="0" bIns="0" anchor="t" anchorCtr="0">
                  <a:spAutoFit/>
                </a:bodyPr>
                <a:lstStyle/>
                <a:p>
                  <a:pPr algn="l"/>
                  <a:r>
                    <a:rPr lang="zh-CN" sz="825" dirty="0">
                      <a:solidFill>
                        <a:srgbClr val="0A0A0A"/>
                      </a:solidFill>
                      <a:latin typeface="Segoe UI"/>
                      <a:ea typeface="微软雅黑"/>
                      <a:cs typeface="Segoe UI"/>
                    </a:rPr>
                    <a:t>正在试验</a:t>
                  </a:r>
                  <a:endParaRPr lang="zh-CN" sz="825" dirty="0">
                    <a:solidFill>
                      <a:srgbClr val="0A0A0A"/>
                    </a:solidFill>
                    <a:latin typeface="Segoe UI"/>
                    <a:ea typeface="微软雅黑"/>
                    <a:cs typeface="Segoe UI"/>
                  </a:endParaRPr>
                </a:p>
              </p:txBody>
            </p:sp>
            <p:sp>
              <p:nvSpPr>
                <p:cNvPr id="89" name="Freeform 89"/>
                <p:cNvSpPr/>
                <p:nvPr/>
              </p:nvSpPr>
              <p:spPr>
                <a:xfrm>
                  <a:off x="2852738" y="3384232"/>
                  <a:ext cx="704850" cy="133350"/>
                </a:xfrm>
                <a:custGeom>
                  <a:avLst/>
                  <a:gdLst/>
                  <a:ahLst/>
                  <a:cxnLst/>
                  <a:rect l="l" t="t" r="r" b="b"/>
                  <a:pathLst>
                    <a:path w="704850" h="133350">
                      <a:moveTo>
                        <a:pt x="0" y="0"/>
                      </a:moveTo>
                      <a:lnTo>
                        <a:pt x="704850" y="0"/>
                      </a:lnTo>
                      <a:lnTo>
                        <a:pt x="704850" y="133350"/>
                      </a:lnTo>
                      <a:lnTo>
                        <a:pt x="0" y="133350"/>
                      </a:lnTo>
                      <a:close/>
                    </a:path>
                  </a:pathLst>
                </a:custGeom>
                <a:noFill/>
                <a:ln>
                  <a:noFill/>
                </a:ln>
              </p:spPr>
            </p:sp>
            <p:sp>
              <p:nvSpPr>
                <p:cNvPr id="90" name="Freeform 90"/>
                <p:cNvSpPr/>
                <p:nvPr/>
              </p:nvSpPr>
              <p:spPr>
                <a:xfrm>
                  <a:off x="3652838" y="3384232"/>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CBD5E1"/>
                </a:solidFill>
                <a:ln>
                  <a:noFill/>
                </a:ln>
              </p:spPr>
            </p:sp>
            <p:sp>
              <p:nvSpPr>
                <p:cNvPr id="91" name="TextBox 91"/>
                <p:cNvSpPr txBox="1"/>
                <p:nvPr/>
              </p:nvSpPr>
              <p:spPr>
                <a:xfrm>
                  <a:off x="3928110" y="3361849"/>
                  <a:ext cx="382429" cy="167640"/>
                </a:xfrm>
                <a:prstGeom prst="rect">
                  <a:avLst/>
                </a:prstGeom>
                <a:noFill/>
                <a:ln>
                  <a:noFill/>
                </a:ln>
              </p:spPr>
              <p:txBody>
                <a:bodyPr wrap="none" lIns="0" tIns="0" rIns="0" bIns="0" anchor="t" anchorCtr="0">
                  <a:spAutoFit/>
                </a:bodyPr>
                <a:lstStyle/>
                <a:p>
                  <a:pPr algn="l"/>
                  <a:r>
                    <a:rPr lang="zh-CN" sz="825" dirty="0">
                      <a:solidFill>
                        <a:srgbClr val="0A0A0A"/>
                      </a:solidFill>
                      <a:latin typeface="Segoe UI"/>
                      <a:ea typeface="微软雅黑"/>
                      <a:cs typeface="Segoe UI"/>
                    </a:rPr>
                    <a:t>无计划</a:t>
                  </a:r>
                  <a:endParaRPr lang="zh-CN" sz="825" dirty="0">
                    <a:solidFill>
                      <a:srgbClr val="0A0A0A"/>
                    </a:solidFill>
                    <a:latin typeface="Segoe UI"/>
                    <a:ea typeface="微软雅黑"/>
                    <a:cs typeface="Segoe UI"/>
                  </a:endParaRPr>
                </a:p>
              </p:txBody>
            </p:sp>
            <p:sp>
              <p:nvSpPr>
                <p:cNvPr id="92" name="Freeform 92"/>
                <p:cNvSpPr/>
                <p:nvPr/>
              </p:nvSpPr>
              <p:spPr>
                <a:xfrm>
                  <a:off x="3652838" y="3384232"/>
                  <a:ext cx="600075" cy="133350"/>
                </a:xfrm>
                <a:custGeom>
                  <a:avLst/>
                  <a:gdLst/>
                  <a:ahLst/>
                  <a:cxnLst/>
                  <a:rect l="l" t="t" r="r" b="b"/>
                  <a:pathLst>
                    <a:path w="600075" h="133350">
                      <a:moveTo>
                        <a:pt x="0" y="0"/>
                      </a:moveTo>
                      <a:lnTo>
                        <a:pt x="600075" y="0"/>
                      </a:lnTo>
                      <a:lnTo>
                        <a:pt x="600075" y="133350"/>
                      </a:lnTo>
                      <a:lnTo>
                        <a:pt x="0" y="133350"/>
                      </a:lnTo>
                      <a:close/>
                    </a:path>
                  </a:pathLst>
                </a:custGeom>
                <a:noFill/>
                <a:ln>
                  <a:noFill/>
                </a:ln>
              </p:spPr>
            </p:sp>
          </p:grpSp>
        </p:grpSp>
        <p:sp>
          <p:nvSpPr>
            <p:cNvPr id="95" name="Rectangle 95"/>
            <p:cNvSpPr/>
            <p:nvPr/>
          </p:nvSpPr>
          <p:spPr>
            <a:xfrm>
              <a:off x="6153150" y="2769870"/>
              <a:ext cx="5772150" cy="3900488"/>
            </a:xfrm>
            <a:prstGeom prst="roundRect">
              <a:avLst>
                <a:gd name="adj" fmla="val 3907"/>
              </a:avLst>
            </a:prstGeom>
            <a:solidFill>
              <a:srgbClr val="FFFFFF">
                <a:alpha val="78000"/>
              </a:srgbClr>
            </a:solidFill>
            <a:ln>
              <a:noFill/>
            </a:ln>
          </p:spPr>
        </p:sp>
        <p:sp>
          <p:nvSpPr>
            <p:cNvPr id="96" name="Line 96"/>
            <p:cNvSpPr/>
            <p:nvPr/>
          </p:nvSpPr>
          <p:spPr>
            <a:xfrm>
              <a:off x="6153150" y="2769870"/>
              <a:ext cx="5772150" cy="9525"/>
            </a:xfrm>
            <a:custGeom>
              <a:avLst/>
              <a:gdLst/>
              <a:ahLst/>
              <a:cxnLst/>
              <a:rect l="l" t="t" r="r" b="b"/>
              <a:pathLst>
                <a:path w="5772150" h="9525">
                  <a:moveTo>
                    <a:pt x="0" y="0"/>
                  </a:moveTo>
                  <a:lnTo>
                    <a:pt x="5772150" y="0"/>
                  </a:lnTo>
                </a:path>
              </a:pathLst>
            </a:custGeom>
            <a:noFill/>
            <a:ln w="9525">
              <a:solidFill>
                <a:srgbClr val="0070F3">
                  <a:alpha val="14000"/>
                </a:srgbClr>
              </a:solidFill>
            </a:ln>
          </p:spPr>
        </p:sp>
        <p:sp>
          <p:nvSpPr>
            <p:cNvPr id="97" name="Line 97"/>
            <p:cNvSpPr/>
            <p:nvPr/>
          </p:nvSpPr>
          <p:spPr>
            <a:xfrm>
              <a:off x="11925300" y="2769870"/>
              <a:ext cx="9525" cy="3900487"/>
            </a:xfrm>
            <a:custGeom>
              <a:avLst/>
              <a:gdLst/>
              <a:ahLst/>
              <a:cxnLst/>
              <a:rect l="l" t="t" r="r" b="b"/>
              <a:pathLst>
                <a:path w="9525" h="3900487">
                  <a:moveTo>
                    <a:pt x="0" y="0"/>
                  </a:moveTo>
                  <a:lnTo>
                    <a:pt x="0" y="3900487"/>
                  </a:lnTo>
                </a:path>
              </a:pathLst>
            </a:custGeom>
            <a:noFill/>
            <a:ln w="9525">
              <a:solidFill>
                <a:srgbClr val="0070F3">
                  <a:alpha val="14000"/>
                </a:srgbClr>
              </a:solidFill>
            </a:ln>
          </p:spPr>
        </p:sp>
        <p:sp>
          <p:nvSpPr>
            <p:cNvPr id="98" name="Line 98"/>
            <p:cNvSpPr/>
            <p:nvPr/>
          </p:nvSpPr>
          <p:spPr>
            <a:xfrm>
              <a:off x="6153150" y="6670358"/>
              <a:ext cx="5772150" cy="9525"/>
            </a:xfrm>
            <a:custGeom>
              <a:avLst/>
              <a:gdLst/>
              <a:ahLst/>
              <a:cxnLst/>
              <a:rect l="l" t="t" r="r" b="b"/>
              <a:pathLst>
                <a:path w="5772150" h="9525">
                  <a:moveTo>
                    <a:pt x="0" y="0"/>
                  </a:moveTo>
                  <a:lnTo>
                    <a:pt x="5772150" y="0"/>
                  </a:lnTo>
                </a:path>
              </a:pathLst>
            </a:custGeom>
            <a:noFill/>
            <a:ln w="9525">
              <a:solidFill>
                <a:srgbClr val="0070F3">
                  <a:alpha val="14000"/>
                </a:srgbClr>
              </a:solidFill>
            </a:ln>
          </p:spPr>
        </p:sp>
        <p:sp>
          <p:nvSpPr>
            <p:cNvPr id="99" name="Line 99"/>
            <p:cNvSpPr/>
            <p:nvPr/>
          </p:nvSpPr>
          <p:spPr>
            <a:xfrm>
              <a:off x="6153150" y="2769870"/>
              <a:ext cx="9525" cy="3900487"/>
            </a:xfrm>
            <a:custGeom>
              <a:avLst/>
              <a:gdLst/>
              <a:ahLst/>
              <a:cxnLst/>
              <a:rect l="l" t="t" r="r" b="b"/>
              <a:pathLst>
                <a:path w="9525" h="3900487">
                  <a:moveTo>
                    <a:pt x="0" y="0"/>
                  </a:moveTo>
                  <a:lnTo>
                    <a:pt x="0" y="3900487"/>
                  </a:lnTo>
                </a:path>
              </a:pathLst>
            </a:custGeom>
            <a:noFill/>
            <a:ln w="9525">
              <a:solidFill>
                <a:srgbClr val="0070F3">
                  <a:alpha val="14000"/>
                </a:srgbClr>
              </a:solidFill>
            </a:ln>
          </p:spPr>
        </p:sp>
        <p:sp>
          <p:nvSpPr>
            <p:cNvPr id="100" name="TextBox 100"/>
            <p:cNvSpPr txBox="1"/>
            <p:nvPr/>
          </p:nvSpPr>
          <p:spPr>
            <a:xfrm>
              <a:off x="6302692" y="2931319"/>
              <a:ext cx="2454444" cy="198120"/>
            </a:xfrm>
            <a:prstGeom prst="rect">
              <a:avLst/>
            </a:prstGeom>
            <a:noFill/>
            <a:ln>
              <a:noFill/>
            </a:ln>
          </p:spPr>
          <p:txBody>
            <a:bodyPr wrap="non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AI成熟企业 vs非成熟企业生产率对比</a:t>
              </a:r>
              <a:endParaRPr lang="zh-CN" sz="975" b="1" dirty="0">
                <a:solidFill>
                  <a:srgbClr val="0A0A0A"/>
                </a:solidFill>
                <a:latin typeface="Arial" panose="020B0604020202090204"/>
                <a:ea typeface="微软雅黑"/>
                <a:cs typeface="Arial" panose="020B0604020202090204"/>
              </a:endParaRPr>
            </a:p>
          </p:txBody>
        </p:sp>
        <p:sp>
          <p:nvSpPr>
            <p:cNvPr id="101" name="TextBox 101"/>
            <p:cNvSpPr txBox="1"/>
            <p:nvPr/>
          </p:nvSpPr>
          <p:spPr>
            <a:xfrm>
              <a:off x="6304598" y="3133249"/>
              <a:ext cx="2713934"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成熟企业生产率提升 15-30%，非成熟企业几乎无变</a:t>
              </a:r>
              <a:endParaRPr lang="zh-CN" sz="825" dirty="0">
                <a:solidFill>
                  <a:srgbClr val="94A3B8"/>
                </a:solidFill>
                <a:latin typeface="Arial" panose="020B0604020202090204"/>
                <a:ea typeface="微软雅黑"/>
                <a:cs typeface="Arial" panose="020B0604020202090204"/>
              </a:endParaRPr>
            </a:p>
          </p:txBody>
        </p:sp>
        <p:sp>
          <p:nvSpPr>
            <p:cNvPr id="102" name="TextBox 102"/>
            <p:cNvSpPr txBox="1"/>
            <p:nvPr/>
          </p:nvSpPr>
          <p:spPr>
            <a:xfrm>
              <a:off x="6304598" y="3264218"/>
              <a:ext cx="141446"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化</a:t>
              </a:r>
              <a:endParaRPr lang="zh-CN" sz="825" dirty="0">
                <a:solidFill>
                  <a:srgbClr val="94A3B8"/>
                </a:solidFill>
                <a:latin typeface="Arial" panose="020B0604020202090204"/>
                <a:ea typeface="微软雅黑"/>
                <a:cs typeface="Arial" panose="020B0604020202090204"/>
              </a:endParaRPr>
            </a:p>
          </p:txBody>
        </p:sp>
        <p:sp>
          <p:nvSpPr>
            <p:cNvPr id="103" name="Rectangle 103"/>
            <p:cNvSpPr/>
            <p:nvPr/>
          </p:nvSpPr>
          <p:spPr>
            <a:xfrm>
              <a:off x="11188636" y="2912745"/>
              <a:ext cx="574738" cy="200025"/>
            </a:xfrm>
            <a:prstGeom prst="roundRect">
              <a:avLst>
                <a:gd name="adj" fmla="val 50000"/>
              </a:avLst>
            </a:prstGeom>
            <a:solidFill>
              <a:srgbClr val="0070F3">
                <a:alpha val="12000"/>
              </a:srgbClr>
            </a:solidFill>
            <a:ln>
              <a:noFill/>
            </a:ln>
          </p:spPr>
        </p:sp>
        <p:sp>
          <p:nvSpPr>
            <p:cNvPr id="104" name="TextBox 104"/>
            <p:cNvSpPr txBox="1"/>
            <p:nvPr/>
          </p:nvSpPr>
          <p:spPr>
            <a:xfrm>
              <a:off x="11254359" y="2966561"/>
              <a:ext cx="454724"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+15-30%</a:t>
              </a:r>
              <a:endParaRPr lang="zh-CN" sz="825" dirty="0">
                <a:solidFill>
                  <a:srgbClr val="0070F3"/>
                </a:solidFill>
                <a:latin typeface="Arial" panose="020B0604020202090204"/>
                <a:ea typeface="微软雅黑"/>
                <a:cs typeface="Arial" panose="020B0604020202090204"/>
              </a:endParaRPr>
            </a:p>
          </p:txBody>
        </p:sp>
        <p:grpSp>
          <p:nvGrpSpPr>
            <p:cNvPr id="135" name="Group 135"/>
            <p:cNvGrpSpPr/>
            <p:nvPr/>
          </p:nvGrpSpPr>
          <p:grpSpPr>
            <a:xfrm>
              <a:off x="6315075" y="3336608"/>
              <a:ext cx="5448300" cy="3190875"/>
              <a:chOff x="6315075" y="3336608"/>
              <a:chExt cx="5448300" cy="3190875"/>
            </a:xfrm>
          </p:grpSpPr>
          <p:sp>
            <p:nvSpPr>
              <p:cNvPr id="105" name="Rectangle 105"/>
              <p:cNvSpPr/>
              <p:nvPr/>
            </p:nvSpPr>
            <p:spPr>
              <a:xfrm>
                <a:off x="6315075" y="3336608"/>
                <a:ext cx="5448300" cy="3190875"/>
              </a:xfrm>
              <a:prstGeom prst="rect">
                <a:avLst/>
              </a:prstGeom>
              <a:noFill/>
              <a:ln>
                <a:noFill/>
              </a:ln>
            </p:spPr>
          </p:sp>
          <p:grpSp>
            <p:nvGrpSpPr>
              <p:cNvPr id="134" name="Group 134"/>
              <p:cNvGrpSpPr/>
              <p:nvPr/>
            </p:nvGrpSpPr>
            <p:grpSpPr>
              <a:xfrm>
                <a:off x="6369796" y="3336608"/>
                <a:ext cx="5255467" cy="3093243"/>
                <a:chOff x="6369796" y="3336608"/>
                <a:chExt cx="5255467" cy="3093243"/>
              </a:xfrm>
            </p:grpSpPr>
            <p:sp>
              <p:nvSpPr>
                <p:cNvPr id="106" name="Freeform 106"/>
                <p:cNvSpPr/>
                <p:nvPr/>
              </p:nvSpPr>
              <p:spPr>
                <a:xfrm>
                  <a:off x="6772275" y="622744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107" name="Freeform 107"/>
                <p:cNvSpPr/>
                <p:nvPr/>
              </p:nvSpPr>
              <p:spPr>
                <a:xfrm>
                  <a:off x="6772275" y="571309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108" name="Freeform 108"/>
                <p:cNvSpPr/>
                <p:nvPr/>
              </p:nvSpPr>
              <p:spPr>
                <a:xfrm>
                  <a:off x="6772275" y="5208270"/>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109" name="Freeform 109"/>
                <p:cNvSpPr/>
                <p:nvPr/>
              </p:nvSpPr>
              <p:spPr>
                <a:xfrm>
                  <a:off x="6772275" y="470344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110" name="Freeform 110"/>
                <p:cNvSpPr/>
                <p:nvPr/>
              </p:nvSpPr>
              <p:spPr>
                <a:xfrm>
                  <a:off x="6772275" y="4189095"/>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111" name="Freeform 111"/>
                <p:cNvSpPr/>
                <p:nvPr/>
              </p:nvSpPr>
              <p:spPr>
                <a:xfrm>
                  <a:off x="6772275" y="3684270"/>
                  <a:ext cx="4838700" cy="9525"/>
                </a:xfrm>
                <a:custGeom>
                  <a:avLst/>
                  <a:gdLst/>
                  <a:ahLst/>
                  <a:cxnLst/>
                  <a:rect l="l" t="t" r="r" b="b"/>
                  <a:pathLst>
                    <a:path w="4838700" h="9525">
                      <a:moveTo>
                        <a:pt x="0" y="0"/>
                      </a:moveTo>
                      <a:lnTo>
                        <a:pt x="4838700" y="0"/>
                      </a:lnTo>
                    </a:path>
                  </a:pathLst>
                </a:custGeom>
                <a:noFill/>
                <a:ln w="9525">
                  <a:solidFill>
                    <a:srgbClr val="94A3B8">
                      <a:alpha val="12000"/>
                    </a:srgbClr>
                  </a:solidFill>
                </a:ln>
              </p:spPr>
            </p:sp>
            <p:sp>
              <p:nvSpPr>
                <p:cNvPr id="112" name="TextBox 112"/>
                <p:cNvSpPr txBox="1"/>
                <p:nvPr/>
              </p:nvSpPr>
              <p:spPr>
                <a:xfrm>
                  <a:off x="6369796" y="3382328"/>
                  <a:ext cx="804958"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Segoe UI"/>
                      <a:ea typeface="微软雅黑"/>
                      <a:cs typeface="Segoe UI"/>
                    </a:rPr>
                    <a:t>提升幅度 (%)</a:t>
                  </a:r>
                  <a:endParaRPr lang="zh-CN" sz="900" dirty="0">
                    <a:solidFill>
                      <a:srgbClr val="475569"/>
                    </a:solidFill>
                    <a:latin typeface="Segoe UI"/>
                    <a:ea typeface="微软雅黑"/>
                    <a:cs typeface="Segoe UI"/>
                  </a:endParaRPr>
                </a:p>
              </p:txBody>
            </p:sp>
            <p:sp>
              <p:nvSpPr>
                <p:cNvPr id="113" name="Freeform 113"/>
                <p:cNvSpPr/>
                <p:nvPr/>
              </p:nvSpPr>
              <p:spPr>
                <a:xfrm>
                  <a:off x="6772275" y="6227445"/>
                  <a:ext cx="4838700" cy="9525"/>
                </a:xfrm>
                <a:custGeom>
                  <a:avLst/>
                  <a:gdLst/>
                  <a:ahLst/>
                  <a:cxnLst/>
                  <a:rect l="l" t="t" r="r" b="b"/>
                  <a:pathLst>
                    <a:path w="4838700" h="9525">
                      <a:moveTo>
                        <a:pt x="0" y="0"/>
                      </a:moveTo>
                      <a:lnTo>
                        <a:pt x="4838700" y="0"/>
                      </a:lnTo>
                    </a:path>
                  </a:pathLst>
                </a:custGeom>
                <a:noFill/>
                <a:ln w="9525" cap="rnd">
                  <a:solidFill>
                    <a:srgbClr val="475569"/>
                  </a:solidFill>
                </a:ln>
              </p:spPr>
            </p:sp>
            <p:sp>
              <p:nvSpPr>
                <p:cNvPr id="114" name="Freeform 114"/>
                <p:cNvSpPr/>
                <p:nvPr/>
              </p:nvSpPr>
              <p:spPr>
                <a:xfrm>
                  <a:off x="6777038" y="6222682"/>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15" name="Freeform 115"/>
                <p:cNvSpPr/>
                <p:nvPr/>
              </p:nvSpPr>
              <p:spPr>
                <a:xfrm>
                  <a:off x="11615738" y="6222682"/>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16" name="TextBox 116"/>
                <p:cNvSpPr txBox="1"/>
                <p:nvPr/>
              </p:nvSpPr>
              <p:spPr>
                <a:xfrm>
                  <a:off x="6619327" y="6133624"/>
                  <a:ext cx="8722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0</a:t>
                  </a:r>
                  <a:endParaRPr lang="zh-CN" sz="825" dirty="0">
                    <a:solidFill>
                      <a:srgbClr val="94A3B8"/>
                    </a:solidFill>
                    <a:latin typeface="Segoe UI"/>
                    <a:ea typeface="微软雅黑"/>
                    <a:cs typeface="Segoe UI"/>
                  </a:endParaRPr>
                </a:p>
              </p:txBody>
            </p:sp>
            <p:sp>
              <p:nvSpPr>
                <p:cNvPr id="117" name="TextBox 117"/>
                <p:cNvSpPr txBox="1"/>
                <p:nvPr/>
              </p:nvSpPr>
              <p:spPr>
                <a:xfrm>
                  <a:off x="6619327" y="5624989"/>
                  <a:ext cx="8722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5</a:t>
                  </a:r>
                  <a:endParaRPr lang="zh-CN" sz="825" dirty="0">
                    <a:solidFill>
                      <a:srgbClr val="94A3B8"/>
                    </a:solidFill>
                    <a:latin typeface="Segoe UI"/>
                    <a:ea typeface="微软雅黑"/>
                    <a:cs typeface="Segoe UI"/>
                  </a:endParaRPr>
                </a:p>
              </p:txBody>
            </p:sp>
            <p:sp>
              <p:nvSpPr>
                <p:cNvPr id="118" name="TextBox 118"/>
                <p:cNvSpPr txBox="1"/>
                <p:nvPr/>
              </p:nvSpPr>
              <p:spPr>
                <a:xfrm>
                  <a:off x="6583180" y="5116354"/>
                  <a:ext cx="123373"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10</a:t>
                  </a:r>
                  <a:endParaRPr lang="zh-CN" sz="825" dirty="0">
                    <a:solidFill>
                      <a:srgbClr val="94A3B8"/>
                    </a:solidFill>
                    <a:latin typeface="Segoe UI"/>
                    <a:ea typeface="微软雅黑"/>
                    <a:cs typeface="Segoe UI"/>
                  </a:endParaRPr>
                </a:p>
              </p:txBody>
            </p:sp>
            <p:sp>
              <p:nvSpPr>
                <p:cNvPr id="119" name="TextBox 119"/>
                <p:cNvSpPr txBox="1"/>
                <p:nvPr/>
              </p:nvSpPr>
              <p:spPr>
                <a:xfrm>
                  <a:off x="6583180" y="4607719"/>
                  <a:ext cx="123373"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15</a:t>
                  </a:r>
                  <a:endParaRPr lang="zh-CN" sz="825" dirty="0">
                    <a:solidFill>
                      <a:srgbClr val="94A3B8"/>
                    </a:solidFill>
                    <a:latin typeface="Segoe UI"/>
                    <a:ea typeface="微软雅黑"/>
                    <a:cs typeface="Segoe UI"/>
                  </a:endParaRPr>
                </a:p>
              </p:txBody>
            </p:sp>
            <p:sp>
              <p:nvSpPr>
                <p:cNvPr id="120" name="TextBox 120"/>
                <p:cNvSpPr txBox="1"/>
                <p:nvPr/>
              </p:nvSpPr>
              <p:spPr>
                <a:xfrm>
                  <a:off x="6553057" y="4099084"/>
                  <a:ext cx="15349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20</a:t>
                  </a:r>
                  <a:endParaRPr lang="zh-CN" sz="825" dirty="0">
                    <a:solidFill>
                      <a:srgbClr val="94A3B8"/>
                    </a:solidFill>
                    <a:latin typeface="Segoe UI"/>
                    <a:ea typeface="微软雅黑"/>
                    <a:cs typeface="Segoe UI"/>
                  </a:endParaRPr>
                </a:p>
              </p:txBody>
            </p:sp>
            <p:sp>
              <p:nvSpPr>
                <p:cNvPr id="121" name="TextBox 121"/>
                <p:cNvSpPr txBox="1"/>
                <p:nvPr/>
              </p:nvSpPr>
              <p:spPr>
                <a:xfrm>
                  <a:off x="6553057" y="3590449"/>
                  <a:ext cx="153495" cy="167640"/>
                </a:xfrm>
                <a:prstGeom prst="rect">
                  <a:avLst/>
                </a:prstGeom>
                <a:noFill/>
                <a:ln>
                  <a:noFill/>
                </a:ln>
              </p:spPr>
              <p:txBody>
                <a:bodyPr wrap="none" lIns="0" tIns="0" rIns="0" bIns="0" anchor="t" anchorCtr="0">
                  <a:spAutoFit/>
                </a:bodyPr>
                <a:lstStyle/>
                <a:p>
                  <a:pPr algn="r"/>
                  <a:r>
                    <a:rPr lang="zh-CN" sz="825" dirty="0">
                      <a:solidFill>
                        <a:srgbClr val="94A3B8"/>
                      </a:solidFill>
                      <a:latin typeface="Segoe UI"/>
                      <a:ea typeface="微软雅黑"/>
                      <a:cs typeface="Segoe UI"/>
                    </a:rPr>
                    <a:t>25</a:t>
                  </a:r>
                  <a:endParaRPr lang="zh-CN" sz="825" dirty="0">
                    <a:solidFill>
                      <a:srgbClr val="94A3B8"/>
                    </a:solidFill>
                    <a:latin typeface="Segoe UI"/>
                    <a:ea typeface="微软雅黑"/>
                    <a:cs typeface="Segoe UI"/>
                  </a:endParaRPr>
                </a:p>
              </p:txBody>
            </p:sp>
            <p:sp>
              <p:nvSpPr>
                <p:cNvPr id="122" name="TextBox 122"/>
                <p:cNvSpPr txBox="1"/>
                <p:nvPr/>
              </p:nvSpPr>
              <p:spPr>
                <a:xfrm>
                  <a:off x="8879919" y="6262211"/>
                  <a:ext cx="623411"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生产率提升</a:t>
                  </a:r>
                  <a:endParaRPr lang="zh-CN" sz="825" dirty="0">
                    <a:solidFill>
                      <a:srgbClr val="94A3B8"/>
                    </a:solidFill>
                    <a:latin typeface="Segoe UI"/>
                    <a:ea typeface="微软雅黑"/>
                    <a:cs typeface="Segoe UI"/>
                  </a:endParaRPr>
                </a:p>
              </p:txBody>
            </p:sp>
            <p:sp>
              <p:nvSpPr>
                <p:cNvPr id="123" name="Freeform 123"/>
                <p:cNvSpPr/>
                <p:nvPr/>
              </p:nvSpPr>
              <p:spPr>
                <a:xfrm>
                  <a:off x="8688705" y="3984689"/>
                  <a:ext cx="457200" cy="2237994"/>
                </a:xfrm>
                <a:custGeom>
                  <a:avLst/>
                  <a:gdLst/>
                  <a:ahLst/>
                  <a:cxnLst/>
                  <a:rect l="l" t="t" r="r" b="b"/>
                  <a:pathLst>
                    <a:path w="457200" h="2237994">
                      <a:moveTo>
                        <a:pt x="38100" y="0"/>
                      </a:moveTo>
                      <a:lnTo>
                        <a:pt x="419100" y="0"/>
                      </a:lnTo>
                      <a:cubicBezTo>
                        <a:pt x="440142" y="0"/>
                        <a:pt x="457200" y="17058"/>
                        <a:pt x="457200" y="38100"/>
                      </a:cubicBezTo>
                      <a:lnTo>
                        <a:pt x="457200" y="2237994"/>
                      </a:lnTo>
                      <a:lnTo>
                        <a:pt x="0" y="2237994"/>
                      </a:lnTo>
                      <a:lnTo>
                        <a:pt x="0" y="38100"/>
                      </a:lnTo>
                      <a:cubicBezTo>
                        <a:pt x="0" y="17058"/>
                        <a:pt x="17058" y="0"/>
                        <a:pt x="38100" y="0"/>
                      </a:cubicBezTo>
                    </a:path>
                  </a:pathLst>
                </a:custGeom>
                <a:solidFill>
                  <a:srgbClr val="0070F3"/>
                </a:solidFill>
                <a:ln>
                  <a:noFill/>
                </a:ln>
              </p:spPr>
            </p:sp>
            <p:sp>
              <p:nvSpPr>
                <p:cNvPr id="124" name="Freeform 124"/>
                <p:cNvSpPr/>
                <p:nvPr/>
              </p:nvSpPr>
              <p:spPr>
                <a:xfrm>
                  <a:off x="9237345" y="6222682"/>
                  <a:ext cx="457200" cy="9525"/>
                </a:xfrm>
                <a:custGeom>
                  <a:avLst/>
                  <a:gdLst/>
                  <a:ahLst/>
                  <a:cxnLst/>
                  <a:rect l="l" t="t" r="r" b="b"/>
                  <a:pathLst>
                    <a:path w="457200" h="9525">
                      <a:moveTo>
                        <a:pt x="0" y="0"/>
                      </a:moveTo>
                      <a:lnTo>
                        <a:pt x="457200" y="0"/>
                      </a:lnTo>
                      <a:lnTo>
                        <a:pt x="0" y="0"/>
                      </a:lnTo>
                    </a:path>
                  </a:pathLst>
                </a:custGeom>
                <a:solidFill>
                  <a:srgbClr val="CBD5E1"/>
                </a:solidFill>
                <a:ln>
                  <a:noFill/>
                </a:ln>
              </p:spPr>
            </p:sp>
            <p:sp>
              <p:nvSpPr>
                <p:cNvPr id="125" name="TextBox 125"/>
                <p:cNvSpPr txBox="1"/>
                <p:nvPr/>
              </p:nvSpPr>
              <p:spPr>
                <a:xfrm>
                  <a:off x="8807422" y="3795617"/>
                  <a:ext cx="219766" cy="167640"/>
                </a:xfrm>
                <a:prstGeom prst="rect">
                  <a:avLst/>
                </a:prstGeom>
                <a:noFill/>
                <a:ln>
                  <a:noFill/>
                </a:ln>
              </p:spPr>
              <p:txBody>
                <a:bodyPr wrap="none" lIns="0" tIns="0" rIns="0" bIns="0" anchor="t" anchorCtr="0">
                  <a:spAutoFit/>
                </a:bodyPr>
                <a:lstStyle/>
                <a:p>
                  <a:pPr algn="ctr"/>
                  <a:r>
                    <a:rPr lang="zh-CN" sz="825" dirty="0">
                      <a:solidFill>
                        <a:srgbClr val="0070F3"/>
                      </a:solidFill>
                      <a:latin typeface="Segoe UI"/>
                      <a:ea typeface="微软雅黑"/>
                      <a:cs typeface="Segoe UI"/>
                    </a:rPr>
                    <a:t>22%</a:t>
                  </a:r>
                  <a:endParaRPr lang="zh-CN" sz="825" dirty="0">
                    <a:solidFill>
                      <a:srgbClr val="0070F3"/>
                    </a:solidFill>
                    <a:latin typeface="Segoe UI"/>
                    <a:ea typeface="微软雅黑"/>
                    <a:cs typeface="Segoe UI"/>
                  </a:endParaRPr>
                </a:p>
              </p:txBody>
            </p:sp>
            <p:sp>
              <p:nvSpPr>
                <p:cNvPr id="126" name="TextBox 126"/>
                <p:cNvSpPr txBox="1"/>
                <p:nvPr/>
              </p:nvSpPr>
              <p:spPr>
                <a:xfrm>
                  <a:off x="9389197" y="6033611"/>
                  <a:ext cx="153495"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0%</a:t>
                  </a:r>
                  <a:endParaRPr lang="zh-CN" sz="825" dirty="0">
                    <a:solidFill>
                      <a:srgbClr val="94A3B8"/>
                    </a:solidFill>
                    <a:latin typeface="Segoe UI"/>
                    <a:ea typeface="微软雅黑"/>
                    <a:cs typeface="Segoe UI"/>
                  </a:endParaRPr>
                </a:p>
              </p:txBody>
            </p:sp>
            <p:sp>
              <p:nvSpPr>
                <p:cNvPr id="127" name="Freeform 127"/>
                <p:cNvSpPr/>
                <p:nvPr/>
              </p:nvSpPr>
              <p:spPr>
                <a:xfrm>
                  <a:off x="8139903" y="3336608"/>
                  <a:ext cx="1798644" cy="228600"/>
                </a:xfrm>
                <a:custGeom>
                  <a:avLst/>
                  <a:gdLst/>
                  <a:ahLst/>
                  <a:cxnLst/>
                  <a:rect l="l" t="t" r="r" b="b"/>
                  <a:pathLst>
                    <a:path w="1798644" h="228600">
                      <a:moveTo>
                        <a:pt x="0" y="0"/>
                      </a:moveTo>
                      <a:lnTo>
                        <a:pt x="1798644" y="0"/>
                      </a:lnTo>
                      <a:lnTo>
                        <a:pt x="1798644" y="228600"/>
                      </a:lnTo>
                      <a:lnTo>
                        <a:pt x="0" y="228600"/>
                      </a:lnTo>
                      <a:close/>
                    </a:path>
                  </a:pathLst>
                </a:custGeom>
                <a:solidFill>
                  <a:srgbClr val="000000">
                    <a:alpha val="0"/>
                  </a:srgbClr>
                </a:solidFill>
                <a:ln w="0">
                  <a:solidFill>
                    <a:srgbClr val="CCCCCC"/>
                  </a:solidFill>
                </a:ln>
              </p:spPr>
            </p:sp>
            <p:sp>
              <p:nvSpPr>
                <p:cNvPr id="128" name="Freeform 128"/>
                <p:cNvSpPr/>
                <p:nvPr/>
              </p:nvSpPr>
              <p:spPr>
                <a:xfrm>
                  <a:off x="8187528" y="3384232"/>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0070F3"/>
                </a:solidFill>
                <a:ln>
                  <a:noFill/>
                </a:ln>
              </p:spPr>
            </p:sp>
            <p:sp>
              <p:nvSpPr>
                <p:cNvPr id="129" name="TextBox 129"/>
                <p:cNvSpPr txBox="1"/>
                <p:nvPr/>
              </p:nvSpPr>
              <p:spPr>
                <a:xfrm>
                  <a:off x="8462801" y="3361849"/>
                  <a:ext cx="605338" cy="167640"/>
                </a:xfrm>
                <a:prstGeom prst="rect">
                  <a:avLst/>
                </a:prstGeom>
                <a:noFill/>
                <a:ln>
                  <a:noFill/>
                </a:ln>
              </p:spPr>
              <p:txBody>
                <a:bodyPr wrap="none" lIns="0" tIns="0" rIns="0" bIns="0" anchor="t" anchorCtr="0">
                  <a:spAutoFit/>
                </a:bodyPr>
                <a:lstStyle/>
                <a:p>
                  <a:pPr algn="l"/>
                  <a:r>
                    <a:rPr lang="zh-CN" sz="825" dirty="0">
                      <a:solidFill>
                        <a:srgbClr val="0A0A0A"/>
                      </a:solidFill>
                      <a:latin typeface="Segoe UI"/>
                      <a:ea typeface="微软雅黑"/>
                      <a:cs typeface="Segoe UI"/>
                    </a:rPr>
                    <a:t>AI成熟企业</a:t>
                  </a:r>
                  <a:endParaRPr lang="zh-CN" sz="825" dirty="0">
                    <a:solidFill>
                      <a:srgbClr val="0A0A0A"/>
                    </a:solidFill>
                    <a:latin typeface="Segoe UI"/>
                    <a:ea typeface="微软雅黑"/>
                    <a:cs typeface="Segoe UI"/>
                  </a:endParaRPr>
                </a:p>
              </p:txBody>
            </p:sp>
            <p:sp>
              <p:nvSpPr>
                <p:cNvPr id="130" name="Freeform 130"/>
                <p:cNvSpPr/>
                <p:nvPr/>
              </p:nvSpPr>
              <p:spPr>
                <a:xfrm>
                  <a:off x="8187528" y="3384232"/>
                  <a:ext cx="798519" cy="133350"/>
                </a:xfrm>
                <a:custGeom>
                  <a:avLst/>
                  <a:gdLst/>
                  <a:ahLst/>
                  <a:cxnLst/>
                  <a:rect l="l" t="t" r="r" b="b"/>
                  <a:pathLst>
                    <a:path w="798519" h="133350">
                      <a:moveTo>
                        <a:pt x="0" y="0"/>
                      </a:moveTo>
                      <a:lnTo>
                        <a:pt x="798519" y="0"/>
                      </a:lnTo>
                      <a:lnTo>
                        <a:pt x="798519" y="133350"/>
                      </a:lnTo>
                      <a:lnTo>
                        <a:pt x="0" y="133350"/>
                      </a:lnTo>
                      <a:close/>
                    </a:path>
                  </a:pathLst>
                </a:custGeom>
                <a:noFill/>
                <a:ln>
                  <a:noFill/>
                </a:ln>
              </p:spPr>
            </p:sp>
            <p:sp>
              <p:nvSpPr>
                <p:cNvPr id="131" name="Freeform 131"/>
                <p:cNvSpPr/>
                <p:nvPr/>
              </p:nvSpPr>
              <p:spPr>
                <a:xfrm>
                  <a:off x="9081297" y="3384232"/>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CBD5E1"/>
                </a:solidFill>
                <a:ln>
                  <a:noFill/>
                </a:ln>
              </p:spPr>
            </p:sp>
            <p:sp>
              <p:nvSpPr>
                <p:cNvPr id="132" name="TextBox 132"/>
                <p:cNvSpPr txBox="1"/>
                <p:nvPr/>
              </p:nvSpPr>
              <p:spPr>
                <a:xfrm>
                  <a:off x="9356569" y="3361849"/>
                  <a:ext cx="623411" cy="167640"/>
                </a:xfrm>
                <a:prstGeom prst="rect">
                  <a:avLst/>
                </a:prstGeom>
                <a:noFill/>
                <a:ln>
                  <a:noFill/>
                </a:ln>
              </p:spPr>
              <p:txBody>
                <a:bodyPr wrap="none" lIns="0" tIns="0" rIns="0" bIns="0" anchor="t" anchorCtr="0">
                  <a:spAutoFit/>
                </a:bodyPr>
                <a:lstStyle/>
                <a:p>
                  <a:pPr algn="l"/>
                  <a:r>
                    <a:rPr lang="zh-CN" sz="825" dirty="0">
                      <a:solidFill>
                        <a:srgbClr val="0A0A0A"/>
                      </a:solidFill>
                      <a:latin typeface="Segoe UI"/>
                      <a:ea typeface="微软雅黑"/>
                      <a:cs typeface="Segoe UI"/>
                    </a:rPr>
                    <a:t>非成熟企业</a:t>
                  </a:r>
                  <a:endParaRPr lang="zh-CN" sz="825" dirty="0">
                    <a:solidFill>
                      <a:srgbClr val="0A0A0A"/>
                    </a:solidFill>
                    <a:latin typeface="Segoe UI"/>
                    <a:ea typeface="微软雅黑"/>
                    <a:cs typeface="Segoe UI"/>
                  </a:endParaRPr>
                </a:p>
              </p:txBody>
            </p:sp>
            <p:sp>
              <p:nvSpPr>
                <p:cNvPr id="133" name="Freeform 133"/>
                <p:cNvSpPr/>
                <p:nvPr/>
              </p:nvSpPr>
              <p:spPr>
                <a:xfrm>
                  <a:off x="9081297" y="3384232"/>
                  <a:ext cx="809625" cy="133350"/>
                </a:xfrm>
                <a:custGeom>
                  <a:avLst/>
                  <a:gdLst/>
                  <a:ahLst/>
                  <a:cxnLst/>
                  <a:rect l="l" t="t" r="r" b="b"/>
                  <a:pathLst>
                    <a:path w="809625" h="133350">
                      <a:moveTo>
                        <a:pt x="0" y="0"/>
                      </a:moveTo>
                      <a:lnTo>
                        <a:pt x="809625" y="0"/>
                      </a:lnTo>
                      <a:lnTo>
                        <a:pt x="809625" y="133350"/>
                      </a:lnTo>
                      <a:lnTo>
                        <a:pt x="0" y="133350"/>
                      </a:lnTo>
                      <a:close/>
                    </a:path>
                  </a:pathLst>
                </a:custGeom>
                <a:noFill/>
                <a:ln>
                  <a:noFill/>
                </a:ln>
              </p:spPr>
            </p:sp>
          </p:gr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132" name="Group 132"/>
          <p:cNvGrpSpPr/>
          <p:nvPr/>
        </p:nvGrpSpPr>
        <p:grpSpPr>
          <a:xfrm>
            <a:off x="243840" y="84455"/>
            <a:ext cx="11751310" cy="6616526"/>
            <a:chOff x="243840" y="190500"/>
            <a:chExt cx="11751540" cy="6513050"/>
          </a:xfrm>
        </p:grpSpPr>
        <p:sp>
          <p:nvSpPr>
            <p:cNvPr id="5" name="TextBox 5"/>
            <p:cNvSpPr txBox="1"/>
            <p:nvPr/>
          </p:nvSpPr>
          <p:spPr>
            <a:xfrm>
              <a:off x="243840" y="224790"/>
              <a:ext cx="6573936" cy="272530"/>
            </a:xfrm>
            <a:prstGeom prst="rect">
              <a:avLst/>
            </a:prstGeom>
            <a:noFill/>
            <a:ln>
              <a:noFill/>
            </a:ln>
          </p:spPr>
          <p:txBody>
            <a:bodyPr wrap="square" lIns="0" tIns="0" rIns="0" bIns="0" anchor="t" anchorCtr="0">
              <a:spAutoFit/>
            </a:bodyPr>
            <a:lstStyle/>
            <a:p>
              <a:pPr algn="l"/>
              <a:r>
                <a:rPr lang="zh-CN" sz="1800" b="1" dirty="0">
                  <a:solidFill>
                    <a:srgbClr val="0A0A0A"/>
                  </a:solidFill>
                  <a:latin typeface="Times New Roman" panose="02020503050405090304"/>
                  <a:ea typeface="宋体"/>
                  <a:cs typeface="Times New Roman" panose="02020503050405090304"/>
                </a:rPr>
                <a:t>资本加速涌入生成式 AI， 2025年投资规模突破千亿美</a:t>
              </a:r>
              <a:endParaRPr lang="zh-CN" sz="180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243840" y="521970"/>
              <a:ext cx="321754" cy="272530"/>
            </a:xfrm>
            <a:prstGeom prst="rect">
              <a:avLst/>
            </a:prstGeom>
            <a:noFill/>
            <a:ln>
              <a:noFill/>
            </a:ln>
          </p:spPr>
          <p:txBody>
            <a:bodyPr wrap="square" lIns="0" tIns="0" rIns="0" bIns="0" anchor="t" anchorCtr="0">
              <a:spAutoFit/>
            </a:bodyPr>
            <a:lstStyle/>
            <a:p>
              <a:pPr algn="l"/>
              <a:r>
                <a:rPr lang="zh-CN" sz="1800" b="1" dirty="0">
                  <a:solidFill>
                    <a:srgbClr val="0A0A0A"/>
                  </a:solidFill>
                  <a:latin typeface="Times New Roman" panose="02020503050405090304"/>
                  <a:ea typeface="宋体"/>
                  <a:cs typeface="Times New Roman" panose="02020503050405090304"/>
                </a:rPr>
                <a:t>元</a:t>
              </a:r>
              <a:endParaRPr lang="zh-CN" sz="1800" b="1" dirty="0">
                <a:solidFill>
                  <a:srgbClr val="0A0A0A"/>
                </a:solidFill>
                <a:latin typeface="Times New Roman" panose="02020503050405090304"/>
                <a:ea typeface="宋体"/>
                <a:cs typeface="Times New Roman" panose="02020503050405090304"/>
              </a:endParaRPr>
            </a:p>
          </p:txBody>
        </p:sp>
        <p:sp>
          <p:nvSpPr>
            <p:cNvPr id="7" name="TextBox 7"/>
            <p:cNvSpPr txBox="1"/>
            <p:nvPr/>
          </p:nvSpPr>
          <p:spPr>
            <a:xfrm>
              <a:off x="255270" y="561975"/>
              <a:ext cx="3065812" cy="136265"/>
            </a:xfrm>
            <a:prstGeom prst="rect">
              <a:avLst/>
            </a:prstGeom>
            <a:noFill/>
            <a:ln>
              <a:noFill/>
            </a:ln>
          </p:spPr>
          <p:txBody>
            <a:bodyPr wrap="squar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追踪 AI资本热度变化，展示资金流向与头部企业崛起</a:t>
              </a:r>
              <a:endParaRPr lang="zh-CN" sz="900" dirty="0">
                <a:solidFill>
                  <a:srgbClr val="0A0A0A"/>
                </a:solidFill>
                <a:latin typeface="Arial" panose="020B0604020202090204"/>
                <a:ea typeface="微软雅黑"/>
                <a:cs typeface="Arial" panose="020B0604020202090204"/>
              </a:endParaRPr>
            </a:p>
          </p:txBody>
        </p:sp>
        <p:sp>
          <p:nvSpPr>
            <p:cNvPr id="8" name="Rectangle 8"/>
            <p:cNvSpPr/>
            <p:nvPr/>
          </p:nvSpPr>
          <p:spPr>
            <a:xfrm>
              <a:off x="10690765" y="190500"/>
              <a:ext cx="1234535" cy="276225"/>
            </a:xfrm>
            <a:prstGeom prst="roundRect">
              <a:avLst>
                <a:gd name="adj" fmla="val 27586"/>
              </a:avLst>
            </a:prstGeom>
            <a:solidFill>
              <a:srgbClr val="0070F3">
                <a:alpha val="10000"/>
              </a:srgbClr>
            </a:solidFill>
            <a:ln>
              <a:noFill/>
            </a:ln>
          </p:spPr>
        </p:sp>
        <p:sp>
          <p:nvSpPr>
            <p:cNvPr id="9" name="Line 9"/>
            <p:cNvSpPr/>
            <p:nvPr/>
          </p:nvSpPr>
          <p:spPr>
            <a:xfrm>
              <a:off x="10690765" y="190500"/>
              <a:ext cx="1234535" cy="9525"/>
            </a:xfrm>
            <a:custGeom>
              <a:avLst/>
              <a:gdLst/>
              <a:ahLst/>
              <a:cxnLst/>
              <a:rect l="l" t="t" r="r" b="b"/>
              <a:pathLst>
                <a:path w="1234535" h="9525">
                  <a:moveTo>
                    <a:pt x="0" y="0"/>
                  </a:moveTo>
                  <a:lnTo>
                    <a:pt x="1234535" y="0"/>
                  </a:lnTo>
                </a:path>
              </a:pathLst>
            </a:custGeom>
            <a:noFill/>
            <a:ln w="9525">
              <a:solidFill>
                <a:srgbClr val="0070F3">
                  <a:alpha val="20000"/>
                </a:srgbClr>
              </a:solidFill>
            </a:ln>
          </p:spPr>
        </p:sp>
        <p:sp>
          <p:nvSpPr>
            <p:cNvPr id="10" name="Line 10"/>
            <p:cNvSpPr/>
            <p:nvPr/>
          </p:nvSpPr>
          <p:spPr>
            <a:xfrm>
              <a:off x="11925300" y="190500"/>
              <a:ext cx="9525" cy="276225"/>
            </a:xfrm>
            <a:custGeom>
              <a:avLst/>
              <a:gdLst/>
              <a:ahLst/>
              <a:cxnLst/>
              <a:rect l="l" t="t" r="r" b="b"/>
              <a:pathLst>
                <a:path w="9525" h="276225">
                  <a:moveTo>
                    <a:pt x="0" y="0"/>
                  </a:moveTo>
                  <a:lnTo>
                    <a:pt x="0" y="276225"/>
                  </a:lnTo>
                </a:path>
              </a:pathLst>
            </a:custGeom>
            <a:noFill/>
            <a:ln w="9525">
              <a:solidFill>
                <a:srgbClr val="0070F3">
                  <a:alpha val="20000"/>
                </a:srgbClr>
              </a:solidFill>
            </a:ln>
          </p:spPr>
        </p:sp>
        <p:sp>
          <p:nvSpPr>
            <p:cNvPr id="11" name="Line 11"/>
            <p:cNvSpPr/>
            <p:nvPr/>
          </p:nvSpPr>
          <p:spPr>
            <a:xfrm>
              <a:off x="10690765" y="466725"/>
              <a:ext cx="1234535" cy="9525"/>
            </a:xfrm>
            <a:custGeom>
              <a:avLst/>
              <a:gdLst/>
              <a:ahLst/>
              <a:cxnLst/>
              <a:rect l="l" t="t" r="r" b="b"/>
              <a:pathLst>
                <a:path w="1234535" h="9525">
                  <a:moveTo>
                    <a:pt x="0" y="0"/>
                  </a:moveTo>
                  <a:lnTo>
                    <a:pt x="1234535" y="0"/>
                  </a:lnTo>
                </a:path>
              </a:pathLst>
            </a:custGeom>
            <a:noFill/>
            <a:ln w="9525">
              <a:solidFill>
                <a:srgbClr val="0070F3">
                  <a:alpha val="20000"/>
                </a:srgbClr>
              </a:solidFill>
            </a:ln>
          </p:spPr>
        </p:sp>
        <p:sp>
          <p:nvSpPr>
            <p:cNvPr id="12" name="Line 12"/>
            <p:cNvSpPr/>
            <p:nvPr/>
          </p:nvSpPr>
          <p:spPr>
            <a:xfrm>
              <a:off x="10690765" y="190500"/>
              <a:ext cx="9525" cy="276225"/>
            </a:xfrm>
            <a:custGeom>
              <a:avLst/>
              <a:gdLst/>
              <a:ahLst/>
              <a:cxnLst/>
              <a:rect l="l" t="t" r="r" b="b"/>
              <a:pathLst>
                <a:path w="9525" h="276225">
                  <a:moveTo>
                    <a:pt x="0" y="0"/>
                  </a:moveTo>
                  <a:lnTo>
                    <a:pt x="0" y="276225"/>
                  </a:lnTo>
                </a:path>
              </a:pathLst>
            </a:custGeom>
            <a:noFill/>
            <a:ln w="9525">
              <a:solidFill>
                <a:srgbClr val="0070F3">
                  <a:alpha val="20000"/>
                </a:srgbClr>
              </a:solidFill>
            </a:ln>
          </p:spPr>
        </p:sp>
        <p:sp>
          <p:nvSpPr>
            <p:cNvPr id="13" name="TextBox 13"/>
            <p:cNvSpPr txBox="1"/>
            <p:nvPr/>
          </p:nvSpPr>
          <p:spPr>
            <a:xfrm>
              <a:off x="10775537" y="263366"/>
              <a:ext cx="1219843" cy="125014"/>
            </a:xfrm>
            <a:prstGeom prst="rect">
              <a:avLst/>
            </a:prstGeom>
            <a:noFill/>
            <a:ln>
              <a:noFill/>
            </a:ln>
          </p:spPr>
          <p:txBody>
            <a:bodyPr wrap="squar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2020-2025年投资趋势</a:t>
              </a:r>
              <a:endParaRPr lang="zh-CN" sz="825" dirty="0">
                <a:solidFill>
                  <a:srgbClr val="0070F3"/>
                </a:solidFill>
                <a:latin typeface="Arial" panose="020B0604020202090204"/>
                <a:ea typeface="微软雅黑"/>
                <a:cs typeface="Arial" panose="020B0604020202090204"/>
              </a:endParaRPr>
            </a:p>
          </p:txBody>
        </p:sp>
        <p:sp>
          <p:nvSpPr>
            <p:cNvPr id="14" name="Rectangle 14"/>
            <p:cNvSpPr/>
            <p:nvPr/>
          </p:nvSpPr>
          <p:spPr>
            <a:xfrm>
              <a:off x="266700" y="849630"/>
              <a:ext cx="3810000" cy="904875"/>
            </a:xfrm>
            <a:prstGeom prst="roundRect">
              <a:avLst>
                <a:gd name="adj" fmla="val 8421"/>
              </a:avLst>
            </a:prstGeom>
            <a:solidFill>
              <a:srgbClr val="FFFFFF">
                <a:alpha val="80000"/>
              </a:srgbClr>
            </a:solidFill>
            <a:ln>
              <a:noFill/>
            </a:ln>
          </p:spPr>
        </p:sp>
        <p:sp>
          <p:nvSpPr>
            <p:cNvPr id="15" name="Line 15"/>
            <p:cNvSpPr/>
            <p:nvPr/>
          </p:nvSpPr>
          <p:spPr>
            <a:xfrm>
              <a:off x="266700" y="849630"/>
              <a:ext cx="3810000" cy="9525"/>
            </a:xfrm>
            <a:custGeom>
              <a:avLst/>
              <a:gdLst/>
              <a:ahLst/>
              <a:cxnLst/>
              <a:rect l="l" t="t" r="r" b="b"/>
              <a:pathLst>
                <a:path w="3810000" h="9525">
                  <a:moveTo>
                    <a:pt x="0" y="0"/>
                  </a:moveTo>
                  <a:lnTo>
                    <a:pt x="3810000" y="0"/>
                  </a:lnTo>
                </a:path>
              </a:pathLst>
            </a:custGeom>
            <a:noFill/>
            <a:ln w="9525">
              <a:solidFill>
                <a:srgbClr val="0070F3">
                  <a:alpha val="14000"/>
                </a:srgbClr>
              </a:solidFill>
            </a:ln>
          </p:spPr>
        </p:sp>
        <p:sp>
          <p:nvSpPr>
            <p:cNvPr id="16" name="Line 16"/>
            <p:cNvSpPr/>
            <p:nvPr/>
          </p:nvSpPr>
          <p:spPr>
            <a:xfrm>
              <a:off x="4076700" y="849630"/>
              <a:ext cx="9525" cy="904875"/>
            </a:xfrm>
            <a:custGeom>
              <a:avLst/>
              <a:gdLst/>
              <a:ahLst/>
              <a:cxnLst/>
              <a:rect l="l" t="t" r="r" b="b"/>
              <a:pathLst>
                <a:path w="9525" h="904875">
                  <a:moveTo>
                    <a:pt x="0" y="0"/>
                  </a:moveTo>
                  <a:lnTo>
                    <a:pt x="0" y="904875"/>
                  </a:lnTo>
                </a:path>
              </a:pathLst>
            </a:custGeom>
            <a:noFill/>
            <a:ln w="9525">
              <a:solidFill>
                <a:srgbClr val="0070F3">
                  <a:alpha val="14000"/>
                </a:srgbClr>
              </a:solidFill>
            </a:ln>
          </p:spPr>
        </p:sp>
        <p:sp>
          <p:nvSpPr>
            <p:cNvPr id="17" name="Line 17"/>
            <p:cNvSpPr/>
            <p:nvPr/>
          </p:nvSpPr>
          <p:spPr>
            <a:xfrm>
              <a:off x="266700" y="1754505"/>
              <a:ext cx="3810000" cy="9525"/>
            </a:xfrm>
            <a:custGeom>
              <a:avLst/>
              <a:gdLst/>
              <a:ahLst/>
              <a:cxnLst/>
              <a:rect l="l" t="t" r="r" b="b"/>
              <a:pathLst>
                <a:path w="3810000" h="9525">
                  <a:moveTo>
                    <a:pt x="0" y="0"/>
                  </a:moveTo>
                  <a:lnTo>
                    <a:pt x="3810000" y="0"/>
                  </a:lnTo>
                </a:path>
              </a:pathLst>
            </a:custGeom>
            <a:noFill/>
            <a:ln w="9525">
              <a:solidFill>
                <a:srgbClr val="0070F3">
                  <a:alpha val="14000"/>
                </a:srgbClr>
              </a:solidFill>
            </a:ln>
          </p:spPr>
        </p:sp>
        <p:sp>
          <p:nvSpPr>
            <p:cNvPr id="18" name="Line 18"/>
            <p:cNvSpPr/>
            <p:nvPr/>
          </p:nvSpPr>
          <p:spPr>
            <a:xfrm>
              <a:off x="266700" y="849630"/>
              <a:ext cx="9525" cy="904875"/>
            </a:xfrm>
            <a:custGeom>
              <a:avLst/>
              <a:gdLst/>
              <a:ahLst/>
              <a:cxnLst/>
              <a:rect l="l" t="t" r="r" b="b"/>
              <a:pathLst>
                <a:path w="9525" h="904875">
                  <a:moveTo>
                    <a:pt x="0" y="0"/>
                  </a:moveTo>
                  <a:lnTo>
                    <a:pt x="0" y="904875"/>
                  </a:lnTo>
                </a:path>
              </a:pathLst>
            </a:custGeom>
            <a:noFill/>
            <a:ln w="9525">
              <a:solidFill>
                <a:srgbClr val="0070F3">
                  <a:alpha val="14000"/>
                </a:srgbClr>
              </a:solidFill>
            </a:ln>
          </p:spPr>
        </p:sp>
        <p:sp>
          <p:nvSpPr>
            <p:cNvPr id="19" name="TextBox 19"/>
            <p:cNvSpPr txBox="1"/>
            <p:nvPr/>
          </p:nvSpPr>
          <p:spPr>
            <a:xfrm>
              <a:off x="399098" y="989171"/>
              <a:ext cx="906566" cy="125014"/>
            </a:xfrm>
            <a:prstGeom prst="rect">
              <a:avLst/>
            </a:prstGeom>
            <a:noFill/>
            <a:ln>
              <a:noFill/>
            </a:ln>
          </p:spPr>
          <p:txBody>
            <a:bodyPr wrap="square" lIns="0" tIns="0" rIns="0" bIns="0" anchor="t" anchorCtr="0">
              <a:spAutoFit/>
            </a:bodyPr>
            <a:lstStyle/>
            <a:p>
              <a:pPr algn="l"/>
              <a:r>
                <a:rPr lang="zh-CN" sz="825" dirty="0">
                  <a:solidFill>
                    <a:srgbClr val="64748B"/>
                  </a:solidFill>
                  <a:latin typeface="Arial" panose="020B0604020202090204"/>
                  <a:ea typeface="微软雅黑"/>
                  <a:cs typeface="Arial" panose="020B0604020202090204"/>
                </a:rPr>
                <a:t>2025年 AI总投资</a:t>
              </a:r>
              <a:endParaRPr lang="zh-CN" sz="825" dirty="0">
                <a:solidFill>
                  <a:srgbClr val="64748B"/>
                </a:solidFill>
                <a:latin typeface="Arial" panose="020B0604020202090204"/>
                <a:ea typeface="微软雅黑"/>
                <a:cs typeface="Arial" panose="020B0604020202090204"/>
              </a:endParaRPr>
            </a:p>
          </p:txBody>
        </p:sp>
        <p:sp>
          <p:nvSpPr>
            <p:cNvPr id="20" name="TextBox 20"/>
            <p:cNvSpPr txBox="1"/>
            <p:nvPr/>
          </p:nvSpPr>
          <p:spPr>
            <a:xfrm>
              <a:off x="388620" y="1185862"/>
              <a:ext cx="535322" cy="249403"/>
            </a:xfrm>
            <a:prstGeom prst="rect">
              <a:avLst/>
            </a:prstGeom>
            <a:noFill/>
            <a:ln>
              <a:noFill/>
            </a:ln>
          </p:spPr>
          <p:txBody>
            <a:bodyPr wrap="square" lIns="0" tIns="0" rIns="0" bIns="0" anchor="t" anchorCtr="0">
              <a:spAutoFit/>
            </a:bodyPr>
            <a:lstStyle/>
            <a:p>
              <a:pPr algn="l"/>
              <a:r>
                <a:rPr lang="zh-CN" sz="1650" b="1" dirty="0">
                  <a:solidFill>
                    <a:srgbClr val="0A0A0A"/>
                  </a:solidFill>
                  <a:latin typeface="Arial" panose="020B0604020202090204"/>
                  <a:ea typeface="微软雅黑"/>
                  <a:cs typeface="Arial" panose="020B0604020202090204"/>
                </a:rPr>
                <a:t>1070</a:t>
              </a:r>
              <a:endParaRPr lang="zh-CN" sz="1650" b="1" dirty="0">
                <a:solidFill>
                  <a:srgbClr val="0A0A0A"/>
                </a:solidFill>
                <a:latin typeface="Arial" panose="020B0604020202090204"/>
                <a:ea typeface="微软雅黑"/>
                <a:cs typeface="Arial" panose="020B0604020202090204"/>
              </a:endParaRPr>
            </a:p>
          </p:txBody>
        </p:sp>
        <p:sp>
          <p:nvSpPr>
            <p:cNvPr id="21" name="TextBox 21"/>
            <p:cNvSpPr txBox="1"/>
            <p:nvPr/>
          </p:nvSpPr>
          <p:spPr>
            <a:xfrm>
              <a:off x="399098" y="1446371"/>
              <a:ext cx="737878" cy="125014"/>
            </a:xfrm>
            <a:prstGeom prst="rect">
              <a:avLst/>
            </a:prstGeom>
            <a:noFill/>
            <a:ln>
              <a:noFill/>
            </a:ln>
          </p:spPr>
          <p:txBody>
            <a:bodyPr wrap="square" lIns="0" tIns="0" rIns="0" bIns="0" anchor="t" anchorCtr="0">
              <a:spAutoFit/>
            </a:bodyPr>
            <a:lstStyle/>
            <a:p>
              <a:pPr algn="l"/>
              <a:r>
                <a:rPr lang="zh-CN" sz="825" dirty="0">
                  <a:solidFill>
                    <a:srgbClr val="22C55E"/>
                  </a:solidFill>
                  <a:latin typeface="Arial" panose="020B0604020202090204"/>
                  <a:ea typeface="微软雅黑"/>
                  <a:cs typeface="Arial" panose="020B0604020202090204"/>
                </a:rPr>
                <a:t>同比增长 28%</a:t>
              </a:r>
              <a:endParaRPr lang="zh-CN" sz="825" dirty="0">
                <a:solidFill>
                  <a:srgbClr val="22C55E"/>
                </a:solidFill>
                <a:latin typeface="Arial" panose="020B0604020202090204"/>
                <a:ea typeface="微软雅黑"/>
                <a:cs typeface="Arial" panose="020B0604020202090204"/>
              </a:endParaRPr>
            </a:p>
          </p:txBody>
        </p:sp>
        <p:sp>
          <p:nvSpPr>
            <p:cNvPr id="22" name="Rectangle 22"/>
            <p:cNvSpPr/>
            <p:nvPr/>
          </p:nvSpPr>
          <p:spPr>
            <a:xfrm>
              <a:off x="4191000" y="849630"/>
              <a:ext cx="3810000" cy="904875"/>
            </a:xfrm>
            <a:prstGeom prst="roundRect">
              <a:avLst>
                <a:gd name="adj" fmla="val 8421"/>
              </a:avLst>
            </a:prstGeom>
            <a:solidFill>
              <a:srgbClr val="FFFFFF">
                <a:alpha val="80000"/>
              </a:srgbClr>
            </a:solidFill>
            <a:ln>
              <a:noFill/>
            </a:ln>
          </p:spPr>
        </p:sp>
        <p:sp>
          <p:nvSpPr>
            <p:cNvPr id="23" name="Line 23"/>
            <p:cNvSpPr/>
            <p:nvPr/>
          </p:nvSpPr>
          <p:spPr>
            <a:xfrm>
              <a:off x="4191000" y="849630"/>
              <a:ext cx="3810000" cy="9525"/>
            </a:xfrm>
            <a:custGeom>
              <a:avLst/>
              <a:gdLst/>
              <a:ahLst/>
              <a:cxnLst/>
              <a:rect l="l" t="t" r="r" b="b"/>
              <a:pathLst>
                <a:path w="3810000" h="9525">
                  <a:moveTo>
                    <a:pt x="0" y="0"/>
                  </a:moveTo>
                  <a:lnTo>
                    <a:pt x="3810000" y="0"/>
                  </a:lnTo>
                </a:path>
              </a:pathLst>
            </a:custGeom>
            <a:noFill/>
            <a:ln w="9525">
              <a:solidFill>
                <a:srgbClr val="0070F3">
                  <a:alpha val="14000"/>
                </a:srgbClr>
              </a:solidFill>
            </a:ln>
          </p:spPr>
        </p:sp>
        <p:sp>
          <p:nvSpPr>
            <p:cNvPr id="24" name="Line 24"/>
            <p:cNvSpPr/>
            <p:nvPr/>
          </p:nvSpPr>
          <p:spPr>
            <a:xfrm>
              <a:off x="8001000" y="849630"/>
              <a:ext cx="9525" cy="904875"/>
            </a:xfrm>
            <a:custGeom>
              <a:avLst/>
              <a:gdLst/>
              <a:ahLst/>
              <a:cxnLst/>
              <a:rect l="l" t="t" r="r" b="b"/>
              <a:pathLst>
                <a:path w="9525" h="904875">
                  <a:moveTo>
                    <a:pt x="0" y="0"/>
                  </a:moveTo>
                  <a:lnTo>
                    <a:pt x="0" y="904875"/>
                  </a:lnTo>
                </a:path>
              </a:pathLst>
            </a:custGeom>
            <a:noFill/>
            <a:ln w="9525">
              <a:solidFill>
                <a:srgbClr val="0070F3">
                  <a:alpha val="14000"/>
                </a:srgbClr>
              </a:solidFill>
            </a:ln>
          </p:spPr>
        </p:sp>
        <p:sp>
          <p:nvSpPr>
            <p:cNvPr id="25" name="Line 25"/>
            <p:cNvSpPr/>
            <p:nvPr/>
          </p:nvSpPr>
          <p:spPr>
            <a:xfrm>
              <a:off x="4191000" y="1754505"/>
              <a:ext cx="3810000" cy="9525"/>
            </a:xfrm>
            <a:custGeom>
              <a:avLst/>
              <a:gdLst/>
              <a:ahLst/>
              <a:cxnLst/>
              <a:rect l="l" t="t" r="r" b="b"/>
              <a:pathLst>
                <a:path w="3810000" h="9525">
                  <a:moveTo>
                    <a:pt x="0" y="0"/>
                  </a:moveTo>
                  <a:lnTo>
                    <a:pt x="3810000" y="0"/>
                  </a:lnTo>
                </a:path>
              </a:pathLst>
            </a:custGeom>
            <a:noFill/>
            <a:ln w="9525">
              <a:solidFill>
                <a:srgbClr val="0070F3">
                  <a:alpha val="14000"/>
                </a:srgbClr>
              </a:solidFill>
            </a:ln>
          </p:spPr>
        </p:sp>
        <p:sp>
          <p:nvSpPr>
            <p:cNvPr id="26" name="Line 26"/>
            <p:cNvSpPr/>
            <p:nvPr/>
          </p:nvSpPr>
          <p:spPr>
            <a:xfrm>
              <a:off x="4191000" y="849630"/>
              <a:ext cx="9525" cy="904875"/>
            </a:xfrm>
            <a:custGeom>
              <a:avLst/>
              <a:gdLst/>
              <a:ahLst/>
              <a:cxnLst/>
              <a:rect l="l" t="t" r="r" b="b"/>
              <a:pathLst>
                <a:path w="9525" h="904875">
                  <a:moveTo>
                    <a:pt x="0" y="0"/>
                  </a:moveTo>
                  <a:lnTo>
                    <a:pt x="0" y="904875"/>
                  </a:lnTo>
                </a:path>
              </a:pathLst>
            </a:custGeom>
            <a:noFill/>
            <a:ln w="9525">
              <a:solidFill>
                <a:srgbClr val="0070F3">
                  <a:alpha val="14000"/>
                </a:srgbClr>
              </a:solidFill>
            </a:ln>
          </p:spPr>
        </p:sp>
        <p:sp>
          <p:nvSpPr>
            <p:cNvPr id="27" name="TextBox 27"/>
            <p:cNvSpPr txBox="1"/>
            <p:nvPr/>
          </p:nvSpPr>
          <p:spPr>
            <a:xfrm>
              <a:off x="4323398" y="989171"/>
              <a:ext cx="1002959" cy="125014"/>
            </a:xfrm>
            <a:prstGeom prst="rect">
              <a:avLst/>
            </a:prstGeom>
            <a:noFill/>
            <a:ln>
              <a:noFill/>
            </a:ln>
          </p:spPr>
          <p:txBody>
            <a:bodyPr wrap="square" lIns="0" tIns="0" rIns="0" bIns="0" anchor="t" anchorCtr="0">
              <a:spAutoFit/>
            </a:bodyPr>
            <a:lstStyle/>
            <a:p>
              <a:pPr algn="l"/>
              <a:r>
                <a:rPr lang="zh-CN" sz="825" dirty="0">
                  <a:solidFill>
                    <a:srgbClr val="64748B"/>
                  </a:solidFill>
                  <a:latin typeface="Arial" panose="020B0604020202090204"/>
                  <a:ea typeface="微软雅黑"/>
                  <a:cs typeface="Arial" panose="020B0604020202090204"/>
                </a:rPr>
                <a:t>生成式 AI投资激增</a:t>
              </a:r>
              <a:endParaRPr lang="zh-CN" sz="825" dirty="0">
                <a:solidFill>
                  <a:srgbClr val="64748B"/>
                </a:solidFill>
                <a:latin typeface="Arial" panose="020B0604020202090204"/>
                <a:ea typeface="微软雅黑"/>
                <a:cs typeface="Arial" panose="020B0604020202090204"/>
              </a:endParaRPr>
            </a:p>
          </p:txBody>
        </p:sp>
        <p:sp>
          <p:nvSpPr>
            <p:cNvPr id="28" name="TextBox 28"/>
            <p:cNvSpPr txBox="1"/>
            <p:nvPr/>
          </p:nvSpPr>
          <p:spPr>
            <a:xfrm>
              <a:off x="4312920" y="1185862"/>
              <a:ext cx="547973" cy="249403"/>
            </a:xfrm>
            <a:prstGeom prst="rect">
              <a:avLst/>
            </a:prstGeom>
            <a:noFill/>
            <a:ln>
              <a:noFill/>
            </a:ln>
          </p:spPr>
          <p:txBody>
            <a:bodyPr wrap="square" lIns="0" tIns="0" rIns="0" bIns="0" anchor="t" anchorCtr="0">
              <a:spAutoFit/>
            </a:bodyPr>
            <a:lstStyle/>
            <a:p>
              <a:pPr algn="l"/>
              <a:r>
                <a:rPr lang="zh-CN" sz="1650" b="1" dirty="0">
                  <a:solidFill>
                    <a:srgbClr val="0A0A0A"/>
                  </a:solidFill>
                  <a:latin typeface="Arial" panose="020B0604020202090204"/>
                  <a:ea typeface="微软雅黑"/>
                  <a:cs typeface="Arial" panose="020B0604020202090204"/>
                </a:rPr>
                <a:t>近倍</a:t>
              </a:r>
              <a:endParaRPr lang="zh-CN" sz="1650" b="1" dirty="0">
                <a:solidFill>
                  <a:srgbClr val="0A0A0A"/>
                </a:solidFill>
                <a:latin typeface="Arial" panose="020B0604020202090204"/>
                <a:ea typeface="微软雅黑"/>
                <a:cs typeface="Arial" panose="020B0604020202090204"/>
              </a:endParaRPr>
            </a:p>
          </p:txBody>
        </p:sp>
        <p:sp>
          <p:nvSpPr>
            <p:cNvPr id="29" name="TextBox 29"/>
            <p:cNvSpPr txBox="1"/>
            <p:nvPr/>
          </p:nvSpPr>
          <p:spPr>
            <a:xfrm>
              <a:off x="4323398" y="1503521"/>
              <a:ext cx="888492" cy="125014"/>
            </a:xfrm>
            <a:prstGeom prst="rect">
              <a:avLst/>
            </a:prstGeom>
            <a:noFill/>
            <a:ln>
              <a:noFill/>
            </a:ln>
          </p:spPr>
          <p:txBody>
            <a:bodyPr wrap="squar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2023年同比增速</a:t>
              </a:r>
              <a:endParaRPr lang="zh-CN" sz="825" dirty="0">
                <a:solidFill>
                  <a:srgbClr val="0070F3"/>
                </a:solidFill>
                <a:latin typeface="Arial" panose="020B0604020202090204"/>
                <a:ea typeface="微软雅黑"/>
                <a:cs typeface="Arial" panose="020B0604020202090204"/>
              </a:endParaRPr>
            </a:p>
          </p:txBody>
        </p:sp>
        <p:sp>
          <p:nvSpPr>
            <p:cNvPr id="30" name="Rectangle 30"/>
            <p:cNvSpPr/>
            <p:nvPr/>
          </p:nvSpPr>
          <p:spPr>
            <a:xfrm>
              <a:off x="8115300" y="849630"/>
              <a:ext cx="3810000" cy="904875"/>
            </a:xfrm>
            <a:prstGeom prst="roundRect">
              <a:avLst>
                <a:gd name="adj" fmla="val 8421"/>
              </a:avLst>
            </a:prstGeom>
            <a:solidFill>
              <a:srgbClr val="FFFFFF">
                <a:alpha val="80000"/>
              </a:srgbClr>
            </a:solidFill>
            <a:ln>
              <a:noFill/>
            </a:ln>
          </p:spPr>
        </p:sp>
        <p:sp>
          <p:nvSpPr>
            <p:cNvPr id="31" name="Line 31"/>
            <p:cNvSpPr/>
            <p:nvPr/>
          </p:nvSpPr>
          <p:spPr>
            <a:xfrm>
              <a:off x="8115300" y="849630"/>
              <a:ext cx="3810000" cy="9525"/>
            </a:xfrm>
            <a:custGeom>
              <a:avLst/>
              <a:gdLst/>
              <a:ahLst/>
              <a:cxnLst/>
              <a:rect l="l" t="t" r="r" b="b"/>
              <a:pathLst>
                <a:path w="3810000" h="9525">
                  <a:moveTo>
                    <a:pt x="0" y="0"/>
                  </a:moveTo>
                  <a:lnTo>
                    <a:pt x="3810000" y="0"/>
                  </a:lnTo>
                </a:path>
              </a:pathLst>
            </a:custGeom>
            <a:noFill/>
            <a:ln w="9525">
              <a:solidFill>
                <a:srgbClr val="0070F3">
                  <a:alpha val="14000"/>
                </a:srgbClr>
              </a:solidFill>
            </a:ln>
          </p:spPr>
        </p:sp>
        <p:sp>
          <p:nvSpPr>
            <p:cNvPr id="32" name="Line 32"/>
            <p:cNvSpPr/>
            <p:nvPr/>
          </p:nvSpPr>
          <p:spPr>
            <a:xfrm>
              <a:off x="11925300" y="849630"/>
              <a:ext cx="9525" cy="904875"/>
            </a:xfrm>
            <a:custGeom>
              <a:avLst/>
              <a:gdLst/>
              <a:ahLst/>
              <a:cxnLst/>
              <a:rect l="l" t="t" r="r" b="b"/>
              <a:pathLst>
                <a:path w="9525" h="904875">
                  <a:moveTo>
                    <a:pt x="0" y="0"/>
                  </a:moveTo>
                  <a:lnTo>
                    <a:pt x="0" y="904875"/>
                  </a:lnTo>
                </a:path>
              </a:pathLst>
            </a:custGeom>
            <a:noFill/>
            <a:ln w="9525">
              <a:solidFill>
                <a:srgbClr val="0070F3">
                  <a:alpha val="14000"/>
                </a:srgbClr>
              </a:solidFill>
            </a:ln>
          </p:spPr>
        </p:sp>
        <p:sp>
          <p:nvSpPr>
            <p:cNvPr id="33" name="Line 33"/>
            <p:cNvSpPr/>
            <p:nvPr/>
          </p:nvSpPr>
          <p:spPr>
            <a:xfrm>
              <a:off x="8115300" y="1754505"/>
              <a:ext cx="3810000" cy="9525"/>
            </a:xfrm>
            <a:custGeom>
              <a:avLst/>
              <a:gdLst/>
              <a:ahLst/>
              <a:cxnLst/>
              <a:rect l="l" t="t" r="r" b="b"/>
              <a:pathLst>
                <a:path w="3810000" h="9525">
                  <a:moveTo>
                    <a:pt x="0" y="0"/>
                  </a:moveTo>
                  <a:lnTo>
                    <a:pt x="3810000" y="0"/>
                  </a:lnTo>
                </a:path>
              </a:pathLst>
            </a:custGeom>
            <a:noFill/>
            <a:ln w="9525">
              <a:solidFill>
                <a:srgbClr val="0070F3">
                  <a:alpha val="14000"/>
                </a:srgbClr>
              </a:solidFill>
            </a:ln>
          </p:spPr>
        </p:sp>
        <p:sp>
          <p:nvSpPr>
            <p:cNvPr id="34" name="Line 34"/>
            <p:cNvSpPr/>
            <p:nvPr/>
          </p:nvSpPr>
          <p:spPr>
            <a:xfrm>
              <a:off x="8115300" y="849630"/>
              <a:ext cx="9525" cy="904875"/>
            </a:xfrm>
            <a:custGeom>
              <a:avLst/>
              <a:gdLst/>
              <a:ahLst/>
              <a:cxnLst/>
              <a:rect l="l" t="t" r="r" b="b"/>
              <a:pathLst>
                <a:path w="9525" h="904875">
                  <a:moveTo>
                    <a:pt x="0" y="0"/>
                  </a:moveTo>
                  <a:lnTo>
                    <a:pt x="0" y="904875"/>
                  </a:lnTo>
                </a:path>
              </a:pathLst>
            </a:custGeom>
            <a:noFill/>
            <a:ln w="9525">
              <a:solidFill>
                <a:srgbClr val="0070F3">
                  <a:alpha val="14000"/>
                </a:srgbClr>
              </a:solidFill>
            </a:ln>
          </p:spPr>
        </p:sp>
        <p:sp>
          <p:nvSpPr>
            <p:cNvPr id="35" name="TextBox 35"/>
            <p:cNvSpPr txBox="1"/>
            <p:nvPr/>
          </p:nvSpPr>
          <p:spPr>
            <a:xfrm>
              <a:off x="8247698" y="989171"/>
              <a:ext cx="894517" cy="125014"/>
            </a:xfrm>
            <a:prstGeom prst="rect">
              <a:avLst/>
            </a:prstGeom>
            <a:noFill/>
            <a:ln>
              <a:noFill/>
            </a:ln>
          </p:spPr>
          <p:txBody>
            <a:bodyPr wrap="square" lIns="0" tIns="0" rIns="0" bIns="0" anchor="t" anchorCtr="0">
              <a:spAutoFit/>
            </a:bodyPr>
            <a:lstStyle/>
            <a:p>
              <a:pPr algn="l"/>
              <a:r>
                <a:rPr lang="zh-CN" sz="825" dirty="0">
                  <a:solidFill>
                    <a:srgbClr val="64748B"/>
                  </a:solidFill>
                  <a:latin typeface="Arial" panose="020B0604020202090204"/>
                  <a:ea typeface="微软雅黑"/>
                  <a:cs typeface="Arial" panose="020B0604020202090204"/>
                </a:rPr>
                <a:t>AI初创占 VC投资</a:t>
              </a:r>
              <a:endParaRPr lang="zh-CN" sz="825" dirty="0">
                <a:solidFill>
                  <a:srgbClr val="64748B"/>
                </a:solidFill>
                <a:latin typeface="Arial" panose="020B0604020202090204"/>
                <a:ea typeface="微软雅黑"/>
                <a:cs typeface="Arial" panose="020B0604020202090204"/>
              </a:endParaRPr>
            </a:p>
          </p:txBody>
        </p:sp>
        <p:sp>
          <p:nvSpPr>
            <p:cNvPr id="36" name="TextBox 36"/>
            <p:cNvSpPr txBox="1"/>
            <p:nvPr/>
          </p:nvSpPr>
          <p:spPr>
            <a:xfrm>
              <a:off x="8237220" y="1185862"/>
              <a:ext cx="320245" cy="249403"/>
            </a:xfrm>
            <a:prstGeom prst="rect">
              <a:avLst/>
            </a:prstGeom>
            <a:noFill/>
            <a:ln>
              <a:noFill/>
            </a:ln>
          </p:spPr>
          <p:txBody>
            <a:bodyPr wrap="square" lIns="0" tIns="0" rIns="0" bIns="0" anchor="t" anchorCtr="0">
              <a:spAutoFit/>
            </a:bodyPr>
            <a:lstStyle/>
            <a:p>
              <a:pPr algn="l"/>
              <a:r>
                <a:rPr lang="zh-CN" sz="1650" b="1" dirty="0">
                  <a:solidFill>
                    <a:srgbClr val="0A0A0A"/>
                  </a:solidFill>
                  <a:latin typeface="Arial" panose="020B0604020202090204"/>
                  <a:ea typeface="微软雅黑"/>
                  <a:cs typeface="Arial" panose="020B0604020202090204"/>
                </a:rPr>
                <a:t>26</a:t>
              </a:r>
              <a:endParaRPr lang="zh-CN" sz="1650" b="1" dirty="0">
                <a:solidFill>
                  <a:srgbClr val="0A0A0A"/>
                </a:solidFill>
                <a:latin typeface="Arial" panose="020B0604020202090204"/>
                <a:ea typeface="微软雅黑"/>
                <a:cs typeface="Arial" panose="020B0604020202090204"/>
              </a:endParaRPr>
            </a:p>
          </p:txBody>
        </p:sp>
        <p:sp>
          <p:nvSpPr>
            <p:cNvPr id="37" name="TextBox 37"/>
            <p:cNvSpPr txBox="1"/>
            <p:nvPr/>
          </p:nvSpPr>
          <p:spPr>
            <a:xfrm>
              <a:off x="8247698" y="1446371"/>
              <a:ext cx="743902" cy="125014"/>
            </a:xfrm>
            <a:prstGeom prst="rect">
              <a:avLst/>
            </a:prstGeom>
            <a:noFill/>
            <a:ln>
              <a:noFill/>
            </a:ln>
          </p:spPr>
          <p:txBody>
            <a:bodyPr wrap="squar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风险投资占比</a:t>
              </a:r>
              <a:endParaRPr lang="zh-CN" sz="825" dirty="0">
                <a:solidFill>
                  <a:srgbClr val="0070F3"/>
                </a:solidFill>
                <a:latin typeface="Arial" panose="020B0604020202090204"/>
                <a:ea typeface="微软雅黑"/>
                <a:cs typeface="Arial" panose="020B0604020202090204"/>
              </a:endParaRPr>
            </a:p>
          </p:txBody>
        </p:sp>
        <p:sp>
          <p:nvSpPr>
            <p:cNvPr id="38" name="Rectangle 38"/>
            <p:cNvSpPr/>
            <p:nvPr/>
          </p:nvSpPr>
          <p:spPr>
            <a:xfrm>
              <a:off x="266700" y="1887855"/>
              <a:ext cx="5762625" cy="4271962"/>
            </a:xfrm>
            <a:prstGeom prst="roundRect">
              <a:avLst>
                <a:gd name="adj" fmla="val 1784"/>
              </a:avLst>
            </a:prstGeom>
            <a:solidFill>
              <a:srgbClr val="FFFFFF">
                <a:alpha val="80000"/>
              </a:srgbClr>
            </a:solidFill>
            <a:ln>
              <a:noFill/>
            </a:ln>
          </p:spPr>
        </p:sp>
        <p:sp>
          <p:nvSpPr>
            <p:cNvPr id="39" name="Line 39"/>
            <p:cNvSpPr/>
            <p:nvPr/>
          </p:nvSpPr>
          <p:spPr>
            <a:xfrm>
              <a:off x="266700" y="1887855"/>
              <a:ext cx="5762625" cy="9525"/>
            </a:xfrm>
            <a:custGeom>
              <a:avLst/>
              <a:gdLst/>
              <a:ahLst/>
              <a:cxnLst/>
              <a:rect l="l" t="t" r="r" b="b"/>
              <a:pathLst>
                <a:path w="5762625" h="9525">
                  <a:moveTo>
                    <a:pt x="0" y="0"/>
                  </a:moveTo>
                  <a:lnTo>
                    <a:pt x="5762625" y="0"/>
                  </a:lnTo>
                </a:path>
              </a:pathLst>
            </a:custGeom>
            <a:noFill/>
            <a:ln w="9525">
              <a:solidFill>
                <a:srgbClr val="0070F3">
                  <a:alpha val="14000"/>
                </a:srgbClr>
              </a:solidFill>
            </a:ln>
          </p:spPr>
        </p:sp>
        <p:sp>
          <p:nvSpPr>
            <p:cNvPr id="40" name="Line 40"/>
            <p:cNvSpPr/>
            <p:nvPr/>
          </p:nvSpPr>
          <p:spPr>
            <a:xfrm>
              <a:off x="6029325" y="1887855"/>
              <a:ext cx="9525" cy="4271963"/>
            </a:xfrm>
            <a:custGeom>
              <a:avLst/>
              <a:gdLst/>
              <a:ahLst/>
              <a:cxnLst/>
              <a:rect l="l" t="t" r="r" b="b"/>
              <a:pathLst>
                <a:path w="9525" h="4271963">
                  <a:moveTo>
                    <a:pt x="0" y="0"/>
                  </a:moveTo>
                  <a:lnTo>
                    <a:pt x="0" y="4271963"/>
                  </a:lnTo>
                </a:path>
              </a:pathLst>
            </a:custGeom>
            <a:noFill/>
            <a:ln w="9525">
              <a:solidFill>
                <a:srgbClr val="0070F3">
                  <a:alpha val="14000"/>
                </a:srgbClr>
              </a:solidFill>
            </a:ln>
          </p:spPr>
        </p:sp>
        <p:sp>
          <p:nvSpPr>
            <p:cNvPr id="41" name="Line 41"/>
            <p:cNvSpPr/>
            <p:nvPr/>
          </p:nvSpPr>
          <p:spPr>
            <a:xfrm>
              <a:off x="266700" y="6159818"/>
              <a:ext cx="5762625" cy="9525"/>
            </a:xfrm>
            <a:custGeom>
              <a:avLst/>
              <a:gdLst/>
              <a:ahLst/>
              <a:cxnLst/>
              <a:rect l="l" t="t" r="r" b="b"/>
              <a:pathLst>
                <a:path w="5762625" h="9525">
                  <a:moveTo>
                    <a:pt x="0" y="0"/>
                  </a:moveTo>
                  <a:lnTo>
                    <a:pt x="5762625" y="0"/>
                  </a:lnTo>
                </a:path>
              </a:pathLst>
            </a:custGeom>
            <a:noFill/>
            <a:ln w="9525">
              <a:solidFill>
                <a:srgbClr val="0070F3">
                  <a:alpha val="14000"/>
                </a:srgbClr>
              </a:solidFill>
            </a:ln>
          </p:spPr>
        </p:sp>
        <p:sp>
          <p:nvSpPr>
            <p:cNvPr id="42" name="Line 42"/>
            <p:cNvSpPr/>
            <p:nvPr/>
          </p:nvSpPr>
          <p:spPr>
            <a:xfrm>
              <a:off x="266700" y="1887855"/>
              <a:ext cx="9525" cy="4271963"/>
            </a:xfrm>
            <a:custGeom>
              <a:avLst/>
              <a:gdLst/>
              <a:ahLst/>
              <a:cxnLst/>
              <a:rect l="l" t="t" r="r" b="b"/>
              <a:pathLst>
                <a:path w="9525" h="4271963">
                  <a:moveTo>
                    <a:pt x="0" y="0"/>
                  </a:moveTo>
                  <a:lnTo>
                    <a:pt x="0" y="4271963"/>
                  </a:lnTo>
                </a:path>
              </a:pathLst>
            </a:custGeom>
            <a:noFill/>
            <a:ln w="9525">
              <a:solidFill>
                <a:srgbClr val="0070F3">
                  <a:alpha val="14000"/>
                </a:srgbClr>
              </a:solidFill>
            </a:ln>
          </p:spPr>
        </p:sp>
        <p:sp>
          <p:nvSpPr>
            <p:cNvPr id="43" name="TextBox 43"/>
            <p:cNvSpPr txBox="1"/>
            <p:nvPr/>
          </p:nvSpPr>
          <p:spPr>
            <a:xfrm>
              <a:off x="416242" y="2049304"/>
              <a:ext cx="2903000" cy="148141"/>
            </a:xfrm>
            <a:prstGeom prst="rect">
              <a:avLst/>
            </a:prstGeom>
            <a:noFill/>
            <a:ln>
              <a:noFill/>
            </a:ln>
          </p:spPr>
          <p:txBody>
            <a:bodyPr wrap="squar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全球 AI及生成式 AI投资额趋势（2020-2025</a:t>
              </a:r>
              <a:endParaRPr lang="zh-CN" sz="975" b="1" dirty="0">
                <a:solidFill>
                  <a:srgbClr val="0A0A0A"/>
                </a:solidFill>
                <a:latin typeface="Arial" panose="020B0604020202090204"/>
                <a:ea typeface="微软雅黑"/>
                <a:cs typeface="Arial" panose="020B0604020202090204"/>
              </a:endParaRPr>
            </a:p>
          </p:txBody>
        </p:sp>
        <p:sp>
          <p:nvSpPr>
            <p:cNvPr id="44" name="TextBox 44"/>
            <p:cNvSpPr txBox="1"/>
            <p:nvPr/>
          </p:nvSpPr>
          <p:spPr>
            <a:xfrm>
              <a:off x="416242" y="2204085"/>
              <a:ext cx="174284" cy="148141"/>
            </a:xfrm>
            <a:prstGeom prst="rect">
              <a:avLst/>
            </a:prstGeom>
            <a:noFill/>
            <a:ln>
              <a:noFill/>
            </a:ln>
          </p:spPr>
          <p:txBody>
            <a:bodyPr wrap="squar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a:t>
              </a:r>
              <a:endParaRPr lang="zh-CN" sz="975" b="1" dirty="0">
                <a:solidFill>
                  <a:srgbClr val="0A0A0A"/>
                </a:solidFill>
                <a:latin typeface="Arial" panose="020B0604020202090204"/>
                <a:ea typeface="微软雅黑"/>
                <a:cs typeface="Arial" panose="020B0604020202090204"/>
              </a:endParaRPr>
            </a:p>
          </p:txBody>
        </p:sp>
        <p:sp>
          <p:nvSpPr>
            <p:cNvPr id="45" name="TextBox 45"/>
            <p:cNvSpPr txBox="1"/>
            <p:nvPr/>
          </p:nvSpPr>
          <p:spPr>
            <a:xfrm>
              <a:off x="419100" y="2240280"/>
              <a:ext cx="1475899" cy="113138"/>
            </a:xfrm>
            <a:prstGeom prst="rect">
              <a:avLst/>
            </a:prstGeom>
            <a:noFill/>
            <a:ln>
              <a:noFill/>
            </a:ln>
          </p:spPr>
          <p:txBody>
            <a:bodyPr wrap="square" lIns="0" tIns="0" rIns="0" bIns="0" anchor="t" anchorCtr="0">
              <a:spAutoFit/>
            </a:bodyPr>
            <a:lstStyle/>
            <a:p>
              <a:pPr algn="l"/>
              <a:r>
                <a:rPr lang="zh-CN" sz="750" dirty="0">
                  <a:solidFill>
                    <a:srgbClr val="64748B"/>
                  </a:solidFill>
                  <a:latin typeface="Arial" panose="020B0604020202090204"/>
                  <a:ea typeface="微软雅黑"/>
                  <a:cs typeface="Arial" panose="020B0604020202090204"/>
                </a:rPr>
                <a:t>单位：十亿美元|标注关键节点</a:t>
              </a:r>
              <a:endParaRPr lang="zh-CN" sz="750" dirty="0">
                <a:solidFill>
                  <a:srgbClr val="64748B"/>
                </a:solidFill>
                <a:latin typeface="Arial" panose="020B0604020202090204"/>
                <a:ea typeface="微软雅黑"/>
                <a:cs typeface="Arial" panose="020B0604020202090204"/>
              </a:endParaRPr>
            </a:p>
          </p:txBody>
        </p:sp>
        <p:sp>
          <p:nvSpPr>
            <p:cNvPr id="46" name="TextBox 46"/>
            <p:cNvSpPr txBox="1"/>
            <p:nvPr/>
          </p:nvSpPr>
          <p:spPr>
            <a:xfrm>
              <a:off x="4867370" y="2045018"/>
              <a:ext cx="424339" cy="113138"/>
            </a:xfrm>
            <a:prstGeom prst="rect">
              <a:avLst/>
            </a:prstGeom>
            <a:noFill/>
            <a:ln>
              <a:noFill/>
            </a:ln>
          </p:spPr>
          <p:txBody>
            <a:bodyPr wrap="square" lIns="0" tIns="0" rIns="0" bIns="0" anchor="t" anchorCtr="0">
              <a:spAutoFit/>
            </a:bodyPr>
            <a:lstStyle/>
            <a:p>
              <a:pPr algn="l"/>
              <a:r>
                <a:rPr lang="zh-CN" sz="750" dirty="0">
                  <a:solidFill>
                    <a:srgbClr val="0070F3"/>
                  </a:solidFill>
                  <a:latin typeface="Arial" panose="020B0604020202090204"/>
                  <a:ea typeface="微软雅黑"/>
                  <a:cs typeface="Arial" panose="020B0604020202090204"/>
                </a:rPr>
                <a:t>● AI总投</a:t>
              </a:r>
              <a:endParaRPr lang="zh-CN" sz="750" dirty="0">
                <a:solidFill>
                  <a:srgbClr val="0070F3"/>
                </a:solidFill>
                <a:latin typeface="Arial" panose="020B0604020202090204"/>
                <a:ea typeface="微软雅黑"/>
                <a:cs typeface="Arial" panose="020B0604020202090204"/>
              </a:endParaRPr>
            </a:p>
          </p:txBody>
        </p:sp>
        <p:sp>
          <p:nvSpPr>
            <p:cNvPr id="47" name="TextBox 47"/>
            <p:cNvSpPr txBox="1"/>
            <p:nvPr/>
          </p:nvSpPr>
          <p:spPr>
            <a:xfrm>
              <a:off x="4867370" y="2164080"/>
              <a:ext cx="128588" cy="113138"/>
            </a:xfrm>
            <a:prstGeom prst="rect">
              <a:avLst/>
            </a:prstGeom>
            <a:noFill/>
            <a:ln>
              <a:noFill/>
            </a:ln>
          </p:spPr>
          <p:txBody>
            <a:bodyPr wrap="square" lIns="0" tIns="0" rIns="0" bIns="0" anchor="t" anchorCtr="0">
              <a:spAutoFit/>
            </a:bodyPr>
            <a:lstStyle/>
            <a:p>
              <a:pPr algn="l"/>
              <a:r>
                <a:rPr lang="zh-CN" sz="750" dirty="0">
                  <a:solidFill>
                    <a:srgbClr val="0070F3"/>
                  </a:solidFill>
                  <a:latin typeface="Arial" panose="020B0604020202090204"/>
                  <a:ea typeface="微软雅黑"/>
                  <a:cs typeface="Arial" panose="020B0604020202090204"/>
                </a:rPr>
                <a:t>资</a:t>
              </a:r>
              <a:endParaRPr lang="zh-CN" sz="750" dirty="0">
                <a:solidFill>
                  <a:srgbClr val="0070F3"/>
                </a:solidFill>
                <a:latin typeface="Arial" panose="020B0604020202090204"/>
                <a:ea typeface="微软雅黑"/>
                <a:cs typeface="Arial" panose="020B0604020202090204"/>
              </a:endParaRPr>
            </a:p>
          </p:txBody>
        </p:sp>
        <p:sp>
          <p:nvSpPr>
            <p:cNvPr id="48" name="TextBox 48"/>
            <p:cNvSpPr txBox="1"/>
            <p:nvPr/>
          </p:nvSpPr>
          <p:spPr>
            <a:xfrm>
              <a:off x="5398103" y="2045018"/>
              <a:ext cx="533876" cy="113138"/>
            </a:xfrm>
            <a:prstGeom prst="rect">
              <a:avLst/>
            </a:prstGeom>
            <a:noFill/>
            <a:ln>
              <a:noFill/>
            </a:ln>
          </p:spPr>
          <p:txBody>
            <a:bodyPr wrap="square" lIns="0" tIns="0" rIns="0" bIns="0" anchor="t" anchorCtr="0">
              <a:spAutoFit/>
            </a:bodyPr>
            <a:lstStyle/>
            <a:p>
              <a:pPr algn="l"/>
              <a:r>
                <a:rPr lang="zh-CN" sz="750" dirty="0">
                  <a:solidFill>
                    <a:srgbClr val="D4AF37"/>
                  </a:solidFill>
                  <a:latin typeface="Arial" panose="020B0604020202090204"/>
                  <a:ea typeface="微软雅黑"/>
                  <a:cs typeface="Arial" panose="020B0604020202090204"/>
                </a:rPr>
                <a:t>●生成式 AI</a:t>
              </a:r>
              <a:endParaRPr lang="zh-CN" sz="750" dirty="0">
                <a:solidFill>
                  <a:srgbClr val="D4AF37"/>
                </a:solidFill>
                <a:latin typeface="Arial" panose="020B0604020202090204"/>
                <a:ea typeface="微软雅黑"/>
                <a:cs typeface="Arial" panose="020B0604020202090204"/>
              </a:endParaRPr>
            </a:p>
          </p:txBody>
        </p:sp>
        <p:grpSp>
          <p:nvGrpSpPr>
            <p:cNvPr id="83" name="Group 83"/>
            <p:cNvGrpSpPr/>
            <p:nvPr/>
          </p:nvGrpSpPr>
          <p:grpSpPr>
            <a:xfrm>
              <a:off x="422322" y="2030713"/>
              <a:ext cx="5445078" cy="4011857"/>
              <a:chOff x="422322" y="2030713"/>
              <a:chExt cx="5445078" cy="4011857"/>
            </a:xfrm>
          </p:grpSpPr>
          <p:sp>
            <p:nvSpPr>
              <p:cNvPr id="49" name="Rectangle 49"/>
              <p:cNvSpPr/>
              <p:nvPr/>
            </p:nvSpPr>
            <p:spPr>
              <a:xfrm>
                <a:off x="428625" y="2435542"/>
                <a:ext cx="5438775" cy="3581400"/>
              </a:xfrm>
              <a:prstGeom prst="rect">
                <a:avLst/>
              </a:prstGeom>
              <a:noFill/>
              <a:ln>
                <a:noFill/>
              </a:ln>
            </p:spPr>
          </p:sp>
          <p:grpSp>
            <p:nvGrpSpPr>
              <p:cNvPr id="82" name="Group 82"/>
              <p:cNvGrpSpPr/>
              <p:nvPr/>
            </p:nvGrpSpPr>
            <p:grpSpPr>
              <a:xfrm>
                <a:off x="422322" y="2030713"/>
                <a:ext cx="5254578" cy="4011857"/>
                <a:chOff x="422322" y="2030713"/>
                <a:chExt cx="5254578" cy="4011857"/>
              </a:xfrm>
            </p:grpSpPr>
            <p:sp>
              <p:nvSpPr>
                <p:cNvPr id="50" name="Freeform 50"/>
                <p:cNvSpPr/>
                <p:nvPr/>
              </p:nvSpPr>
              <p:spPr>
                <a:xfrm>
                  <a:off x="885825" y="57550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51" name="Freeform 51"/>
                <p:cNvSpPr/>
                <p:nvPr/>
              </p:nvSpPr>
              <p:spPr>
                <a:xfrm>
                  <a:off x="885825" y="5212080"/>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52" name="Freeform 52"/>
                <p:cNvSpPr/>
                <p:nvPr/>
              </p:nvSpPr>
              <p:spPr>
                <a:xfrm>
                  <a:off x="885825" y="466915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53" name="Freeform 53"/>
                <p:cNvSpPr/>
                <p:nvPr/>
              </p:nvSpPr>
              <p:spPr>
                <a:xfrm>
                  <a:off x="885825" y="413575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54" name="Freeform 54"/>
                <p:cNvSpPr/>
                <p:nvPr/>
              </p:nvSpPr>
              <p:spPr>
                <a:xfrm>
                  <a:off x="885825" y="3592830"/>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55" name="Freeform 55"/>
                <p:cNvSpPr/>
                <p:nvPr/>
              </p:nvSpPr>
              <p:spPr>
                <a:xfrm>
                  <a:off x="885825" y="30499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56" name="Freeform 56"/>
                <p:cNvSpPr/>
                <p:nvPr/>
              </p:nvSpPr>
              <p:spPr>
                <a:xfrm>
                  <a:off x="885825" y="25165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57" name="TextBox 57"/>
                <p:cNvSpPr txBox="1"/>
                <p:nvPr/>
              </p:nvSpPr>
              <p:spPr>
                <a:xfrm>
                  <a:off x="657225" y="2240280"/>
                  <a:ext cx="457200" cy="113138"/>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十亿美元</a:t>
                  </a:r>
                  <a:endParaRPr lang="zh-CN" sz="750" dirty="0">
                    <a:solidFill>
                      <a:srgbClr val="64748B"/>
                    </a:solidFill>
                    <a:latin typeface="Segoe UI"/>
                    <a:ea typeface="微软雅黑"/>
                    <a:cs typeface="Segoe UI"/>
                  </a:endParaRPr>
                </a:p>
              </p:txBody>
            </p:sp>
            <p:sp>
              <p:nvSpPr>
                <p:cNvPr id="58" name="Freeform 58"/>
                <p:cNvSpPr/>
                <p:nvPr/>
              </p:nvSpPr>
              <p:spPr>
                <a:xfrm>
                  <a:off x="885825" y="5755005"/>
                  <a:ext cx="4791075" cy="9525"/>
                </a:xfrm>
                <a:custGeom>
                  <a:avLst/>
                  <a:gdLst/>
                  <a:ahLst/>
                  <a:cxnLst/>
                  <a:rect l="l" t="t" r="r" b="b"/>
                  <a:pathLst>
                    <a:path w="4791075" h="9525">
                      <a:moveTo>
                        <a:pt x="0" y="0"/>
                      </a:moveTo>
                      <a:lnTo>
                        <a:pt x="4791075" y="0"/>
                      </a:lnTo>
                    </a:path>
                  </a:pathLst>
                </a:custGeom>
                <a:noFill/>
                <a:ln w="9525" cap="rnd">
                  <a:solidFill>
                    <a:srgbClr val="E2E8F0"/>
                  </a:solidFill>
                </a:ln>
              </p:spPr>
            </p:sp>
            <p:sp>
              <p:nvSpPr>
                <p:cNvPr id="59" name="TextBox 59"/>
                <p:cNvSpPr txBox="1"/>
                <p:nvPr/>
              </p:nvSpPr>
              <p:spPr>
                <a:xfrm>
                  <a:off x="739854" y="5669280"/>
                  <a:ext cx="79296"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0</a:t>
                  </a:r>
                  <a:endParaRPr lang="zh-CN" sz="750" dirty="0">
                    <a:solidFill>
                      <a:srgbClr val="64748B"/>
                    </a:solidFill>
                    <a:latin typeface="Segoe UI"/>
                    <a:ea typeface="微软雅黑"/>
                    <a:cs typeface="Segoe UI"/>
                  </a:endParaRPr>
                </a:p>
              </p:txBody>
            </p:sp>
            <p:sp>
              <p:nvSpPr>
                <p:cNvPr id="60" name="TextBox 60"/>
                <p:cNvSpPr txBox="1"/>
                <p:nvPr/>
              </p:nvSpPr>
              <p:spPr>
                <a:xfrm>
                  <a:off x="679609" y="5129530"/>
                  <a:ext cx="139541"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20</a:t>
                  </a:r>
                  <a:endParaRPr lang="zh-CN" sz="750" dirty="0">
                    <a:solidFill>
                      <a:srgbClr val="64748B"/>
                    </a:solidFill>
                    <a:latin typeface="Segoe UI"/>
                    <a:ea typeface="微软雅黑"/>
                    <a:cs typeface="Segoe UI"/>
                  </a:endParaRPr>
                </a:p>
              </p:txBody>
            </p:sp>
            <p:sp>
              <p:nvSpPr>
                <p:cNvPr id="61" name="TextBox 61"/>
                <p:cNvSpPr txBox="1"/>
                <p:nvPr/>
              </p:nvSpPr>
              <p:spPr>
                <a:xfrm>
                  <a:off x="679609" y="4589780"/>
                  <a:ext cx="139541"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40</a:t>
                  </a:r>
                  <a:endParaRPr lang="zh-CN" sz="750" dirty="0">
                    <a:solidFill>
                      <a:srgbClr val="64748B"/>
                    </a:solidFill>
                    <a:latin typeface="Segoe UI"/>
                    <a:ea typeface="微软雅黑"/>
                    <a:cs typeface="Segoe UI"/>
                  </a:endParaRPr>
                </a:p>
              </p:txBody>
            </p:sp>
            <p:sp>
              <p:nvSpPr>
                <p:cNvPr id="62" name="TextBox 62"/>
                <p:cNvSpPr txBox="1"/>
                <p:nvPr/>
              </p:nvSpPr>
              <p:spPr>
                <a:xfrm>
                  <a:off x="679609" y="4050030"/>
                  <a:ext cx="139541"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60</a:t>
                  </a:r>
                  <a:endParaRPr lang="zh-CN" sz="750" dirty="0">
                    <a:solidFill>
                      <a:srgbClr val="64748B"/>
                    </a:solidFill>
                    <a:latin typeface="Segoe UI"/>
                    <a:ea typeface="微软雅黑"/>
                    <a:cs typeface="Segoe UI"/>
                  </a:endParaRPr>
                </a:p>
              </p:txBody>
            </p:sp>
            <p:sp>
              <p:nvSpPr>
                <p:cNvPr id="63" name="TextBox 63"/>
                <p:cNvSpPr txBox="1"/>
                <p:nvPr/>
              </p:nvSpPr>
              <p:spPr>
                <a:xfrm>
                  <a:off x="679609" y="3510280"/>
                  <a:ext cx="139541"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80</a:t>
                  </a:r>
                  <a:endParaRPr lang="zh-CN" sz="750" dirty="0">
                    <a:solidFill>
                      <a:srgbClr val="64748B"/>
                    </a:solidFill>
                    <a:latin typeface="Segoe UI"/>
                    <a:ea typeface="微软雅黑"/>
                    <a:cs typeface="Segoe UI"/>
                  </a:endParaRPr>
                </a:p>
              </p:txBody>
            </p:sp>
            <p:sp>
              <p:nvSpPr>
                <p:cNvPr id="64" name="TextBox 64"/>
                <p:cNvSpPr txBox="1"/>
                <p:nvPr/>
              </p:nvSpPr>
              <p:spPr>
                <a:xfrm>
                  <a:off x="646748" y="2970530"/>
                  <a:ext cx="172402" cy="226900"/>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100</a:t>
                  </a:r>
                  <a:endParaRPr lang="zh-CN" sz="750" dirty="0">
                    <a:solidFill>
                      <a:srgbClr val="64748B"/>
                    </a:solidFill>
                    <a:latin typeface="Segoe UI"/>
                    <a:ea typeface="微软雅黑"/>
                    <a:cs typeface="Segoe UI"/>
                  </a:endParaRPr>
                </a:p>
              </p:txBody>
            </p:sp>
            <p:sp>
              <p:nvSpPr>
                <p:cNvPr id="65" name="TextBox 65"/>
                <p:cNvSpPr txBox="1"/>
                <p:nvPr/>
              </p:nvSpPr>
              <p:spPr>
                <a:xfrm>
                  <a:off x="646748" y="2430780"/>
                  <a:ext cx="172402" cy="226900"/>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120</a:t>
                  </a:r>
                  <a:endParaRPr lang="zh-CN" sz="750" dirty="0">
                    <a:solidFill>
                      <a:srgbClr val="64748B"/>
                    </a:solidFill>
                    <a:latin typeface="Segoe UI"/>
                    <a:ea typeface="微软雅黑"/>
                    <a:cs typeface="Segoe UI"/>
                  </a:endParaRPr>
                </a:p>
              </p:txBody>
            </p:sp>
            <p:sp>
              <p:nvSpPr>
                <p:cNvPr id="66" name="TextBox 66"/>
                <p:cNvSpPr txBox="1"/>
                <p:nvPr/>
              </p:nvSpPr>
              <p:spPr>
                <a:xfrm>
                  <a:off x="1155065" y="5793105"/>
                  <a:ext cx="260032" cy="113138"/>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2020</a:t>
                  </a:r>
                  <a:endParaRPr lang="zh-CN" sz="750" dirty="0">
                    <a:solidFill>
                      <a:srgbClr val="64748B"/>
                    </a:solidFill>
                    <a:latin typeface="Segoe UI"/>
                    <a:ea typeface="微软雅黑"/>
                    <a:cs typeface="Segoe UI"/>
                  </a:endParaRPr>
                </a:p>
              </p:txBody>
            </p:sp>
            <p:sp>
              <p:nvSpPr>
                <p:cNvPr id="67" name="TextBox 67"/>
                <p:cNvSpPr txBox="1"/>
                <p:nvPr/>
              </p:nvSpPr>
              <p:spPr>
                <a:xfrm>
                  <a:off x="1967270" y="5797352"/>
                  <a:ext cx="232648" cy="227156"/>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2021</a:t>
                  </a:r>
                  <a:endParaRPr lang="zh-CN" sz="750" dirty="0">
                    <a:solidFill>
                      <a:srgbClr val="64748B"/>
                    </a:solidFill>
                    <a:latin typeface="Segoe UI"/>
                    <a:ea typeface="微软雅黑"/>
                    <a:cs typeface="Segoe UI"/>
                  </a:endParaRPr>
                </a:p>
              </p:txBody>
            </p:sp>
            <p:sp>
              <p:nvSpPr>
                <p:cNvPr id="68" name="TextBox 68"/>
                <p:cNvSpPr txBox="1"/>
                <p:nvPr/>
              </p:nvSpPr>
              <p:spPr>
                <a:xfrm>
                  <a:off x="2752090" y="5912294"/>
                  <a:ext cx="260032" cy="116722"/>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2022</a:t>
                  </a:r>
                  <a:endParaRPr lang="zh-CN" sz="750" dirty="0">
                    <a:solidFill>
                      <a:srgbClr val="64748B"/>
                    </a:solidFill>
                    <a:latin typeface="Segoe UI"/>
                    <a:ea typeface="微软雅黑"/>
                    <a:cs typeface="Segoe UI"/>
                  </a:endParaRPr>
                </a:p>
              </p:txBody>
            </p:sp>
            <p:sp>
              <p:nvSpPr>
                <p:cNvPr id="69" name="TextBox 69"/>
                <p:cNvSpPr txBox="1"/>
                <p:nvPr/>
              </p:nvSpPr>
              <p:spPr>
                <a:xfrm>
                  <a:off x="3550603" y="5916676"/>
                  <a:ext cx="260032" cy="116853"/>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2023</a:t>
                  </a:r>
                  <a:endParaRPr lang="zh-CN" sz="750" dirty="0">
                    <a:solidFill>
                      <a:srgbClr val="64748B"/>
                    </a:solidFill>
                    <a:latin typeface="Segoe UI"/>
                    <a:ea typeface="微软雅黑"/>
                    <a:cs typeface="Segoe UI"/>
                  </a:endParaRPr>
                </a:p>
              </p:txBody>
            </p:sp>
            <p:sp>
              <p:nvSpPr>
                <p:cNvPr id="70" name="TextBox 70"/>
                <p:cNvSpPr txBox="1"/>
                <p:nvPr/>
              </p:nvSpPr>
              <p:spPr>
                <a:xfrm>
                  <a:off x="4349115" y="5921062"/>
                  <a:ext cx="260032" cy="116985"/>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2024</a:t>
                  </a:r>
                  <a:endParaRPr lang="zh-CN" sz="750" dirty="0">
                    <a:solidFill>
                      <a:srgbClr val="64748B"/>
                    </a:solidFill>
                    <a:latin typeface="Segoe UI"/>
                    <a:ea typeface="微软雅黑"/>
                    <a:cs typeface="Segoe UI"/>
                  </a:endParaRPr>
                </a:p>
              </p:txBody>
            </p:sp>
            <p:sp>
              <p:nvSpPr>
                <p:cNvPr id="71" name="TextBox 71"/>
                <p:cNvSpPr txBox="1"/>
                <p:nvPr/>
              </p:nvSpPr>
              <p:spPr>
                <a:xfrm>
                  <a:off x="5147627" y="5925453"/>
                  <a:ext cx="260032" cy="117117"/>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2025</a:t>
                  </a:r>
                  <a:endParaRPr lang="zh-CN" sz="750" dirty="0">
                    <a:solidFill>
                      <a:srgbClr val="64748B"/>
                    </a:solidFill>
                    <a:latin typeface="Segoe UI"/>
                    <a:ea typeface="微软雅黑"/>
                    <a:cs typeface="Segoe UI"/>
                  </a:endParaRPr>
                </a:p>
              </p:txBody>
            </p:sp>
            <p:sp>
              <p:nvSpPr>
                <p:cNvPr id="72" name="Freeform 72"/>
                <p:cNvSpPr/>
                <p:nvPr/>
              </p:nvSpPr>
              <p:spPr>
                <a:xfrm>
                  <a:off x="1285304" y="2395474"/>
                  <a:ext cx="3992323" cy="3354968"/>
                </a:xfrm>
                <a:custGeom>
                  <a:avLst/>
                  <a:gdLst/>
                  <a:ahLst/>
                  <a:cxnLst/>
                  <a:rect l="l" t="t" r="r" b="b"/>
                  <a:pathLst>
                    <a:path w="3992562" h="7286625">
                      <a:moveTo>
                        <a:pt x="0" y="5937250"/>
                      </a:moveTo>
                      <a:cubicBezTo>
                        <a:pt x="0" y="5937250"/>
                        <a:pt x="450966" y="5854195"/>
                        <a:pt x="798512" y="5613400"/>
                      </a:cubicBezTo>
                      <a:cubicBezTo>
                        <a:pt x="1249478" y="5300951"/>
                        <a:pt x="1187683" y="5211214"/>
                        <a:pt x="1597024" y="4830763"/>
                      </a:cubicBezTo>
                      <a:cubicBezTo>
                        <a:pt x="1986195" y="4469059"/>
                        <a:pt x="2106960" y="4563102"/>
                        <a:pt x="2395538" y="4129088"/>
                      </a:cubicBezTo>
                      <a:cubicBezTo>
                        <a:pt x="2905472" y="3362157"/>
                        <a:pt x="2855862" y="3303256"/>
                        <a:pt x="3194050" y="2428875"/>
                      </a:cubicBezTo>
                      <a:cubicBezTo>
                        <a:pt x="3654374" y="1238712"/>
                        <a:pt x="3992562" y="0"/>
                        <a:pt x="3992562" y="0"/>
                      </a:cubicBezTo>
                      <a:lnTo>
                        <a:pt x="3992562" y="7286625"/>
                      </a:lnTo>
                      <a:lnTo>
                        <a:pt x="3194050" y="7286625"/>
                      </a:lnTo>
                      <a:lnTo>
                        <a:pt x="2395538" y="7286625"/>
                      </a:lnTo>
                      <a:lnTo>
                        <a:pt x="1597024" y="7286625"/>
                      </a:lnTo>
                      <a:lnTo>
                        <a:pt x="798512" y="7286625"/>
                      </a:lnTo>
                      <a:lnTo>
                        <a:pt x="0" y="7286625"/>
                      </a:lnTo>
                      <a:close/>
                    </a:path>
                  </a:pathLst>
                </a:custGeom>
                <a:solidFill>
                  <a:srgbClr val="0070F3">
                    <a:alpha val="5599"/>
                  </a:srgbClr>
                </a:solidFill>
                <a:ln>
                  <a:noFill/>
                </a:ln>
              </p:spPr>
            </p:sp>
            <p:sp>
              <p:nvSpPr>
                <p:cNvPr id="73" name="Freeform 73"/>
                <p:cNvSpPr/>
                <p:nvPr/>
              </p:nvSpPr>
              <p:spPr>
                <a:xfrm>
                  <a:off x="1285304" y="2083348"/>
                  <a:ext cx="3992323" cy="3666848"/>
                </a:xfrm>
                <a:custGeom>
                  <a:avLst/>
                  <a:gdLst/>
                  <a:ahLst/>
                  <a:cxnLst/>
                  <a:rect l="l" t="t" r="r" b="b"/>
                  <a:pathLst>
                    <a:path w="3992562" h="5667375">
                      <a:moveTo>
                        <a:pt x="0" y="5559425"/>
                      </a:moveTo>
                      <a:cubicBezTo>
                        <a:pt x="0" y="5559425"/>
                        <a:pt x="402257" y="5538727"/>
                        <a:pt x="798512" y="5478463"/>
                      </a:cubicBezTo>
                      <a:cubicBezTo>
                        <a:pt x="1200770" y="5417284"/>
                        <a:pt x="1388278" y="5478463"/>
                        <a:pt x="1597024" y="5316538"/>
                      </a:cubicBezTo>
                      <a:cubicBezTo>
                        <a:pt x="2186790" y="4859055"/>
                        <a:pt x="1911918" y="4195444"/>
                        <a:pt x="2395538" y="3157538"/>
                      </a:cubicBezTo>
                      <a:cubicBezTo>
                        <a:pt x="2710430" y="2481738"/>
                        <a:pt x="2856892" y="2555731"/>
                        <a:pt x="3194050" y="1889125"/>
                      </a:cubicBezTo>
                      <a:cubicBezTo>
                        <a:pt x="3655405" y="976962"/>
                        <a:pt x="3992562" y="0"/>
                        <a:pt x="3992562" y="0"/>
                      </a:cubicBezTo>
                      <a:lnTo>
                        <a:pt x="3992562" y="5667375"/>
                      </a:lnTo>
                      <a:lnTo>
                        <a:pt x="3194050" y="5667375"/>
                      </a:lnTo>
                      <a:lnTo>
                        <a:pt x="2395538" y="5667375"/>
                      </a:lnTo>
                      <a:lnTo>
                        <a:pt x="1597024" y="5667375"/>
                      </a:lnTo>
                      <a:lnTo>
                        <a:pt x="798512" y="5667375"/>
                      </a:lnTo>
                      <a:lnTo>
                        <a:pt x="0" y="5667375"/>
                      </a:lnTo>
                      <a:close/>
                    </a:path>
                  </a:pathLst>
                </a:custGeom>
                <a:solidFill>
                  <a:srgbClr val="D4AF37">
                    <a:alpha val="5599"/>
                  </a:srgbClr>
                </a:solidFill>
                <a:ln>
                  <a:noFill/>
                </a:ln>
              </p:spPr>
              <p:txBody>
                <a:bodyPr/>
                <a:p>
                  <a:endParaRPr lang="zh-CN" altLang="en-US"/>
                </a:p>
              </p:txBody>
            </p:sp>
            <p:sp>
              <p:nvSpPr>
                <p:cNvPr id="74" name="Freeform 74"/>
                <p:cNvSpPr/>
                <p:nvPr/>
              </p:nvSpPr>
              <p:spPr>
                <a:xfrm>
                  <a:off x="1285304" y="2030713"/>
                  <a:ext cx="3992323" cy="3612765"/>
                </a:xfrm>
                <a:custGeom>
                  <a:avLst/>
                  <a:gdLst/>
                  <a:ahLst/>
                  <a:cxnLst/>
                  <a:rect l="l" t="t" r="r" b="b"/>
                  <a:pathLst>
                    <a:path w="3992562" h="5937250">
                      <a:moveTo>
                        <a:pt x="0" y="5937250"/>
                      </a:moveTo>
                      <a:cubicBezTo>
                        <a:pt x="0" y="5937250"/>
                        <a:pt x="450966" y="5854195"/>
                        <a:pt x="798512" y="5613400"/>
                      </a:cubicBezTo>
                      <a:cubicBezTo>
                        <a:pt x="1249478" y="5300951"/>
                        <a:pt x="1187683" y="5211214"/>
                        <a:pt x="1597024" y="4830763"/>
                      </a:cubicBezTo>
                      <a:cubicBezTo>
                        <a:pt x="1986195" y="4469059"/>
                        <a:pt x="2106960" y="4563102"/>
                        <a:pt x="2395538" y="4129088"/>
                      </a:cubicBezTo>
                      <a:cubicBezTo>
                        <a:pt x="2905472" y="3362157"/>
                        <a:pt x="2855862" y="3303256"/>
                        <a:pt x="3194050" y="2428875"/>
                      </a:cubicBezTo>
                      <a:cubicBezTo>
                        <a:pt x="3654374" y="1238712"/>
                        <a:pt x="3992562" y="0"/>
                        <a:pt x="3992562" y="0"/>
                      </a:cubicBezTo>
                    </a:path>
                  </a:pathLst>
                </a:custGeom>
                <a:noFill/>
                <a:ln w="23812">
                  <a:solidFill>
                    <a:srgbClr val="0070F3"/>
                  </a:solidFill>
                  <a:bevel/>
                </a:ln>
              </p:spPr>
              <p:txBody>
                <a:bodyPr/>
                <a:p>
                  <a:endParaRPr lang="zh-CN" altLang="en-US"/>
                </a:p>
              </p:txBody>
            </p:sp>
            <p:sp>
              <p:nvSpPr>
                <p:cNvPr id="75" name="Freeform 75"/>
                <p:cNvSpPr/>
                <p:nvPr/>
              </p:nvSpPr>
              <p:spPr>
                <a:xfrm>
                  <a:off x="1285304" y="2516015"/>
                  <a:ext cx="3992323" cy="3126015"/>
                </a:xfrm>
                <a:custGeom>
                  <a:avLst/>
                  <a:gdLst/>
                  <a:ahLst/>
                  <a:cxnLst/>
                  <a:rect l="l" t="t" r="r" b="b"/>
                  <a:pathLst>
                    <a:path w="3992562" h="5559425">
                      <a:moveTo>
                        <a:pt x="0" y="5559425"/>
                      </a:moveTo>
                      <a:cubicBezTo>
                        <a:pt x="0" y="5559425"/>
                        <a:pt x="402257" y="5538727"/>
                        <a:pt x="798512" y="5478463"/>
                      </a:cubicBezTo>
                      <a:cubicBezTo>
                        <a:pt x="1200770" y="5417284"/>
                        <a:pt x="1388278" y="5478463"/>
                        <a:pt x="1597024" y="5316538"/>
                      </a:cubicBezTo>
                      <a:cubicBezTo>
                        <a:pt x="2186790" y="4859055"/>
                        <a:pt x="1911918" y="4195444"/>
                        <a:pt x="2395538" y="3157538"/>
                      </a:cubicBezTo>
                      <a:cubicBezTo>
                        <a:pt x="2710430" y="2481738"/>
                        <a:pt x="2856892" y="2555731"/>
                        <a:pt x="3194050" y="1889125"/>
                      </a:cubicBezTo>
                      <a:cubicBezTo>
                        <a:pt x="3655405" y="976962"/>
                        <a:pt x="3992562" y="0"/>
                        <a:pt x="3992562" y="0"/>
                      </a:cubicBezTo>
                    </a:path>
                  </a:pathLst>
                </a:custGeom>
                <a:noFill/>
                <a:ln w="23812">
                  <a:solidFill>
                    <a:srgbClr val="D4AF37"/>
                  </a:solidFill>
                  <a:bevel/>
                </a:ln>
              </p:spPr>
            </p:sp>
            <p:sp>
              <p:nvSpPr>
                <p:cNvPr id="76" name="Ellipse 76"/>
                <p:cNvSpPr/>
                <p:nvPr/>
              </p:nvSpPr>
              <p:spPr>
                <a:xfrm>
                  <a:off x="1283719" y="4399505"/>
                  <a:ext cx="2724" cy="2724"/>
                </a:xfrm>
                <a:prstGeom prst="ellipse">
                  <a:avLst/>
                </a:prstGeom>
                <a:solidFill>
                  <a:srgbClr val="0070F3"/>
                </a:solidFill>
                <a:ln>
                  <a:noFill/>
                </a:ln>
              </p:spPr>
            </p:sp>
            <p:sp>
              <p:nvSpPr>
                <p:cNvPr id="77" name="Ellipse 77"/>
                <p:cNvSpPr/>
                <p:nvPr/>
              </p:nvSpPr>
              <p:spPr>
                <a:xfrm>
                  <a:off x="1283719" y="5640931"/>
                  <a:ext cx="2724" cy="2724"/>
                </a:xfrm>
                <a:prstGeom prst="ellipse">
                  <a:avLst/>
                </a:prstGeom>
                <a:solidFill>
                  <a:srgbClr val="D4AF37"/>
                </a:solidFill>
                <a:ln>
                  <a:noFill/>
                </a:ln>
              </p:spPr>
            </p:sp>
            <p:sp>
              <p:nvSpPr>
                <p:cNvPr id="78" name="Freeform 78"/>
                <p:cNvSpPr/>
                <p:nvPr/>
              </p:nvSpPr>
              <p:spPr>
                <a:xfrm>
                  <a:off x="422322" y="2418529"/>
                  <a:ext cx="12605" cy="17014"/>
                </a:xfrm>
                <a:custGeom>
                  <a:avLst/>
                  <a:gdLst/>
                  <a:ahLst/>
                  <a:cxnLst/>
                  <a:rect l="l" t="t" r="r" b="b"/>
                  <a:pathLst>
                    <a:path w="12605" h="17014">
                      <a:moveTo>
                        <a:pt x="1139" y="8578"/>
                      </a:moveTo>
                      <a:cubicBezTo>
                        <a:pt x="0" y="6176"/>
                        <a:pt x="667" y="3306"/>
                        <a:pt x="2748" y="1653"/>
                      </a:cubicBezTo>
                      <a:cubicBezTo>
                        <a:pt x="4830" y="0"/>
                        <a:pt x="7776" y="0"/>
                        <a:pt x="9857" y="1653"/>
                      </a:cubicBezTo>
                      <a:cubicBezTo>
                        <a:pt x="11939" y="3306"/>
                        <a:pt x="12605" y="6176"/>
                        <a:pt x="11466" y="8578"/>
                      </a:cubicBezTo>
                      <a:cubicBezTo>
                        <a:pt x="9996" y="11675"/>
                        <a:pt x="6303" y="13013"/>
                        <a:pt x="6303" y="17014"/>
                      </a:cubicBezTo>
                      <a:cubicBezTo>
                        <a:pt x="6303" y="13013"/>
                        <a:pt x="2609" y="11675"/>
                        <a:pt x="1139" y="8578"/>
                      </a:cubicBezTo>
                      <a:close/>
                    </a:path>
                  </a:pathLst>
                </a:custGeom>
                <a:solidFill>
                  <a:srgbClr val="0070F3"/>
                </a:solidFill>
                <a:ln>
                  <a:noFill/>
                </a:ln>
              </p:spPr>
            </p:sp>
            <p:sp>
              <p:nvSpPr>
                <p:cNvPr id="79" name="Freeform 79"/>
                <p:cNvSpPr/>
                <p:nvPr/>
              </p:nvSpPr>
              <p:spPr>
                <a:xfrm>
                  <a:off x="422322" y="2418529"/>
                  <a:ext cx="12605" cy="17014"/>
                </a:xfrm>
                <a:custGeom>
                  <a:avLst/>
                  <a:gdLst/>
                  <a:ahLst/>
                  <a:cxnLst/>
                  <a:rect l="l" t="t" r="r" b="b"/>
                  <a:pathLst>
                    <a:path w="12605" h="17014">
                      <a:moveTo>
                        <a:pt x="1139" y="8578"/>
                      </a:moveTo>
                      <a:cubicBezTo>
                        <a:pt x="0" y="6176"/>
                        <a:pt x="667" y="3306"/>
                        <a:pt x="2748" y="1653"/>
                      </a:cubicBezTo>
                      <a:cubicBezTo>
                        <a:pt x="4830" y="0"/>
                        <a:pt x="7776" y="0"/>
                        <a:pt x="9857" y="1653"/>
                      </a:cubicBezTo>
                      <a:cubicBezTo>
                        <a:pt x="11939" y="3306"/>
                        <a:pt x="12605" y="6176"/>
                        <a:pt x="11466" y="8578"/>
                      </a:cubicBezTo>
                      <a:cubicBezTo>
                        <a:pt x="9996" y="11675"/>
                        <a:pt x="6303" y="13013"/>
                        <a:pt x="6303" y="17014"/>
                      </a:cubicBezTo>
                      <a:cubicBezTo>
                        <a:pt x="6303" y="13013"/>
                        <a:pt x="2609" y="11675"/>
                        <a:pt x="1139" y="8578"/>
                      </a:cubicBezTo>
                      <a:close/>
                    </a:path>
                  </a:pathLst>
                </a:custGeom>
                <a:solidFill>
                  <a:srgbClr val="0070F3"/>
                </a:solidFill>
                <a:ln>
                  <a:noFill/>
                </a:ln>
              </p:spPr>
            </p:sp>
            <p:sp>
              <p:nvSpPr>
                <p:cNvPr id="80" name="TextBox 80"/>
                <p:cNvSpPr txBox="1"/>
                <p:nvPr/>
              </p:nvSpPr>
              <p:spPr>
                <a:xfrm>
                  <a:off x="2570758" y="3030793"/>
                  <a:ext cx="622696" cy="106237"/>
                </a:xfrm>
                <a:prstGeom prst="rect">
                  <a:avLst/>
                </a:prstGeom>
                <a:noFill/>
                <a:ln>
                  <a:noFill/>
                </a:ln>
              </p:spPr>
              <p:txBody>
                <a:bodyPr wrap="square" lIns="0" tIns="0" rIns="0" bIns="0" anchor="t" anchorCtr="0">
                  <a:spAutoFit/>
                </a:bodyPr>
                <a:lstStyle/>
                <a:p>
                  <a:pPr algn="ctr"/>
                  <a:r>
                    <a:rPr lang="zh-CN" sz="675" b="1" dirty="0">
                      <a:solidFill>
                        <a:srgbClr val="FFFFFF"/>
                      </a:solidFill>
                      <a:latin typeface="Segoe UI"/>
                      <a:ea typeface="微软雅黑"/>
                      <a:cs typeface="Segoe UI"/>
                    </a:rPr>
                    <a:t>ChatGPT发布</a:t>
                  </a:r>
                  <a:endParaRPr lang="zh-CN" sz="675" b="1" dirty="0">
                    <a:solidFill>
                      <a:srgbClr val="FFFFFF"/>
                    </a:solidFill>
                    <a:latin typeface="Segoe UI"/>
                    <a:ea typeface="微软雅黑"/>
                    <a:cs typeface="Segoe UI"/>
                  </a:endParaRPr>
                </a:p>
              </p:txBody>
            </p:sp>
            <p:sp>
              <p:nvSpPr>
                <p:cNvPr id="81" name="TextBox 81"/>
                <p:cNvSpPr txBox="1"/>
                <p:nvPr/>
              </p:nvSpPr>
              <p:spPr>
                <a:xfrm>
                  <a:off x="3568534" y="2307857"/>
                  <a:ext cx="224171" cy="106237"/>
                </a:xfrm>
                <a:prstGeom prst="rect">
                  <a:avLst/>
                </a:prstGeom>
                <a:noFill/>
                <a:ln>
                  <a:noFill/>
                </a:ln>
              </p:spPr>
              <p:txBody>
                <a:bodyPr wrap="square" lIns="0" tIns="0" rIns="0" bIns="0" anchor="t" anchorCtr="0">
                  <a:spAutoFit/>
                </a:bodyPr>
                <a:lstStyle/>
                <a:p>
                  <a:pPr algn="ctr"/>
                  <a:r>
                    <a:rPr lang="zh-CN" sz="675" b="1" dirty="0">
                      <a:solidFill>
                        <a:srgbClr val="FFFFFF"/>
                      </a:solidFill>
                      <a:latin typeface="Segoe UI"/>
                      <a:ea typeface="微软雅黑"/>
                      <a:cs typeface="Segoe UI"/>
                    </a:rPr>
                    <a:t>爆发</a:t>
                  </a:r>
                  <a:endParaRPr lang="zh-CN" sz="675" b="1" dirty="0">
                    <a:solidFill>
                      <a:srgbClr val="FFFFFF"/>
                    </a:solidFill>
                    <a:latin typeface="Segoe UI"/>
                    <a:ea typeface="微软雅黑"/>
                    <a:cs typeface="Segoe UI"/>
                  </a:endParaRPr>
                </a:p>
              </p:txBody>
            </p:sp>
          </p:grpSp>
        </p:grpSp>
        <p:sp>
          <p:nvSpPr>
            <p:cNvPr id="84" name="Rectangle 84"/>
            <p:cNvSpPr/>
            <p:nvPr/>
          </p:nvSpPr>
          <p:spPr>
            <a:xfrm>
              <a:off x="6162675" y="1887855"/>
              <a:ext cx="5762625" cy="4271962"/>
            </a:xfrm>
            <a:prstGeom prst="roundRect">
              <a:avLst>
                <a:gd name="adj" fmla="val 1784"/>
              </a:avLst>
            </a:prstGeom>
            <a:solidFill>
              <a:srgbClr val="FFFFFF">
                <a:alpha val="80000"/>
              </a:srgbClr>
            </a:solidFill>
            <a:ln>
              <a:noFill/>
            </a:ln>
          </p:spPr>
        </p:sp>
        <p:sp>
          <p:nvSpPr>
            <p:cNvPr id="85" name="Line 85"/>
            <p:cNvSpPr/>
            <p:nvPr/>
          </p:nvSpPr>
          <p:spPr>
            <a:xfrm>
              <a:off x="6162675" y="1887855"/>
              <a:ext cx="5762625" cy="9525"/>
            </a:xfrm>
            <a:custGeom>
              <a:avLst/>
              <a:gdLst/>
              <a:ahLst/>
              <a:cxnLst/>
              <a:rect l="l" t="t" r="r" b="b"/>
              <a:pathLst>
                <a:path w="5762625" h="9525">
                  <a:moveTo>
                    <a:pt x="0" y="0"/>
                  </a:moveTo>
                  <a:lnTo>
                    <a:pt x="5762625" y="0"/>
                  </a:lnTo>
                </a:path>
              </a:pathLst>
            </a:custGeom>
            <a:noFill/>
            <a:ln w="9525">
              <a:solidFill>
                <a:srgbClr val="0070F3">
                  <a:alpha val="14000"/>
                </a:srgbClr>
              </a:solidFill>
            </a:ln>
          </p:spPr>
        </p:sp>
        <p:sp>
          <p:nvSpPr>
            <p:cNvPr id="86" name="Line 86"/>
            <p:cNvSpPr/>
            <p:nvPr/>
          </p:nvSpPr>
          <p:spPr>
            <a:xfrm>
              <a:off x="11925300" y="1887855"/>
              <a:ext cx="9525" cy="4271963"/>
            </a:xfrm>
            <a:custGeom>
              <a:avLst/>
              <a:gdLst/>
              <a:ahLst/>
              <a:cxnLst/>
              <a:rect l="l" t="t" r="r" b="b"/>
              <a:pathLst>
                <a:path w="9525" h="4271963">
                  <a:moveTo>
                    <a:pt x="0" y="0"/>
                  </a:moveTo>
                  <a:lnTo>
                    <a:pt x="0" y="4271963"/>
                  </a:lnTo>
                </a:path>
              </a:pathLst>
            </a:custGeom>
            <a:noFill/>
            <a:ln w="9525">
              <a:solidFill>
                <a:srgbClr val="0070F3">
                  <a:alpha val="14000"/>
                </a:srgbClr>
              </a:solidFill>
            </a:ln>
          </p:spPr>
        </p:sp>
        <p:sp>
          <p:nvSpPr>
            <p:cNvPr id="87" name="Line 87"/>
            <p:cNvSpPr/>
            <p:nvPr/>
          </p:nvSpPr>
          <p:spPr>
            <a:xfrm>
              <a:off x="6162675" y="6159818"/>
              <a:ext cx="5762625" cy="9525"/>
            </a:xfrm>
            <a:custGeom>
              <a:avLst/>
              <a:gdLst/>
              <a:ahLst/>
              <a:cxnLst/>
              <a:rect l="l" t="t" r="r" b="b"/>
              <a:pathLst>
                <a:path w="5762625" h="9525">
                  <a:moveTo>
                    <a:pt x="0" y="0"/>
                  </a:moveTo>
                  <a:lnTo>
                    <a:pt x="5762625" y="0"/>
                  </a:lnTo>
                </a:path>
              </a:pathLst>
            </a:custGeom>
            <a:noFill/>
            <a:ln w="9525">
              <a:solidFill>
                <a:srgbClr val="0070F3">
                  <a:alpha val="14000"/>
                </a:srgbClr>
              </a:solidFill>
            </a:ln>
          </p:spPr>
        </p:sp>
        <p:sp>
          <p:nvSpPr>
            <p:cNvPr id="88" name="Line 88"/>
            <p:cNvSpPr/>
            <p:nvPr/>
          </p:nvSpPr>
          <p:spPr>
            <a:xfrm>
              <a:off x="6162675" y="1887855"/>
              <a:ext cx="9525" cy="4271963"/>
            </a:xfrm>
            <a:custGeom>
              <a:avLst/>
              <a:gdLst/>
              <a:ahLst/>
              <a:cxnLst/>
              <a:rect l="l" t="t" r="r" b="b"/>
              <a:pathLst>
                <a:path w="9525" h="4271963">
                  <a:moveTo>
                    <a:pt x="0" y="0"/>
                  </a:moveTo>
                  <a:lnTo>
                    <a:pt x="0" y="4271963"/>
                  </a:lnTo>
                </a:path>
              </a:pathLst>
            </a:custGeom>
            <a:noFill/>
            <a:ln w="9525">
              <a:solidFill>
                <a:srgbClr val="0070F3">
                  <a:alpha val="14000"/>
                </a:srgbClr>
              </a:solidFill>
            </a:ln>
          </p:spPr>
        </p:sp>
        <p:sp>
          <p:nvSpPr>
            <p:cNvPr id="89" name="TextBox 89"/>
            <p:cNvSpPr txBox="1"/>
            <p:nvPr/>
          </p:nvSpPr>
          <p:spPr>
            <a:xfrm>
              <a:off x="6312218" y="2049304"/>
              <a:ext cx="2469396" cy="148141"/>
            </a:xfrm>
            <a:prstGeom prst="rect">
              <a:avLst/>
            </a:prstGeom>
            <a:noFill/>
            <a:ln>
              <a:noFill/>
            </a:ln>
          </p:spPr>
          <p:txBody>
            <a:bodyPr wrap="squar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2025年十大融资榜单： AI企业独占五</a:t>
              </a:r>
              <a:endParaRPr lang="zh-CN" sz="975" b="1" dirty="0">
                <a:solidFill>
                  <a:srgbClr val="0A0A0A"/>
                </a:solidFill>
                <a:latin typeface="Arial" panose="020B0604020202090204"/>
                <a:ea typeface="微软雅黑"/>
                <a:cs typeface="Arial" panose="020B0604020202090204"/>
              </a:endParaRPr>
            </a:p>
          </p:txBody>
        </p:sp>
        <p:sp>
          <p:nvSpPr>
            <p:cNvPr id="90" name="TextBox 90"/>
            <p:cNvSpPr txBox="1"/>
            <p:nvPr/>
          </p:nvSpPr>
          <p:spPr>
            <a:xfrm>
              <a:off x="6312218" y="2204085"/>
              <a:ext cx="174284" cy="148141"/>
            </a:xfrm>
            <a:prstGeom prst="rect">
              <a:avLst/>
            </a:prstGeom>
            <a:noFill/>
            <a:ln>
              <a:noFill/>
            </a:ln>
          </p:spPr>
          <p:txBody>
            <a:bodyPr wrap="square" lIns="0" tIns="0" rIns="0" bIns="0" anchor="t" anchorCtr="0">
              <a:spAutoFit/>
            </a:bodyPr>
            <a:lstStyle/>
            <a:p>
              <a:pPr algn="l"/>
              <a:r>
                <a:rPr lang="zh-CN" sz="975" b="1" dirty="0">
                  <a:solidFill>
                    <a:srgbClr val="0A0A0A"/>
                  </a:solidFill>
                  <a:latin typeface="Arial" panose="020B0604020202090204"/>
                  <a:ea typeface="微软雅黑"/>
                  <a:cs typeface="Arial" panose="020B0604020202090204"/>
                </a:rPr>
                <a:t>席</a:t>
              </a:r>
              <a:endParaRPr lang="zh-CN" sz="975" b="1" dirty="0">
                <a:solidFill>
                  <a:srgbClr val="0A0A0A"/>
                </a:solidFill>
                <a:latin typeface="Arial" panose="020B0604020202090204"/>
                <a:ea typeface="微软雅黑"/>
                <a:cs typeface="Arial" panose="020B0604020202090204"/>
              </a:endParaRPr>
            </a:p>
          </p:txBody>
        </p:sp>
        <p:sp>
          <p:nvSpPr>
            <p:cNvPr id="91" name="TextBox 91"/>
            <p:cNvSpPr txBox="1"/>
            <p:nvPr/>
          </p:nvSpPr>
          <p:spPr>
            <a:xfrm>
              <a:off x="6315075" y="2240280"/>
              <a:ext cx="1848326" cy="113138"/>
            </a:xfrm>
            <a:prstGeom prst="rect">
              <a:avLst/>
            </a:prstGeom>
            <a:noFill/>
            <a:ln>
              <a:noFill/>
            </a:ln>
          </p:spPr>
          <p:txBody>
            <a:bodyPr wrap="square" lIns="0" tIns="0" rIns="0" bIns="0" anchor="t" anchorCtr="0">
              <a:spAutoFit/>
            </a:bodyPr>
            <a:lstStyle/>
            <a:p>
              <a:pPr algn="l"/>
              <a:r>
                <a:rPr lang="zh-CN" sz="750" dirty="0">
                  <a:solidFill>
                    <a:srgbClr val="64748B"/>
                  </a:solidFill>
                  <a:latin typeface="Arial" panose="020B0604020202090204"/>
                  <a:ea typeface="微软雅黑"/>
                  <a:cs typeface="Arial" panose="020B0604020202090204"/>
                </a:rPr>
                <a:t>融资榜单 AI企业 vs非 AI企业数量对比</a:t>
              </a:r>
              <a:endParaRPr lang="zh-CN" sz="750" dirty="0">
                <a:solidFill>
                  <a:srgbClr val="64748B"/>
                </a:solidFill>
                <a:latin typeface="Arial" panose="020B0604020202090204"/>
                <a:ea typeface="微软雅黑"/>
                <a:cs typeface="Arial" panose="020B0604020202090204"/>
              </a:endParaRPr>
            </a:p>
          </p:txBody>
        </p:sp>
        <p:sp>
          <p:nvSpPr>
            <p:cNvPr id="92" name="Rectangle 92"/>
            <p:cNvSpPr/>
            <p:nvPr/>
          </p:nvSpPr>
          <p:spPr>
            <a:xfrm>
              <a:off x="11118532" y="2030730"/>
              <a:ext cx="644842" cy="209550"/>
            </a:xfrm>
            <a:prstGeom prst="roundRect">
              <a:avLst>
                <a:gd name="adj" fmla="val 27273"/>
              </a:avLst>
            </a:prstGeom>
            <a:solidFill>
              <a:srgbClr val="22C55E">
                <a:alpha val="10000"/>
              </a:srgbClr>
            </a:solidFill>
            <a:ln>
              <a:noFill/>
            </a:ln>
          </p:spPr>
        </p:sp>
        <p:sp>
          <p:nvSpPr>
            <p:cNvPr id="93" name="TextBox 93"/>
            <p:cNvSpPr txBox="1"/>
            <p:nvPr/>
          </p:nvSpPr>
          <p:spPr>
            <a:xfrm>
              <a:off x="11185208" y="2083118"/>
              <a:ext cx="435292" cy="113138"/>
            </a:xfrm>
            <a:prstGeom prst="rect">
              <a:avLst/>
            </a:prstGeom>
            <a:noFill/>
            <a:ln>
              <a:noFill/>
            </a:ln>
          </p:spPr>
          <p:txBody>
            <a:bodyPr wrap="square" lIns="0" tIns="0" rIns="0" bIns="0" anchor="t" anchorCtr="0">
              <a:spAutoFit/>
            </a:bodyPr>
            <a:lstStyle/>
            <a:p>
              <a:pPr algn="l"/>
              <a:r>
                <a:rPr lang="zh-CN" sz="750" dirty="0">
                  <a:solidFill>
                    <a:srgbClr val="16A34A"/>
                  </a:solidFill>
                  <a:latin typeface="Arial" panose="020B0604020202090204"/>
                  <a:ea typeface="微软雅黑"/>
                  <a:cs typeface="Arial" panose="020B0604020202090204"/>
                </a:rPr>
                <a:t>50% AI企</a:t>
              </a:r>
              <a:endParaRPr lang="zh-CN" sz="750" dirty="0">
                <a:solidFill>
                  <a:srgbClr val="16A34A"/>
                </a:solidFill>
                <a:latin typeface="Arial" panose="020B0604020202090204"/>
                <a:ea typeface="微软雅黑"/>
                <a:cs typeface="Arial" panose="020B0604020202090204"/>
              </a:endParaRPr>
            </a:p>
          </p:txBody>
        </p:sp>
        <p:sp>
          <p:nvSpPr>
            <p:cNvPr id="94" name="TextBox 94"/>
            <p:cNvSpPr txBox="1"/>
            <p:nvPr/>
          </p:nvSpPr>
          <p:spPr>
            <a:xfrm>
              <a:off x="11185208" y="2202180"/>
              <a:ext cx="128588" cy="113138"/>
            </a:xfrm>
            <a:prstGeom prst="rect">
              <a:avLst/>
            </a:prstGeom>
            <a:noFill/>
            <a:ln>
              <a:noFill/>
            </a:ln>
          </p:spPr>
          <p:txBody>
            <a:bodyPr wrap="square" lIns="0" tIns="0" rIns="0" bIns="0" anchor="t" anchorCtr="0">
              <a:spAutoFit/>
            </a:bodyPr>
            <a:lstStyle/>
            <a:p>
              <a:pPr algn="l"/>
              <a:r>
                <a:rPr lang="zh-CN" sz="750" dirty="0">
                  <a:solidFill>
                    <a:srgbClr val="16A34A"/>
                  </a:solidFill>
                  <a:latin typeface="Arial" panose="020B0604020202090204"/>
                  <a:ea typeface="微软雅黑"/>
                  <a:cs typeface="Arial" panose="020B0604020202090204"/>
                </a:rPr>
                <a:t>业</a:t>
              </a:r>
              <a:endParaRPr lang="zh-CN" sz="750" dirty="0">
                <a:solidFill>
                  <a:srgbClr val="16A34A"/>
                </a:solidFill>
                <a:latin typeface="Arial" panose="020B0604020202090204"/>
                <a:ea typeface="微软雅黑"/>
                <a:cs typeface="Arial" panose="020B0604020202090204"/>
              </a:endParaRPr>
            </a:p>
          </p:txBody>
        </p:sp>
        <p:grpSp>
          <p:nvGrpSpPr>
            <p:cNvPr id="117" name="Group 117"/>
            <p:cNvGrpSpPr/>
            <p:nvPr/>
          </p:nvGrpSpPr>
          <p:grpSpPr>
            <a:xfrm>
              <a:off x="6324600" y="2240280"/>
              <a:ext cx="5438775" cy="3776662"/>
              <a:chOff x="6324600" y="2240280"/>
              <a:chExt cx="5438775" cy="3776662"/>
            </a:xfrm>
          </p:grpSpPr>
          <p:sp>
            <p:nvSpPr>
              <p:cNvPr id="95" name="Rectangle 95"/>
              <p:cNvSpPr/>
              <p:nvPr/>
            </p:nvSpPr>
            <p:spPr>
              <a:xfrm>
                <a:off x="6324600" y="2435542"/>
                <a:ext cx="5438775" cy="3581400"/>
              </a:xfrm>
              <a:prstGeom prst="rect">
                <a:avLst/>
              </a:prstGeom>
              <a:noFill/>
              <a:ln>
                <a:noFill/>
              </a:ln>
            </p:spPr>
          </p:sp>
          <p:grpSp>
            <p:nvGrpSpPr>
              <p:cNvPr id="116" name="Group 116"/>
              <p:cNvGrpSpPr/>
              <p:nvPr/>
            </p:nvGrpSpPr>
            <p:grpSpPr>
              <a:xfrm>
                <a:off x="6553200" y="2240280"/>
                <a:ext cx="5019675" cy="3670338"/>
                <a:chOff x="6553200" y="2240280"/>
                <a:chExt cx="5019675" cy="3670338"/>
              </a:xfrm>
            </p:grpSpPr>
            <p:sp>
              <p:nvSpPr>
                <p:cNvPr id="96" name="Freeform 96"/>
                <p:cNvSpPr/>
                <p:nvPr/>
              </p:nvSpPr>
              <p:spPr>
                <a:xfrm>
                  <a:off x="6781800" y="57550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97" name="Freeform 97"/>
                <p:cNvSpPr/>
                <p:nvPr/>
              </p:nvSpPr>
              <p:spPr>
                <a:xfrm>
                  <a:off x="6781800" y="51073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98" name="Freeform 98"/>
                <p:cNvSpPr/>
                <p:nvPr/>
              </p:nvSpPr>
              <p:spPr>
                <a:xfrm>
                  <a:off x="6781800" y="44596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99" name="Freeform 99"/>
                <p:cNvSpPr/>
                <p:nvPr/>
              </p:nvSpPr>
              <p:spPr>
                <a:xfrm>
                  <a:off x="6781800" y="38119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100" name="Freeform 100"/>
                <p:cNvSpPr/>
                <p:nvPr/>
              </p:nvSpPr>
              <p:spPr>
                <a:xfrm>
                  <a:off x="6781800" y="31642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101" name="Freeform 101"/>
                <p:cNvSpPr/>
                <p:nvPr/>
              </p:nvSpPr>
              <p:spPr>
                <a:xfrm>
                  <a:off x="6781800" y="2516505"/>
                  <a:ext cx="4791075" cy="9525"/>
                </a:xfrm>
                <a:custGeom>
                  <a:avLst/>
                  <a:gdLst/>
                  <a:ahLst/>
                  <a:cxnLst/>
                  <a:rect l="l" t="t" r="r" b="b"/>
                  <a:pathLst>
                    <a:path w="4791075" h="9525">
                      <a:moveTo>
                        <a:pt x="0" y="0"/>
                      </a:moveTo>
                      <a:lnTo>
                        <a:pt x="4791075" y="0"/>
                      </a:lnTo>
                    </a:path>
                  </a:pathLst>
                </a:custGeom>
                <a:noFill/>
                <a:ln w="9525">
                  <a:solidFill>
                    <a:srgbClr val="94A3B8">
                      <a:alpha val="8000"/>
                    </a:srgbClr>
                  </a:solidFill>
                </a:ln>
              </p:spPr>
            </p:sp>
            <p:sp>
              <p:nvSpPr>
                <p:cNvPr id="102" name="TextBox 102"/>
                <p:cNvSpPr txBox="1"/>
                <p:nvPr/>
              </p:nvSpPr>
              <p:spPr>
                <a:xfrm>
                  <a:off x="6553200" y="2240280"/>
                  <a:ext cx="457200" cy="113138"/>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企业数量</a:t>
                  </a:r>
                  <a:endParaRPr lang="zh-CN" sz="750" dirty="0">
                    <a:solidFill>
                      <a:srgbClr val="64748B"/>
                    </a:solidFill>
                    <a:latin typeface="Segoe UI"/>
                    <a:ea typeface="微软雅黑"/>
                    <a:cs typeface="Segoe UI"/>
                  </a:endParaRPr>
                </a:p>
              </p:txBody>
            </p:sp>
            <p:sp>
              <p:nvSpPr>
                <p:cNvPr id="103" name="Freeform 103"/>
                <p:cNvSpPr/>
                <p:nvPr/>
              </p:nvSpPr>
              <p:spPr>
                <a:xfrm>
                  <a:off x="6781800" y="5755005"/>
                  <a:ext cx="4791075" cy="9525"/>
                </a:xfrm>
                <a:custGeom>
                  <a:avLst/>
                  <a:gdLst/>
                  <a:ahLst/>
                  <a:cxnLst/>
                  <a:rect l="l" t="t" r="r" b="b"/>
                  <a:pathLst>
                    <a:path w="4791075" h="9525">
                      <a:moveTo>
                        <a:pt x="0" y="0"/>
                      </a:moveTo>
                      <a:lnTo>
                        <a:pt x="4791075" y="0"/>
                      </a:lnTo>
                    </a:path>
                  </a:pathLst>
                </a:custGeom>
                <a:noFill/>
                <a:ln w="9525" cap="rnd">
                  <a:solidFill>
                    <a:srgbClr val="E2E8F0"/>
                  </a:solidFill>
                </a:ln>
              </p:spPr>
            </p:sp>
            <p:sp>
              <p:nvSpPr>
                <p:cNvPr id="104" name="TextBox 104"/>
                <p:cNvSpPr txBox="1"/>
                <p:nvPr/>
              </p:nvSpPr>
              <p:spPr>
                <a:xfrm>
                  <a:off x="6635829" y="5669280"/>
                  <a:ext cx="79296"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0</a:t>
                  </a:r>
                  <a:endParaRPr lang="zh-CN" sz="750" dirty="0">
                    <a:solidFill>
                      <a:srgbClr val="64748B"/>
                    </a:solidFill>
                    <a:latin typeface="Segoe UI"/>
                    <a:ea typeface="微软雅黑"/>
                    <a:cs typeface="Segoe UI"/>
                  </a:endParaRPr>
                </a:p>
              </p:txBody>
            </p:sp>
            <p:sp>
              <p:nvSpPr>
                <p:cNvPr id="105" name="TextBox 105"/>
                <p:cNvSpPr txBox="1"/>
                <p:nvPr/>
              </p:nvSpPr>
              <p:spPr>
                <a:xfrm>
                  <a:off x="6635829" y="5021580"/>
                  <a:ext cx="79296"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2</a:t>
                  </a:r>
                  <a:endParaRPr lang="zh-CN" sz="750" dirty="0">
                    <a:solidFill>
                      <a:srgbClr val="64748B"/>
                    </a:solidFill>
                    <a:latin typeface="Segoe UI"/>
                    <a:ea typeface="微软雅黑"/>
                    <a:cs typeface="Segoe UI"/>
                  </a:endParaRPr>
                </a:p>
              </p:txBody>
            </p:sp>
            <p:sp>
              <p:nvSpPr>
                <p:cNvPr id="106" name="TextBox 106"/>
                <p:cNvSpPr txBox="1"/>
                <p:nvPr/>
              </p:nvSpPr>
              <p:spPr>
                <a:xfrm>
                  <a:off x="6635829" y="4373880"/>
                  <a:ext cx="79296"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4</a:t>
                  </a:r>
                  <a:endParaRPr lang="zh-CN" sz="750" dirty="0">
                    <a:solidFill>
                      <a:srgbClr val="64748B"/>
                    </a:solidFill>
                    <a:latin typeface="Segoe UI"/>
                    <a:ea typeface="微软雅黑"/>
                    <a:cs typeface="Segoe UI"/>
                  </a:endParaRPr>
                </a:p>
              </p:txBody>
            </p:sp>
            <p:sp>
              <p:nvSpPr>
                <p:cNvPr id="107" name="TextBox 107"/>
                <p:cNvSpPr txBox="1"/>
                <p:nvPr/>
              </p:nvSpPr>
              <p:spPr>
                <a:xfrm>
                  <a:off x="6635829" y="3726180"/>
                  <a:ext cx="79296"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6</a:t>
                  </a:r>
                  <a:endParaRPr lang="zh-CN" sz="750" dirty="0">
                    <a:solidFill>
                      <a:srgbClr val="64748B"/>
                    </a:solidFill>
                    <a:latin typeface="Segoe UI"/>
                    <a:ea typeface="微软雅黑"/>
                    <a:cs typeface="Segoe UI"/>
                  </a:endParaRPr>
                </a:p>
              </p:txBody>
            </p:sp>
            <p:sp>
              <p:nvSpPr>
                <p:cNvPr id="108" name="TextBox 108"/>
                <p:cNvSpPr txBox="1"/>
                <p:nvPr/>
              </p:nvSpPr>
              <p:spPr>
                <a:xfrm>
                  <a:off x="6635829" y="3078480"/>
                  <a:ext cx="79296" cy="113138"/>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8</a:t>
                  </a:r>
                  <a:endParaRPr lang="zh-CN" sz="750" dirty="0">
                    <a:solidFill>
                      <a:srgbClr val="64748B"/>
                    </a:solidFill>
                    <a:latin typeface="Segoe UI"/>
                    <a:ea typeface="微软雅黑"/>
                    <a:cs typeface="Segoe UI"/>
                  </a:endParaRPr>
                </a:p>
              </p:txBody>
            </p:sp>
            <p:sp>
              <p:nvSpPr>
                <p:cNvPr id="109" name="TextBox 109"/>
                <p:cNvSpPr txBox="1"/>
                <p:nvPr/>
              </p:nvSpPr>
              <p:spPr>
                <a:xfrm>
                  <a:off x="6602968" y="2430780"/>
                  <a:ext cx="112157" cy="226900"/>
                </a:xfrm>
                <a:prstGeom prst="rect">
                  <a:avLst/>
                </a:prstGeom>
                <a:noFill/>
                <a:ln>
                  <a:noFill/>
                </a:ln>
              </p:spPr>
              <p:txBody>
                <a:bodyPr wrap="square" lIns="0" tIns="0" rIns="0" bIns="0" anchor="t" anchorCtr="0">
                  <a:spAutoFit/>
                </a:bodyPr>
                <a:lstStyle/>
                <a:p>
                  <a:pPr algn="r"/>
                  <a:r>
                    <a:rPr lang="zh-CN" sz="750" dirty="0">
                      <a:solidFill>
                        <a:srgbClr val="64748B"/>
                      </a:solidFill>
                      <a:latin typeface="Segoe UI"/>
                      <a:ea typeface="微软雅黑"/>
                      <a:cs typeface="Segoe UI"/>
                    </a:rPr>
                    <a:t>10</a:t>
                  </a:r>
                  <a:endParaRPr lang="zh-CN" sz="750" dirty="0">
                    <a:solidFill>
                      <a:srgbClr val="64748B"/>
                    </a:solidFill>
                    <a:latin typeface="Segoe UI"/>
                    <a:ea typeface="微软雅黑"/>
                    <a:cs typeface="Segoe UI"/>
                  </a:endParaRPr>
                </a:p>
              </p:txBody>
            </p:sp>
            <p:sp>
              <p:nvSpPr>
                <p:cNvPr id="110" name="TextBox 110"/>
                <p:cNvSpPr txBox="1"/>
                <p:nvPr/>
              </p:nvSpPr>
              <p:spPr>
                <a:xfrm>
                  <a:off x="7813953" y="5793105"/>
                  <a:ext cx="331232" cy="113138"/>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AI企业</a:t>
                  </a:r>
                  <a:endParaRPr lang="zh-CN" sz="750" dirty="0">
                    <a:solidFill>
                      <a:srgbClr val="64748B"/>
                    </a:solidFill>
                    <a:latin typeface="Segoe UI"/>
                    <a:ea typeface="微软雅黑"/>
                    <a:cs typeface="Segoe UI"/>
                  </a:endParaRPr>
                </a:p>
              </p:txBody>
            </p:sp>
            <p:sp>
              <p:nvSpPr>
                <p:cNvPr id="111" name="TextBox 111"/>
                <p:cNvSpPr txBox="1"/>
                <p:nvPr/>
              </p:nvSpPr>
              <p:spPr>
                <a:xfrm>
                  <a:off x="10154722" y="5797345"/>
                  <a:ext cx="440769" cy="113273"/>
                </a:xfrm>
                <a:prstGeom prst="rect">
                  <a:avLst/>
                </a:prstGeom>
                <a:noFill/>
                <a:ln>
                  <a:noFill/>
                </a:ln>
              </p:spPr>
              <p:txBody>
                <a:bodyPr wrap="square" lIns="0" tIns="0" rIns="0" bIns="0" anchor="t" anchorCtr="0">
                  <a:spAutoFit/>
                </a:bodyPr>
                <a:lstStyle/>
                <a:p>
                  <a:pPr algn="ctr"/>
                  <a:r>
                    <a:rPr lang="zh-CN" sz="750" dirty="0">
                      <a:solidFill>
                        <a:srgbClr val="64748B"/>
                      </a:solidFill>
                      <a:latin typeface="Segoe UI"/>
                      <a:ea typeface="微软雅黑"/>
                      <a:cs typeface="Segoe UI"/>
                    </a:rPr>
                    <a:t>非AI企业</a:t>
                  </a:r>
                  <a:endParaRPr lang="zh-CN" sz="750" dirty="0">
                    <a:solidFill>
                      <a:srgbClr val="64748B"/>
                    </a:solidFill>
                    <a:latin typeface="Segoe UI"/>
                    <a:ea typeface="微软雅黑"/>
                    <a:cs typeface="Segoe UI"/>
                  </a:endParaRPr>
                </a:p>
              </p:txBody>
            </p:sp>
            <p:sp>
              <p:nvSpPr>
                <p:cNvPr id="112" name="Freeform 112"/>
                <p:cNvSpPr/>
                <p:nvPr/>
              </p:nvSpPr>
              <p:spPr>
                <a:xfrm>
                  <a:off x="7789069" y="4130992"/>
                  <a:ext cx="381000" cy="1619250"/>
                </a:xfrm>
                <a:custGeom>
                  <a:avLst/>
                  <a:gdLst/>
                  <a:ahLst/>
                  <a:cxnLst/>
                  <a:rect l="l" t="t" r="r" b="b"/>
                  <a:pathLst>
                    <a:path w="381000" h="1619250">
                      <a:moveTo>
                        <a:pt x="57150" y="0"/>
                      </a:moveTo>
                      <a:lnTo>
                        <a:pt x="323850" y="0"/>
                      </a:lnTo>
                      <a:cubicBezTo>
                        <a:pt x="355413" y="0"/>
                        <a:pt x="381000" y="25587"/>
                        <a:pt x="381000" y="57150"/>
                      </a:cubicBezTo>
                      <a:lnTo>
                        <a:pt x="381000" y="1619250"/>
                      </a:lnTo>
                      <a:lnTo>
                        <a:pt x="0" y="1619250"/>
                      </a:lnTo>
                      <a:lnTo>
                        <a:pt x="0" y="57150"/>
                      </a:lnTo>
                      <a:cubicBezTo>
                        <a:pt x="0" y="25587"/>
                        <a:pt x="25587" y="0"/>
                        <a:pt x="57150" y="0"/>
                      </a:cubicBezTo>
                    </a:path>
                  </a:pathLst>
                </a:custGeom>
                <a:solidFill>
                  <a:srgbClr val="0070F3"/>
                </a:solidFill>
                <a:ln>
                  <a:noFill/>
                </a:ln>
              </p:spPr>
            </p:sp>
            <p:sp>
              <p:nvSpPr>
                <p:cNvPr id="113" name="Freeform 113"/>
                <p:cNvSpPr/>
                <p:nvPr/>
              </p:nvSpPr>
              <p:spPr>
                <a:xfrm>
                  <a:off x="10184606" y="4130992"/>
                  <a:ext cx="381000" cy="1619250"/>
                </a:xfrm>
                <a:custGeom>
                  <a:avLst/>
                  <a:gdLst/>
                  <a:ahLst/>
                  <a:cxnLst/>
                  <a:rect l="l" t="t" r="r" b="b"/>
                  <a:pathLst>
                    <a:path w="381000" h="1619250">
                      <a:moveTo>
                        <a:pt x="57150" y="0"/>
                      </a:moveTo>
                      <a:lnTo>
                        <a:pt x="323850" y="0"/>
                      </a:lnTo>
                      <a:cubicBezTo>
                        <a:pt x="355413" y="0"/>
                        <a:pt x="381000" y="25587"/>
                        <a:pt x="381000" y="57150"/>
                      </a:cubicBezTo>
                      <a:lnTo>
                        <a:pt x="381000" y="1619250"/>
                      </a:lnTo>
                      <a:lnTo>
                        <a:pt x="0" y="1619250"/>
                      </a:lnTo>
                      <a:lnTo>
                        <a:pt x="0" y="57150"/>
                      </a:lnTo>
                      <a:cubicBezTo>
                        <a:pt x="0" y="25587"/>
                        <a:pt x="25587" y="0"/>
                        <a:pt x="57150" y="0"/>
                      </a:cubicBezTo>
                    </a:path>
                  </a:pathLst>
                </a:custGeom>
                <a:solidFill>
                  <a:srgbClr val="94A3B8"/>
                </a:solidFill>
                <a:ln>
                  <a:noFill/>
                </a:ln>
              </p:spPr>
            </p:sp>
            <p:sp>
              <p:nvSpPr>
                <p:cNvPr id="114" name="TextBox 114"/>
                <p:cNvSpPr txBox="1"/>
                <p:nvPr/>
              </p:nvSpPr>
              <p:spPr>
                <a:xfrm>
                  <a:off x="7913722" y="3862210"/>
                  <a:ext cx="131693" cy="181703"/>
                </a:xfrm>
                <a:prstGeom prst="rect">
                  <a:avLst/>
                </a:prstGeom>
                <a:noFill/>
                <a:ln>
                  <a:noFill/>
                </a:ln>
              </p:spPr>
              <p:txBody>
                <a:bodyPr wrap="square" lIns="0" tIns="0" rIns="0" bIns="0" anchor="t" anchorCtr="0">
                  <a:spAutoFit/>
                </a:bodyPr>
                <a:lstStyle/>
                <a:p>
                  <a:pPr algn="ctr"/>
                  <a:r>
                    <a:rPr lang="zh-CN" sz="1200" b="1" dirty="0">
                      <a:solidFill>
                        <a:srgbClr val="0A0A0A"/>
                      </a:solidFill>
                      <a:latin typeface="Segoe UI"/>
                      <a:ea typeface="微软雅黑"/>
                      <a:cs typeface="Segoe UI"/>
                    </a:rPr>
                    <a:t>5</a:t>
                  </a:r>
                  <a:endParaRPr lang="zh-CN" sz="1200" b="1" dirty="0">
                    <a:solidFill>
                      <a:srgbClr val="0A0A0A"/>
                    </a:solidFill>
                    <a:latin typeface="Segoe UI"/>
                    <a:ea typeface="微软雅黑"/>
                    <a:cs typeface="Segoe UI"/>
                  </a:endParaRPr>
                </a:p>
              </p:txBody>
            </p:sp>
            <p:sp>
              <p:nvSpPr>
                <p:cNvPr id="115" name="TextBox 115"/>
                <p:cNvSpPr txBox="1"/>
                <p:nvPr/>
              </p:nvSpPr>
              <p:spPr>
                <a:xfrm>
                  <a:off x="10309260" y="3862210"/>
                  <a:ext cx="131693" cy="181703"/>
                </a:xfrm>
                <a:prstGeom prst="rect">
                  <a:avLst/>
                </a:prstGeom>
                <a:noFill/>
                <a:ln>
                  <a:noFill/>
                </a:ln>
              </p:spPr>
              <p:txBody>
                <a:bodyPr wrap="square" lIns="0" tIns="0" rIns="0" bIns="0" anchor="t" anchorCtr="0">
                  <a:spAutoFit/>
                </a:bodyPr>
                <a:lstStyle/>
                <a:p>
                  <a:pPr algn="ctr"/>
                  <a:r>
                    <a:rPr lang="zh-CN" sz="1200" b="1" dirty="0">
                      <a:solidFill>
                        <a:srgbClr val="0A0A0A"/>
                      </a:solidFill>
                      <a:latin typeface="Segoe UI"/>
                      <a:ea typeface="微软雅黑"/>
                      <a:cs typeface="Segoe UI"/>
                    </a:rPr>
                    <a:t>5</a:t>
                  </a:r>
                  <a:endParaRPr lang="zh-CN" sz="1200" b="1" dirty="0">
                    <a:solidFill>
                      <a:srgbClr val="0A0A0A"/>
                    </a:solidFill>
                    <a:latin typeface="Segoe UI"/>
                    <a:ea typeface="微软雅黑"/>
                    <a:cs typeface="Segoe UI"/>
                  </a:endParaRPr>
                </a:p>
              </p:txBody>
            </p:sp>
          </p:grpSp>
        </p:grpSp>
        <p:sp>
          <p:nvSpPr>
            <p:cNvPr id="118" name="Rectangle 118"/>
            <p:cNvSpPr/>
            <p:nvPr/>
          </p:nvSpPr>
          <p:spPr>
            <a:xfrm>
              <a:off x="266700" y="6290405"/>
              <a:ext cx="11658600" cy="377095"/>
            </a:xfrm>
            <a:prstGeom prst="roundRect">
              <a:avLst>
                <a:gd name="adj" fmla="val 20207"/>
              </a:avLst>
            </a:prstGeom>
            <a:solidFill>
              <a:srgbClr val="0070F3">
                <a:alpha val="6000"/>
              </a:srgbClr>
            </a:solidFill>
            <a:ln>
              <a:noFill/>
            </a:ln>
          </p:spPr>
        </p:sp>
        <p:sp>
          <p:nvSpPr>
            <p:cNvPr id="119" name="Line 119"/>
            <p:cNvSpPr/>
            <p:nvPr/>
          </p:nvSpPr>
          <p:spPr>
            <a:xfrm>
              <a:off x="266700" y="6290405"/>
              <a:ext cx="11658600" cy="9525"/>
            </a:xfrm>
            <a:custGeom>
              <a:avLst/>
              <a:gdLst/>
              <a:ahLst/>
              <a:cxnLst/>
              <a:rect l="l" t="t" r="r" b="b"/>
              <a:pathLst>
                <a:path w="11658600" h="9525">
                  <a:moveTo>
                    <a:pt x="0" y="0"/>
                  </a:moveTo>
                  <a:lnTo>
                    <a:pt x="11658600" y="0"/>
                  </a:lnTo>
                </a:path>
              </a:pathLst>
            </a:custGeom>
            <a:noFill/>
            <a:ln w="9525">
              <a:solidFill>
                <a:srgbClr val="0070F3">
                  <a:alpha val="12000"/>
                </a:srgbClr>
              </a:solidFill>
            </a:ln>
          </p:spPr>
        </p:sp>
        <p:sp>
          <p:nvSpPr>
            <p:cNvPr id="120" name="Line 120"/>
            <p:cNvSpPr/>
            <p:nvPr/>
          </p:nvSpPr>
          <p:spPr>
            <a:xfrm>
              <a:off x="11925300" y="6290405"/>
              <a:ext cx="9525" cy="377095"/>
            </a:xfrm>
            <a:custGeom>
              <a:avLst/>
              <a:gdLst/>
              <a:ahLst/>
              <a:cxnLst/>
              <a:rect l="l" t="t" r="r" b="b"/>
              <a:pathLst>
                <a:path w="9525" h="377095">
                  <a:moveTo>
                    <a:pt x="0" y="0"/>
                  </a:moveTo>
                  <a:lnTo>
                    <a:pt x="0" y="377095"/>
                  </a:lnTo>
                </a:path>
              </a:pathLst>
            </a:custGeom>
            <a:noFill/>
            <a:ln w="9525">
              <a:solidFill>
                <a:srgbClr val="0070F3">
                  <a:alpha val="12000"/>
                </a:srgbClr>
              </a:solidFill>
            </a:ln>
          </p:spPr>
        </p:sp>
        <p:sp>
          <p:nvSpPr>
            <p:cNvPr id="121" name="Line 121"/>
            <p:cNvSpPr/>
            <p:nvPr/>
          </p:nvSpPr>
          <p:spPr>
            <a:xfrm>
              <a:off x="266700" y="6667500"/>
              <a:ext cx="11658600" cy="9525"/>
            </a:xfrm>
            <a:custGeom>
              <a:avLst/>
              <a:gdLst/>
              <a:ahLst/>
              <a:cxnLst/>
              <a:rect l="l" t="t" r="r" b="b"/>
              <a:pathLst>
                <a:path w="11658600" h="9525">
                  <a:moveTo>
                    <a:pt x="0" y="0"/>
                  </a:moveTo>
                  <a:lnTo>
                    <a:pt x="11658600" y="0"/>
                  </a:lnTo>
                </a:path>
              </a:pathLst>
            </a:custGeom>
            <a:noFill/>
            <a:ln w="9525">
              <a:solidFill>
                <a:srgbClr val="0070F3">
                  <a:alpha val="12000"/>
                </a:srgbClr>
              </a:solidFill>
            </a:ln>
          </p:spPr>
        </p:sp>
        <p:sp>
          <p:nvSpPr>
            <p:cNvPr id="122" name="Line 122"/>
            <p:cNvSpPr/>
            <p:nvPr/>
          </p:nvSpPr>
          <p:spPr>
            <a:xfrm>
              <a:off x="266700" y="6290405"/>
              <a:ext cx="9525" cy="377095"/>
            </a:xfrm>
            <a:custGeom>
              <a:avLst/>
              <a:gdLst/>
              <a:ahLst/>
              <a:cxnLst/>
              <a:rect l="l" t="t" r="r" b="b"/>
              <a:pathLst>
                <a:path w="9525" h="377095">
                  <a:moveTo>
                    <a:pt x="0" y="0"/>
                  </a:moveTo>
                  <a:lnTo>
                    <a:pt x="0" y="377095"/>
                  </a:lnTo>
                </a:path>
              </a:pathLst>
            </a:custGeom>
            <a:noFill/>
            <a:ln w="9525">
              <a:solidFill>
                <a:srgbClr val="0070F3">
                  <a:alpha val="12000"/>
                </a:srgbClr>
              </a:solidFill>
            </a:ln>
          </p:spPr>
        </p:sp>
        <p:sp>
          <p:nvSpPr>
            <p:cNvPr id="123" name="TextBox 123"/>
            <p:cNvSpPr txBox="1"/>
            <p:nvPr/>
          </p:nvSpPr>
          <p:spPr>
            <a:xfrm>
              <a:off x="399098" y="6410896"/>
              <a:ext cx="527018" cy="125014"/>
            </a:xfrm>
            <a:prstGeom prst="rect">
              <a:avLst/>
            </a:prstGeom>
            <a:noFill/>
            <a:ln>
              <a:noFill/>
            </a:ln>
          </p:spPr>
          <p:txBody>
            <a:bodyPr wrap="square" lIns="0" tIns="0" rIns="0" bIns="0" anchor="t" anchorCtr="0">
              <a:spAutoFit/>
            </a:bodyPr>
            <a:lstStyle/>
            <a:p>
              <a:pPr algn="l"/>
              <a:r>
                <a:rPr lang="zh-CN" sz="825" b="1" dirty="0">
                  <a:solidFill>
                    <a:srgbClr val="0070F3"/>
                  </a:solidFill>
                  <a:latin typeface="Arial" panose="020B0604020202090204"/>
                  <a:ea typeface="微软雅黑"/>
                  <a:cs typeface="Arial" panose="020B0604020202090204"/>
                </a:rPr>
                <a:t>趋势洞察</a:t>
              </a:r>
              <a:endParaRPr lang="zh-CN" sz="825" b="1" dirty="0">
                <a:solidFill>
                  <a:srgbClr val="0070F3"/>
                </a:solidFill>
                <a:latin typeface="Arial" panose="020B0604020202090204"/>
                <a:ea typeface="微软雅黑"/>
                <a:cs typeface="Arial" panose="020B0604020202090204"/>
              </a:endParaRPr>
            </a:p>
          </p:txBody>
        </p:sp>
        <p:sp>
          <p:nvSpPr>
            <p:cNvPr id="124" name="TextBox 124"/>
            <p:cNvSpPr txBox="1"/>
            <p:nvPr/>
          </p:nvSpPr>
          <p:spPr>
            <a:xfrm>
              <a:off x="970598" y="6410896"/>
              <a:ext cx="3954994"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生成式 AI占 AI总投资比重从 2020年 8%攀升至 2025年 78%，成为绝对投资</a:t>
              </a:r>
              <a:endParaRPr lang="zh-CN" sz="825" dirty="0">
                <a:solidFill>
                  <a:srgbClr val="0A0A0A"/>
                </a:solidFill>
                <a:latin typeface="Arial" panose="020B0604020202090204"/>
                <a:ea typeface="微软雅黑"/>
                <a:cs typeface="Arial" panose="020B0604020202090204"/>
              </a:endParaRPr>
            </a:p>
          </p:txBody>
        </p:sp>
        <p:sp>
          <p:nvSpPr>
            <p:cNvPr id="125" name="TextBox 125"/>
            <p:cNvSpPr txBox="1"/>
            <p:nvPr/>
          </p:nvSpPr>
          <p:spPr>
            <a:xfrm>
              <a:off x="970598" y="6578536"/>
              <a:ext cx="261937"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主线</a:t>
              </a:r>
              <a:endParaRPr lang="zh-CN" sz="825" dirty="0">
                <a:solidFill>
                  <a:srgbClr val="0A0A0A"/>
                </a:solidFill>
                <a:latin typeface="Arial" panose="020B0604020202090204"/>
                <a:ea typeface="微软雅黑"/>
                <a:cs typeface="Arial" panose="020B0604020202090204"/>
              </a:endParaRPr>
            </a:p>
          </p:txBody>
        </p:sp>
        <p:sp>
          <p:nvSpPr>
            <p:cNvPr id="126" name="TextBox 126"/>
            <p:cNvSpPr txBox="1"/>
            <p:nvPr/>
          </p:nvSpPr>
          <p:spPr>
            <a:xfrm>
              <a:off x="4662964" y="6410896"/>
              <a:ext cx="87225"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a:t>
              </a:r>
              <a:endParaRPr lang="zh-CN" sz="825" dirty="0">
                <a:solidFill>
                  <a:srgbClr val="0A0A0A"/>
                </a:solidFill>
                <a:latin typeface="Arial" panose="020B0604020202090204"/>
                <a:ea typeface="微软雅黑"/>
                <a:cs typeface="Arial" panose="020B0604020202090204"/>
              </a:endParaRPr>
            </a:p>
          </p:txBody>
        </p:sp>
        <p:sp>
          <p:nvSpPr>
            <p:cNvPr id="127" name="TextBox 127"/>
            <p:cNvSpPr txBox="1"/>
            <p:nvPr/>
          </p:nvSpPr>
          <p:spPr>
            <a:xfrm>
              <a:off x="4852035" y="6410896"/>
              <a:ext cx="3647742"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基础设施层（算力、模型平台）获投占比超 40%，资本押注 AI底层能</a:t>
              </a:r>
              <a:endParaRPr lang="zh-CN" sz="825" dirty="0">
                <a:solidFill>
                  <a:srgbClr val="0A0A0A"/>
                </a:solidFill>
                <a:latin typeface="Arial" panose="020B0604020202090204"/>
                <a:ea typeface="微软雅黑"/>
                <a:cs typeface="Arial" panose="020B0604020202090204"/>
              </a:endParaRPr>
            </a:p>
          </p:txBody>
        </p:sp>
        <p:sp>
          <p:nvSpPr>
            <p:cNvPr id="128" name="TextBox 128"/>
            <p:cNvSpPr txBox="1"/>
            <p:nvPr/>
          </p:nvSpPr>
          <p:spPr>
            <a:xfrm>
              <a:off x="4852035" y="6578536"/>
              <a:ext cx="141446"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力</a:t>
              </a:r>
              <a:endParaRPr lang="zh-CN" sz="825" dirty="0">
                <a:solidFill>
                  <a:srgbClr val="0A0A0A"/>
                </a:solidFill>
                <a:latin typeface="Arial" panose="020B0604020202090204"/>
                <a:ea typeface="微软雅黑"/>
                <a:cs typeface="Arial" panose="020B0604020202090204"/>
              </a:endParaRPr>
            </a:p>
          </p:txBody>
        </p:sp>
        <p:sp>
          <p:nvSpPr>
            <p:cNvPr id="129" name="TextBox 129"/>
            <p:cNvSpPr txBox="1"/>
            <p:nvPr/>
          </p:nvSpPr>
          <p:spPr>
            <a:xfrm>
              <a:off x="8246840" y="6410896"/>
              <a:ext cx="87225"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a:t>
              </a:r>
              <a:endParaRPr lang="zh-CN" sz="825" dirty="0">
                <a:solidFill>
                  <a:srgbClr val="0A0A0A"/>
                </a:solidFill>
                <a:latin typeface="Arial" panose="020B0604020202090204"/>
                <a:ea typeface="微软雅黑"/>
                <a:cs typeface="Arial" panose="020B0604020202090204"/>
              </a:endParaRPr>
            </a:p>
          </p:txBody>
        </p:sp>
        <p:sp>
          <p:nvSpPr>
            <p:cNvPr id="130" name="TextBox 130"/>
            <p:cNvSpPr txBox="1"/>
            <p:nvPr/>
          </p:nvSpPr>
          <p:spPr>
            <a:xfrm>
              <a:off x="8436007" y="6410896"/>
              <a:ext cx="3340489"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头部 VC纷纷设立专项 AI基金， 2025年 Q1全球 AI领域融资再创</a:t>
              </a:r>
              <a:endParaRPr lang="zh-CN" sz="825" dirty="0">
                <a:solidFill>
                  <a:srgbClr val="0A0A0A"/>
                </a:solidFill>
                <a:latin typeface="Arial" panose="020B0604020202090204"/>
                <a:ea typeface="微软雅黑"/>
                <a:cs typeface="Arial" panose="020B0604020202090204"/>
              </a:endParaRPr>
            </a:p>
          </p:txBody>
        </p:sp>
        <p:sp>
          <p:nvSpPr>
            <p:cNvPr id="131" name="TextBox 131"/>
            <p:cNvSpPr txBox="1"/>
            <p:nvPr/>
          </p:nvSpPr>
          <p:spPr>
            <a:xfrm>
              <a:off x="8436007" y="6578536"/>
              <a:ext cx="261937" cy="125014"/>
            </a:xfrm>
            <a:prstGeom prst="rect">
              <a:avLst/>
            </a:prstGeom>
            <a:noFill/>
            <a:ln>
              <a:noFill/>
            </a:ln>
          </p:spPr>
          <p:txBody>
            <a:bodyPr wrap="squar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新高</a:t>
              </a:r>
              <a:endParaRPr lang="zh-CN" sz="825" dirty="0">
                <a:solidFill>
                  <a:srgbClr val="0A0A0A"/>
                </a:solidFill>
                <a:latin typeface="Arial" panose="020B0604020202090204"/>
                <a:ea typeface="微软雅黑"/>
                <a:cs typeface="Arial" panose="020B0604020202090204"/>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209" name="Group 209"/>
          <p:cNvGrpSpPr/>
          <p:nvPr/>
        </p:nvGrpSpPr>
        <p:grpSpPr>
          <a:xfrm>
            <a:off x="205740" y="190500"/>
            <a:ext cx="11767185" cy="6486525"/>
            <a:chOff x="205740" y="190500"/>
            <a:chExt cx="11767185" cy="6486525"/>
          </a:xfrm>
        </p:grpSpPr>
        <p:sp>
          <p:nvSpPr>
            <p:cNvPr id="5" name="TextBox 5"/>
            <p:cNvSpPr txBox="1"/>
            <p:nvPr/>
          </p:nvSpPr>
          <p:spPr>
            <a:xfrm>
              <a:off x="205740" y="224790"/>
              <a:ext cx="2212591" cy="365760"/>
            </a:xfrm>
            <a:prstGeom prst="rect">
              <a:avLst/>
            </a:prstGeom>
            <a:noFill/>
            <a:ln>
              <a:noFill/>
            </a:ln>
          </p:spPr>
          <p:txBody>
            <a:bodyPr wrap="none" lIns="0" tIns="0" rIns="0" bIns="0" anchor="t" anchorCtr="0">
              <a:spAutoFit/>
            </a:bodyPr>
            <a:lstStyle/>
            <a:p>
              <a:pPr algn="l"/>
              <a:r>
                <a:rPr lang="zh-CN" sz="1800" b="1" dirty="0">
                  <a:solidFill>
                    <a:srgbClr val="0A0A0A"/>
                  </a:solidFill>
                  <a:latin typeface="Times New Roman" panose="02020503050405090304"/>
                  <a:ea typeface="宋体"/>
                  <a:cs typeface="Times New Roman" panose="02020503050405090304"/>
                </a:rPr>
                <a:t>AI技术发展里程碑</a:t>
              </a:r>
              <a:endParaRPr lang="zh-CN" sz="180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218122" y="518636"/>
              <a:ext cx="3171801"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展示 AI技术能力跃升，量化训练成本增长，论证算力竞争格</a:t>
              </a:r>
              <a:endParaRPr lang="zh-CN" sz="825" dirty="0">
                <a:solidFill>
                  <a:srgbClr val="0A0A0A"/>
                </a:solidFill>
                <a:latin typeface="Arial" panose="020B0604020202090204"/>
                <a:ea typeface="微软雅黑"/>
                <a:cs typeface="Arial" panose="020B0604020202090204"/>
              </a:endParaRPr>
            </a:p>
          </p:txBody>
        </p:sp>
        <p:sp>
          <p:nvSpPr>
            <p:cNvPr id="7" name="TextBox 7"/>
            <p:cNvSpPr txBox="1"/>
            <p:nvPr/>
          </p:nvSpPr>
          <p:spPr>
            <a:xfrm>
              <a:off x="218122" y="675799"/>
              <a:ext cx="141446"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局</a:t>
              </a:r>
              <a:endParaRPr lang="zh-CN" sz="825" dirty="0">
                <a:solidFill>
                  <a:srgbClr val="0A0A0A"/>
                </a:solidFill>
                <a:latin typeface="Arial" panose="020B0604020202090204"/>
                <a:ea typeface="微软雅黑"/>
                <a:cs typeface="Arial" panose="020B0604020202090204"/>
              </a:endParaRPr>
            </a:p>
          </p:txBody>
        </p:sp>
        <p:sp>
          <p:nvSpPr>
            <p:cNvPr id="8" name="Rectangle 8"/>
            <p:cNvSpPr/>
            <p:nvPr/>
          </p:nvSpPr>
          <p:spPr>
            <a:xfrm>
              <a:off x="10723531" y="190500"/>
              <a:ext cx="1239869" cy="276225"/>
            </a:xfrm>
            <a:prstGeom prst="rect">
              <a:avLst/>
            </a:prstGeom>
            <a:noFill/>
            <a:ln>
              <a:noFill/>
            </a:ln>
          </p:spPr>
        </p:sp>
        <p:sp>
          <p:nvSpPr>
            <p:cNvPr id="9" name="Line 9"/>
            <p:cNvSpPr/>
            <p:nvPr/>
          </p:nvSpPr>
          <p:spPr>
            <a:xfrm>
              <a:off x="10723531" y="190500"/>
              <a:ext cx="1239869" cy="9525"/>
            </a:xfrm>
            <a:custGeom>
              <a:avLst/>
              <a:gdLst/>
              <a:ahLst/>
              <a:cxnLst/>
              <a:rect l="l" t="t" r="r" b="b"/>
              <a:pathLst>
                <a:path w="1239869" h="9525">
                  <a:moveTo>
                    <a:pt x="0" y="0"/>
                  </a:moveTo>
                  <a:lnTo>
                    <a:pt x="1239869" y="0"/>
                  </a:lnTo>
                </a:path>
              </a:pathLst>
            </a:custGeom>
            <a:noFill/>
            <a:ln w="9525">
              <a:solidFill>
                <a:srgbClr val="0070F3">
                  <a:alpha val="30000"/>
                </a:srgbClr>
              </a:solidFill>
            </a:ln>
          </p:spPr>
        </p:sp>
        <p:sp>
          <p:nvSpPr>
            <p:cNvPr id="10" name="Line 10"/>
            <p:cNvSpPr/>
            <p:nvPr/>
          </p:nvSpPr>
          <p:spPr>
            <a:xfrm>
              <a:off x="11963400" y="190500"/>
              <a:ext cx="9525" cy="276225"/>
            </a:xfrm>
            <a:custGeom>
              <a:avLst/>
              <a:gdLst/>
              <a:ahLst/>
              <a:cxnLst/>
              <a:rect l="l" t="t" r="r" b="b"/>
              <a:pathLst>
                <a:path w="9525" h="276225">
                  <a:moveTo>
                    <a:pt x="0" y="0"/>
                  </a:moveTo>
                  <a:lnTo>
                    <a:pt x="0" y="276225"/>
                  </a:lnTo>
                </a:path>
              </a:pathLst>
            </a:custGeom>
            <a:noFill/>
            <a:ln w="9525">
              <a:solidFill>
                <a:srgbClr val="0070F3">
                  <a:alpha val="30000"/>
                </a:srgbClr>
              </a:solidFill>
            </a:ln>
          </p:spPr>
        </p:sp>
        <p:sp>
          <p:nvSpPr>
            <p:cNvPr id="11" name="Line 11"/>
            <p:cNvSpPr/>
            <p:nvPr/>
          </p:nvSpPr>
          <p:spPr>
            <a:xfrm>
              <a:off x="10723531" y="466725"/>
              <a:ext cx="1239869" cy="9525"/>
            </a:xfrm>
            <a:custGeom>
              <a:avLst/>
              <a:gdLst/>
              <a:ahLst/>
              <a:cxnLst/>
              <a:rect l="l" t="t" r="r" b="b"/>
              <a:pathLst>
                <a:path w="1239869" h="9525">
                  <a:moveTo>
                    <a:pt x="0" y="0"/>
                  </a:moveTo>
                  <a:lnTo>
                    <a:pt x="1239869" y="0"/>
                  </a:lnTo>
                </a:path>
              </a:pathLst>
            </a:custGeom>
            <a:noFill/>
            <a:ln w="9525">
              <a:solidFill>
                <a:srgbClr val="0070F3">
                  <a:alpha val="30000"/>
                </a:srgbClr>
              </a:solidFill>
            </a:ln>
          </p:spPr>
        </p:sp>
        <p:sp>
          <p:nvSpPr>
            <p:cNvPr id="12" name="Line 12"/>
            <p:cNvSpPr/>
            <p:nvPr/>
          </p:nvSpPr>
          <p:spPr>
            <a:xfrm>
              <a:off x="10723531" y="190500"/>
              <a:ext cx="9525" cy="276225"/>
            </a:xfrm>
            <a:custGeom>
              <a:avLst/>
              <a:gdLst/>
              <a:ahLst/>
              <a:cxnLst/>
              <a:rect l="l" t="t" r="r" b="b"/>
              <a:pathLst>
                <a:path w="9525" h="276225">
                  <a:moveTo>
                    <a:pt x="0" y="0"/>
                  </a:moveTo>
                  <a:lnTo>
                    <a:pt x="0" y="276225"/>
                  </a:lnTo>
                </a:path>
              </a:pathLst>
            </a:custGeom>
            <a:noFill/>
            <a:ln w="9525">
              <a:solidFill>
                <a:srgbClr val="0070F3">
                  <a:alpha val="30000"/>
                </a:srgbClr>
              </a:solidFill>
            </a:ln>
          </p:spPr>
        </p:sp>
        <p:sp>
          <p:nvSpPr>
            <p:cNvPr id="13" name="TextBox 13"/>
            <p:cNvSpPr txBox="1"/>
            <p:nvPr/>
          </p:nvSpPr>
          <p:spPr>
            <a:xfrm>
              <a:off x="10808303" y="263366"/>
              <a:ext cx="1153573"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AI能力跃升·算力竞争</a:t>
              </a:r>
              <a:endParaRPr lang="zh-CN" sz="825" dirty="0">
                <a:solidFill>
                  <a:srgbClr val="0070F3"/>
                </a:solidFill>
                <a:latin typeface="Arial" panose="020B0604020202090204"/>
                <a:ea typeface="微软雅黑"/>
                <a:cs typeface="Arial" panose="020B0604020202090204"/>
              </a:endParaRPr>
            </a:p>
          </p:txBody>
        </p:sp>
        <p:sp>
          <p:nvSpPr>
            <p:cNvPr id="14" name="Rectangle 14"/>
            <p:cNvSpPr/>
            <p:nvPr/>
          </p:nvSpPr>
          <p:spPr>
            <a:xfrm>
              <a:off x="228600" y="774382"/>
              <a:ext cx="3848100" cy="847725"/>
            </a:xfrm>
            <a:prstGeom prst="rect">
              <a:avLst/>
            </a:prstGeom>
            <a:noFill/>
            <a:ln>
              <a:noFill/>
            </a:ln>
          </p:spPr>
        </p:sp>
        <p:sp>
          <p:nvSpPr>
            <p:cNvPr id="15" name="Line 15"/>
            <p:cNvSpPr/>
            <p:nvPr/>
          </p:nvSpPr>
          <p:spPr>
            <a:xfrm>
              <a:off x="228600" y="774382"/>
              <a:ext cx="3848100" cy="9525"/>
            </a:xfrm>
            <a:custGeom>
              <a:avLst/>
              <a:gdLst/>
              <a:ahLst/>
              <a:cxnLst/>
              <a:rect l="l" t="t" r="r" b="b"/>
              <a:pathLst>
                <a:path w="3848100" h="9525">
                  <a:moveTo>
                    <a:pt x="0" y="0"/>
                  </a:moveTo>
                  <a:lnTo>
                    <a:pt x="3848100" y="0"/>
                  </a:lnTo>
                </a:path>
              </a:pathLst>
            </a:custGeom>
            <a:noFill/>
            <a:ln w="9525">
              <a:solidFill>
                <a:srgbClr val="0070F3">
                  <a:alpha val="18000"/>
                </a:srgbClr>
              </a:solidFill>
            </a:ln>
          </p:spPr>
        </p:sp>
        <p:sp>
          <p:nvSpPr>
            <p:cNvPr id="16" name="Line 16"/>
            <p:cNvSpPr/>
            <p:nvPr/>
          </p:nvSpPr>
          <p:spPr>
            <a:xfrm>
              <a:off x="4076700" y="774382"/>
              <a:ext cx="9525" cy="847725"/>
            </a:xfrm>
            <a:custGeom>
              <a:avLst/>
              <a:gdLst/>
              <a:ahLst/>
              <a:cxnLst/>
              <a:rect l="l" t="t" r="r" b="b"/>
              <a:pathLst>
                <a:path w="9525" h="847725">
                  <a:moveTo>
                    <a:pt x="0" y="0"/>
                  </a:moveTo>
                  <a:lnTo>
                    <a:pt x="0" y="847725"/>
                  </a:lnTo>
                </a:path>
              </a:pathLst>
            </a:custGeom>
            <a:noFill/>
            <a:ln w="9525">
              <a:solidFill>
                <a:srgbClr val="0070F3">
                  <a:alpha val="18000"/>
                </a:srgbClr>
              </a:solidFill>
            </a:ln>
          </p:spPr>
        </p:sp>
        <p:sp>
          <p:nvSpPr>
            <p:cNvPr id="17" name="Line 17"/>
            <p:cNvSpPr/>
            <p:nvPr/>
          </p:nvSpPr>
          <p:spPr>
            <a:xfrm>
              <a:off x="228600" y="1622108"/>
              <a:ext cx="3848100" cy="9525"/>
            </a:xfrm>
            <a:custGeom>
              <a:avLst/>
              <a:gdLst/>
              <a:ahLst/>
              <a:cxnLst/>
              <a:rect l="l" t="t" r="r" b="b"/>
              <a:pathLst>
                <a:path w="3848100" h="9525">
                  <a:moveTo>
                    <a:pt x="0" y="0"/>
                  </a:moveTo>
                  <a:lnTo>
                    <a:pt x="3848100" y="0"/>
                  </a:lnTo>
                </a:path>
              </a:pathLst>
            </a:custGeom>
            <a:noFill/>
            <a:ln w="9525">
              <a:solidFill>
                <a:srgbClr val="0070F3">
                  <a:alpha val="18000"/>
                </a:srgbClr>
              </a:solidFill>
            </a:ln>
          </p:spPr>
        </p:sp>
        <p:sp>
          <p:nvSpPr>
            <p:cNvPr id="18" name="Line 18"/>
            <p:cNvSpPr/>
            <p:nvPr/>
          </p:nvSpPr>
          <p:spPr>
            <a:xfrm>
              <a:off x="228600" y="774382"/>
              <a:ext cx="9525" cy="847725"/>
            </a:xfrm>
            <a:custGeom>
              <a:avLst/>
              <a:gdLst/>
              <a:ahLst/>
              <a:cxnLst/>
              <a:rect l="l" t="t" r="r" b="b"/>
              <a:pathLst>
                <a:path w="9525" h="847725">
                  <a:moveTo>
                    <a:pt x="0" y="0"/>
                  </a:moveTo>
                  <a:lnTo>
                    <a:pt x="0" y="847725"/>
                  </a:lnTo>
                </a:path>
              </a:pathLst>
            </a:custGeom>
            <a:noFill/>
            <a:ln w="9525">
              <a:solidFill>
                <a:srgbClr val="0070F3">
                  <a:alpha val="18000"/>
                </a:srgbClr>
              </a:solidFill>
            </a:ln>
          </p:spPr>
        </p:sp>
        <p:sp>
          <p:nvSpPr>
            <p:cNvPr id="19" name="TextBox 19"/>
            <p:cNvSpPr txBox="1"/>
            <p:nvPr/>
          </p:nvSpPr>
          <p:spPr>
            <a:xfrm>
              <a:off x="361950" y="912495"/>
              <a:ext cx="676275"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训练成本增长</a:t>
              </a:r>
              <a:endParaRPr lang="zh-CN" sz="750" dirty="0">
                <a:solidFill>
                  <a:srgbClr val="94A3B8"/>
                </a:solidFill>
                <a:latin typeface="Arial" panose="020B0604020202090204"/>
                <a:ea typeface="微软雅黑"/>
                <a:cs typeface="Arial" panose="020B0604020202090204"/>
              </a:endParaRPr>
            </a:p>
          </p:txBody>
        </p:sp>
        <p:sp>
          <p:nvSpPr>
            <p:cNvPr id="20" name="TextBox 20"/>
            <p:cNvSpPr txBox="1"/>
            <p:nvPr/>
          </p:nvSpPr>
          <p:spPr>
            <a:xfrm>
              <a:off x="352425" y="1098232"/>
              <a:ext cx="1659803" cy="304800"/>
            </a:xfrm>
            <a:prstGeom prst="rect">
              <a:avLst/>
            </a:prstGeom>
            <a:noFill/>
            <a:ln>
              <a:noFill/>
            </a:ln>
          </p:spPr>
          <p:txBody>
            <a:bodyPr wrap="none" lIns="0" tIns="0" rIns="0" bIns="0" anchor="t" anchorCtr="0">
              <a:spAutoFit/>
            </a:bodyPr>
            <a:lstStyle/>
            <a:p>
              <a:pPr algn="l"/>
              <a:r>
                <a:rPr lang="zh-CN" sz="1500" b="1" dirty="0">
                  <a:solidFill>
                    <a:srgbClr val="0A0A0A"/>
                  </a:solidFill>
                  <a:latin typeface="Arial" panose="020B0604020202090204"/>
                  <a:ea typeface="微软雅黑"/>
                  <a:cs typeface="Arial" panose="020B0604020202090204"/>
                </a:rPr>
                <a:t>$ 45万→$ 1.91亿</a:t>
              </a:r>
              <a:endParaRPr lang="zh-CN" sz="1500" b="1" dirty="0">
                <a:solidFill>
                  <a:srgbClr val="0A0A0A"/>
                </a:solidFill>
                <a:latin typeface="Arial" panose="020B0604020202090204"/>
                <a:ea typeface="微软雅黑"/>
                <a:cs typeface="Arial" panose="020B0604020202090204"/>
              </a:endParaRPr>
            </a:p>
          </p:txBody>
        </p:sp>
        <p:sp>
          <p:nvSpPr>
            <p:cNvPr id="21" name="TextBox 21"/>
            <p:cNvSpPr txBox="1"/>
            <p:nvPr/>
          </p:nvSpPr>
          <p:spPr>
            <a:xfrm>
              <a:off x="361950" y="1379220"/>
              <a:ext cx="1097994" cy="152400"/>
            </a:xfrm>
            <a:prstGeom prst="rect">
              <a:avLst/>
            </a:prstGeom>
            <a:noFill/>
            <a:ln>
              <a:noFill/>
            </a:ln>
          </p:spPr>
          <p:txBody>
            <a:bodyPr wrap="none" lIns="0" tIns="0" rIns="0" bIns="0" anchor="t" anchorCtr="0">
              <a:spAutoFit/>
            </a:bodyPr>
            <a:lstStyle/>
            <a:p>
              <a:pPr algn="l"/>
              <a:r>
                <a:rPr lang="zh-CN" sz="750" dirty="0">
                  <a:solidFill>
                    <a:srgbClr val="0070F3"/>
                  </a:solidFill>
                  <a:latin typeface="Arial" panose="020B0604020202090204"/>
                  <a:ea typeface="微软雅黑"/>
                  <a:cs typeface="Arial" panose="020B0604020202090204"/>
                </a:rPr>
                <a:t>GPT-2至 Gemini Ultra</a:t>
              </a:r>
              <a:endParaRPr lang="zh-CN" sz="750" dirty="0">
                <a:solidFill>
                  <a:srgbClr val="0070F3"/>
                </a:solidFill>
                <a:latin typeface="Arial" panose="020B0604020202090204"/>
                <a:ea typeface="微软雅黑"/>
                <a:cs typeface="Arial" panose="020B0604020202090204"/>
              </a:endParaRPr>
            </a:p>
          </p:txBody>
        </p:sp>
        <p:sp>
          <p:nvSpPr>
            <p:cNvPr id="22" name="Rectangle 22"/>
            <p:cNvSpPr/>
            <p:nvPr/>
          </p:nvSpPr>
          <p:spPr>
            <a:xfrm>
              <a:off x="4171950" y="774382"/>
              <a:ext cx="3848100" cy="847725"/>
            </a:xfrm>
            <a:prstGeom prst="rect">
              <a:avLst/>
            </a:prstGeom>
            <a:noFill/>
            <a:ln>
              <a:noFill/>
            </a:ln>
          </p:spPr>
        </p:sp>
        <p:sp>
          <p:nvSpPr>
            <p:cNvPr id="23" name="Line 23"/>
            <p:cNvSpPr/>
            <p:nvPr/>
          </p:nvSpPr>
          <p:spPr>
            <a:xfrm>
              <a:off x="4171950" y="774382"/>
              <a:ext cx="3848100" cy="9525"/>
            </a:xfrm>
            <a:custGeom>
              <a:avLst/>
              <a:gdLst/>
              <a:ahLst/>
              <a:cxnLst/>
              <a:rect l="l" t="t" r="r" b="b"/>
              <a:pathLst>
                <a:path w="3848100" h="9525">
                  <a:moveTo>
                    <a:pt x="0" y="0"/>
                  </a:moveTo>
                  <a:lnTo>
                    <a:pt x="3848100" y="0"/>
                  </a:lnTo>
                </a:path>
              </a:pathLst>
            </a:custGeom>
            <a:noFill/>
            <a:ln w="9525">
              <a:solidFill>
                <a:srgbClr val="0070F3">
                  <a:alpha val="18000"/>
                </a:srgbClr>
              </a:solidFill>
            </a:ln>
          </p:spPr>
        </p:sp>
        <p:sp>
          <p:nvSpPr>
            <p:cNvPr id="24" name="Line 24"/>
            <p:cNvSpPr/>
            <p:nvPr/>
          </p:nvSpPr>
          <p:spPr>
            <a:xfrm>
              <a:off x="8020050" y="774382"/>
              <a:ext cx="9525" cy="847725"/>
            </a:xfrm>
            <a:custGeom>
              <a:avLst/>
              <a:gdLst/>
              <a:ahLst/>
              <a:cxnLst/>
              <a:rect l="l" t="t" r="r" b="b"/>
              <a:pathLst>
                <a:path w="9525" h="847725">
                  <a:moveTo>
                    <a:pt x="0" y="0"/>
                  </a:moveTo>
                  <a:lnTo>
                    <a:pt x="0" y="847725"/>
                  </a:lnTo>
                </a:path>
              </a:pathLst>
            </a:custGeom>
            <a:noFill/>
            <a:ln w="9525">
              <a:solidFill>
                <a:srgbClr val="0070F3">
                  <a:alpha val="18000"/>
                </a:srgbClr>
              </a:solidFill>
            </a:ln>
          </p:spPr>
        </p:sp>
        <p:sp>
          <p:nvSpPr>
            <p:cNvPr id="25" name="Line 25"/>
            <p:cNvSpPr/>
            <p:nvPr/>
          </p:nvSpPr>
          <p:spPr>
            <a:xfrm>
              <a:off x="4171950" y="1622108"/>
              <a:ext cx="3848100" cy="9525"/>
            </a:xfrm>
            <a:custGeom>
              <a:avLst/>
              <a:gdLst/>
              <a:ahLst/>
              <a:cxnLst/>
              <a:rect l="l" t="t" r="r" b="b"/>
              <a:pathLst>
                <a:path w="3848100" h="9525">
                  <a:moveTo>
                    <a:pt x="0" y="0"/>
                  </a:moveTo>
                  <a:lnTo>
                    <a:pt x="3848100" y="0"/>
                  </a:lnTo>
                </a:path>
              </a:pathLst>
            </a:custGeom>
            <a:noFill/>
            <a:ln w="9525">
              <a:solidFill>
                <a:srgbClr val="0070F3">
                  <a:alpha val="18000"/>
                </a:srgbClr>
              </a:solidFill>
            </a:ln>
          </p:spPr>
        </p:sp>
        <p:sp>
          <p:nvSpPr>
            <p:cNvPr id="26" name="Line 26"/>
            <p:cNvSpPr/>
            <p:nvPr/>
          </p:nvSpPr>
          <p:spPr>
            <a:xfrm>
              <a:off x="4171950" y="774382"/>
              <a:ext cx="9525" cy="847725"/>
            </a:xfrm>
            <a:custGeom>
              <a:avLst/>
              <a:gdLst/>
              <a:ahLst/>
              <a:cxnLst/>
              <a:rect l="l" t="t" r="r" b="b"/>
              <a:pathLst>
                <a:path w="9525" h="847725">
                  <a:moveTo>
                    <a:pt x="0" y="0"/>
                  </a:moveTo>
                  <a:lnTo>
                    <a:pt x="0" y="847725"/>
                  </a:lnTo>
                </a:path>
              </a:pathLst>
            </a:custGeom>
            <a:noFill/>
            <a:ln w="9525">
              <a:solidFill>
                <a:srgbClr val="0070F3">
                  <a:alpha val="18000"/>
                </a:srgbClr>
              </a:solidFill>
            </a:ln>
          </p:spPr>
        </p:sp>
        <p:sp>
          <p:nvSpPr>
            <p:cNvPr id="27" name="TextBox 27"/>
            <p:cNvSpPr txBox="1"/>
            <p:nvPr/>
          </p:nvSpPr>
          <p:spPr>
            <a:xfrm>
              <a:off x="4305300" y="912495"/>
              <a:ext cx="769382"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AI超越人类领域</a:t>
              </a:r>
              <a:endParaRPr lang="zh-CN" sz="750" dirty="0">
                <a:solidFill>
                  <a:srgbClr val="94A3B8"/>
                </a:solidFill>
                <a:latin typeface="Arial" panose="020B0604020202090204"/>
                <a:ea typeface="微软雅黑"/>
                <a:cs typeface="Arial" panose="020B0604020202090204"/>
              </a:endParaRPr>
            </a:p>
          </p:txBody>
        </p:sp>
        <p:sp>
          <p:nvSpPr>
            <p:cNvPr id="28" name="TextBox 28"/>
            <p:cNvSpPr txBox="1"/>
            <p:nvPr/>
          </p:nvSpPr>
          <p:spPr>
            <a:xfrm>
              <a:off x="4295775" y="1098232"/>
              <a:ext cx="1441275" cy="304800"/>
            </a:xfrm>
            <a:prstGeom prst="rect">
              <a:avLst/>
            </a:prstGeom>
            <a:noFill/>
            <a:ln>
              <a:noFill/>
            </a:ln>
          </p:spPr>
          <p:txBody>
            <a:bodyPr wrap="none" lIns="0" tIns="0" rIns="0" bIns="0" anchor="t" anchorCtr="0">
              <a:spAutoFit/>
            </a:bodyPr>
            <a:lstStyle/>
            <a:p>
              <a:pPr algn="l"/>
              <a:r>
                <a:rPr lang="zh-CN" sz="1500" b="1" dirty="0">
                  <a:solidFill>
                    <a:srgbClr val="0A0A0A"/>
                  </a:solidFill>
                  <a:latin typeface="Arial" panose="020B0604020202090204"/>
                  <a:ea typeface="微软雅黑"/>
                  <a:cs typeface="Arial" panose="020B0604020202090204"/>
                </a:rPr>
                <a:t>9+项基准测试</a:t>
              </a:r>
              <a:endParaRPr lang="zh-CN" sz="1500" b="1" dirty="0">
                <a:solidFill>
                  <a:srgbClr val="0A0A0A"/>
                </a:solidFill>
                <a:latin typeface="Arial" panose="020B0604020202090204"/>
                <a:ea typeface="微软雅黑"/>
                <a:cs typeface="Arial" panose="020B0604020202090204"/>
              </a:endParaRPr>
            </a:p>
          </p:txBody>
        </p:sp>
        <p:sp>
          <p:nvSpPr>
            <p:cNvPr id="29" name="TextBox 29"/>
            <p:cNvSpPr txBox="1"/>
            <p:nvPr/>
          </p:nvSpPr>
          <p:spPr>
            <a:xfrm>
              <a:off x="4305300" y="1379220"/>
              <a:ext cx="1114425" cy="152400"/>
            </a:xfrm>
            <a:prstGeom prst="rect">
              <a:avLst/>
            </a:prstGeom>
            <a:noFill/>
            <a:ln>
              <a:noFill/>
            </a:ln>
          </p:spPr>
          <p:txBody>
            <a:bodyPr wrap="none" lIns="0" tIns="0" rIns="0" bIns="0" anchor="t" anchorCtr="0">
              <a:spAutoFit/>
            </a:bodyPr>
            <a:lstStyle/>
            <a:p>
              <a:pPr algn="l"/>
              <a:r>
                <a:rPr lang="zh-CN" sz="750" dirty="0">
                  <a:solidFill>
                    <a:srgbClr val="0070F3"/>
                  </a:solidFill>
                  <a:latin typeface="Arial" panose="020B0604020202090204"/>
                  <a:ea typeface="微软雅黑"/>
                  <a:cs typeface="Arial" panose="020B0604020202090204"/>
                </a:rPr>
                <a:t>图像分类、视觉推理等</a:t>
              </a:r>
              <a:endParaRPr lang="zh-CN" sz="750" dirty="0">
                <a:solidFill>
                  <a:srgbClr val="0070F3"/>
                </a:solidFill>
                <a:latin typeface="Arial" panose="020B0604020202090204"/>
                <a:ea typeface="微软雅黑"/>
                <a:cs typeface="Arial" panose="020B0604020202090204"/>
              </a:endParaRPr>
            </a:p>
          </p:txBody>
        </p:sp>
        <p:sp>
          <p:nvSpPr>
            <p:cNvPr id="30" name="Rectangle 30"/>
            <p:cNvSpPr/>
            <p:nvPr/>
          </p:nvSpPr>
          <p:spPr>
            <a:xfrm>
              <a:off x="8115300" y="774382"/>
              <a:ext cx="3848100" cy="847725"/>
            </a:xfrm>
            <a:prstGeom prst="rect">
              <a:avLst/>
            </a:prstGeom>
            <a:noFill/>
            <a:ln>
              <a:noFill/>
            </a:ln>
          </p:spPr>
        </p:sp>
        <p:sp>
          <p:nvSpPr>
            <p:cNvPr id="31" name="Line 31"/>
            <p:cNvSpPr/>
            <p:nvPr/>
          </p:nvSpPr>
          <p:spPr>
            <a:xfrm>
              <a:off x="8115300" y="774382"/>
              <a:ext cx="3848100" cy="9525"/>
            </a:xfrm>
            <a:custGeom>
              <a:avLst/>
              <a:gdLst/>
              <a:ahLst/>
              <a:cxnLst/>
              <a:rect l="l" t="t" r="r" b="b"/>
              <a:pathLst>
                <a:path w="3848100" h="9525">
                  <a:moveTo>
                    <a:pt x="0" y="0"/>
                  </a:moveTo>
                  <a:lnTo>
                    <a:pt x="3848100" y="0"/>
                  </a:lnTo>
                </a:path>
              </a:pathLst>
            </a:custGeom>
            <a:noFill/>
            <a:ln w="9525">
              <a:solidFill>
                <a:srgbClr val="0070F3">
                  <a:alpha val="18000"/>
                </a:srgbClr>
              </a:solidFill>
            </a:ln>
          </p:spPr>
        </p:sp>
        <p:sp>
          <p:nvSpPr>
            <p:cNvPr id="32" name="Line 32"/>
            <p:cNvSpPr/>
            <p:nvPr/>
          </p:nvSpPr>
          <p:spPr>
            <a:xfrm>
              <a:off x="11963400" y="774382"/>
              <a:ext cx="9525" cy="847725"/>
            </a:xfrm>
            <a:custGeom>
              <a:avLst/>
              <a:gdLst/>
              <a:ahLst/>
              <a:cxnLst/>
              <a:rect l="l" t="t" r="r" b="b"/>
              <a:pathLst>
                <a:path w="9525" h="847725">
                  <a:moveTo>
                    <a:pt x="0" y="0"/>
                  </a:moveTo>
                  <a:lnTo>
                    <a:pt x="0" y="847725"/>
                  </a:lnTo>
                </a:path>
              </a:pathLst>
            </a:custGeom>
            <a:noFill/>
            <a:ln w="9525">
              <a:solidFill>
                <a:srgbClr val="0070F3">
                  <a:alpha val="18000"/>
                </a:srgbClr>
              </a:solidFill>
            </a:ln>
          </p:spPr>
        </p:sp>
        <p:sp>
          <p:nvSpPr>
            <p:cNvPr id="33" name="Line 33"/>
            <p:cNvSpPr/>
            <p:nvPr/>
          </p:nvSpPr>
          <p:spPr>
            <a:xfrm>
              <a:off x="8115300" y="1622108"/>
              <a:ext cx="3848100" cy="9525"/>
            </a:xfrm>
            <a:custGeom>
              <a:avLst/>
              <a:gdLst/>
              <a:ahLst/>
              <a:cxnLst/>
              <a:rect l="l" t="t" r="r" b="b"/>
              <a:pathLst>
                <a:path w="3848100" h="9525">
                  <a:moveTo>
                    <a:pt x="0" y="0"/>
                  </a:moveTo>
                  <a:lnTo>
                    <a:pt x="3848100" y="0"/>
                  </a:lnTo>
                </a:path>
              </a:pathLst>
            </a:custGeom>
            <a:noFill/>
            <a:ln w="9525">
              <a:solidFill>
                <a:srgbClr val="0070F3">
                  <a:alpha val="18000"/>
                </a:srgbClr>
              </a:solidFill>
            </a:ln>
          </p:spPr>
        </p:sp>
        <p:sp>
          <p:nvSpPr>
            <p:cNvPr id="34" name="Line 34"/>
            <p:cNvSpPr/>
            <p:nvPr/>
          </p:nvSpPr>
          <p:spPr>
            <a:xfrm>
              <a:off x="8115300" y="774382"/>
              <a:ext cx="9525" cy="847725"/>
            </a:xfrm>
            <a:custGeom>
              <a:avLst/>
              <a:gdLst/>
              <a:ahLst/>
              <a:cxnLst/>
              <a:rect l="l" t="t" r="r" b="b"/>
              <a:pathLst>
                <a:path w="9525" h="847725">
                  <a:moveTo>
                    <a:pt x="0" y="0"/>
                  </a:moveTo>
                  <a:lnTo>
                    <a:pt x="0" y="847725"/>
                  </a:lnTo>
                </a:path>
              </a:pathLst>
            </a:custGeom>
            <a:noFill/>
            <a:ln w="9525">
              <a:solidFill>
                <a:srgbClr val="0070F3">
                  <a:alpha val="18000"/>
                </a:srgbClr>
              </a:solidFill>
            </a:ln>
          </p:spPr>
        </p:sp>
        <p:sp>
          <p:nvSpPr>
            <p:cNvPr id="35" name="TextBox 35"/>
            <p:cNvSpPr txBox="1"/>
            <p:nvPr/>
          </p:nvSpPr>
          <p:spPr>
            <a:xfrm>
              <a:off x="8248650" y="912495"/>
              <a:ext cx="807720"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2023年模型来源</a:t>
              </a:r>
              <a:endParaRPr lang="zh-CN" sz="750" dirty="0">
                <a:solidFill>
                  <a:srgbClr val="94A3B8"/>
                </a:solidFill>
                <a:latin typeface="Arial" panose="020B0604020202090204"/>
                <a:ea typeface="微软雅黑"/>
                <a:cs typeface="Arial" panose="020B0604020202090204"/>
              </a:endParaRPr>
            </a:p>
          </p:txBody>
        </p:sp>
        <p:sp>
          <p:nvSpPr>
            <p:cNvPr id="36" name="TextBox 36"/>
            <p:cNvSpPr txBox="1"/>
            <p:nvPr/>
          </p:nvSpPr>
          <p:spPr>
            <a:xfrm>
              <a:off x="8239125" y="1098232"/>
              <a:ext cx="2602921" cy="304800"/>
            </a:xfrm>
            <a:prstGeom prst="rect">
              <a:avLst/>
            </a:prstGeom>
            <a:noFill/>
            <a:ln>
              <a:noFill/>
            </a:ln>
          </p:spPr>
          <p:txBody>
            <a:bodyPr wrap="none" lIns="0" tIns="0" rIns="0" bIns="0" anchor="t" anchorCtr="0">
              <a:spAutoFit/>
            </a:bodyPr>
            <a:lstStyle/>
            <a:p>
              <a:pPr algn="l"/>
              <a:r>
                <a:rPr lang="zh-CN" sz="1500" b="1" dirty="0">
                  <a:solidFill>
                    <a:srgbClr val="0A0A0A"/>
                  </a:solidFill>
                  <a:latin typeface="Arial" panose="020B0604020202090204"/>
                  <a:ea typeface="微软雅黑"/>
                  <a:cs typeface="Arial" panose="020B0604020202090204"/>
                </a:rPr>
                <a:t>美国 61 /欧盟 21 /中国 15</a:t>
              </a:r>
              <a:endParaRPr lang="zh-CN" sz="1500" b="1" dirty="0">
                <a:solidFill>
                  <a:srgbClr val="0A0A0A"/>
                </a:solidFill>
                <a:latin typeface="Arial" panose="020B0604020202090204"/>
                <a:ea typeface="微软雅黑"/>
                <a:cs typeface="Arial" panose="020B0604020202090204"/>
              </a:endParaRPr>
            </a:p>
          </p:txBody>
        </p:sp>
        <p:sp>
          <p:nvSpPr>
            <p:cNvPr id="37" name="TextBox 37"/>
            <p:cNvSpPr txBox="1"/>
            <p:nvPr/>
          </p:nvSpPr>
          <p:spPr>
            <a:xfrm>
              <a:off x="8248650" y="1379220"/>
              <a:ext cx="895350" cy="152400"/>
            </a:xfrm>
            <a:prstGeom prst="rect">
              <a:avLst/>
            </a:prstGeom>
            <a:noFill/>
            <a:ln>
              <a:noFill/>
            </a:ln>
          </p:spPr>
          <p:txBody>
            <a:bodyPr wrap="none" lIns="0" tIns="0" rIns="0" bIns="0" anchor="t" anchorCtr="0">
              <a:spAutoFit/>
            </a:bodyPr>
            <a:lstStyle/>
            <a:p>
              <a:pPr algn="l"/>
              <a:r>
                <a:rPr lang="zh-CN" sz="750" dirty="0">
                  <a:solidFill>
                    <a:srgbClr val="0070F3"/>
                  </a:solidFill>
                  <a:latin typeface="Arial" panose="020B0604020202090204"/>
                  <a:ea typeface="微软雅黑"/>
                  <a:cs typeface="Arial" panose="020B0604020202090204"/>
                </a:rPr>
                <a:t>美国占据主导地位</a:t>
              </a:r>
              <a:endParaRPr lang="zh-CN" sz="750" dirty="0">
                <a:solidFill>
                  <a:srgbClr val="0070F3"/>
                </a:solidFill>
                <a:latin typeface="Arial" panose="020B0604020202090204"/>
                <a:ea typeface="微软雅黑"/>
                <a:cs typeface="Arial" panose="020B0604020202090204"/>
              </a:endParaRPr>
            </a:p>
          </p:txBody>
        </p:sp>
        <p:sp>
          <p:nvSpPr>
            <p:cNvPr id="38" name="Rectangle 38"/>
            <p:cNvSpPr/>
            <p:nvPr/>
          </p:nvSpPr>
          <p:spPr>
            <a:xfrm>
              <a:off x="228600" y="1736408"/>
              <a:ext cx="3848100" cy="2481262"/>
            </a:xfrm>
            <a:prstGeom prst="rect">
              <a:avLst/>
            </a:prstGeom>
            <a:noFill/>
            <a:ln>
              <a:noFill/>
            </a:ln>
          </p:spPr>
        </p:sp>
        <p:sp>
          <p:nvSpPr>
            <p:cNvPr id="39" name="Line 39"/>
            <p:cNvSpPr/>
            <p:nvPr/>
          </p:nvSpPr>
          <p:spPr>
            <a:xfrm>
              <a:off x="228600" y="1736408"/>
              <a:ext cx="3848100" cy="9525"/>
            </a:xfrm>
            <a:custGeom>
              <a:avLst/>
              <a:gdLst/>
              <a:ahLst/>
              <a:cxnLst/>
              <a:rect l="l" t="t" r="r" b="b"/>
              <a:pathLst>
                <a:path w="3848100" h="9525">
                  <a:moveTo>
                    <a:pt x="0" y="0"/>
                  </a:moveTo>
                  <a:lnTo>
                    <a:pt x="3848100" y="0"/>
                  </a:lnTo>
                </a:path>
              </a:pathLst>
            </a:custGeom>
            <a:noFill/>
            <a:ln w="9525">
              <a:solidFill>
                <a:srgbClr val="0070F3">
                  <a:alpha val="14000"/>
                </a:srgbClr>
              </a:solidFill>
            </a:ln>
          </p:spPr>
        </p:sp>
        <p:sp>
          <p:nvSpPr>
            <p:cNvPr id="40" name="Line 40"/>
            <p:cNvSpPr/>
            <p:nvPr/>
          </p:nvSpPr>
          <p:spPr>
            <a:xfrm>
              <a:off x="4076700" y="1736408"/>
              <a:ext cx="9525" cy="2481262"/>
            </a:xfrm>
            <a:custGeom>
              <a:avLst/>
              <a:gdLst/>
              <a:ahLst/>
              <a:cxnLst/>
              <a:rect l="l" t="t" r="r" b="b"/>
              <a:pathLst>
                <a:path w="9525" h="2481262">
                  <a:moveTo>
                    <a:pt x="0" y="0"/>
                  </a:moveTo>
                  <a:lnTo>
                    <a:pt x="0" y="2481262"/>
                  </a:lnTo>
                </a:path>
              </a:pathLst>
            </a:custGeom>
            <a:noFill/>
            <a:ln w="9525">
              <a:solidFill>
                <a:srgbClr val="0070F3">
                  <a:alpha val="14000"/>
                </a:srgbClr>
              </a:solidFill>
            </a:ln>
          </p:spPr>
        </p:sp>
        <p:sp>
          <p:nvSpPr>
            <p:cNvPr id="41" name="Line 41"/>
            <p:cNvSpPr/>
            <p:nvPr/>
          </p:nvSpPr>
          <p:spPr>
            <a:xfrm>
              <a:off x="228600" y="4217670"/>
              <a:ext cx="3848100" cy="9525"/>
            </a:xfrm>
            <a:custGeom>
              <a:avLst/>
              <a:gdLst/>
              <a:ahLst/>
              <a:cxnLst/>
              <a:rect l="l" t="t" r="r" b="b"/>
              <a:pathLst>
                <a:path w="3848100" h="9525">
                  <a:moveTo>
                    <a:pt x="0" y="0"/>
                  </a:moveTo>
                  <a:lnTo>
                    <a:pt x="3848100" y="0"/>
                  </a:lnTo>
                </a:path>
              </a:pathLst>
            </a:custGeom>
            <a:noFill/>
            <a:ln w="9525">
              <a:solidFill>
                <a:srgbClr val="0070F3">
                  <a:alpha val="14000"/>
                </a:srgbClr>
              </a:solidFill>
            </a:ln>
          </p:spPr>
        </p:sp>
        <p:sp>
          <p:nvSpPr>
            <p:cNvPr id="42" name="Line 42"/>
            <p:cNvSpPr/>
            <p:nvPr/>
          </p:nvSpPr>
          <p:spPr>
            <a:xfrm>
              <a:off x="228600" y="1736408"/>
              <a:ext cx="9525" cy="2481262"/>
            </a:xfrm>
            <a:custGeom>
              <a:avLst/>
              <a:gdLst/>
              <a:ahLst/>
              <a:cxnLst/>
              <a:rect l="l" t="t" r="r" b="b"/>
              <a:pathLst>
                <a:path w="9525" h="2481262">
                  <a:moveTo>
                    <a:pt x="0" y="0"/>
                  </a:moveTo>
                  <a:lnTo>
                    <a:pt x="0" y="2481262"/>
                  </a:lnTo>
                </a:path>
              </a:pathLst>
            </a:custGeom>
            <a:noFill/>
            <a:ln w="9525">
              <a:solidFill>
                <a:srgbClr val="0070F3">
                  <a:alpha val="14000"/>
                </a:srgbClr>
              </a:solidFill>
            </a:ln>
          </p:spPr>
        </p:sp>
        <p:sp>
          <p:nvSpPr>
            <p:cNvPr id="43" name="TextBox 43"/>
            <p:cNvSpPr txBox="1"/>
            <p:nvPr/>
          </p:nvSpPr>
          <p:spPr>
            <a:xfrm>
              <a:off x="360045" y="1877378"/>
              <a:ext cx="1520347" cy="182880"/>
            </a:xfrm>
            <a:prstGeom prst="rect">
              <a:avLst/>
            </a:prstGeom>
            <a:noFill/>
            <a:ln>
              <a:noFill/>
            </a:ln>
          </p:spPr>
          <p:txBody>
            <a:bodyPr wrap="none" lIns="0" tIns="0" rIns="0" bIns="0" anchor="t" anchorCtr="0">
              <a:spAutoFit/>
            </a:bodyPr>
            <a:lstStyle/>
            <a:p>
              <a:pPr algn="l"/>
              <a:r>
                <a:rPr lang="zh-CN" sz="900" b="1" dirty="0">
                  <a:solidFill>
                    <a:srgbClr val="0A0A0A"/>
                  </a:solidFill>
                  <a:latin typeface="Arial" panose="020B0604020202090204"/>
                  <a:ea typeface="微软雅黑"/>
                  <a:cs typeface="Arial" panose="020B0604020202090204"/>
                </a:rPr>
                <a:t>AI模型训练成本增长曲线</a:t>
              </a:r>
              <a:endParaRPr lang="zh-CN" sz="900" b="1" dirty="0">
                <a:solidFill>
                  <a:srgbClr val="0A0A0A"/>
                </a:solidFill>
                <a:latin typeface="Arial" panose="020B0604020202090204"/>
                <a:ea typeface="微软雅黑"/>
                <a:cs typeface="Arial" panose="020B0604020202090204"/>
              </a:endParaRPr>
            </a:p>
          </p:txBody>
        </p:sp>
        <p:sp>
          <p:nvSpPr>
            <p:cNvPr id="44" name="TextBox 44"/>
            <p:cNvSpPr txBox="1"/>
            <p:nvPr/>
          </p:nvSpPr>
          <p:spPr>
            <a:xfrm>
              <a:off x="361950" y="2107882"/>
              <a:ext cx="785812"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指数级增长趋势</a:t>
              </a:r>
              <a:endParaRPr lang="zh-CN" sz="750" dirty="0">
                <a:solidFill>
                  <a:srgbClr val="94A3B8"/>
                </a:solidFill>
                <a:latin typeface="Arial" panose="020B0604020202090204"/>
                <a:ea typeface="微软雅黑"/>
                <a:cs typeface="Arial" panose="020B0604020202090204"/>
              </a:endParaRPr>
            </a:p>
          </p:txBody>
        </p:sp>
        <p:grpSp>
          <p:nvGrpSpPr>
            <p:cNvPr id="85" name="Group 85"/>
            <p:cNvGrpSpPr/>
            <p:nvPr/>
          </p:nvGrpSpPr>
          <p:grpSpPr>
            <a:xfrm>
              <a:off x="371475" y="2082165"/>
              <a:ext cx="3562350" cy="2011680"/>
              <a:chOff x="371475" y="2082165"/>
              <a:chExt cx="3562350" cy="2011680"/>
            </a:xfrm>
          </p:grpSpPr>
          <p:sp>
            <p:nvSpPr>
              <p:cNvPr id="45" name="Rectangle 45"/>
              <p:cNvSpPr/>
              <p:nvPr/>
            </p:nvSpPr>
            <p:spPr>
              <a:xfrm>
                <a:off x="371475" y="2303145"/>
                <a:ext cx="3562350" cy="1790700"/>
              </a:xfrm>
              <a:prstGeom prst="rect">
                <a:avLst/>
              </a:prstGeom>
              <a:noFill/>
              <a:ln>
                <a:noFill/>
              </a:ln>
            </p:spPr>
          </p:sp>
          <p:grpSp>
            <p:nvGrpSpPr>
              <p:cNvPr id="84" name="Group 84"/>
              <p:cNvGrpSpPr/>
              <p:nvPr/>
            </p:nvGrpSpPr>
            <p:grpSpPr>
              <a:xfrm>
                <a:off x="482060" y="2082165"/>
                <a:ext cx="3313653" cy="1975961"/>
                <a:chOff x="482060" y="2082165"/>
                <a:chExt cx="3313653" cy="1975961"/>
              </a:xfrm>
            </p:grpSpPr>
            <p:sp>
              <p:nvSpPr>
                <p:cNvPr id="46" name="Freeform 46"/>
                <p:cNvSpPr/>
                <p:nvPr/>
              </p:nvSpPr>
              <p:spPr>
                <a:xfrm>
                  <a:off x="828675" y="379380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47" name="Freeform 47"/>
                <p:cNvSpPr/>
                <p:nvPr/>
              </p:nvSpPr>
              <p:spPr>
                <a:xfrm>
                  <a:off x="828675" y="346995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48" name="Freeform 48"/>
                <p:cNvSpPr/>
                <p:nvPr/>
              </p:nvSpPr>
              <p:spPr>
                <a:xfrm>
                  <a:off x="828675" y="314610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49" name="Freeform 49"/>
                <p:cNvSpPr/>
                <p:nvPr/>
              </p:nvSpPr>
              <p:spPr>
                <a:xfrm>
                  <a:off x="828675" y="282225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50" name="Freeform 50"/>
                <p:cNvSpPr/>
                <p:nvPr/>
              </p:nvSpPr>
              <p:spPr>
                <a:xfrm>
                  <a:off x="828675" y="249840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51" name="TextBox 51"/>
                <p:cNvSpPr txBox="1"/>
                <p:nvPr/>
              </p:nvSpPr>
              <p:spPr>
                <a:xfrm>
                  <a:off x="554355" y="2082165"/>
                  <a:ext cx="548640"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Segoe UI"/>
                      <a:ea typeface="微软雅黑"/>
                      <a:cs typeface="Segoe UI"/>
                    </a:rPr>
                    <a:t>训练成本</a:t>
                  </a:r>
                  <a:endParaRPr lang="zh-CN" sz="900" dirty="0">
                    <a:solidFill>
                      <a:srgbClr val="475569"/>
                    </a:solidFill>
                    <a:latin typeface="Segoe UI"/>
                    <a:ea typeface="微软雅黑"/>
                    <a:cs typeface="Segoe UI"/>
                  </a:endParaRPr>
                </a:p>
              </p:txBody>
            </p:sp>
            <p:sp>
              <p:nvSpPr>
                <p:cNvPr id="52" name="TextBox 52"/>
                <p:cNvSpPr txBox="1"/>
                <p:nvPr/>
              </p:nvSpPr>
              <p:spPr>
                <a:xfrm>
                  <a:off x="482060" y="2196465"/>
                  <a:ext cx="693230"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Segoe UI"/>
                      <a:ea typeface="微软雅黑"/>
                      <a:cs typeface="Segoe UI"/>
                    </a:rPr>
                    <a:t>(百万美元)</a:t>
                  </a:r>
                  <a:endParaRPr lang="zh-CN" sz="900" dirty="0">
                    <a:solidFill>
                      <a:srgbClr val="475569"/>
                    </a:solidFill>
                    <a:latin typeface="Segoe UI"/>
                    <a:ea typeface="微软雅黑"/>
                    <a:cs typeface="Segoe UI"/>
                  </a:endParaRPr>
                </a:p>
              </p:txBody>
            </p:sp>
            <p:sp>
              <p:nvSpPr>
                <p:cNvPr id="53" name="Freeform 53"/>
                <p:cNvSpPr/>
                <p:nvPr/>
              </p:nvSpPr>
              <p:spPr>
                <a:xfrm>
                  <a:off x="828675" y="3793808"/>
                  <a:ext cx="2952750" cy="9525"/>
                </a:xfrm>
                <a:custGeom>
                  <a:avLst/>
                  <a:gdLst/>
                  <a:ahLst/>
                  <a:cxnLst/>
                  <a:rect l="l" t="t" r="r" b="b"/>
                  <a:pathLst>
                    <a:path w="2952750" h="9525">
                      <a:moveTo>
                        <a:pt x="0" y="0"/>
                      </a:moveTo>
                      <a:lnTo>
                        <a:pt x="2952750" y="0"/>
                      </a:lnTo>
                    </a:path>
                  </a:pathLst>
                </a:custGeom>
                <a:noFill/>
                <a:ln w="9525" cap="rnd">
                  <a:solidFill>
                    <a:srgbClr val="475569"/>
                  </a:solidFill>
                </a:ln>
              </p:spPr>
            </p:sp>
            <p:sp>
              <p:nvSpPr>
                <p:cNvPr id="54" name="Freeform 54"/>
                <p:cNvSpPr/>
                <p:nvPr/>
              </p:nvSpPr>
              <p:spPr>
                <a:xfrm>
                  <a:off x="833438" y="37890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55" name="Freeform 55"/>
                <p:cNvSpPr/>
                <p:nvPr/>
              </p:nvSpPr>
              <p:spPr>
                <a:xfrm>
                  <a:off x="1423988" y="37890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56" name="Freeform 56"/>
                <p:cNvSpPr/>
                <p:nvPr/>
              </p:nvSpPr>
              <p:spPr>
                <a:xfrm>
                  <a:off x="2014538" y="37890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57" name="Freeform 57"/>
                <p:cNvSpPr/>
                <p:nvPr/>
              </p:nvSpPr>
              <p:spPr>
                <a:xfrm>
                  <a:off x="2605088" y="37890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58" name="Freeform 58"/>
                <p:cNvSpPr/>
                <p:nvPr/>
              </p:nvSpPr>
              <p:spPr>
                <a:xfrm>
                  <a:off x="3195638" y="37890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59" name="Freeform 59"/>
                <p:cNvSpPr/>
                <p:nvPr/>
              </p:nvSpPr>
              <p:spPr>
                <a:xfrm>
                  <a:off x="3786188" y="37890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60" name="TextBox 60"/>
                <p:cNvSpPr txBox="1"/>
                <p:nvPr/>
              </p:nvSpPr>
              <p:spPr>
                <a:xfrm>
                  <a:off x="605885" y="3716179"/>
                  <a:ext cx="155162"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0.1</a:t>
                  </a:r>
                  <a:endParaRPr lang="zh-CN" sz="675" dirty="0">
                    <a:solidFill>
                      <a:srgbClr val="94A3B8"/>
                    </a:solidFill>
                    <a:latin typeface="Segoe UI"/>
                    <a:ea typeface="微软雅黑"/>
                    <a:cs typeface="Segoe UI"/>
                  </a:endParaRPr>
                </a:p>
              </p:txBody>
            </p:sp>
            <p:sp>
              <p:nvSpPr>
                <p:cNvPr id="61" name="TextBox 61"/>
                <p:cNvSpPr txBox="1"/>
                <p:nvPr/>
              </p:nvSpPr>
              <p:spPr>
                <a:xfrm>
                  <a:off x="714327" y="3392329"/>
                  <a:ext cx="46720"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1</a:t>
                  </a:r>
                  <a:endParaRPr lang="zh-CN" sz="675" dirty="0">
                    <a:solidFill>
                      <a:srgbClr val="94A3B8"/>
                    </a:solidFill>
                    <a:latin typeface="Segoe UI"/>
                    <a:ea typeface="微软雅黑"/>
                    <a:cs typeface="Segoe UI"/>
                  </a:endParaRPr>
                </a:p>
              </p:txBody>
            </p:sp>
            <p:sp>
              <p:nvSpPr>
                <p:cNvPr id="62" name="TextBox 62"/>
                <p:cNvSpPr txBox="1"/>
                <p:nvPr/>
              </p:nvSpPr>
              <p:spPr>
                <a:xfrm>
                  <a:off x="660106" y="3068479"/>
                  <a:ext cx="100941"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10</a:t>
                  </a:r>
                  <a:endParaRPr lang="zh-CN" sz="675" dirty="0">
                    <a:solidFill>
                      <a:srgbClr val="94A3B8"/>
                    </a:solidFill>
                    <a:latin typeface="Segoe UI"/>
                    <a:ea typeface="微软雅黑"/>
                    <a:cs typeface="Segoe UI"/>
                  </a:endParaRPr>
                </a:p>
              </p:txBody>
            </p:sp>
            <p:sp>
              <p:nvSpPr>
                <p:cNvPr id="63" name="TextBox 63"/>
                <p:cNvSpPr txBox="1"/>
                <p:nvPr/>
              </p:nvSpPr>
              <p:spPr>
                <a:xfrm>
                  <a:off x="605885" y="2744629"/>
                  <a:ext cx="155162"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100</a:t>
                  </a:r>
                  <a:endParaRPr lang="zh-CN" sz="675" dirty="0">
                    <a:solidFill>
                      <a:srgbClr val="94A3B8"/>
                    </a:solidFill>
                    <a:latin typeface="Segoe UI"/>
                    <a:ea typeface="微软雅黑"/>
                    <a:cs typeface="Segoe UI"/>
                  </a:endParaRPr>
                </a:p>
              </p:txBody>
            </p:sp>
            <p:sp>
              <p:nvSpPr>
                <p:cNvPr id="64" name="TextBox 64"/>
                <p:cNvSpPr txBox="1"/>
                <p:nvPr/>
              </p:nvSpPr>
              <p:spPr>
                <a:xfrm>
                  <a:off x="497443" y="2420779"/>
                  <a:ext cx="263604"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1,000</a:t>
                  </a:r>
                  <a:endParaRPr lang="zh-CN" sz="675" dirty="0">
                    <a:solidFill>
                      <a:srgbClr val="94A3B8"/>
                    </a:solidFill>
                    <a:latin typeface="Segoe UI"/>
                    <a:ea typeface="微软雅黑"/>
                    <a:cs typeface="Segoe UI"/>
                  </a:endParaRPr>
                </a:p>
              </p:txBody>
            </p:sp>
            <p:sp>
              <p:nvSpPr>
                <p:cNvPr id="65" name="TextBox 65"/>
                <p:cNvSpPr txBox="1"/>
                <p:nvPr/>
              </p:nvSpPr>
              <p:spPr>
                <a:xfrm>
                  <a:off x="979825" y="3835241"/>
                  <a:ext cx="288250"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GPT-2</a:t>
                  </a:r>
                  <a:endParaRPr lang="zh-CN" sz="675" dirty="0">
                    <a:solidFill>
                      <a:srgbClr val="94A3B8"/>
                    </a:solidFill>
                    <a:latin typeface="Segoe UI"/>
                    <a:ea typeface="微软雅黑"/>
                    <a:cs typeface="Segoe UI"/>
                  </a:endParaRPr>
                </a:p>
              </p:txBody>
            </p:sp>
            <p:sp>
              <p:nvSpPr>
                <p:cNvPr id="66" name="TextBox 66"/>
                <p:cNvSpPr txBox="1"/>
                <p:nvPr/>
              </p:nvSpPr>
              <p:spPr>
                <a:xfrm>
                  <a:off x="1019258" y="3920966"/>
                  <a:ext cx="209383"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2019</a:t>
                  </a:r>
                  <a:endParaRPr lang="zh-CN" sz="675" dirty="0">
                    <a:solidFill>
                      <a:srgbClr val="94A3B8"/>
                    </a:solidFill>
                    <a:latin typeface="Segoe UI"/>
                    <a:ea typeface="微软雅黑"/>
                    <a:cs typeface="Segoe UI"/>
                  </a:endParaRPr>
                </a:p>
              </p:txBody>
            </p:sp>
            <p:sp>
              <p:nvSpPr>
                <p:cNvPr id="67" name="TextBox 67"/>
                <p:cNvSpPr txBox="1"/>
                <p:nvPr/>
              </p:nvSpPr>
              <p:spPr>
                <a:xfrm>
                  <a:off x="1570375" y="3835241"/>
                  <a:ext cx="288250"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GPT-3</a:t>
                  </a:r>
                  <a:endParaRPr lang="zh-CN" sz="675" dirty="0">
                    <a:solidFill>
                      <a:srgbClr val="94A3B8"/>
                    </a:solidFill>
                    <a:latin typeface="Segoe UI"/>
                    <a:ea typeface="微软雅黑"/>
                    <a:cs typeface="Segoe UI"/>
                  </a:endParaRPr>
                </a:p>
              </p:txBody>
            </p:sp>
            <p:sp>
              <p:nvSpPr>
                <p:cNvPr id="68" name="TextBox 68"/>
                <p:cNvSpPr txBox="1"/>
                <p:nvPr/>
              </p:nvSpPr>
              <p:spPr>
                <a:xfrm>
                  <a:off x="1597485" y="3920966"/>
                  <a:ext cx="234029"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2020</a:t>
                  </a:r>
                  <a:endParaRPr lang="zh-CN" sz="675" dirty="0">
                    <a:solidFill>
                      <a:srgbClr val="94A3B8"/>
                    </a:solidFill>
                    <a:latin typeface="Segoe UI"/>
                    <a:ea typeface="微软雅黑"/>
                    <a:cs typeface="Segoe UI"/>
                  </a:endParaRPr>
                </a:p>
              </p:txBody>
            </p:sp>
            <p:sp>
              <p:nvSpPr>
                <p:cNvPr id="69" name="TextBox 69"/>
                <p:cNvSpPr txBox="1"/>
                <p:nvPr/>
              </p:nvSpPr>
              <p:spPr>
                <a:xfrm>
                  <a:off x="2178177" y="3835241"/>
                  <a:ext cx="253746"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PaLM</a:t>
                  </a:r>
                  <a:endParaRPr lang="zh-CN" sz="675" dirty="0">
                    <a:solidFill>
                      <a:srgbClr val="94A3B8"/>
                    </a:solidFill>
                    <a:latin typeface="Segoe UI"/>
                    <a:ea typeface="微软雅黑"/>
                    <a:cs typeface="Segoe UI"/>
                  </a:endParaRPr>
                </a:p>
              </p:txBody>
            </p:sp>
            <p:sp>
              <p:nvSpPr>
                <p:cNvPr id="70" name="TextBox 70"/>
                <p:cNvSpPr txBox="1"/>
                <p:nvPr/>
              </p:nvSpPr>
              <p:spPr>
                <a:xfrm>
                  <a:off x="2188035" y="3920966"/>
                  <a:ext cx="234029"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2022</a:t>
                  </a:r>
                  <a:endParaRPr lang="zh-CN" sz="675" dirty="0">
                    <a:solidFill>
                      <a:srgbClr val="94A3B8"/>
                    </a:solidFill>
                    <a:latin typeface="Segoe UI"/>
                    <a:ea typeface="微软雅黑"/>
                    <a:cs typeface="Segoe UI"/>
                  </a:endParaRPr>
                </a:p>
              </p:txBody>
            </p:sp>
            <p:sp>
              <p:nvSpPr>
                <p:cNvPr id="71" name="TextBox 71"/>
                <p:cNvSpPr txBox="1"/>
                <p:nvPr/>
              </p:nvSpPr>
              <p:spPr>
                <a:xfrm>
                  <a:off x="2751475" y="3835241"/>
                  <a:ext cx="288250"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GPT-4</a:t>
                  </a:r>
                  <a:endParaRPr lang="zh-CN" sz="675" dirty="0">
                    <a:solidFill>
                      <a:srgbClr val="94A3B8"/>
                    </a:solidFill>
                    <a:latin typeface="Segoe UI"/>
                    <a:ea typeface="微软雅黑"/>
                    <a:cs typeface="Segoe UI"/>
                  </a:endParaRPr>
                </a:p>
              </p:txBody>
            </p:sp>
            <p:sp>
              <p:nvSpPr>
                <p:cNvPr id="72" name="TextBox 72"/>
                <p:cNvSpPr txBox="1"/>
                <p:nvPr/>
              </p:nvSpPr>
              <p:spPr>
                <a:xfrm>
                  <a:off x="2778585" y="3920966"/>
                  <a:ext cx="234029"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2023</a:t>
                  </a:r>
                  <a:endParaRPr lang="zh-CN" sz="675" dirty="0">
                    <a:solidFill>
                      <a:srgbClr val="94A3B8"/>
                    </a:solidFill>
                    <a:latin typeface="Segoe UI"/>
                    <a:ea typeface="微软雅黑"/>
                    <a:cs typeface="Segoe UI"/>
                  </a:endParaRPr>
                </a:p>
              </p:txBody>
            </p:sp>
            <p:sp>
              <p:nvSpPr>
                <p:cNvPr id="73" name="TextBox 73"/>
                <p:cNvSpPr txBox="1"/>
                <p:nvPr/>
              </p:nvSpPr>
              <p:spPr>
                <a:xfrm>
                  <a:off x="3329702" y="3835241"/>
                  <a:ext cx="312896"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Gemini</a:t>
                  </a:r>
                  <a:endParaRPr lang="zh-CN" sz="675" dirty="0">
                    <a:solidFill>
                      <a:srgbClr val="94A3B8"/>
                    </a:solidFill>
                    <a:latin typeface="Segoe UI"/>
                    <a:ea typeface="微软雅黑"/>
                    <a:cs typeface="Segoe UI"/>
                  </a:endParaRPr>
                </a:p>
              </p:txBody>
            </p:sp>
            <p:sp>
              <p:nvSpPr>
                <p:cNvPr id="74" name="TextBox 74"/>
                <p:cNvSpPr txBox="1"/>
                <p:nvPr/>
              </p:nvSpPr>
              <p:spPr>
                <a:xfrm>
                  <a:off x="3369135" y="3920966"/>
                  <a:ext cx="234029" cy="137160"/>
                </a:xfrm>
                <a:prstGeom prst="rect">
                  <a:avLst/>
                </a:prstGeom>
                <a:noFill/>
                <a:ln>
                  <a:noFill/>
                </a:ln>
              </p:spPr>
              <p:txBody>
                <a:bodyPr wrap="none" lIns="0" tIns="0" rIns="0" bIns="0" anchor="t" anchorCtr="0">
                  <a:spAutoFit/>
                </a:bodyPr>
                <a:lstStyle/>
                <a:p>
                  <a:pPr algn="ctr"/>
                  <a:r>
                    <a:rPr lang="zh-CN" sz="675" dirty="0">
                      <a:solidFill>
                        <a:srgbClr val="94A3B8"/>
                      </a:solidFill>
                      <a:latin typeface="Segoe UI"/>
                      <a:ea typeface="微软雅黑"/>
                      <a:cs typeface="Segoe UI"/>
                    </a:rPr>
                    <a:t>2024</a:t>
                  </a:r>
                  <a:endParaRPr lang="zh-CN" sz="675" dirty="0">
                    <a:solidFill>
                      <a:srgbClr val="94A3B8"/>
                    </a:solidFill>
                    <a:latin typeface="Segoe UI"/>
                    <a:ea typeface="微软雅黑"/>
                    <a:cs typeface="Segoe UI"/>
                  </a:endParaRPr>
                </a:p>
              </p:txBody>
            </p:sp>
            <p:grpSp>
              <p:nvGrpSpPr>
                <p:cNvPr id="77" name="Group 77"/>
                <p:cNvGrpSpPr/>
                <p:nvPr/>
              </p:nvGrpSpPr>
              <p:grpSpPr>
                <a:xfrm>
                  <a:off x="1123950" y="2726483"/>
                  <a:ext cx="2362200" cy="1062562"/>
                  <a:chOff x="1123950" y="2726483"/>
                  <a:chExt cx="2362200" cy="1062562"/>
                </a:xfrm>
              </p:grpSpPr>
              <p:sp>
                <p:nvSpPr>
                  <p:cNvPr id="75" name="Freeform 75"/>
                  <p:cNvSpPr/>
                  <p:nvPr/>
                </p:nvSpPr>
                <p:spPr>
                  <a:xfrm>
                    <a:off x="1123950" y="2726483"/>
                    <a:ext cx="2362200" cy="1062562"/>
                  </a:xfrm>
                  <a:custGeom>
                    <a:avLst/>
                    <a:gdLst/>
                    <a:ahLst/>
                    <a:cxnLst/>
                    <a:rect l="l" t="t" r="r" b="b"/>
                    <a:pathLst>
                      <a:path w="2362200" h="1062562">
                        <a:moveTo>
                          <a:pt x="0" y="851020"/>
                        </a:moveTo>
                        <a:lnTo>
                          <a:pt x="590550" y="389219"/>
                        </a:lnTo>
                        <a:lnTo>
                          <a:pt x="1181100" y="389219"/>
                        </a:lnTo>
                        <a:lnTo>
                          <a:pt x="1771650" y="125958"/>
                        </a:lnTo>
                        <a:lnTo>
                          <a:pt x="2362200" y="0"/>
                        </a:lnTo>
                        <a:lnTo>
                          <a:pt x="2362200" y="1062562"/>
                        </a:lnTo>
                        <a:lnTo>
                          <a:pt x="1771650" y="1062562"/>
                        </a:lnTo>
                        <a:lnTo>
                          <a:pt x="1181100" y="1062562"/>
                        </a:lnTo>
                        <a:lnTo>
                          <a:pt x="590550" y="1062562"/>
                        </a:lnTo>
                        <a:lnTo>
                          <a:pt x="0" y="1062562"/>
                        </a:lnTo>
                        <a:close/>
                      </a:path>
                    </a:pathLst>
                  </a:custGeom>
                  <a:solidFill>
                    <a:srgbClr val="0070F3">
                      <a:alpha val="5599"/>
                    </a:srgbClr>
                  </a:solidFill>
                  <a:ln>
                    <a:noFill/>
                  </a:ln>
                </p:spPr>
              </p:sp>
              <p:sp>
                <p:nvSpPr>
                  <p:cNvPr id="76" name="Freeform 76"/>
                  <p:cNvSpPr/>
                  <p:nvPr/>
                </p:nvSpPr>
                <p:spPr>
                  <a:xfrm>
                    <a:off x="1123950" y="2726483"/>
                    <a:ext cx="2362200" cy="851020"/>
                  </a:xfrm>
                  <a:custGeom>
                    <a:avLst/>
                    <a:gdLst/>
                    <a:ahLst/>
                    <a:cxnLst/>
                    <a:rect l="l" t="t" r="r" b="b"/>
                    <a:pathLst>
                      <a:path w="2362200" h="851020">
                        <a:moveTo>
                          <a:pt x="0" y="851020"/>
                        </a:moveTo>
                        <a:lnTo>
                          <a:pt x="590550" y="389219"/>
                        </a:lnTo>
                        <a:lnTo>
                          <a:pt x="1181100" y="389219"/>
                        </a:lnTo>
                        <a:lnTo>
                          <a:pt x="1771650" y="125958"/>
                        </a:lnTo>
                        <a:lnTo>
                          <a:pt x="2362200" y="0"/>
                        </a:lnTo>
                      </a:path>
                    </a:pathLst>
                  </a:custGeom>
                  <a:noFill/>
                  <a:ln w="19050">
                    <a:solidFill>
                      <a:srgbClr val="0070F3"/>
                    </a:solidFill>
                    <a:bevel/>
                  </a:ln>
                </p:spPr>
              </p:sp>
            </p:grpSp>
            <p:sp>
              <p:nvSpPr>
                <p:cNvPr id="78" name="Ellipse 78"/>
                <p:cNvSpPr/>
                <p:nvPr/>
              </p:nvSpPr>
              <p:spPr>
                <a:xfrm>
                  <a:off x="1123312" y="3576864"/>
                  <a:ext cx="1276" cy="1276"/>
                </a:xfrm>
                <a:prstGeom prst="ellipse">
                  <a:avLst/>
                </a:prstGeom>
                <a:solidFill>
                  <a:srgbClr val="FFFFFF"/>
                </a:solidFill>
                <a:ln w="282549">
                  <a:solidFill>
                    <a:srgbClr val="0070F3"/>
                  </a:solidFill>
                </a:ln>
              </p:spPr>
            </p:sp>
            <p:sp>
              <p:nvSpPr>
                <p:cNvPr id="79" name="TextBox 79"/>
                <p:cNvSpPr txBox="1"/>
                <p:nvPr/>
              </p:nvSpPr>
              <p:spPr>
                <a:xfrm>
                  <a:off x="1006935" y="3403981"/>
                  <a:ext cx="234029" cy="137160"/>
                </a:xfrm>
                <a:prstGeom prst="rect">
                  <a:avLst/>
                </a:prstGeom>
                <a:noFill/>
                <a:ln>
                  <a:noFill/>
                </a:ln>
              </p:spPr>
              <p:txBody>
                <a:bodyPr wrap="none" lIns="0" tIns="0" rIns="0" bIns="0" anchor="t" anchorCtr="0">
                  <a:spAutoFit/>
                </a:bodyPr>
                <a:lstStyle/>
                <a:p>
                  <a:pPr algn="ctr"/>
                  <a:r>
                    <a:rPr lang="zh-CN" sz="675" dirty="0">
                      <a:solidFill>
                        <a:srgbClr val="0A0A0A"/>
                      </a:solidFill>
                      <a:latin typeface="Segoe UI"/>
                      <a:ea typeface="微软雅黑"/>
                      <a:cs typeface="Segoe UI"/>
                    </a:rPr>
                    <a:t>0.45</a:t>
                  </a:r>
                  <a:endParaRPr lang="zh-CN" sz="675" dirty="0">
                    <a:solidFill>
                      <a:srgbClr val="0A0A0A"/>
                    </a:solidFill>
                    <a:latin typeface="Segoe UI"/>
                    <a:ea typeface="微软雅黑"/>
                    <a:cs typeface="Segoe UI"/>
                  </a:endParaRPr>
                </a:p>
              </p:txBody>
            </p:sp>
            <p:sp>
              <p:nvSpPr>
                <p:cNvPr id="80" name="TextBox 80"/>
                <p:cNvSpPr txBox="1"/>
                <p:nvPr/>
              </p:nvSpPr>
              <p:spPr>
                <a:xfrm>
                  <a:off x="1664029" y="2952348"/>
                  <a:ext cx="100941" cy="137160"/>
                </a:xfrm>
                <a:prstGeom prst="rect">
                  <a:avLst/>
                </a:prstGeom>
                <a:noFill/>
                <a:ln>
                  <a:noFill/>
                </a:ln>
              </p:spPr>
              <p:txBody>
                <a:bodyPr wrap="none" lIns="0" tIns="0" rIns="0" bIns="0" anchor="t" anchorCtr="0">
                  <a:spAutoFit/>
                </a:bodyPr>
                <a:lstStyle/>
                <a:p>
                  <a:pPr algn="ctr"/>
                  <a:r>
                    <a:rPr lang="zh-CN" sz="675" dirty="0">
                      <a:solidFill>
                        <a:srgbClr val="0A0A0A"/>
                      </a:solidFill>
                      <a:latin typeface="Segoe UI"/>
                      <a:ea typeface="微软雅黑"/>
                      <a:cs typeface="Segoe UI"/>
                    </a:rPr>
                    <a:t>12</a:t>
                  </a:r>
                  <a:endParaRPr lang="zh-CN" sz="675" dirty="0">
                    <a:solidFill>
                      <a:srgbClr val="0A0A0A"/>
                    </a:solidFill>
                    <a:latin typeface="Segoe UI"/>
                    <a:ea typeface="微软雅黑"/>
                    <a:cs typeface="Segoe UI"/>
                  </a:endParaRPr>
                </a:p>
              </p:txBody>
            </p:sp>
            <p:sp>
              <p:nvSpPr>
                <p:cNvPr id="81" name="TextBox 81"/>
                <p:cNvSpPr txBox="1"/>
                <p:nvPr/>
              </p:nvSpPr>
              <p:spPr>
                <a:xfrm>
                  <a:off x="2254579" y="2952348"/>
                  <a:ext cx="100941" cy="137160"/>
                </a:xfrm>
                <a:prstGeom prst="rect">
                  <a:avLst/>
                </a:prstGeom>
                <a:noFill/>
                <a:ln>
                  <a:noFill/>
                </a:ln>
              </p:spPr>
              <p:txBody>
                <a:bodyPr wrap="none" lIns="0" tIns="0" rIns="0" bIns="0" anchor="t" anchorCtr="0">
                  <a:spAutoFit/>
                </a:bodyPr>
                <a:lstStyle/>
                <a:p>
                  <a:pPr algn="ctr"/>
                  <a:r>
                    <a:rPr lang="zh-CN" sz="675" dirty="0">
                      <a:solidFill>
                        <a:srgbClr val="0A0A0A"/>
                      </a:solidFill>
                      <a:latin typeface="Segoe UI"/>
                      <a:ea typeface="微软雅黑"/>
                      <a:cs typeface="Segoe UI"/>
                    </a:rPr>
                    <a:t>12</a:t>
                  </a:r>
                  <a:endParaRPr lang="zh-CN" sz="675" dirty="0">
                    <a:solidFill>
                      <a:srgbClr val="0A0A0A"/>
                    </a:solidFill>
                    <a:latin typeface="Segoe UI"/>
                    <a:ea typeface="微软雅黑"/>
                    <a:cs typeface="Segoe UI"/>
                  </a:endParaRPr>
                </a:p>
              </p:txBody>
            </p:sp>
            <p:sp>
              <p:nvSpPr>
                <p:cNvPr id="82" name="TextBox 82"/>
                <p:cNvSpPr txBox="1"/>
                <p:nvPr/>
              </p:nvSpPr>
              <p:spPr>
                <a:xfrm>
                  <a:off x="2832806" y="2689087"/>
                  <a:ext cx="125587" cy="137160"/>
                </a:xfrm>
                <a:prstGeom prst="rect">
                  <a:avLst/>
                </a:prstGeom>
                <a:noFill/>
                <a:ln>
                  <a:noFill/>
                </a:ln>
              </p:spPr>
              <p:txBody>
                <a:bodyPr wrap="none" lIns="0" tIns="0" rIns="0" bIns="0" anchor="t" anchorCtr="0">
                  <a:spAutoFit/>
                </a:bodyPr>
                <a:lstStyle/>
                <a:p>
                  <a:pPr algn="ctr"/>
                  <a:r>
                    <a:rPr lang="zh-CN" sz="675" dirty="0">
                      <a:solidFill>
                        <a:srgbClr val="0A0A0A"/>
                      </a:solidFill>
                      <a:latin typeface="Segoe UI"/>
                      <a:ea typeface="微软雅黑"/>
                      <a:cs typeface="Segoe UI"/>
                    </a:rPr>
                    <a:t>78</a:t>
                  </a:r>
                  <a:endParaRPr lang="zh-CN" sz="675" dirty="0">
                    <a:solidFill>
                      <a:srgbClr val="0A0A0A"/>
                    </a:solidFill>
                    <a:latin typeface="Segoe UI"/>
                    <a:ea typeface="微软雅黑"/>
                    <a:cs typeface="Segoe UI"/>
                  </a:endParaRPr>
                </a:p>
              </p:txBody>
            </p:sp>
            <p:sp>
              <p:nvSpPr>
                <p:cNvPr id="83" name="TextBox 83"/>
                <p:cNvSpPr txBox="1"/>
                <p:nvPr/>
              </p:nvSpPr>
              <p:spPr>
                <a:xfrm>
                  <a:off x="3420892" y="2563129"/>
                  <a:ext cx="130516" cy="137160"/>
                </a:xfrm>
                <a:prstGeom prst="rect">
                  <a:avLst/>
                </a:prstGeom>
                <a:noFill/>
                <a:ln>
                  <a:noFill/>
                </a:ln>
              </p:spPr>
              <p:txBody>
                <a:bodyPr wrap="none" lIns="0" tIns="0" rIns="0" bIns="0" anchor="t" anchorCtr="0">
                  <a:spAutoFit/>
                </a:bodyPr>
                <a:lstStyle/>
                <a:p>
                  <a:pPr algn="ctr"/>
                  <a:r>
                    <a:rPr lang="zh-CN" sz="675" dirty="0">
                      <a:solidFill>
                        <a:srgbClr val="0A0A0A"/>
                      </a:solidFill>
                      <a:latin typeface="Segoe UI"/>
                      <a:ea typeface="微软雅黑"/>
                      <a:cs typeface="Segoe UI"/>
                    </a:rPr>
                    <a:t>191</a:t>
                  </a:r>
                  <a:endParaRPr lang="zh-CN" sz="675" dirty="0">
                    <a:solidFill>
                      <a:srgbClr val="0A0A0A"/>
                    </a:solidFill>
                    <a:latin typeface="Segoe UI"/>
                    <a:ea typeface="微软雅黑"/>
                    <a:cs typeface="Segoe UI"/>
                  </a:endParaRPr>
                </a:p>
              </p:txBody>
            </p:sp>
          </p:grpSp>
        </p:grpSp>
        <p:sp>
          <p:nvSpPr>
            <p:cNvPr id="86" name="Rectangle 86"/>
            <p:cNvSpPr/>
            <p:nvPr/>
          </p:nvSpPr>
          <p:spPr>
            <a:xfrm>
              <a:off x="4171950" y="1736408"/>
              <a:ext cx="3848100" cy="2481262"/>
            </a:xfrm>
            <a:prstGeom prst="rect">
              <a:avLst/>
            </a:prstGeom>
            <a:noFill/>
            <a:ln>
              <a:noFill/>
            </a:ln>
          </p:spPr>
        </p:sp>
        <p:sp>
          <p:nvSpPr>
            <p:cNvPr id="87" name="Line 87"/>
            <p:cNvSpPr/>
            <p:nvPr/>
          </p:nvSpPr>
          <p:spPr>
            <a:xfrm>
              <a:off x="4171950" y="1736408"/>
              <a:ext cx="3848100" cy="9525"/>
            </a:xfrm>
            <a:custGeom>
              <a:avLst/>
              <a:gdLst/>
              <a:ahLst/>
              <a:cxnLst/>
              <a:rect l="l" t="t" r="r" b="b"/>
              <a:pathLst>
                <a:path w="3848100" h="9525">
                  <a:moveTo>
                    <a:pt x="0" y="0"/>
                  </a:moveTo>
                  <a:lnTo>
                    <a:pt x="3848100" y="0"/>
                  </a:lnTo>
                </a:path>
              </a:pathLst>
            </a:custGeom>
            <a:noFill/>
            <a:ln w="9525">
              <a:solidFill>
                <a:srgbClr val="0070F3">
                  <a:alpha val="14000"/>
                </a:srgbClr>
              </a:solidFill>
            </a:ln>
          </p:spPr>
        </p:sp>
        <p:sp>
          <p:nvSpPr>
            <p:cNvPr id="88" name="Line 88"/>
            <p:cNvSpPr/>
            <p:nvPr/>
          </p:nvSpPr>
          <p:spPr>
            <a:xfrm>
              <a:off x="8020050" y="1736408"/>
              <a:ext cx="9525" cy="2481262"/>
            </a:xfrm>
            <a:custGeom>
              <a:avLst/>
              <a:gdLst/>
              <a:ahLst/>
              <a:cxnLst/>
              <a:rect l="l" t="t" r="r" b="b"/>
              <a:pathLst>
                <a:path w="9525" h="2481262">
                  <a:moveTo>
                    <a:pt x="0" y="0"/>
                  </a:moveTo>
                  <a:lnTo>
                    <a:pt x="0" y="2481262"/>
                  </a:lnTo>
                </a:path>
              </a:pathLst>
            </a:custGeom>
            <a:noFill/>
            <a:ln w="9525">
              <a:solidFill>
                <a:srgbClr val="0070F3">
                  <a:alpha val="14000"/>
                </a:srgbClr>
              </a:solidFill>
            </a:ln>
          </p:spPr>
        </p:sp>
        <p:sp>
          <p:nvSpPr>
            <p:cNvPr id="89" name="Line 89"/>
            <p:cNvSpPr/>
            <p:nvPr/>
          </p:nvSpPr>
          <p:spPr>
            <a:xfrm>
              <a:off x="4171950" y="4217670"/>
              <a:ext cx="3848100" cy="9525"/>
            </a:xfrm>
            <a:custGeom>
              <a:avLst/>
              <a:gdLst/>
              <a:ahLst/>
              <a:cxnLst/>
              <a:rect l="l" t="t" r="r" b="b"/>
              <a:pathLst>
                <a:path w="3848100" h="9525">
                  <a:moveTo>
                    <a:pt x="0" y="0"/>
                  </a:moveTo>
                  <a:lnTo>
                    <a:pt x="3848100" y="0"/>
                  </a:lnTo>
                </a:path>
              </a:pathLst>
            </a:custGeom>
            <a:noFill/>
            <a:ln w="9525">
              <a:solidFill>
                <a:srgbClr val="0070F3">
                  <a:alpha val="14000"/>
                </a:srgbClr>
              </a:solidFill>
            </a:ln>
          </p:spPr>
        </p:sp>
        <p:sp>
          <p:nvSpPr>
            <p:cNvPr id="90" name="Line 90"/>
            <p:cNvSpPr/>
            <p:nvPr/>
          </p:nvSpPr>
          <p:spPr>
            <a:xfrm>
              <a:off x="4171950" y="1736408"/>
              <a:ext cx="9525" cy="2481262"/>
            </a:xfrm>
            <a:custGeom>
              <a:avLst/>
              <a:gdLst/>
              <a:ahLst/>
              <a:cxnLst/>
              <a:rect l="l" t="t" r="r" b="b"/>
              <a:pathLst>
                <a:path w="9525" h="2481262">
                  <a:moveTo>
                    <a:pt x="0" y="0"/>
                  </a:moveTo>
                  <a:lnTo>
                    <a:pt x="0" y="2481262"/>
                  </a:lnTo>
                </a:path>
              </a:pathLst>
            </a:custGeom>
            <a:noFill/>
            <a:ln w="9525">
              <a:solidFill>
                <a:srgbClr val="0070F3">
                  <a:alpha val="14000"/>
                </a:srgbClr>
              </a:solidFill>
            </a:ln>
          </p:spPr>
        </p:sp>
        <p:sp>
          <p:nvSpPr>
            <p:cNvPr id="91" name="TextBox 91"/>
            <p:cNvSpPr txBox="1"/>
            <p:nvPr/>
          </p:nvSpPr>
          <p:spPr>
            <a:xfrm>
              <a:off x="4303395" y="1877378"/>
              <a:ext cx="1437537" cy="182880"/>
            </a:xfrm>
            <a:prstGeom prst="rect">
              <a:avLst/>
            </a:prstGeom>
            <a:noFill/>
            <a:ln>
              <a:noFill/>
            </a:ln>
          </p:spPr>
          <p:txBody>
            <a:bodyPr wrap="none" lIns="0" tIns="0" rIns="0" bIns="0" anchor="t" anchorCtr="0">
              <a:spAutoFit/>
            </a:bodyPr>
            <a:lstStyle/>
            <a:p>
              <a:pPr algn="l"/>
              <a:r>
                <a:rPr lang="zh-CN" sz="900" b="1" dirty="0">
                  <a:solidFill>
                    <a:srgbClr val="0A0A0A"/>
                  </a:solidFill>
                  <a:latin typeface="Arial" panose="020B0604020202090204"/>
                  <a:ea typeface="微软雅黑"/>
                  <a:cs typeface="Arial" panose="020B0604020202090204"/>
                </a:rPr>
                <a:t>AI vs人类基准测试对比</a:t>
              </a:r>
              <a:endParaRPr lang="zh-CN" sz="900" b="1" dirty="0">
                <a:solidFill>
                  <a:srgbClr val="0A0A0A"/>
                </a:solidFill>
                <a:latin typeface="Arial" panose="020B0604020202090204"/>
                <a:ea typeface="微软雅黑"/>
                <a:cs typeface="Arial" panose="020B0604020202090204"/>
              </a:endParaRPr>
            </a:p>
          </p:txBody>
        </p:sp>
        <p:sp>
          <p:nvSpPr>
            <p:cNvPr id="92" name="TextBox 92"/>
            <p:cNvSpPr txBox="1"/>
            <p:nvPr/>
          </p:nvSpPr>
          <p:spPr>
            <a:xfrm>
              <a:off x="4305300" y="2107882"/>
              <a:ext cx="895350"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多领域已超越人类</a:t>
              </a:r>
              <a:endParaRPr lang="zh-CN" sz="750" dirty="0">
                <a:solidFill>
                  <a:srgbClr val="94A3B8"/>
                </a:solidFill>
                <a:latin typeface="Arial" panose="020B0604020202090204"/>
                <a:ea typeface="微软雅黑"/>
                <a:cs typeface="Arial" panose="020B0604020202090204"/>
              </a:endParaRPr>
            </a:p>
          </p:txBody>
        </p:sp>
        <p:grpSp>
          <p:nvGrpSpPr>
            <p:cNvPr id="158" name="Group 158"/>
            <p:cNvGrpSpPr/>
            <p:nvPr/>
          </p:nvGrpSpPr>
          <p:grpSpPr>
            <a:xfrm>
              <a:off x="4314825" y="2196465"/>
              <a:ext cx="3562350" cy="1897380"/>
              <a:chOff x="4314825" y="2196465"/>
              <a:chExt cx="3562350" cy="1897380"/>
            </a:xfrm>
          </p:grpSpPr>
          <p:sp>
            <p:nvSpPr>
              <p:cNvPr id="93" name="Rectangle 93"/>
              <p:cNvSpPr/>
              <p:nvPr/>
            </p:nvSpPr>
            <p:spPr>
              <a:xfrm>
                <a:off x="4314825" y="2303145"/>
                <a:ext cx="3562350" cy="1790700"/>
              </a:xfrm>
              <a:prstGeom prst="rect">
                <a:avLst/>
              </a:prstGeom>
              <a:noFill/>
              <a:ln>
                <a:noFill/>
              </a:ln>
            </p:spPr>
          </p:sp>
          <p:grpSp>
            <p:nvGrpSpPr>
              <p:cNvPr id="157" name="Group 157"/>
              <p:cNvGrpSpPr/>
              <p:nvPr/>
            </p:nvGrpSpPr>
            <p:grpSpPr>
              <a:xfrm>
                <a:off x="4549235" y="2196465"/>
                <a:ext cx="3189828" cy="1661672"/>
                <a:chOff x="4549235" y="2196465"/>
                <a:chExt cx="3189828" cy="1661672"/>
              </a:xfrm>
            </p:grpSpPr>
            <p:sp>
              <p:nvSpPr>
                <p:cNvPr id="94" name="Freeform 94"/>
                <p:cNvSpPr/>
                <p:nvPr/>
              </p:nvSpPr>
              <p:spPr>
                <a:xfrm>
                  <a:off x="4772025" y="364140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95" name="Freeform 95"/>
                <p:cNvSpPr/>
                <p:nvPr/>
              </p:nvSpPr>
              <p:spPr>
                <a:xfrm>
                  <a:off x="4772025" y="3422332"/>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96" name="Freeform 96"/>
                <p:cNvSpPr/>
                <p:nvPr/>
              </p:nvSpPr>
              <p:spPr>
                <a:xfrm>
                  <a:off x="4772025" y="320325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97" name="Freeform 97"/>
                <p:cNvSpPr/>
                <p:nvPr/>
              </p:nvSpPr>
              <p:spPr>
                <a:xfrm>
                  <a:off x="4772025" y="2984182"/>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98" name="Freeform 98"/>
                <p:cNvSpPr/>
                <p:nvPr/>
              </p:nvSpPr>
              <p:spPr>
                <a:xfrm>
                  <a:off x="4772025" y="276510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99" name="Freeform 99"/>
                <p:cNvSpPr/>
                <p:nvPr/>
              </p:nvSpPr>
              <p:spPr>
                <a:xfrm>
                  <a:off x="4772025" y="2546032"/>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100" name="Freeform 100"/>
                <p:cNvSpPr/>
                <p:nvPr/>
              </p:nvSpPr>
              <p:spPr>
                <a:xfrm>
                  <a:off x="4772025" y="2498408"/>
                  <a:ext cx="2952750" cy="9525"/>
                </a:xfrm>
                <a:custGeom>
                  <a:avLst/>
                  <a:gdLst/>
                  <a:ahLst/>
                  <a:cxnLst/>
                  <a:rect l="l" t="t" r="r" b="b"/>
                  <a:pathLst>
                    <a:path w="2952750" h="9525">
                      <a:moveTo>
                        <a:pt x="0" y="0"/>
                      </a:moveTo>
                      <a:lnTo>
                        <a:pt x="2952750" y="0"/>
                      </a:lnTo>
                    </a:path>
                  </a:pathLst>
                </a:custGeom>
                <a:noFill/>
                <a:ln w="9525">
                  <a:solidFill>
                    <a:srgbClr val="94A3B8">
                      <a:alpha val="10000"/>
                    </a:srgbClr>
                  </a:solidFill>
                </a:ln>
              </p:spPr>
            </p:sp>
            <p:sp>
              <p:nvSpPr>
                <p:cNvPr id="101" name="TextBox 101"/>
                <p:cNvSpPr txBox="1"/>
                <p:nvPr/>
              </p:nvSpPr>
              <p:spPr>
                <a:xfrm>
                  <a:off x="4629150" y="2196465"/>
                  <a:ext cx="285750"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Segoe UI"/>
                      <a:ea typeface="微软雅黑"/>
                      <a:cs typeface="Segoe UI"/>
                    </a:rPr>
                    <a:t>得分</a:t>
                  </a:r>
                  <a:endParaRPr lang="zh-CN" sz="900" dirty="0">
                    <a:solidFill>
                      <a:srgbClr val="475569"/>
                    </a:solidFill>
                    <a:latin typeface="Segoe UI"/>
                    <a:ea typeface="微软雅黑"/>
                    <a:cs typeface="Segoe UI"/>
                  </a:endParaRPr>
                </a:p>
              </p:txBody>
            </p:sp>
            <p:sp>
              <p:nvSpPr>
                <p:cNvPr id="102" name="Freeform 102"/>
                <p:cNvSpPr/>
                <p:nvPr/>
              </p:nvSpPr>
              <p:spPr>
                <a:xfrm>
                  <a:off x="4772025" y="3641408"/>
                  <a:ext cx="2952750" cy="9525"/>
                </a:xfrm>
                <a:custGeom>
                  <a:avLst/>
                  <a:gdLst/>
                  <a:ahLst/>
                  <a:cxnLst/>
                  <a:rect l="l" t="t" r="r" b="b"/>
                  <a:pathLst>
                    <a:path w="2952750" h="9525">
                      <a:moveTo>
                        <a:pt x="0" y="0"/>
                      </a:moveTo>
                      <a:lnTo>
                        <a:pt x="2952750" y="0"/>
                      </a:lnTo>
                    </a:path>
                  </a:pathLst>
                </a:custGeom>
                <a:noFill/>
                <a:ln w="9525" cap="rnd">
                  <a:solidFill>
                    <a:srgbClr val="475569"/>
                  </a:solidFill>
                </a:ln>
              </p:spPr>
            </p:sp>
            <p:sp>
              <p:nvSpPr>
                <p:cNvPr id="103" name="Freeform 103"/>
                <p:cNvSpPr/>
                <p:nvPr/>
              </p:nvSpPr>
              <p:spPr>
                <a:xfrm>
                  <a:off x="4776788"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04" name="Freeform 104"/>
                <p:cNvSpPr/>
                <p:nvPr/>
              </p:nvSpPr>
              <p:spPr>
                <a:xfrm>
                  <a:off x="5100638"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05" name="Freeform 105"/>
                <p:cNvSpPr/>
                <p:nvPr/>
              </p:nvSpPr>
              <p:spPr>
                <a:xfrm>
                  <a:off x="5434012"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06" name="Freeform 106"/>
                <p:cNvSpPr/>
                <p:nvPr/>
              </p:nvSpPr>
              <p:spPr>
                <a:xfrm>
                  <a:off x="5757862"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07" name="Freeform 107"/>
                <p:cNvSpPr/>
                <p:nvPr/>
              </p:nvSpPr>
              <p:spPr>
                <a:xfrm>
                  <a:off x="6091238"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08" name="Freeform 108"/>
                <p:cNvSpPr/>
                <p:nvPr/>
              </p:nvSpPr>
              <p:spPr>
                <a:xfrm>
                  <a:off x="6415088"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09" name="Freeform 109"/>
                <p:cNvSpPr/>
                <p:nvPr/>
              </p:nvSpPr>
              <p:spPr>
                <a:xfrm>
                  <a:off x="6738938"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10" name="Freeform 110"/>
                <p:cNvSpPr/>
                <p:nvPr/>
              </p:nvSpPr>
              <p:spPr>
                <a:xfrm>
                  <a:off x="7072312"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11" name="Freeform 111"/>
                <p:cNvSpPr/>
                <p:nvPr/>
              </p:nvSpPr>
              <p:spPr>
                <a:xfrm>
                  <a:off x="7396162"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12" name="Freeform 112"/>
                <p:cNvSpPr/>
                <p:nvPr/>
              </p:nvSpPr>
              <p:spPr>
                <a:xfrm>
                  <a:off x="7729538" y="3636645"/>
                  <a:ext cx="9525" cy="47625"/>
                </a:xfrm>
                <a:custGeom>
                  <a:avLst/>
                  <a:gdLst/>
                  <a:ahLst/>
                  <a:cxnLst/>
                  <a:rect l="l" t="t" r="r" b="b"/>
                  <a:pathLst>
                    <a:path w="9525" h="47625">
                      <a:moveTo>
                        <a:pt x="0" y="0"/>
                      </a:moveTo>
                      <a:lnTo>
                        <a:pt x="0" y="47625"/>
                      </a:lnTo>
                    </a:path>
                  </a:pathLst>
                </a:custGeom>
                <a:noFill/>
                <a:ln w="9525">
                  <a:solidFill>
                    <a:srgbClr val="475569"/>
                  </a:solidFill>
                </a:ln>
              </p:spPr>
            </p:sp>
            <p:sp>
              <p:nvSpPr>
                <p:cNvPr id="113" name="TextBox 113"/>
                <p:cNvSpPr txBox="1"/>
                <p:nvPr/>
              </p:nvSpPr>
              <p:spPr>
                <a:xfrm>
                  <a:off x="4633031" y="3563779"/>
                  <a:ext cx="71366"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0</a:t>
                  </a:r>
                  <a:endParaRPr lang="zh-CN" sz="675" dirty="0">
                    <a:solidFill>
                      <a:srgbClr val="94A3B8"/>
                    </a:solidFill>
                    <a:latin typeface="Segoe UI"/>
                    <a:ea typeface="微软雅黑"/>
                    <a:cs typeface="Segoe UI"/>
                  </a:endParaRPr>
                </a:p>
              </p:txBody>
            </p:sp>
            <p:sp>
              <p:nvSpPr>
                <p:cNvPr id="114" name="TextBox 114"/>
                <p:cNvSpPr txBox="1"/>
                <p:nvPr/>
              </p:nvSpPr>
              <p:spPr>
                <a:xfrm>
                  <a:off x="4578810" y="3346065"/>
                  <a:ext cx="125587"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20</a:t>
                  </a:r>
                  <a:endParaRPr lang="zh-CN" sz="675" dirty="0">
                    <a:solidFill>
                      <a:srgbClr val="94A3B8"/>
                    </a:solidFill>
                    <a:latin typeface="Segoe UI"/>
                    <a:ea typeface="微软雅黑"/>
                    <a:cs typeface="Segoe UI"/>
                  </a:endParaRPr>
                </a:p>
              </p:txBody>
            </p:sp>
            <p:sp>
              <p:nvSpPr>
                <p:cNvPr id="115" name="TextBox 115"/>
                <p:cNvSpPr txBox="1"/>
                <p:nvPr/>
              </p:nvSpPr>
              <p:spPr>
                <a:xfrm>
                  <a:off x="4578810" y="3128350"/>
                  <a:ext cx="125587"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40</a:t>
                  </a:r>
                  <a:endParaRPr lang="zh-CN" sz="675" dirty="0">
                    <a:solidFill>
                      <a:srgbClr val="94A3B8"/>
                    </a:solidFill>
                    <a:latin typeface="Segoe UI"/>
                    <a:ea typeface="微软雅黑"/>
                    <a:cs typeface="Segoe UI"/>
                  </a:endParaRPr>
                </a:p>
              </p:txBody>
            </p:sp>
            <p:sp>
              <p:nvSpPr>
                <p:cNvPr id="116" name="TextBox 116"/>
                <p:cNvSpPr txBox="1"/>
                <p:nvPr/>
              </p:nvSpPr>
              <p:spPr>
                <a:xfrm>
                  <a:off x="4578810" y="2910636"/>
                  <a:ext cx="125587"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60</a:t>
                  </a:r>
                  <a:endParaRPr lang="zh-CN" sz="675" dirty="0">
                    <a:solidFill>
                      <a:srgbClr val="94A3B8"/>
                    </a:solidFill>
                    <a:latin typeface="Segoe UI"/>
                    <a:ea typeface="微软雅黑"/>
                    <a:cs typeface="Segoe UI"/>
                  </a:endParaRPr>
                </a:p>
              </p:txBody>
            </p:sp>
            <p:sp>
              <p:nvSpPr>
                <p:cNvPr id="117" name="TextBox 117"/>
                <p:cNvSpPr txBox="1"/>
                <p:nvPr/>
              </p:nvSpPr>
              <p:spPr>
                <a:xfrm>
                  <a:off x="4578810" y="2692921"/>
                  <a:ext cx="125587"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80</a:t>
                  </a:r>
                  <a:endParaRPr lang="zh-CN" sz="675" dirty="0">
                    <a:solidFill>
                      <a:srgbClr val="94A3B8"/>
                    </a:solidFill>
                    <a:latin typeface="Segoe UI"/>
                    <a:ea typeface="微软雅黑"/>
                    <a:cs typeface="Segoe UI"/>
                  </a:endParaRPr>
                </a:p>
              </p:txBody>
            </p:sp>
            <p:sp>
              <p:nvSpPr>
                <p:cNvPr id="118" name="TextBox 118"/>
                <p:cNvSpPr txBox="1"/>
                <p:nvPr/>
              </p:nvSpPr>
              <p:spPr>
                <a:xfrm>
                  <a:off x="4549235" y="2475207"/>
                  <a:ext cx="155162" cy="137160"/>
                </a:xfrm>
                <a:prstGeom prst="rect">
                  <a:avLst/>
                </a:prstGeom>
                <a:noFill/>
                <a:ln>
                  <a:noFill/>
                </a:ln>
              </p:spPr>
              <p:txBody>
                <a:bodyPr wrap="none" lIns="0" tIns="0" rIns="0" bIns="0" anchor="t" anchorCtr="0">
                  <a:spAutoFit/>
                </a:bodyPr>
                <a:lstStyle/>
                <a:p>
                  <a:pPr algn="r"/>
                  <a:r>
                    <a:rPr lang="zh-CN" sz="675" dirty="0">
                      <a:solidFill>
                        <a:srgbClr val="94A3B8"/>
                      </a:solidFill>
                      <a:latin typeface="Segoe UI"/>
                      <a:ea typeface="微软雅黑"/>
                      <a:cs typeface="Segoe UI"/>
                    </a:rPr>
                    <a:t>100</a:t>
                  </a:r>
                  <a:endParaRPr lang="zh-CN" sz="675" dirty="0">
                    <a:solidFill>
                      <a:srgbClr val="94A3B8"/>
                    </a:solidFill>
                    <a:latin typeface="Segoe UI"/>
                    <a:ea typeface="微软雅黑"/>
                    <a:cs typeface="Segoe UI"/>
                  </a:endParaRPr>
                </a:p>
              </p:txBody>
            </p:sp>
            <p:sp>
              <p:nvSpPr>
                <p:cNvPr id="119" name="TextBox 119"/>
                <p:cNvSpPr txBox="1"/>
                <p:nvPr/>
              </p:nvSpPr>
              <p:spPr>
                <a:xfrm rot="-1800043">
                  <a:off x="4599503"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图像分类</a:t>
                  </a:r>
                  <a:endParaRPr lang="zh-CN" sz="600" dirty="0">
                    <a:solidFill>
                      <a:srgbClr val="94A3B8"/>
                    </a:solidFill>
                    <a:latin typeface="Segoe UI"/>
                    <a:ea typeface="微软雅黑"/>
                    <a:cs typeface="Segoe UI"/>
                  </a:endParaRPr>
                </a:p>
              </p:txBody>
            </p:sp>
            <p:sp>
              <p:nvSpPr>
                <p:cNvPr id="120" name="TextBox 120"/>
                <p:cNvSpPr txBox="1"/>
                <p:nvPr/>
              </p:nvSpPr>
              <p:spPr>
                <a:xfrm rot="-1800043">
                  <a:off x="4927587"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视觉推理</a:t>
                  </a:r>
                  <a:endParaRPr lang="zh-CN" sz="600" dirty="0">
                    <a:solidFill>
                      <a:srgbClr val="94A3B8"/>
                    </a:solidFill>
                    <a:latin typeface="Segoe UI"/>
                    <a:ea typeface="微软雅黑"/>
                    <a:cs typeface="Segoe UI"/>
                  </a:endParaRPr>
                </a:p>
              </p:txBody>
            </p:sp>
            <p:sp>
              <p:nvSpPr>
                <p:cNvPr id="121" name="TextBox 121"/>
                <p:cNvSpPr txBox="1"/>
                <p:nvPr/>
              </p:nvSpPr>
              <p:spPr>
                <a:xfrm rot="-1800043">
                  <a:off x="5255670"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英语理解</a:t>
                  </a:r>
                  <a:endParaRPr lang="zh-CN" sz="600" dirty="0">
                    <a:solidFill>
                      <a:srgbClr val="94A3B8"/>
                    </a:solidFill>
                    <a:latin typeface="Segoe UI"/>
                    <a:ea typeface="微软雅黑"/>
                    <a:cs typeface="Segoe UI"/>
                  </a:endParaRPr>
                </a:p>
              </p:txBody>
            </p:sp>
            <p:sp>
              <p:nvSpPr>
                <p:cNvPr id="122" name="TextBox 122"/>
                <p:cNvSpPr txBox="1"/>
                <p:nvPr/>
              </p:nvSpPr>
              <p:spPr>
                <a:xfrm rot="-1800043">
                  <a:off x="5583754"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数学推理</a:t>
                  </a:r>
                  <a:endParaRPr lang="zh-CN" sz="600" dirty="0">
                    <a:solidFill>
                      <a:srgbClr val="94A3B8"/>
                    </a:solidFill>
                    <a:latin typeface="Segoe UI"/>
                    <a:ea typeface="微软雅黑"/>
                    <a:cs typeface="Segoe UI"/>
                  </a:endParaRPr>
                </a:p>
              </p:txBody>
            </p:sp>
            <p:sp>
              <p:nvSpPr>
                <p:cNvPr id="123" name="TextBox 123"/>
                <p:cNvSpPr txBox="1"/>
                <p:nvPr/>
              </p:nvSpPr>
              <p:spPr>
                <a:xfrm rot="-1800043">
                  <a:off x="5911836"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代码生成</a:t>
                  </a:r>
                  <a:endParaRPr lang="zh-CN" sz="600" dirty="0">
                    <a:solidFill>
                      <a:srgbClr val="94A3B8"/>
                    </a:solidFill>
                    <a:latin typeface="Segoe UI"/>
                    <a:ea typeface="微软雅黑"/>
                    <a:cs typeface="Segoe UI"/>
                  </a:endParaRPr>
                </a:p>
              </p:txBody>
            </p:sp>
            <p:sp>
              <p:nvSpPr>
                <p:cNvPr id="124" name="TextBox 124"/>
                <p:cNvSpPr txBox="1"/>
                <p:nvPr/>
              </p:nvSpPr>
              <p:spPr>
                <a:xfrm rot="-1800043">
                  <a:off x="6239919"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常识推理</a:t>
                  </a:r>
                  <a:endParaRPr lang="zh-CN" sz="600" dirty="0">
                    <a:solidFill>
                      <a:srgbClr val="94A3B8"/>
                    </a:solidFill>
                    <a:latin typeface="Segoe UI"/>
                    <a:ea typeface="微软雅黑"/>
                    <a:cs typeface="Segoe UI"/>
                  </a:endParaRPr>
                </a:p>
              </p:txBody>
            </p:sp>
            <p:sp>
              <p:nvSpPr>
                <p:cNvPr id="125" name="TextBox 125"/>
                <p:cNvSpPr txBox="1"/>
                <p:nvPr/>
              </p:nvSpPr>
              <p:spPr>
                <a:xfrm rot="-1800043">
                  <a:off x="6568003"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语义理解</a:t>
                  </a:r>
                  <a:endParaRPr lang="zh-CN" sz="600" dirty="0">
                    <a:solidFill>
                      <a:srgbClr val="94A3B8"/>
                    </a:solidFill>
                    <a:latin typeface="Segoe UI"/>
                    <a:ea typeface="微软雅黑"/>
                    <a:cs typeface="Segoe UI"/>
                  </a:endParaRPr>
                </a:p>
              </p:txBody>
            </p:sp>
            <p:sp>
              <p:nvSpPr>
                <p:cNvPr id="126" name="TextBox 126"/>
                <p:cNvSpPr txBox="1"/>
                <p:nvPr/>
              </p:nvSpPr>
              <p:spPr>
                <a:xfrm rot="-1800043">
                  <a:off x="6896086"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文本生成</a:t>
                  </a:r>
                  <a:endParaRPr lang="zh-CN" sz="600" dirty="0">
                    <a:solidFill>
                      <a:srgbClr val="94A3B8"/>
                    </a:solidFill>
                    <a:latin typeface="Segoe UI"/>
                    <a:ea typeface="微软雅黑"/>
                    <a:cs typeface="Segoe UI"/>
                  </a:endParaRPr>
                </a:p>
              </p:txBody>
            </p:sp>
            <p:sp>
              <p:nvSpPr>
                <p:cNvPr id="127" name="TextBox 127"/>
                <p:cNvSpPr txBox="1"/>
                <p:nvPr/>
              </p:nvSpPr>
              <p:spPr>
                <a:xfrm rot="-1800043">
                  <a:off x="7224170" y="3736217"/>
                  <a:ext cx="365760" cy="121920"/>
                </a:xfrm>
                <a:prstGeom prst="rect">
                  <a:avLst/>
                </a:prstGeom>
                <a:noFill/>
                <a:ln>
                  <a:noFill/>
                </a:ln>
              </p:spPr>
              <p:txBody>
                <a:bodyPr wrap="none" lIns="0" tIns="0" rIns="0" bIns="0" anchor="t" anchorCtr="0">
                  <a:spAutoFit/>
                </a:bodyPr>
                <a:lstStyle/>
                <a:p>
                  <a:pPr algn="r"/>
                  <a:r>
                    <a:rPr lang="zh-CN" sz="600" dirty="0">
                      <a:solidFill>
                        <a:srgbClr val="94A3B8"/>
                      </a:solidFill>
                      <a:latin typeface="Segoe UI"/>
                      <a:ea typeface="微软雅黑"/>
                      <a:cs typeface="Segoe UI"/>
                    </a:rPr>
                    <a:t>语音识别</a:t>
                  </a:r>
                  <a:endParaRPr lang="zh-CN" sz="600" dirty="0">
                    <a:solidFill>
                      <a:srgbClr val="94A3B8"/>
                    </a:solidFill>
                    <a:latin typeface="Segoe UI"/>
                    <a:ea typeface="微软雅黑"/>
                    <a:cs typeface="Segoe UI"/>
                  </a:endParaRPr>
                </a:p>
              </p:txBody>
            </p:sp>
            <p:sp>
              <p:nvSpPr>
                <p:cNvPr id="128" name="Freeform 128"/>
                <p:cNvSpPr/>
                <p:nvPr/>
              </p:nvSpPr>
              <p:spPr>
                <a:xfrm>
                  <a:off x="4822878" y="2553516"/>
                  <a:ext cx="226378" cy="1083129"/>
                </a:xfrm>
                <a:custGeom>
                  <a:avLst/>
                  <a:gdLst/>
                  <a:ahLst/>
                  <a:cxnLst/>
                  <a:rect l="l" t="t" r="r" b="b"/>
                  <a:pathLst>
                    <a:path w="226378" h="1083129">
                      <a:moveTo>
                        <a:pt x="0" y="1083129"/>
                      </a:moveTo>
                      <a:lnTo>
                        <a:pt x="226378" y="1083129"/>
                      </a:lnTo>
                      <a:lnTo>
                        <a:pt x="226378" y="0"/>
                      </a:lnTo>
                      <a:lnTo>
                        <a:pt x="0" y="0"/>
                      </a:lnTo>
                      <a:close/>
                    </a:path>
                  </a:pathLst>
                </a:custGeom>
                <a:solidFill>
                  <a:srgbClr val="0070F3"/>
                </a:solidFill>
                <a:ln>
                  <a:noFill/>
                </a:ln>
              </p:spPr>
            </p:sp>
            <p:sp>
              <p:nvSpPr>
                <p:cNvPr id="129" name="Freeform 129"/>
                <p:cNvSpPr/>
                <p:nvPr/>
              </p:nvSpPr>
              <p:spPr>
                <a:xfrm>
                  <a:off x="5150961" y="2567668"/>
                  <a:ext cx="226378" cy="1068977"/>
                </a:xfrm>
                <a:custGeom>
                  <a:avLst/>
                  <a:gdLst/>
                  <a:ahLst/>
                  <a:cxnLst/>
                  <a:rect l="l" t="t" r="r" b="b"/>
                  <a:pathLst>
                    <a:path w="226378" h="1068977">
                      <a:moveTo>
                        <a:pt x="0" y="1068977"/>
                      </a:moveTo>
                      <a:lnTo>
                        <a:pt x="226378" y="1068977"/>
                      </a:lnTo>
                      <a:lnTo>
                        <a:pt x="226378" y="0"/>
                      </a:lnTo>
                      <a:lnTo>
                        <a:pt x="0" y="0"/>
                      </a:lnTo>
                      <a:close/>
                    </a:path>
                  </a:pathLst>
                </a:custGeom>
                <a:solidFill>
                  <a:srgbClr val="0070F3"/>
                </a:solidFill>
                <a:ln>
                  <a:noFill/>
                </a:ln>
              </p:spPr>
            </p:sp>
            <p:sp>
              <p:nvSpPr>
                <p:cNvPr id="130" name="Freeform 130"/>
                <p:cNvSpPr/>
                <p:nvPr/>
              </p:nvSpPr>
              <p:spPr>
                <a:xfrm>
                  <a:off x="5479045" y="2582908"/>
                  <a:ext cx="226378" cy="1053737"/>
                </a:xfrm>
                <a:custGeom>
                  <a:avLst/>
                  <a:gdLst/>
                  <a:ahLst/>
                  <a:cxnLst/>
                  <a:rect l="l" t="t" r="r" b="b"/>
                  <a:pathLst>
                    <a:path w="226378" h="1053737">
                      <a:moveTo>
                        <a:pt x="0" y="1053737"/>
                      </a:moveTo>
                      <a:lnTo>
                        <a:pt x="226378" y="1053737"/>
                      </a:lnTo>
                      <a:lnTo>
                        <a:pt x="226378" y="0"/>
                      </a:lnTo>
                      <a:lnTo>
                        <a:pt x="0" y="0"/>
                      </a:lnTo>
                      <a:close/>
                    </a:path>
                  </a:pathLst>
                </a:custGeom>
                <a:solidFill>
                  <a:srgbClr val="0070F3"/>
                </a:solidFill>
                <a:ln>
                  <a:noFill/>
                </a:ln>
              </p:spPr>
            </p:sp>
            <p:sp>
              <p:nvSpPr>
                <p:cNvPr id="131" name="Freeform 131"/>
                <p:cNvSpPr/>
                <p:nvPr/>
              </p:nvSpPr>
              <p:spPr>
                <a:xfrm>
                  <a:off x="5807128" y="2601414"/>
                  <a:ext cx="226378" cy="1035231"/>
                </a:xfrm>
                <a:custGeom>
                  <a:avLst/>
                  <a:gdLst/>
                  <a:ahLst/>
                  <a:cxnLst/>
                  <a:rect l="l" t="t" r="r" b="b"/>
                  <a:pathLst>
                    <a:path w="226378" h="1035231">
                      <a:moveTo>
                        <a:pt x="0" y="1035231"/>
                      </a:moveTo>
                      <a:lnTo>
                        <a:pt x="226378" y="1035231"/>
                      </a:lnTo>
                      <a:lnTo>
                        <a:pt x="226378" y="0"/>
                      </a:lnTo>
                      <a:lnTo>
                        <a:pt x="0" y="0"/>
                      </a:lnTo>
                      <a:close/>
                    </a:path>
                  </a:pathLst>
                </a:custGeom>
                <a:solidFill>
                  <a:srgbClr val="0070F3"/>
                </a:solidFill>
                <a:ln>
                  <a:noFill/>
                </a:ln>
              </p:spPr>
            </p:sp>
            <p:sp>
              <p:nvSpPr>
                <p:cNvPr id="132" name="Freeform 132"/>
                <p:cNvSpPr/>
                <p:nvPr/>
              </p:nvSpPr>
              <p:spPr>
                <a:xfrm>
                  <a:off x="6135212" y="2577465"/>
                  <a:ext cx="226378" cy="1059180"/>
                </a:xfrm>
                <a:custGeom>
                  <a:avLst/>
                  <a:gdLst/>
                  <a:ahLst/>
                  <a:cxnLst/>
                  <a:rect l="l" t="t" r="r" b="b"/>
                  <a:pathLst>
                    <a:path w="226378" h="1059180">
                      <a:moveTo>
                        <a:pt x="0" y="1059180"/>
                      </a:moveTo>
                      <a:lnTo>
                        <a:pt x="226378" y="1059180"/>
                      </a:lnTo>
                      <a:lnTo>
                        <a:pt x="226378" y="0"/>
                      </a:lnTo>
                      <a:lnTo>
                        <a:pt x="0" y="0"/>
                      </a:lnTo>
                      <a:close/>
                    </a:path>
                  </a:pathLst>
                </a:custGeom>
                <a:solidFill>
                  <a:srgbClr val="0070F3"/>
                </a:solidFill>
                <a:ln>
                  <a:noFill/>
                </a:ln>
              </p:spPr>
            </p:sp>
            <p:sp>
              <p:nvSpPr>
                <p:cNvPr id="133" name="Freeform 133"/>
                <p:cNvSpPr/>
                <p:nvPr/>
              </p:nvSpPr>
              <p:spPr>
                <a:xfrm>
                  <a:off x="6463294" y="2617742"/>
                  <a:ext cx="226378" cy="1018903"/>
                </a:xfrm>
                <a:custGeom>
                  <a:avLst/>
                  <a:gdLst/>
                  <a:ahLst/>
                  <a:cxnLst/>
                  <a:rect l="l" t="t" r="r" b="b"/>
                  <a:pathLst>
                    <a:path w="226378" h="1018903">
                      <a:moveTo>
                        <a:pt x="0" y="1018903"/>
                      </a:moveTo>
                      <a:lnTo>
                        <a:pt x="226378" y="1018903"/>
                      </a:lnTo>
                      <a:lnTo>
                        <a:pt x="226378" y="0"/>
                      </a:lnTo>
                      <a:lnTo>
                        <a:pt x="0" y="0"/>
                      </a:lnTo>
                      <a:close/>
                    </a:path>
                  </a:pathLst>
                </a:custGeom>
                <a:solidFill>
                  <a:srgbClr val="0070F3"/>
                </a:solidFill>
                <a:ln>
                  <a:noFill/>
                </a:ln>
              </p:spPr>
            </p:sp>
            <p:sp>
              <p:nvSpPr>
                <p:cNvPr id="134" name="Freeform 134"/>
                <p:cNvSpPr/>
                <p:nvPr/>
              </p:nvSpPr>
              <p:spPr>
                <a:xfrm>
                  <a:off x="6791378" y="2603591"/>
                  <a:ext cx="226378" cy="1033054"/>
                </a:xfrm>
                <a:custGeom>
                  <a:avLst/>
                  <a:gdLst/>
                  <a:ahLst/>
                  <a:cxnLst/>
                  <a:rect l="l" t="t" r="r" b="b"/>
                  <a:pathLst>
                    <a:path w="226378" h="1033054">
                      <a:moveTo>
                        <a:pt x="0" y="1033054"/>
                      </a:moveTo>
                      <a:lnTo>
                        <a:pt x="226378" y="1033054"/>
                      </a:lnTo>
                      <a:lnTo>
                        <a:pt x="226378" y="0"/>
                      </a:lnTo>
                      <a:lnTo>
                        <a:pt x="0" y="0"/>
                      </a:lnTo>
                      <a:close/>
                    </a:path>
                  </a:pathLst>
                </a:custGeom>
                <a:solidFill>
                  <a:srgbClr val="0070F3"/>
                </a:solidFill>
                <a:ln>
                  <a:noFill/>
                </a:ln>
              </p:spPr>
            </p:sp>
            <p:sp>
              <p:nvSpPr>
                <p:cNvPr id="135" name="Freeform 135"/>
                <p:cNvSpPr/>
                <p:nvPr/>
              </p:nvSpPr>
              <p:spPr>
                <a:xfrm>
                  <a:off x="7119461" y="2589439"/>
                  <a:ext cx="226378" cy="1047206"/>
                </a:xfrm>
                <a:custGeom>
                  <a:avLst/>
                  <a:gdLst/>
                  <a:ahLst/>
                  <a:cxnLst/>
                  <a:rect l="l" t="t" r="r" b="b"/>
                  <a:pathLst>
                    <a:path w="226378" h="1047206">
                      <a:moveTo>
                        <a:pt x="0" y="1047206"/>
                      </a:moveTo>
                      <a:lnTo>
                        <a:pt x="226378" y="1047206"/>
                      </a:lnTo>
                      <a:lnTo>
                        <a:pt x="226378" y="0"/>
                      </a:lnTo>
                      <a:lnTo>
                        <a:pt x="0" y="0"/>
                      </a:lnTo>
                      <a:close/>
                    </a:path>
                  </a:pathLst>
                </a:custGeom>
                <a:solidFill>
                  <a:srgbClr val="0070F3"/>
                </a:solidFill>
                <a:ln>
                  <a:noFill/>
                </a:ln>
              </p:spPr>
            </p:sp>
            <p:sp>
              <p:nvSpPr>
                <p:cNvPr id="136" name="Freeform 136"/>
                <p:cNvSpPr/>
                <p:nvPr/>
              </p:nvSpPr>
              <p:spPr>
                <a:xfrm>
                  <a:off x="7447544" y="2562225"/>
                  <a:ext cx="226378" cy="1074420"/>
                </a:xfrm>
                <a:custGeom>
                  <a:avLst/>
                  <a:gdLst/>
                  <a:ahLst/>
                  <a:cxnLst/>
                  <a:rect l="l" t="t" r="r" b="b"/>
                  <a:pathLst>
                    <a:path w="226378" h="1074420">
                      <a:moveTo>
                        <a:pt x="0" y="1074420"/>
                      </a:moveTo>
                      <a:lnTo>
                        <a:pt x="226378" y="1074420"/>
                      </a:lnTo>
                      <a:lnTo>
                        <a:pt x="226378" y="0"/>
                      </a:lnTo>
                      <a:lnTo>
                        <a:pt x="0" y="0"/>
                      </a:lnTo>
                      <a:close/>
                    </a:path>
                  </a:pathLst>
                </a:custGeom>
                <a:solidFill>
                  <a:srgbClr val="0070F3"/>
                </a:solidFill>
                <a:ln>
                  <a:noFill/>
                </a:ln>
              </p:spPr>
            </p:sp>
            <p:sp>
              <p:nvSpPr>
                <p:cNvPr id="137" name="TextBox 137"/>
                <p:cNvSpPr txBox="1"/>
                <p:nvPr/>
              </p:nvSpPr>
              <p:spPr>
                <a:xfrm>
                  <a:off x="4832053" y="2403021"/>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99.5</a:t>
                  </a:r>
                  <a:endParaRPr lang="zh-CN" sz="600" dirty="0">
                    <a:solidFill>
                      <a:srgbClr val="0070F3"/>
                    </a:solidFill>
                    <a:latin typeface="Segoe UI"/>
                    <a:ea typeface="微软雅黑"/>
                    <a:cs typeface="Segoe UI"/>
                  </a:endParaRPr>
                </a:p>
              </p:txBody>
            </p:sp>
            <p:sp>
              <p:nvSpPr>
                <p:cNvPr id="138" name="TextBox 138"/>
                <p:cNvSpPr txBox="1"/>
                <p:nvPr/>
              </p:nvSpPr>
              <p:spPr>
                <a:xfrm>
                  <a:off x="5160137" y="2417173"/>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98.2</a:t>
                  </a:r>
                  <a:endParaRPr lang="zh-CN" sz="600" dirty="0">
                    <a:solidFill>
                      <a:srgbClr val="0070F3"/>
                    </a:solidFill>
                    <a:latin typeface="Segoe UI"/>
                    <a:ea typeface="微软雅黑"/>
                    <a:cs typeface="Segoe UI"/>
                  </a:endParaRPr>
                </a:p>
              </p:txBody>
            </p:sp>
            <p:sp>
              <p:nvSpPr>
                <p:cNvPr id="139" name="TextBox 139"/>
                <p:cNvSpPr txBox="1"/>
                <p:nvPr/>
              </p:nvSpPr>
              <p:spPr>
                <a:xfrm>
                  <a:off x="5488220" y="2432413"/>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96.8</a:t>
                  </a:r>
                  <a:endParaRPr lang="zh-CN" sz="600" dirty="0">
                    <a:solidFill>
                      <a:srgbClr val="0070F3"/>
                    </a:solidFill>
                    <a:latin typeface="Segoe UI"/>
                    <a:ea typeface="微软雅黑"/>
                    <a:cs typeface="Segoe UI"/>
                  </a:endParaRPr>
                </a:p>
              </p:txBody>
            </p:sp>
            <p:sp>
              <p:nvSpPr>
                <p:cNvPr id="140" name="TextBox 140"/>
                <p:cNvSpPr txBox="1"/>
                <p:nvPr/>
              </p:nvSpPr>
              <p:spPr>
                <a:xfrm>
                  <a:off x="5827258" y="2450919"/>
                  <a:ext cx="186119"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95.1</a:t>
                  </a:r>
                  <a:endParaRPr lang="zh-CN" sz="600" dirty="0">
                    <a:solidFill>
                      <a:srgbClr val="0070F3"/>
                    </a:solidFill>
                    <a:latin typeface="Segoe UI"/>
                    <a:ea typeface="微软雅黑"/>
                    <a:cs typeface="Segoe UI"/>
                  </a:endParaRPr>
                </a:p>
              </p:txBody>
            </p:sp>
            <p:sp>
              <p:nvSpPr>
                <p:cNvPr id="141" name="TextBox 141"/>
                <p:cNvSpPr txBox="1"/>
                <p:nvPr/>
              </p:nvSpPr>
              <p:spPr>
                <a:xfrm>
                  <a:off x="6144387" y="2426970"/>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97.3</a:t>
                  </a:r>
                  <a:endParaRPr lang="zh-CN" sz="600" dirty="0">
                    <a:solidFill>
                      <a:srgbClr val="0070F3"/>
                    </a:solidFill>
                    <a:latin typeface="Segoe UI"/>
                    <a:ea typeface="微软雅黑"/>
                    <a:cs typeface="Segoe UI"/>
                  </a:endParaRPr>
                </a:p>
              </p:txBody>
            </p:sp>
            <p:sp>
              <p:nvSpPr>
                <p:cNvPr id="142" name="TextBox 142"/>
                <p:cNvSpPr txBox="1"/>
                <p:nvPr/>
              </p:nvSpPr>
              <p:spPr>
                <a:xfrm>
                  <a:off x="6472470" y="2467247"/>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93.6</a:t>
                  </a:r>
                  <a:endParaRPr lang="zh-CN" sz="600" dirty="0">
                    <a:solidFill>
                      <a:srgbClr val="0070F3"/>
                    </a:solidFill>
                    <a:latin typeface="Segoe UI"/>
                    <a:ea typeface="微软雅黑"/>
                    <a:cs typeface="Segoe UI"/>
                  </a:endParaRPr>
                </a:p>
              </p:txBody>
            </p:sp>
            <p:sp>
              <p:nvSpPr>
                <p:cNvPr id="143" name="TextBox 143"/>
                <p:cNvSpPr txBox="1"/>
                <p:nvPr/>
              </p:nvSpPr>
              <p:spPr>
                <a:xfrm>
                  <a:off x="6800554" y="2453096"/>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94.9</a:t>
                  </a:r>
                  <a:endParaRPr lang="zh-CN" sz="600" dirty="0">
                    <a:solidFill>
                      <a:srgbClr val="0070F3"/>
                    </a:solidFill>
                    <a:latin typeface="Segoe UI"/>
                    <a:ea typeface="微软雅黑"/>
                    <a:cs typeface="Segoe UI"/>
                  </a:endParaRPr>
                </a:p>
              </p:txBody>
            </p:sp>
            <p:sp>
              <p:nvSpPr>
                <p:cNvPr id="144" name="TextBox 144"/>
                <p:cNvSpPr txBox="1"/>
                <p:nvPr/>
              </p:nvSpPr>
              <p:spPr>
                <a:xfrm>
                  <a:off x="7128637" y="2438944"/>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96.2</a:t>
                  </a:r>
                  <a:endParaRPr lang="zh-CN" sz="600" dirty="0">
                    <a:solidFill>
                      <a:srgbClr val="0070F3"/>
                    </a:solidFill>
                    <a:latin typeface="Segoe UI"/>
                    <a:ea typeface="微软雅黑"/>
                    <a:cs typeface="Segoe UI"/>
                  </a:endParaRPr>
                </a:p>
              </p:txBody>
            </p:sp>
            <p:sp>
              <p:nvSpPr>
                <p:cNvPr id="145" name="TextBox 145"/>
                <p:cNvSpPr txBox="1"/>
                <p:nvPr/>
              </p:nvSpPr>
              <p:spPr>
                <a:xfrm>
                  <a:off x="7456721" y="2411730"/>
                  <a:ext cx="208026" cy="121920"/>
                </a:xfrm>
                <a:prstGeom prst="rect">
                  <a:avLst/>
                </a:prstGeom>
                <a:noFill/>
                <a:ln>
                  <a:noFill/>
                </a:ln>
              </p:spPr>
              <p:txBody>
                <a:bodyPr wrap="none" lIns="0" tIns="0" rIns="0" bIns="0" anchor="t" anchorCtr="0">
                  <a:spAutoFit/>
                </a:bodyPr>
                <a:lstStyle/>
                <a:p>
                  <a:pPr algn="ctr"/>
                  <a:r>
                    <a:rPr lang="zh-CN" sz="600" dirty="0">
                      <a:solidFill>
                        <a:srgbClr val="0070F3"/>
                      </a:solidFill>
                      <a:latin typeface="Segoe UI"/>
                      <a:ea typeface="微软雅黑"/>
                      <a:cs typeface="Segoe UI"/>
                    </a:rPr>
                    <a:t>98.7</a:t>
                  </a:r>
                  <a:endParaRPr lang="zh-CN" sz="600" dirty="0">
                    <a:solidFill>
                      <a:srgbClr val="0070F3"/>
                    </a:solidFill>
                    <a:latin typeface="Segoe UI"/>
                    <a:ea typeface="微软雅黑"/>
                    <a:cs typeface="Segoe UI"/>
                  </a:endParaRPr>
                </a:p>
              </p:txBody>
            </p:sp>
            <p:sp>
              <p:nvSpPr>
                <p:cNvPr id="146" name="Freeform 146"/>
                <p:cNvSpPr/>
                <p:nvPr/>
              </p:nvSpPr>
              <p:spPr>
                <a:xfrm>
                  <a:off x="4936066" y="2711359"/>
                  <a:ext cx="2624667" cy="709749"/>
                </a:xfrm>
                <a:custGeom>
                  <a:avLst/>
                  <a:gdLst/>
                  <a:ahLst/>
                  <a:cxnLst/>
                  <a:rect l="l" t="t" r="r" b="b"/>
                  <a:pathLst>
                    <a:path w="2624667" h="709749">
                      <a:moveTo>
                        <a:pt x="0" y="371204"/>
                      </a:moveTo>
                      <a:lnTo>
                        <a:pt x="328084" y="385355"/>
                      </a:lnTo>
                      <a:lnTo>
                        <a:pt x="656167" y="162197"/>
                      </a:lnTo>
                      <a:lnTo>
                        <a:pt x="984251" y="381000"/>
                      </a:lnTo>
                      <a:lnTo>
                        <a:pt x="1312334" y="709749"/>
                      </a:lnTo>
                      <a:lnTo>
                        <a:pt x="1640416" y="150224"/>
                      </a:lnTo>
                      <a:lnTo>
                        <a:pt x="1968500" y="163286"/>
                      </a:lnTo>
                      <a:lnTo>
                        <a:pt x="2296583" y="239486"/>
                      </a:lnTo>
                      <a:lnTo>
                        <a:pt x="2624667" y="0"/>
                      </a:lnTo>
                    </a:path>
                  </a:pathLst>
                </a:custGeom>
                <a:noFill/>
                <a:ln w="19050">
                  <a:solidFill>
                    <a:srgbClr val="D4AF37"/>
                  </a:solidFill>
                  <a:prstDash val="lgDash"/>
                  <a:bevel/>
                </a:ln>
              </p:spPr>
            </p:sp>
            <p:sp>
              <p:nvSpPr>
                <p:cNvPr id="147" name="Ellipse 147"/>
                <p:cNvSpPr/>
                <p:nvPr/>
              </p:nvSpPr>
              <p:spPr>
                <a:xfrm>
                  <a:off x="4931761" y="3078257"/>
                  <a:ext cx="8611" cy="8611"/>
                </a:xfrm>
                <a:prstGeom prst="ellipse">
                  <a:avLst/>
                </a:prstGeom>
                <a:solidFill>
                  <a:srgbClr val="FFFFFF"/>
                </a:solidFill>
                <a:ln w="42185">
                  <a:solidFill>
                    <a:srgbClr val="D4AF37"/>
                  </a:solidFill>
                </a:ln>
              </p:spPr>
            </p:sp>
            <p:sp>
              <p:nvSpPr>
                <p:cNvPr id="148" name="TextBox 148"/>
                <p:cNvSpPr txBox="1"/>
                <p:nvPr/>
              </p:nvSpPr>
              <p:spPr>
                <a:xfrm>
                  <a:off x="4832053" y="2918241"/>
                  <a:ext cx="208026"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50.9</a:t>
                  </a:r>
                  <a:endParaRPr lang="zh-CN" sz="600" dirty="0">
                    <a:solidFill>
                      <a:srgbClr val="D4AF37"/>
                    </a:solidFill>
                    <a:latin typeface="Segoe UI"/>
                    <a:ea typeface="微软雅黑"/>
                    <a:cs typeface="Segoe UI"/>
                  </a:endParaRPr>
                </a:p>
              </p:txBody>
            </p:sp>
            <p:sp>
              <p:nvSpPr>
                <p:cNvPr id="149" name="TextBox 149"/>
                <p:cNvSpPr txBox="1"/>
                <p:nvPr/>
              </p:nvSpPr>
              <p:spPr>
                <a:xfrm>
                  <a:off x="5160137" y="2946219"/>
                  <a:ext cx="208026"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49.6</a:t>
                  </a:r>
                  <a:endParaRPr lang="zh-CN" sz="600" dirty="0">
                    <a:solidFill>
                      <a:srgbClr val="D4AF37"/>
                    </a:solidFill>
                    <a:latin typeface="Segoe UI"/>
                    <a:ea typeface="微软雅黑"/>
                    <a:cs typeface="Segoe UI"/>
                  </a:endParaRPr>
                </a:p>
              </p:txBody>
            </p:sp>
            <p:sp>
              <p:nvSpPr>
                <p:cNvPr id="150" name="TextBox 150"/>
                <p:cNvSpPr txBox="1"/>
                <p:nvPr/>
              </p:nvSpPr>
              <p:spPr>
                <a:xfrm>
                  <a:off x="5499174" y="2723061"/>
                  <a:ext cx="186119"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70.1</a:t>
                  </a:r>
                  <a:endParaRPr lang="zh-CN" sz="600" dirty="0">
                    <a:solidFill>
                      <a:srgbClr val="D4AF37"/>
                    </a:solidFill>
                    <a:latin typeface="Segoe UI"/>
                    <a:ea typeface="微软雅黑"/>
                    <a:cs typeface="Segoe UI"/>
                  </a:endParaRPr>
                </a:p>
              </p:txBody>
            </p:sp>
            <p:sp>
              <p:nvSpPr>
                <p:cNvPr id="151" name="TextBox 151"/>
                <p:cNvSpPr txBox="1"/>
                <p:nvPr/>
              </p:nvSpPr>
              <p:spPr>
                <a:xfrm>
                  <a:off x="5864501" y="2941864"/>
                  <a:ext cx="111633"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50</a:t>
                  </a:r>
                  <a:endParaRPr lang="zh-CN" sz="600" dirty="0">
                    <a:solidFill>
                      <a:srgbClr val="D4AF37"/>
                    </a:solidFill>
                    <a:latin typeface="Segoe UI"/>
                    <a:ea typeface="微软雅黑"/>
                    <a:cs typeface="Segoe UI"/>
                  </a:endParaRPr>
                </a:p>
              </p:txBody>
            </p:sp>
            <p:sp>
              <p:nvSpPr>
                <p:cNvPr id="152" name="TextBox 152"/>
                <p:cNvSpPr txBox="1"/>
                <p:nvPr/>
              </p:nvSpPr>
              <p:spPr>
                <a:xfrm>
                  <a:off x="6155341" y="3270613"/>
                  <a:ext cx="186119"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19.8</a:t>
                  </a:r>
                  <a:endParaRPr lang="zh-CN" sz="600" dirty="0">
                    <a:solidFill>
                      <a:srgbClr val="D4AF37"/>
                    </a:solidFill>
                    <a:latin typeface="Segoe UI"/>
                    <a:ea typeface="微软雅黑"/>
                    <a:cs typeface="Segoe UI"/>
                  </a:endParaRPr>
                </a:p>
              </p:txBody>
            </p:sp>
            <p:sp>
              <p:nvSpPr>
                <p:cNvPr id="153" name="TextBox 153"/>
                <p:cNvSpPr txBox="1"/>
                <p:nvPr/>
              </p:nvSpPr>
              <p:spPr>
                <a:xfrm>
                  <a:off x="6483424" y="2711087"/>
                  <a:ext cx="186119"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71.2</a:t>
                  </a:r>
                  <a:endParaRPr lang="zh-CN" sz="600" dirty="0">
                    <a:solidFill>
                      <a:srgbClr val="D4AF37"/>
                    </a:solidFill>
                    <a:latin typeface="Segoe UI"/>
                    <a:ea typeface="微软雅黑"/>
                    <a:cs typeface="Segoe UI"/>
                  </a:endParaRPr>
                </a:p>
              </p:txBody>
            </p:sp>
            <p:sp>
              <p:nvSpPr>
                <p:cNvPr id="154" name="TextBox 154"/>
                <p:cNvSpPr txBox="1"/>
                <p:nvPr/>
              </p:nvSpPr>
              <p:spPr>
                <a:xfrm>
                  <a:off x="6848750" y="2724150"/>
                  <a:ext cx="111633"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70</a:t>
                  </a:r>
                  <a:endParaRPr lang="zh-CN" sz="600" dirty="0">
                    <a:solidFill>
                      <a:srgbClr val="D4AF37"/>
                    </a:solidFill>
                    <a:latin typeface="Segoe UI"/>
                    <a:ea typeface="微软雅黑"/>
                    <a:cs typeface="Segoe UI"/>
                  </a:endParaRPr>
                </a:p>
              </p:txBody>
            </p:sp>
            <p:sp>
              <p:nvSpPr>
                <p:cNvPr id="155" name="TextBox 155"/>
                <p:cNvSpPr txBox="1"/>
                <p:nvPr/>
              </p:nvSpPr>
              <p:spPr>
                <a:xfrm>
                  <a:off x="7176833" y="2800350"/>
                  <a:ext cx="111633"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63</a:t>
                  </a:r>
                  <a:endParaRPr lang="zh-CN" sz="600" dirty="0">
                    <a:solidFill>
                      <a:srgbClr val="D4AF37"/>
                    </a:solidFill>
                    <a:latin typeface="Segoe UI"/>
                    <a:ea typeface="微软雅黑"/>
                    <a:cs typeface="Segoe UI"/>
                  </a:endParaRPr>
                </a:p>
              </p:txBody>
            </p:sp>
            <p:sp>
              <p:nvSpPr>
                <p:cNvPr id="156" name="TextBox 156"/>
                <p:cNvSpPr txBox="1"/>
                <p:nvPr/>
              </p:nvSpPr>
              <p:spPr>
                <a:xfrm>
                  <a:off x="7504917" y="2560864"/>
                  <a:ext cx="111633" cy="121920"/>
                </a:xfrm>
                <a:prstGeom prst="rect">
                  <a:avLst/>
                </a:prstGeom>
                <a:noFill/>
                <a:ln>
                  <a:noFill/>
                </a:ln>
              </p:spPr>
              <p:txBody>
                <a:bodyPr wrap="none" lIns="0" tIns="0" rIns="0" bIns="0" anchor="t" anchorCtr="0">
                  <a:spAutoFit/>
                </a:bodyPr>
                <a:lstStyle/>
                <a:p>
                  <a:pPr algn="ctr"/>
                  <a:r>
                    <a:rPr lang="zh-CN" sz="600" dirty="0">
                      <a:solidFill>
                        <a:srgbClr val="D4AF37"/>
                      </a:solidFill>
                      <a:latin typeface="Segoe UI"/>
                      <a:ea typeface="微软雅黑"/>
                      <a:cs typeface="Segoe UI"/>
                    </a:rPr>
                    <a:t>85</a:t>
                  </a:r>
                  <a:endParaRPr lang="zh-CN" sz="600" dirty="0">
                    <a:solidFill>
                      <a:srgbClr val="D4AF37"/>
                    </a:solidFill>
                    <a:latin typeface="Segoe UI"/>
                    <a:ea typeface="微软雅黑"/>
                    <a:cs typeface="Segoe UI"/>
                  </a:endParaRPr>
                </a:p>
              </p:txBody>
            </p:sp>
          </p:grpSp>
        </p:grpSp>
        <p:sp>
          <p:nvSpPr>
            <p:cNvPr id="159" name="Rectangle 159"/>
            <p:cNvSpPr/>
            <p:nvPr/>
          </p:nvSpPr>
          <p:spPr>
            <a:xfrm>
              <a:off x="8115300" y="1736408"/>
              <a:ext cx="3848100" cy="2481262"/>
            </a:xfrm>
            <a:prstGeom prst="rect">
              <a:avLst/>
            </a:prstGeom>
            <a:noFill/>
            <a:ln>
              <a:noFill/>
            </a:ln>
          </p:spPr>
        </p:sp>
        <p:sp>
          <p:nvSpPr>
            <p:cNvPr id="160" name="Line 160"/>
            <p:cNvSpPr/>
            <p:nvPr/>
          </p:nvSpPr>
          <p:spPr>
            <a:xfrm>
              <a:off x="8115300" y="1736408"/>
              <a:ext cx="3848100" cy="9525"/>
            </a:xfrm>
            <a:custGeom>
              <a:avLst/>
              <a:gdLst/>
              <a:ahLst/>
              <a:cxnLst/>
              <a:rect l="l" t="t" r="r" b="b"/>
              <a:pathLst>
                <a:path w="3848100" h="9525">
                  <a:moveTo>
                    <a:pt x="0" y="0"/>
                  </a:moveTo>
                  <a:lnTo>
                    <a:pt x="3848100" y="0"/>
                  </a:lnTo>
                </a:path>
              </a:pathLst>
            </a:custGeom>
            <a:noFill/>
            <a:ln w="9525">
              <a:solidFill>
                <a:srgbClr val="0070F3">
                  <a:alpha val="14000"/>
                </a:srgbClr>
              </a:solidFill>
            </a:ln>
          </p:spPr>
        </p:sp>
        <p:sp>
          <p:nvSpPr>
            <p:cNvPr id="161" name="Line 161"/>
            <p:cNvSpPr/>
            <p:nvPr/>
          </p:nvSpPr>
          <p:spPr>
            <a:xfrm>
              <a:off x="11963400" y="1736408"/>
              <a:ext cx="9525" cy="2481262"/>
            </a:xfrm>
            <a:custGeom>
              <a:avLst/>
              <a:gdLst/>
              <a:ahLst/>
              <a:cxnLst/>
              <a:rect l="l" t="t" r="r" b="b"/>
              <a:pathLst>
                <a:path w="9525" h="2481262">
                  <a:moveTo>
                    <a:pt x="0" y="0"/>
                  </a:moveTo>
                  <a:lnTo>
                    <a:pt x="0" y="2481262"/>
                  </a:lnTo>
                </a:path>
              </a:pathLst>
            </a:custGeom>
            <a:noFill/>
            <a:ln w="9525">
              <a:solidFill>
                <a:srgbClr val="0070F3">
                  <a:alpha val="14000"/>
                </a:srgbClr>
              </a:solidFill>
            </a:ln>
          </p:spPr>
        </p:sp>
        <p:sp>
          <p:nvSpPr>
            <p:cNvPr id="162" name="Line 162"/>
            <p:cNvSpPr/>
            <p:nvPr/>
          </p:nvSpPr>
          <p:spPr>
            <a:xfrm>
              <a:off x="8115300" y="4217670"/>
              <a:ext cx="3848100" cy="9525"/>
            </a:xfrm>
            <a:custGeom>
              <a:avLst/>
              <a:gdLst/>
              <a:ahLst/>
              <a:cxnLst/>
              <a:rect l="l" t="t" r="r" b="b"/>
              <a:pathLst>
                <a:path w="3848100" h="9525">
                  <a:moveTo>
                    <a:pt x="0" y="0"/>
                  </a:moveTo>
                  <a:lnTo>
                    <a:pt x="3848100" y="0"/>
                  </a:lnTo>
                </a:path>
              </a:pathLst>
            </a:custGeom>
            <a:noFill/>
            <a:ln w="9525">
              <a:solidFill>
                <a:srgbClr val="0070F3">
                  <a:alpha val="14000"/>
                </a:srgbClr>
              </a:solidFill>
            </a:ln>
          </p:spPr>
        </p:sp>
        <p:sp>
          <p:nvSpPr>
            <p:cNvPr id="163" name="Line 163"/>
            <p:cNvSpPr/>
            <p:nvPr/>
          </p:nvSpPr>
          <p:spPr>
            <a:xfrm>
              <a:off x="8115300" y="1736408"/>
              <a:ext cx="9525" cy="2481262"/>
            </a:xfrm>
            <a:custGeom>
              <a:avLst/>
              <a:gdLst/>
              <a:ahLst/>
              <a:cxnLst/>
              <a:rect l="l" t="t" r="r" b="b"/>
              <a:pathLst>
                <a:path w="9525" h="2481262">
                  <a:moveTo>
                    <a:pt x="0" y="0"/>
                  </a:moveTo>
                  <a:lnTo>
                    <a:pt x="0" y="2481262"/>
                  </a:lnTo>
                </a:path>
              </a:pathLst>
            </a:custGeom>
            <a:noFill/>
            <a:ln w="9525">
              <a:solidFill>
                <a:srgbClr val="0070F3">
                  <a:alpha val="14000"/>
                </a:srgbClr>
              </a:solidFill>
            </a:ln>
          </p:spPr>
        </p:sp>
        <p:sp>
          <p:nvSpPr>
            <p:cNvPr id="164" name="TextBox 164"/>
            <p:cNvSpPr txBox="1"/>
            <p:nvPr/>
          </p:nvSpPr>
          <p:spPr>
            <a:xfrm>
              <a:off x="8246745" y="1877378"/>
              <a:ext cx="1126998" cy="182880"/>
            </a:xfrm>
            <a:prstGeom prst="rect">
              <a:avLst/>
            </a:prstGeom>
            <a:noFill/>
            <a:ln>
              <a:noFill/>
            </a:ln>
          </p:spPr>
          <p:txBody>
            <a:bodyPr wrap="none" lIns="0" tIns="0" rIns="0" bIns="0" anchor="t" anchorCtr="0">
              <a:spAutoFit/>
            </a:bodyPr>
            <a:lstStyle/>
            <a:p>
              <a:pPr algn="l"/>
              <a:r>
                <a:rPr lang="zh-CN" sz="900" b="1" dirty="0">
                  <a:solidFill>
                    <a:srgbClr val="0A0A0A"/>
                  </a:solidFill>
                  <a:latin typeface="Arial" panose="020B0604020202090204"/>
                  <a:ea typeface="微软雅黑"/>
                  <a:cs typeface="Arial" panose="020B0604020202090204"/>
                </a:rPr>
                <a:t>模型来源国家分布</a:t>
              </a:r>
              <a:endParaRPr lang="zh-CN" sz="900" b="1" dirty="0">
                <a:solidFill>
                  <a:srgbClr val="0A0A0A"/>
                </a:solidFill>
                <a:latin typeface="Arial" panose="020B0604020202090204"/>
                <a:ea typeface="微软雅黑"/>
                <a:cs typeface="Arial" panose="020B0604020202090204"/>
              </a:endParaRPr>
            </a:p>
          </p:txBody>
        </p:sp>
        <p:sp>
          <p:nvSpPr>
            <p:cNvPr id="165" name="TextBox 165"/>
            <p:cNvSpPr txBox="1"/>
            <p:nvPr/>
          </p:nvSpPr>
          <p:spPr>
            <a:xfrm>
              <a:off x="8248650" y="2107882"/>
              <a:ext cx="1026795"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2023年重要模型统计</a:t>
              </a:r>
              <a:endParaRPr lang="zh-CN" sz="750" dirty="0">
                <a:solidFill>
                  <a:srgbClr val="94A3B8"/>
                </a:solidFill>
                <a:latin typeface="Arial" panose="020B0604020202090204"/>
                <a:ea typeface="微软雅黑"/>
                <a:cs typeface="Arial" panose="020B0604020202090204"/>
              </a:endParaRPr>
            </a:p>
          </p:txBody>
        </p:sp>
        <p:grpSp>
          <p:nvGrpSpPr>
            <p:cNvPr id="197" name="Group 197"/>
            <p:cNvGrpSpPr/>
            <p:nvPr/>
          </p:nvGrpSpPr>
          <p:grpSpPr>
            <a:xfrm>
              <a:off x="8258175" y="2303145"/>
              <a:ext cx="3562350" cy="1790700"/>
              <a:chOff x="8258175" y="2303145"/>
              <a:chExt cx="3562350" cy="1790700"/>
            </a:xfrm>
          </p:grpSpPr>
          <p:sp>
            <p:nvSpPr>
              <p:cNvPr id="166" name="Rectangle 166"/>
              <p:cNvSpPr/>
              <p:nvPr/>
            </p:nvSpPr>
            <p:spPr>
              <a:xfrm>
                <a:off x="8258175" y="2303145"/>
                <a:ext cx="3562350" cy="1790700"/>
              </a:xfrm>
              <a:prstGeom prst="rect">
                <a:avLst/>
              </a:prstGeom>
              <a:noFill/>
              <a:ln>
                <a:noFill/>
              </a:ln>
            </p:spPr>
          </p:sp>
          <p:grpSp>
            <p:nvGrpSpPr>
              <p:cNvPr id="196" name="Group 196"/>
              <p:cNvGrpSpPr/>
              <p:nvPr/>
            </p:nvGrpSpPr>
            <p:grpSpPr>
              <a:xfrm>
                <a:off x="8382437" y="2303703"/>
                <a:ext cx="3361888" cy="1569761"/>
                <a:chOff x="8382437" y="2303703"/>
                <a:chExt cx="3361888" cy="1569761"/>
              </a:xfrm>
            </p:grpSpPr>
            <p:sp>
              <p:nvSpPr>
                <p:cNvPr id="167" name="Freeform 167"/>
                <p:cNvSpPr/>
                <p:nvPr/>
              </p:nvSpPr>
              <p:spPr>
                <a:xfrm>
                  <a:off x="10094690" y="3410798"/>
                  <a:ext cx="277303" cy="48397"/>
                </a:xfrm>
                <a:custGeom>
                  <a:avLst/>
                  <a:gdLst/>
                  <a:ahLst/>
                  <a:cxnLst/>
                  <a:rect l="l" t="t" r="r" b="b"/>
                  <a:pathLst>
                    <a:path w="277303" h="48397">
                      <a:moveTo>
                        <a:pt x="0" y="0"/>
                      </a:moveTo>
                      <a:lnTo>
                        <a:pt x="134428" y="48397"/>
                      </a:lnTo>
                      <a:lnTo>
                        <a:pt x="277303" y="48397"/>
                      </a:lnTo>
                    </a:path>
                  </a:pathLst>
                </a:custGeom>
                <a:noFill/>
                <a:ln w="9525">
                  <a:solidFill>
                    <a:srgbClr val="0070F3"/>
                  </a:solidFill>
                </a:ln>
              </p:spPr>
            </p:sp>
            <p:sp>
              <p:nvSpPr>
                <p:cNvPr id="168" name="Freeform 168"/>
                <p:cNvSpPr/>
                <p:nvPr/>
              </p:nvSpPr>
              <p:spPr>
                <a:xfrm>
                  <a:off x="8658662" y="3335215"/>
                  <a:ext cx="234685" cy="31168"/>
                </a:xfrm>
                <a:custGeom>
                  <a:avLst/>
                  <a:gdLst/>
                  <a:ahLst/>
                  <a:cxnLst/>
                  <a:rect l="l" t="t" r="r" b="b"/>
                  <a:pathLst>
                    <a:path w="234685" h="31168">
                      <a:moveTo>
                        <a:pt x="234685" y="0"/>
                      </a:moveTo>
                      <a:lnTo>
                        <a:pt x="142875" y="31168"/>
                      </a:lnTo>
                      <a:lnTo>
                        <a:pt x="0" y="31168"/>
                      </a:lnTo>
                    </a:path>
                  </a:pathLst>
                </a:custGeom>
                <a:noFill/>
                <a:ln w="9525">
                  <a:solidFill>
                    <a:srgbClr val="D4AF37"/>
                  </a:solidFill>
                </a:ln>
              </p:spPr>
            </p:sp>
            <p:sp>
              <p:nvSpPr>
                <p:cNvPr id="169" name="Freeform 169"/>
                <p:cNvSpPr/>
                <p:nvPr/>
              </p:nvSpPr>
              <p:spPr>
                <a:xfrm>
                  <a:off x="8872781" y="2642793"/>
                  <a:ext cx="248080" cy="60476"/>
                </a:xfrm>
                <a:custGeom>
                  <a:avLst/>
                  <a:gdLst/>
                  <a:ahLst/>
                  <a:cxnLst/>
                  <a:rect l="l" t="t" r="r" b="b"/>
                  <a:pathLst>
                    <a:path w="248080" h="60476">
                      <a:moveTo>
                        <a:pt x="248080" y="60476"/>
                      </a:moveTo>
                      <a:lnTo>
                        <a:pt x="142875" y="0"/>
                      </a:lnTo>
                      <a:lnTo>
                        <a:pt x="0" y="0"/>
                      </a:lnTo>
                    </a:path>
                  </a:pathLst>
                </a:custGeom>
                <a:noFill/>
                <a:ln w="9525">
                  <a:solidFill>
                    <a:srgbClr val="64748B"/>
                  </a:solidFill>
                </a:ln>
              </p:spPr>
            </p:sp>
            <p:sp>
              <p:nvSpPr>
                <p:cNvPr id="170" name="Freeform 170"/>
                <p:cNvSpPr/>
                <p:nvPr/>
              </p:nvSpPr>
              <p:spPr>
                <a:xfrm>
                  <a:off x="9289694" y="2432291"/>
                  <a:ext cx="156321" cy="142241"/>
                </a:xfrm>
                <a:custGeom>
                  <a:avLst/>
                  <a:gdLst/>
                  <a:ahLst/>
                  <a:cxnLst/>
                  <a:rect l="l" t="t" r="r" b="b"/>
                  <a:pathLst>
                    <a:path w="156321" h="142241">
                      <a:moveTo>
                        <a:pt x="156321" y="142241"/>
                      </a:moveTo>
                      <a:lnTo>
                        <a:pt x="142875" y="0"/>
                      </a:lnTo>
                      <a:lnTo>
                        <a:pt x="0" y="0"/>
                      </a:lnTo>
                    </a:path>
                  </a:pathLst>
                </a:custGeom>
                <a:noFill/>
                <a:ln w="9525">
                  <a:solidFill>
                    <a:srgbClr val="94A3B8"/>
                  </a:solidFill>
                </a:ln>
              </p:spPr>
            </p:sp>
            <p:sp>
              <p:nvSpPr>
                <p:cNvPr id="171" name="Freeform 171"/>
                <p:cNvSpPr/>
                <p:nvPr/>
              </p:nvSpPr>
              <p:spPr>
                <a:xfrm>
                  <a:off x="9105495" y="2571750"/>
                  <a:ext cx="1079376" cy="1301714"/>
                </a:xfrm>
                <a:custGeom>
                  <a:avLst/>
                  <a:gdLst/>
                  <a:ahLst/>
                  <a:cxnLst/>
                  <a:rect l="l" t="t" r="r" b="b"/>
                  <a:pathLst>
                    <a:path w="1079376" h="1301714">
                      <a:moveTo>
                        <a:pt x="399502" y="0"/>
                      </a:moveTo>
                      <a:cubicBezTo>
                        <a:pt x="675870" y="0"/>
                        <a:pt x="919618" y="181023"/>
                        <a:pt x="999497" y="445596"/>
                      </a:cubicBezTo>
                      <a:cubicBezTo>
                        <a:pt x="1079376" y="710168"/>
                        <a:pt x="976530" y="995834"/>
                        <a:pt x="746337" y="1148774"/>
                      </a:cubicBezTo>
                      <a:cubicBezTo>
                        <a:pt x="516145" y="1301714"/>
                        <a:pt x="212945" y="1285824"/>
                        <a:pt x="0" y="1109661"/>
                      </a:cubicBezTo>
                      <a:lnTo>
                        <a:pt x="171216" y="902697"/>
                      </a:lnTo>
                      <a:cubicBezTo>
                        <a:pt x="292899" y="1003362"/>
                        <a:pt x="466156" y="1012442"/>
                        <a:pt x="597694" y="925047"/>
                      </a:cubicBezTo>
                      <a:cubicBezTo>
                        <a:pt x="729233" y="837653"/>
                        <a:pt x="788002" y="674415"/>
                        <a:pt x="742357" y="523231"/>
                      </a:cubicBezTo>
                      <a:cubicBezTo>
                        <a:pt x="696712" y="372047"/>
                        <a:pt x="557427" y="268605"/>
                        <a:pt x="399502" y="268605"/>
                      </a:cubicBezTo>
                      <a:close/>
                    </a:path>
                  </a:pathLst>
                </a:custGeom>
                <a:solidFill>
                  <a:srgbClr val="0070F3"/>
                </a:solidFill>
                <a:ln>
                  <a:noFill/>
                </a:ln>
              </p:spPr>
            </p:sp>
            <p:sp>
              <p:nvSpPr>
                <p:cNvPr id="172" name="Freeform 172"/>
                <p:cNvSpPr/>
                <p:nvPr/>
              </p:nvSpPr>
              <p:spPr>
                <a:xfrm>
                  <a:off x="8816082" y="2931640"/>
                  <a:ext cx="460629" cy="749771"/>
                </a:xfrm>
                <a:custGeom>
                  <a:avLst/>
                  <a:gdLst/>
                  <a:ahLst/>
                  <a:cxnLst/>
                  <a:rect l="l" t="t" r="r" b="b"/>
                  <a:pathLst>
                    <a:path w="460629" h="749771">
                      <a:moveTo>
                        <a:pt x="289413" y="749771"/>
                      </a:moveTo>
                      <a:cubicBezTo>
                        <a:pt x="68962" y="567397"/>
                        <a:pt x="0" y="258880"/>
                        <a:pt x="121820" y="0"/>
                      </a:cubicBezTo>
                      <a:lnTo>
                        <a:pt x="364861" y="114367"/>
                      </a:lnTo>
                      <a:cubicBezTo>
                        <a:pt x="295250" y="262298"/>
                        <a:pt x="334657" y="438594"/>
                        <a:pt x="460629" y="542807"/>
                      </a:cubicBezTo>
                      <a:close/>
                    </a:path>
                  </a:pathLst>
                </a:custGeom>
                <a:solidFill>
                  <a:srgbClr val="D4AF37"/>
                </a:solidFill>
                <a:ln>
                  <a:noFill/>
                </a:ln>
              </p:spPr>
            </p:sp>
            <p:sp>
              <p:nvSpPr>
                <p:cNvPr id="173" name="Freeform 173"/>
                <p:cNvSpPr/>
                <p:nvPr/>
              </p:nvSpPr>
              <p:spPr>
                <a:xfrm>
                  <a:off x="8937902" y="2582851"/>
                  <a:ext cx="499987" cy="463155"/>
                </a:xfrm>
                <a:custGeom>
                  <a:avLst/>
                  <a:gdLst/>
                  <a:ahLst/>
                  <a:cxnLst/>
                  <a:rect l="l" t="t" r="r" b="b"/>
                  <a:pathLst>
                    <a:path w="499987" h="463155">
                      <a:moveTo>
                        <a:pt x="0" y="348788"/>
                      </a:moveTo>
                      <a:cubicBezTo>
                        <a:pt x="85422" y="167258"/>
                        <a:pt x="252585" y="37593"/>
                        <a:pt x="449655" y="0"/>
                      </a:cubicBezTo>
                      <a:lnTo>
                        <a:pt x="499987" y="263847"/>
                      </a:lnTo>
                      <a:cubicBezTo>
                        <a:pt x="387375" y="285329"/>
                        <a:pt x="291853" y="359423"/>
                        <a:pt x="243041" y="463155"/>
                      </a:cubicBezTo>
                      <a:close/>
                    </a:path>
                  </a:pathLst>
                </a:custGeom>
                <a:solidFill>
                  <a:srgbClr val="64748B"/>
                </a:solidFill>
                <a:ln>
                  <a:noFill/>
                </a:ln>
              </p:spPr>
            </p:sp>
            <p:sp>
              <p:nvSpPr>
                <p:cNvPr id="174" name="Freeform 174"/>
                <p:cNvSpPr/>
                <p:nvPr/>
              </p:nvSpPr>
              <p:spPr>
                <a:xfrm>
                  <a:off x="9387557" y="2571750"/>
                  <a:ext cx="117440" cy="274949"/>
                </a:xfrm>
                <a:custGeom>
                  <a:avLst/>
                  <a:gdLst/>
                  <a:ahLst/>
                  <a:cxnLst/>
                  <a:rect l="l" t="t" r="r" b="b"/>
                  <a:pathLst>
                    <a:path w="117440" h="274949">
                      <a:moveTo>
                        <a:pt x="0" y="11101"/>
                      </a:moveTo>
                      <a:cubicBezTo>
                        <a:pt x="38711" y="3717"/>
                        <a:pt x="78032" y="0"/>
                        <a:pt x="117440" y="0"/>
                      </a:cubicBezTo>
                      <a:lnTo>
                        <a:pt x="117440" y="268605"/>
                      </a:lnTo>
                      <a:cubicBezTo>
                        <a:pt x="94921" y="268605"/>
                        <a:pt x="72452" y="270729"/>
                        <a:pt x="50332" y="274949"/>
                      </a:cubicBezTo>
                      <a:close/>
                    </a:path>
                  </a:pathLst>
                </a:custGeom>
                <a:solidFill>
                  <a:srgbClr val="94A3B8"/>
                </a:solidFill>
                <a:ln>
                  <a:noFill/>
                </a:ln>
              </p:spPr>
            </p:sp>
            <p:sp>
              <p:nvSpPr>
                <p:cNvPr id="175" name="TextBox 175"/>
                <p:cNvSpPr txBox="1"/>
                <p:nvPr/>
              </p:nvSpPr>
              <p:spPr>
                <a:xfrm>
                  <a:off x="10410093" y="3330607"/>
                  <a:ext cx="238125" cy="152400"/>
                </a:xfrm>
                <a:prstGeom prst="rect">
                  <a:avLst/>
                </a:prstGeom>
                <a:noFill/>
                <a:ln>
                  <a:noFill/>
                </a:ln>
              </p:spPr>
              <p:txBody>
                <a:bodyPr wrap="none" lIns="0" tIns="0" rIns="0" bIns="0" anchor="t" anchorCtr="0">
                  <a:spAutoFit/>
                </a:bodyPr>
                <a:lstStyle/>
                <a:p>
                  <a:pPr algn="l"/>
                  <a:r>
                    <a:rPr lang="zh-CN" sz="750" dirty="0">
                      <a:solidFill>
                        <a:srgbClr val="0A0A0A"/>
                      </a:solidFill>
                      <a:latin typeface="Segoe UI"/>
                      <a:ea typeface="微软雅黑"/>
                      <a:cs typeface="Segoe UI"/>
                    </a:rPr>
                    <a:t>美国</a:t>
                  </a:r>
                  <a:endParaRPr lang="zh-CN" sz="750" dirty="0">
                    <a:solidFill>
                      <a:srgbClr val="0A0A0A"/>
                    </a:solidFill>
                    <a:latin typeface="Segoe UI"/>
                    <a:ea typeface="微软雅黑"/>
                    <a:cs typeface="Segoe UI"/>
                  </a:endParaRPr>
                </a:p>
              </p:txBody>
            </p:sp>
            <p:sp>
              <p:nvSpPr>
                <p:cNvPr id="176" name="TextBox 176"/>
                <p:cNvSpPr txBox="1"/>
                <p:nvPr/>
              </p:nvSpPr>
              <p:spPr>
                <a:xfrm>
                  <a:off x="10410093" y="3425857"/>
                  <a:ext cx="221694" cy="152400"/>
                </a:xfrm>
                <a:prstGeom prst="rect">
                  <a:avLst/>
                </a:prstGeom>
                <a:noFill/>
                <a:ln>
                  <a:noFill/>
                </a:ln>
              </p:spPr>
              <p:txBody>
                <a:bodyPr wrap="none" lIns="0" tIns="0" rIns="0" bIns="0" anchor="t" anchorCtr="0">
                  <a:spAutoFit/>
                </a:bodyPr>
                <a:lstStyle/>
                <a:p>
                  <a:pPr algn="l"/>
                  <a:r>
                    <a:rPr lang="zh-CN" sz="750" dirty="0">
                      <a:solidFill>
                        <a:srgbClr val="0A0A0A"/>
                      </a:solidFill>
                      <a:latin typeface="Segoe UI"/>
                      <a:ea typeface="微软雅黑"/>
                      <a:cs typeface="Segoe UI"/>
                    </a:rPr>
                    <a:t>61个</a:t>
                  </a:r>
                  <a:endParaRPr lang="zh-CN" sz="750" dirty="0">
                    <a:solidFill>
                      <a:srgbClr val="0A0A0A"/>
                    </a:solidFill>
                    <a:latin typeface="Segoe UI"/>
                    <a:ea typeface="微软雅黑"/>
                    <a:cs typeface="Segoe UI"/>
                  </a:endParaRPr>
                </a:p>
              </p:txBody>
            </p:sp>
            <p:sp>
              <p:nvSpPr>
                <p:cNvPr id="177" name="TextBox 177"/>
                <p:cNvSpPr txBox="1"/>
                <p:nvPr/>
              </p:nvSpPr>
              <p:spPr>
                <a:xfrm>
                  <a:off x="8382437" y="3237795"/>
                  <a:ext cx="238125" cy="152400"/>
                </a:xfrm>
                <a:prstGeom prst="rect">
                  <a:avLst/>
                </a:prstGeom>
                <a:noFill/>
                <a:ln>
                  <a:noFill/>
                </a:ln>
              </p:spPr>
              <p:txBody>
                <a:bodyPr wrap="none" lIns="0" tIns="0" rIns="0" bIns="0" anchor="t" anchorCtr="0">
                  <a:spAutoFit/>
                </a:bodyPr>
                <a:lstStyle/>
                <a:p>
                  <a:pPr algn="r"/>
                  <a:r>
                    <a:rPr lang="zh-CN" sz="750" dirty="0">
                      <a:solidFill>
                        <a:srgbClr val="0A0A0A"/>
                      </a:solidFill>
                      <a:latin typeface="Segoe UI"/>
                      <a:ea typeface="微软雅黑"/>
                      <a:cs typeface="Segoe UI"/>
                    </a:rPr>
                    <a:t>欧盟</a:t>
                  </a:r>
                  <a:endParaRPr lang="zh-CN" sz="750" dirty="0">
                    <a:solidFill>
                      <a:srgbClr val="0A0A0A"/>
                    </a:solidFill>
                    <a:latin typeface="Segoe UI"/>
                    <a:ea typeface="微软雅黑"/>
                    <a:cs typeface="Segoe UI"/>
                  </a:endParaRPr>
                </a:p>
              </p:txBody>
            </p:sp>
            <p:sp>
              <p:nvSpPr>
                <p:cNvPr id="178" name="TextBox 178"/>
                <p:cNvSpPr txBox="1"/>
                <p:nvPr/>
              </p:nvSpPr>
              <p:spPr>
                <a:xfrm>
                  <a:off x="8398868" y="3333045"/>
                  <a:ext cx="221694" cy="152400"/>
                </a:xfrm>
                <a:prstGeom prst="rect">
                  <a:avLst/>
                </a:prstGeom>
                <a:noFill/>
                <a:ln>
                  <a:noFill/>
                </a:ln>
              </p:spPr>
              <p:txBody>
                <a:bodyPr wrap="none" lIns="0" tIns="0" rIns="0" bIns="0" anchor="t" anchorCtr="0">
                  <a:spAutoFit/>
                </a:bodyPr>
                <a:lstStyle/>
                <a:p>
                  <a:pPr algn="r"/>
                  <a:r>
                    <a:rPr lang="zh-CN" sz="750" dirty="0">
                      <a:solidFill>
                        <a:srgbClr val="0A0A0A"/>
                      </a:solidFill>
                      <a:latin typeface="Segoe UI"/>
                      <a:ea typeface="微软雅黑"/>
                      <a:cs typeface="Segoe UI"/>
                    </a:rPr>
                    <a:t>21个</a:t>
                  </a:r>
                  <a:endParaRPr lang="zh-CN" sz="750" dirty="0">
                    <a:solidFill>
                      <a:srgbClr val="0A0A0A"/>
                    </a:solidFill>
                    <a:latin typeface="Segoe UI"/>
                    <a:ea typeface="微软雅黑"/>
                    <a:cs typeface="Segoe UI"/>
                  </a:endParaRPr>
                </a:p>
              </p:txBody>
            </p:sp>
            <p:sp>
              <p:nvSpPr>
                <p:cNvPr id="179" name="TextBox 179"/>
                <p:cNvSpPr txBox="1"/>
                <p:nvPr/>
              </p:nvSpPr>
              <p:spPr>
                <a:xfrm>
                  <a:off x="8596556" y="2514206"/>
                  <a:ext cx="238125" cy="152400"/>
                </a:xfrm>
                <a:prstGeom prst="rect">
                  <a:avLst/>
                </a:prstGeom>
                <a:noFill/>
                <a:ln>
                  <a:noFill/>
                </a:ln>
              </p:spPr>
              <p:txBody>
                <a:bodyPr wrap="none" lIns="0" tIns="0" rIns="0" bIns="0" anchor="t" anchorCtr="0">
                  <a:spAutoFit/>
                </a:bodyPr>
                <a:lstStyle/>
                <a:p>
                  <a:pPr algn="r"/>
                  <a:r>
                    <a:rPr lang="zh-CN" sz="750" dirty="0">
                      <a:solidFill>
                        <a:srgbClr val="0A0A0A"/>
                      </a:solidFill>
                      <a:latin typeface="Segoe UI"/>
                      <a:ea typeface="微软雅黑"/>
                      <a:cs typeface="Segoe UI"/>
                    </a:rPr>
                    <a:t>中国</a:t>
                  </a:r>
                  <a:endParaRPr lang="zh-CN" sz="750" dirty="0">
                    <a:solidFill>
                      <a:srgbClr val="0A0A0A"/>
                    </a:solidFill>
                    <a:latin typeface="Segoe UI"/>
                    <a:ea typeface="微软雅黑"/>
                    <a:cs typeface="Segoe UI"/>
                  </a:endParaRPr>
                </a:p>
              </p:txBody>
            </p:sp>
            <p:sp>
              <p:nvSpPr>
                <p:cNvPr id="180" name="TextBox 180"/>
                <p:cNvSpPr txBox="1"/>
                <p:nvPr/>
              </p:nvSpPr>
              <p:spPr>
                <a:xfrm>
                  <a:off x="8612987" y="2609456"/>
                  <a:ext cx="221694" cy="152400"/>
                </a:xfrm>
                <a:prstGeom prst="rect">
                  <a:avLst/>
                </a:prstGeom>
                <a:noFill/>
                <a:ln>
                  <a:noFill/>
                </a:ln>
              </p:spPr>
              <p:txBody>
                <a:bodyPr wrap="none" lIns="0" tIns="0" rIns="0" bIns="0" anchor="t" anchorCtr="0">
                  <a:spAutoFit/>
                </a:bodyPr>
                <a:lstStyle/>
                <a:p>
                  <a:pPr algn="r"/>
                  <a:r>
                    <a:rPr lang="zh-CN" sz="750" dirty="0">
                      <a:solidFill>
                        <a:srgbClr val="0A0A0A"/>
                      </a:solidFill>
                      <a:latin typeface="Segoe UI"/>
                      <a:ea typeface="微软雅黑"/>
                      <a:cs typeface="Segoe UI"/>
                    </a:rPr>
                    <a:t>15个</a:t>
                  </a:r>
                  <a:endParaRPr lang="zh-CN" sz="750" dirty="0">
                    <a:solidFill>
                      <a:srgbClr val="0A0A0A"/>
                    </a:solidFill>
                    <a:latin typeface="Segoe UI"/>
                    <a:ea typeface="微软雅黑"/>
                    <a:cs typeface="Segoe UI"/>
                  </a:endParaRPr>
                </a:p>
              </p:txBody>
            </p:sp>
            <p:sp>
              <p:nvSpPr>
                <p:cNvPr id="181" name="TextBox 181"/>
                <p:cNvSpPr txBox="1"/>
                <p:nvPr/>
              </p:nvSpPr>
              <p:spPr>
                <a:xfrm>
                  <a:off x="9013469" y="2303703"/>
                  <a:ext cx="238125" cy="152400"/>
                </a:xfrm>
                <a:prstGeom prst="rect">
                  <a:avLst/>
                </a:prstGeom>
                <a:noFill/>
                <a:ln>
                  <a:noFill/>
                </a:ln>
              </p:spPr>
              <p:txBody>
                <a:bodyPr wrap="none" lIns="0" tIns="0" rIns="0" bIns="0" anchor="t" anchorCtr="0">
                  <a:spAutoFit/>
                </a:bodyPr>
                <a:lstStyle/>
                <a:p>
                  <a:pPr algn="r"/>
                  <a:r>
                    <a:rPr lang="zh-CN" sz="750" dirty="0">
                      <a:solidFill>
                        <a:srgbClr val="0A0A0A"/>
                      </a:solidFill>
                      <a:latin typeface="Segoe UI"/>
                      <a:ea typeface="微软雅黑"/>
                      <a:cs typeface="Segoe UI"/>
                    </a:rPr>
                    <a:t>其他</a:t>
                  </a:r>
                  <a:endParaRPr lang="zh-CN" sz="750" dirty="0">
                    <a:solidFill>
                      <a:srgbClr val="0A0A0A"/>
                    </a:solidFill>
                    <a:latin typeface="Segoe UI"/>
                    <a:ea typeface="微软雅黑"/>
                    <a:cs typeface="Segoe UI"/>
                  </a:endParaRPr>
                </a:p>
              </p:txBody>
            </p:sp>
            <p:sp>
              <p:nvSpPr>
                <p:cNvPr id="182" name="TextBox 182"/>
                <p:cNvSpPr txBox="1"/>
                <p:nvPr/>
              </p:nvSpPr>
              <p:spPr>
                <a:xfrm>
                  <a:off x="9062761" y="2398953"/>
                  <a:ext cx="188833" cy="152400"/>
                </a:xfrm>
                <a:prstGeom prst="rect">
                  <a:avLst/>
                </a:prstGeom>
                <a:noFill/>
                <a:ln>
                  <a:noFill/>
                </a:ln>
              </p:spPr>
              <p:txBody>
                <a:bodyPr wrap="none" lIns="0" tIns="0" rIns="0" bIns="0" anchor="t" anchorCtr="0">
                  <a:spAutoFit/>
                </a:bodyPr>
                <a:lstStyle/>
                <a:p>
                  <a:pPr algn="r"/>
                  <a:r>
                    <a:rPr lang="zh-CN" sz="750" dirty="0">
                      <a:solidFill>
                        <a:srgbClr val="0A0A0A"/>
                      </a:solidFill>
                      <a:latin typeface="Segoe UI"/>
                      <a:ea typeface="微软雅黑"/>
                      <a:cs typeface="Segoe UI"/>
                    </a:rPr>
                    <a:t>3个</a:t>
                  </a:r>
                  <a:endParaRPr lang="zh-CN" sz="750" dirty="0">
                    <a:solidFill>
                      <a:srgbClr val="0A0A0A"/>
                    </a:solidFill>
                    <a:latin typeface="Segoe UI"/>
                    <a:ea typeface="微软雅黑"/>
                    <a:cs typeface="Segoe UI"/>
                  </a:endParaRPr>
                </a:p>
              </p:txBody>
            </p:sp>
            <p:sp>
              <p:nvSpPr>
                <p:cNvPr id="183" name="Freeform 183"/>
                <p:cNvSpPr/>
                <p:nvPr/>
              </p:nvSpPr>
              <p:spPr>
                <a:xfrm>
                  <a:off x="11172825" y="2741295"/>
                  <a:ext cx="571500" cy="914400"/>
                </a:xfrm>
                <a:custGeom>
                  <a:avLst/>
                  <a:gdLst/>
                  <a:ahLst/>
                  <a:cxnLst/>
                  <a:rect l="l" t="t" r="r" b="b"/>
                  <a:pathLst>
                    <a:path w="571500" h="914400">
                      <a:moveTo>
                        <a:pt x="0" y="0"/>
                      </a:moveTo>
                      <a:lnTo>
                        <a:pt x="571500" y="0"/>
                      </a:lnTo>
                      <a:lnTo>
                        <a:pt x="571500" y="914400"/>
                      </a:lnTo>
                      <a:lnTo>
                        <a:pt x="0" y="914400"/>
                      </a:lnTo>
                      <a:close/>
                    </a:path>
                  </a:pathLst>
                </a:custGeom>
                <a:solidFill>
                  <a:srgbClr val="000000">
                    <a:alpha val="0"/>
                  </a:srgbClr>
                </a:solidFill>
                <a:ln w="0">
                  <a:solidFill>
                    <a:srgbClr val="CCCCCC"/>
                  </a:solidFill>
                </a:ln>
              </p:spPr>
            </p:sp>
            <p:sp>
              <p:nvSpPr>
                <p:cNvPr id="184" name="Freeform 184"/>
                <p:cNvSpPr/>
                <p:nvPr/>
              </p:nvSpPr>
              <p:spPr>
                <a:xfrm>
                  <a:off x="11220450" y="2788920"/>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0070F3"/>
                </a:solidFill>
                <a:ln>
                  <a:noFill/>
                </a:ln>
              </p:spPr>
            </p:sp>
            <p:sp>
              <p:nvSpPr>
                <p:cNvPr id="185" name="TextBox 185"/>
                <p:cNvSpPr txBox="1"/>
                <p:nvPr/>
              </p:nvSpPr>
              <p:spPr>
                <a:xfrm>
                  <a:off x="11496675" y="2774632"/>
                  <a:ext cx="238125" cy="152400"/>
                </a:xfrm>
                <a:prstGeom prst="rect">
                  <a:avLst/>
                </a:prstGeom>
                <a:noFill/>
                <a:ln>
                  <a:noFill/>
                </a:ln>
              </p:spPr>
              <p:txBody>
                <a:bodyPr wrap="none" lIns="0" tIns="0" rIns="0" bIns="0" anchor="t" anchorCtr="0">
                  <a:spAutoFit/>
                </a:bodyPr>
                <a:lstStyle/>
                <a:p>
                  <a:pPr algn="l"/>
                  <a:r>
                    <a:rPr lang="zh-CN" sz="750" dirty="0">
                      <a:solidFill>
                        <a:srgbClr val="0A0A0A"/>
                      </a:solidFill>
                      <a:latin typeface="Segoe UI"/>
                      <a:ea typeface="微软雅黑"/>
                      <a:cs typeface="Segoe UI"/>
                    </a:rPr>
                    <a:t>美国</a:t>
                  </a:r>
                  <a:endParaRPr lang="zh-CN" sz="750" dirty="0">
                    <a:solidFill>
                      <a:srgbClr val="0A0A0A"/>
                    </a:solidFill>
                    <a:latin typeface="Segoe UI"/>
                    <a:ea typeface="微软雅黑"/>
                    <a:cs typeface="Segoe UI"/>
                  </a:endParaRPr>
                </a:p>
              </p:txBody>
            </p:sp>
            <p:sp>
              <p:nvSpPr>
                <p:cNvPr id="186" name="Freeform 186"/>
                <p:cNvSpPr/>
                <p:nvPr/>
              </p:nvSpPr>
              <p:spPr>
                <a:xfrm>
                  <a:off x="11220450" y="2788920"/>
                  <a:ext cx="476250" cy="133350"/>
                </a:xfrm>
                <a:custGeom>
                  <a:avLst/>
                  <a:gdLst/>
                  <a:ahLst/>
                  <a:cxnLst/>
                  <a:rect l="l" t="t" r="r" b="b"/>
                  <a:pathLst>
                    <a:path w="476250" h="133350">
                      <a:moveTo>
                        <a:pt x="0" y="0"/>
                      </a:moveTo>
                      <a:lnTo>
                        <a:pt x="476250" y="0"/>
                      </a:lnTo>
                      <a:lnTo>
                        <a:pt x="476250" y="133350"/>
                      </a:lnTo>
                      <a:lnTo>
                        <a:pt x="0" y="133350"/>
                      </a:lnTo>
                      <a:close/>
                    </a:path>
                  </a:pathLst>
                </a:custGeom>
                <a:noFill/>
                <a:ln>
                  <a:noFill/>
                </a:ln>
              </p:spPr>
            </p:sp>
            <p:sp>
              <p:nvSpPr>
                <p:cNvPr id="187" name="Freeform 187"/>
                <p:cNvSpPr/>
                <p:nvPr/>
              </p:nvSpPr>
              <p:spPr>
                <a:xfrm>
                  <a:off x="11220450" y="3017520"/>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D4AF37"/>
                </a:solidFill>
                <a:ln>
                  <a:noFill/>
                </a:ln>
              </p:spPr>
            </p:sp>
            <p:sp>
              <p:nvSpPr>
                <p:cNvPr id="188" name="TextBox 188"/>
                <p:cNvSpPr txBox="1"/>
                <p:nvPr/>
              </p:nvSpPr>
              <p:spPr>
                <a:xfrm>
                  <a:off x="11496675" y="3003232"/>
                  <a:ext cx="238125" cy="152400"/>
                </a:xfrm>
                <a:prstGeom prst="rect">
                  <a:avLst/>
                </a:prstGeom>
                <a:noFill/>
                <a:ln>
                  <a:noFill/>
                </a:ln>
              </p:spPr>
              <p:txBody>
                <a:bodyPr wrap="none" lIns="0" tIns="0" rIns="0" bIns="0" anchor="t" anchorCtr="0">
                  <a:spAutoFit/>
                </a:bodyPr>
                <a:lstStyle/>
                <a:p>
                  <a:pPr algn="l"/>
                  <a:r>
                    <a:rPr lang="zh-CN" sz="750" dirty="0">
                      <a:solidFill>
                        <a:srgbClr val="0A0A0A"/>
                      </a:solidFill>
                      <a:latin typeface="Segoe UI"/>
                      <a:ea typeface="微软雅黑"/>
                      <a:cs typeface="Segoe UI"/>
                    </a:rPr>
                    <a:t>欧盟</a:t>
                  </a:r>
                  <a:endParaRPr lang="zh-CN" sz="750" dirty="0">
                    <a:solidFill>
                      <a:srgbClr val="0A0A0A"/>
                    </a:solidFill>
                    <a:latin typeface="Segoe UI"/>
                    <a:ea typeface="微软雅黑"/>
                    <a:cs typeface="Segoe UI"/>
                  </a:endParaRPr>
                </a:p>
              </p:txBody>
            </p:sp>
            <p:sp>
              <p:nvSpPr>
                <p:cNvPr id="189" name="Freeform 189"/>
                <p:cNvSpPr/>
                <p:nvPr/>
              </p:nvSpPr>
              <p:spPr>
                <a:xfrm>
                  <a:off x="11220450" y="3017520"/>
                  <a:ext cx="476250" cy="133350"/>
                </a:xfrm>
                <a:custGeom>
                  <a:avLst/>
                  <a:gdLst/>
                  <a:ahLst/>
                  <a:cxnLst/>
                  <a:rect l="l" t="t" r="r" b="b"/>
                  <a:pathLst>
                    <a:path w="476250" h="133350">
                      <a:moveTo>
                        <a:pt x="0" y="0"/>
                      </a:moveTo>
                      <a:lnTo>
                        <a:pt x="476250" y="0"/>
                      </a:lnTo>
                      <a:lnTo>
                        <a:pt x="476250" y="133350"/>
                      </a:lnTo>
                      <a:lnTo>
                        <a:pt x="0" y="133350"/>
                      </a:lnTo>
                      <a:close/>
                    </a:path>
                  </a:pathLst>
                </a:custGeom>
                <a:noFill/>
                <a:ln>
                  <a:noFill/>
                </a:ln>
              </p:spPr>
            </p:sp>
            <p:sp>
              <p:nvSpPr>
                <p:cNvPr id="190" name="Freeform 190"/>
                <p:cNvSpPr/>
                <p:nvPr/>
              </p:nvSpPr>
              <p:spPr>
                <a:xfrm>
                  <a:off x="11220450" y="3246120"/>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64748B"/>
                </a:solidFill>
                <a:ln>
                  <a:noFill/>
                </a:ln>
              </p:spPr>
            </p:sp>
            <p:sp>
              <p:nvSpPr>
                <p:cNvPr id="191" name="TextBox 191"/>
                <p:cNvSpPr txBox="1"/>
                <p:nvPr/>
              </p:nvSpPr>
              <p:spPr>
                <a:xfrm>
                  <a:off x="11496675" y="3231832"/>
                  <a:ext cx="238125" cy="152400"/>
                </a:xfrm>
                <a:prstGeom prst="rect">
                  <a:avLst/>
                </a:prstGeom>
                <a:noFill/>
                <a:ln>
                  <a:noFill/>
                </a:ln>
              </p:spPr>
              <p:txBody>
                <a:bodyPr wrap="none" lIns="0" tIns="0" rIns="0" bIns="0" anchor="t" anchorCtr="0">
                  <a:spAutoFit/>
                </a:bodyPr>
                <a:lstStyle/>
                <a:p>
                  <a:pPr algn="l"/>
                  <a:r>
                    <a:rPr lang="zh-CN" sz="750" dirty="0">
                      <a:solidFill>
                        <a:srgbClr val="0A0A0A"/>
                      </a:solidFill>
                      <a:latin typeface="Segoe UI"/>
                      <a:ea typeface="微软雅黑"/>
                      <a:cs typeface="Segoe UI"/>
                    </a:rPr>
                    <a:t>中国</a:t>
                  </a:r>
                  <a:endParaRPr lang="zh-CN" sz="750" dirty="0">
                    <a:solidFill>
                      <a:srgbClr val="0A0A0A"/>
                    </a:solidFill>
                    <a:latin typeface="Segoe UI"/>
                    <a:ea typeface="微软雅黑"/>
                    <a:cs typeface="Segoe UI"/>
                  </a:endParaRPr>
                </a:p>
              </p:txBody>
            </p:sp>
            <p:sp>
              <p:nvSpPr>
                <p:cNvPr id="192" name="Freeform 192"/>
                <p:cNvSpPr/>
                <p:nvPr/>
              </p:nvSpPr>
              <p:spPr>
                <a:xfrm>
                  <a:off x="11220450" y="3246120"/>
                  <a:ext cx="476250" cy="133350"/>
                </a:xfrm>
                <a:custGeom>
                  <a:avLst/>
                  <a:gdLst/>
                  <a:ahLst/>
                  <a:cxnLst/>
                  <a:rect l="l" t="t" r="r" b="b"/>
                  <a:pathLst>
                    <a:path w="476250" h="133350">
                      <a:moveTo>
                        <a:pt x="0" y="0"/>
                      </a:moveTo>
                      <a:lnTo>
                        <a:pt x="476250" y="0"/>
                      </a:lnTo>
                      <a:lnTo>
                        <a:pt x="476250" y="133350"/>
                      </a:lnTo>
                      <a:lnTo>
                        <a:pt x="0" y="133350"/>
                      </a:lnTo>
                      <a:close/>
                    </a:path>
                  </a:pathLst>
                </a:custGeom>
                <a:noFill/>
                <a:ln>
                  <a:noFill/>
                </a:ln>
              </p:spPr>
            </p:sp>
            <p:sp>
              <p:nvSpPr>
                <p:cNvPr id="193" name="Freeform 193"/>
                <p:cNvSpPr/>
                <p:nvPr/>
              </p:nvSpPr>
              <p:spPr>
                <a:xfrm>
                  <a:off x="11220450" y="3474720"/>
                  <a:ext cx="238125" cy="133350"/>
                </a:xfrm>
                <a:custGeom>
                  <a:avLst/>
                  <a:gdLst/>
                  <a:ahLst/>
                  <a:cxnLst/>
                  <a:rect l="l" t="t" r="r" b="b"/>
                  <a:pathLst>
                    <a:path w="238125" h="133350">
                      <a:moveTo>
                        <a:pt x="33338" y="0"/>
                      </a:moveTo>
                      <a:lnTo>
                        <a:pt x="204788" y="0"/>
                      </a:lnTo>
                      <a:cubicBezTo>
                        <a:pt x="223199" y="0"/>
                        <a:pt x="238125" y="14926"/>
                        <a:pt x="238125" y="33338"/>
                      </a:cubicBezTo>
                      <a:lnTo>
                        <a:pt x="238125" y="100012"/>
                      </a:lnTo>
                      <a:cubicBezTo>
                        <a:pt x="238125" y="118424"/>
                        <a:pt x="223199" y="133350"/>
                        <a:pt x="204788" y="133350"/>
                      </a:cubicBezTo>
                      <a:lnTo>
                        <a:pt x="33338" y="133350"/>
                      </a:lnTo>
                      <a:cubicBezTo>
                        <a:pt x="14926" y="133350"/>
                        <a:pt x="0" y="118424"/>
                        <a:pt x="0" y="100012"/>
                      </a:cubicBezTo>
                      <a:lnTo>
                        <a:pt x="0" y="33338"/>
                      </a:lnTo>
                      <a:cubicBezTo>
                        <a:pt x="0" y="14926"/>
                        <a:pt x="14926" y="0"/>
                        <a:pt x="33338" y="0"/>
                      </a:cubicBezTo>
                    </a:path>
                  </a:pathLst>
                </a:custGeom>
                <a:solidFill>
                  <a:srgbClr val="94A3B8"/>
                </a:solidFill>
                <a:ln>
                  <a:noFill/>
                </a:ln>
              </p:spPr>
            </p:sp>
            <p:sp>
              <p:nvSpPr>
                <p:cNvPr id="194" name="TextBox 194"/>
                <p:cNvSpPr txBox="1"/>
                <p:nvPr/>
              </p:nvSpPr>
              <p:spPr>
                <a:xfrm>
                  <a:off x="11496675" y="3460432"/>
                  <a:ext cx="238125" cy="152400"/>
                </a:xfrm>
                <a:prstGeom prst="rect">
                  <a:avLst/>
                </a:prstGeom>
                <a:noFill/>
                <a:ln>
                  <a:noFill/>
                </a:ln>
              </p:spPr>
              <p:txBody>
                <a:bodyPr wrap="none" lIns="0" tIns="0" rIns="0" bIns="0" anchor="t" anchorCtr="0">
                  <a:spAutoFit/>
                </a:bodyPr>
                <a:lstStyle/>
                <a:p>
                  <a:pPr algn="l"/>
                  <a:r>
                    <a:rPr lang="zh-CN" sz="750" dirty="0">
                      <a:solidFill>
                        <a:srgbClr val="0A0A0A"/>
                      </a:solidFill>
                      <a:latin typeface="Segoe UI"/>
                      <a:ea typeface="微软雅黑"/>
                      <a:cs typeface="Segoe UI"/>
                    </a:rPr>
                    <a:t>其他</a:t>
                  </a:r>
                  <a:endParaRPr lang="zh-CN" sz="750" dirty="0">
                    <a:solidFill>
                      <a:srgbClr val="0A0A0A"/>
                    </a:solidFill>
                    <a:latin typeface="Segoe UI"/>
                    <a:ea typeface="微软雅黑"/>
                    <a:cs typeface="Segoe UI"/>
                  </a:endParaRPr>
                </a:p>
              </p:txBody>
            </p:sp>
            <p:sp>
              <p:nvSpPr>
                <p:cNvPr id="195" name="Freeform 195"/>
                <p:cNvSpPr/>
                <p:nvPr/>
              </p:nvSpPr>
              <p:spPr>
                <a:xfrm>
                  <a:off x="11220450" y="3474720"/>
                  <a:ext cx="476250" cy="133350"/>
                </a:xfrm>
                <a:custGeom>
                  <a:avLst/>
                  <a:gdLst/>
                  <a:ahLst/>
                  <a:cxnLst/>
                  <a:rect l="l" t="t" r="r" b="b"/>
                  <a:pathLst>
                    <a:path w="476250" h="133350">
                      <a:moveTo>
                        <a:pt x="0" y="0"/>
                      </a:moveTo>
                      <a:lnTo>
                        <a:pt x="476250" y="0"/>
                      </a:lnTo>
                      <a:lnTo>
                        <a:pt x="476250" y="133350"/>
                      </a:lnTo>
                      <a:lnTo>
                        <a:pt x="0" y="133350"/>
                      </a:lnTo>
                      <a:close/>
                    </a:path>
                  </a:pathLst>
                </a:custGeom>
                <a:noFill/>
                <a:ln>
                  <a:noFill/>
                </a:ln>
              </p:spPr>
            </p:sp>
          </p:grpSp>
        </p:grpSp>
        <p:sp>
          <p:nvSpPr>
            <p:cNvPr id="198" name="Rectangle 198"/>
            <p:cNvSpPr/>
            <p:nvPr/>
          </p:nvSpPr>
          <p:spPr>
            <a:xfrm>
              <a:off x="228600" y="6119812"/>
              <a:ext cx="11734800" cy="547688"/>
            </a:xfrm>
            <a:prstGeom prst="rect">
              <a:avLst/>
            </a:prstGeom>
            <a:noFill/>
            <a:ln>
              <a:noFill/>
            </a:ln>
          </p:spPr>
        </p:sp>
        <p:sp>
          <p:nvSpPr>
            <p:cNvPr id="199" name="Line 199"/>
            <p:cNvSpPr/>
            <p:nvPr/>
          </p:nvSpPr>
          <p:spPr>
            <a:xfrm>
              <a:off x="228600" y="6119812"/>
              <a:ext cx="11734800" cy="9525"/>
            </a:xfrm>
            <a:custGeom>
              <a:avLst/>
              <a:gdLst/>
              <a:ahLst/>
              <a:cxnLst/>
              <a:rect l="l" t="t" r="r" b="b"/>
              <a:pathLst>
                <a:path w="11734800" h="9525">
                  <a:moveTo>
                    <a:pt x="0" y="0"/>
                  </a:moveTo>
                  <a:lnTo>
                    <a:pt x="11734800" y="0"/>
                  </a:lnTo>
                </a:path>
              </a:pathLst>
            </a:custGeom>
            <a:noFill/>
            <a:ln w="9525">
              <a:solidFill>
                <a:srgbClr val="94A3B8">
                  <a:alpha val="20000"/>
                </a:srgbClr>
              </a:solidFill>
            </a:ln>
          </p:spPr>
        </p:sp>
        <p:sp>
          <p:nvSpPr>
            <p:cNvPr id="200" name="Line 200"/>
            <p:cNvSpPr/>
            <p:nvPr/>
          </p:nvSpPr>
          <p:spPr>
            <a:xfrm>
              <a:off x="11963400" y="6119812"/>
              <a:ext cx="9525" cy="547688"/>
            </a:xfrm>
            <a:custGeom>
              <a:avLst/>
              <a:gdLst/>
              <a:ahLst/>
              <a:cxnLst/>
              <a:rect l="l" t="t" r="r" b="b"/>
              <a:pathLst>
                <a:path w="9525" h="547688">
                  <a:moveTo>
                    <a:pt x="0" y="0"/>
                  </a:moveTo>
                  <a:lnTo>
                    <a:pt x="0" y="547688"/>
                  </a:lnTo>
                </a:path>
              </a:pathLst>
            </a:custGeom>
            <a:noFill/>
            <a:ln w="9525">
              <a:solidFill>
                <a:srgbClr val="94A3B8">
                  <a:alpha val="20000"/>
                </a:srgbClr>
              </a:solidFill>
            </a:ln>
          </p:spPr>
        </p:sp>
        <p:sp>
          <p:nvSpPr>
            <p:cNvPr id="201" name="Line 201"/>
            <p:cNvSpPr/>
            <p:nvPr/>
          </p:nvSpPr>
          <p:spPr>
            <a:xfrm>
              <a:off x="228600" y="6667500"/>
              <a:ext cx="11734800" cy="9525"/>
            </a:xfrm>
            <a:custGeom>
              <a:avLst/>
              <a:gdLst/>
              <a:ahLst/>
              <a:cxnLst/>
              <a:rect l="l" t="t" r="r" b="b"/>
              <a:pathLst>
                <a:path w="11734800" h="9525">
                  <a:moveTo>
                    <a:pt x="0" y="0"/>
                  </a:moveTo>
                  <a:lnTo>
                    <a:pt x="11734800" y="0"/>
                  </a:lnTo>
                </a:path>
              </a:pathLst>
            </a:custGeom>
            <a:noFill/>
            <a:ln w="9525">
              <a:solidFill>
                <a:srgbClr val="94A3B8">
                  <a:alpha val="20000"/>
                </a:srgbClr>
              </a:solidFill>
            </a:ln>
          </p:spPr>
        </p:sp>
        <p:sp>
          <p:nvSpPr>
            <p:cNvPr id="202" name="Line 202"/>
            <p:cNvSpPr/>
            <p:nvPr/>
          </p:nvSpPr>
          <p:spPr>
            <a:xfrm>
              <a:off x="228600" y="6119812"/>
              <a:ext cx="9525" cy="547688"/>
            </a:xfrm>
            <a:custGeom>
              <a:avLst/>
              <a:gdLst/>
              <a:ahLst/>
              <a:cxnLst/>
              <a:rect l="l" t="t" r="r" b="b"/>
              <a:pathLst>
                <a:path w="9525" h="547688">
                  <a:moveTo>
                    <a:pt x="0" y="0"/>
                  </a:moveTo>
                  <a:lnTo>
                    <a:pt x="0" y="547688"/>
                  </a:lnTo>
                </a:path>
              </a:pathLst>
            </a:custGeom>
            <a:noFill/>
            <a:ln w="9525">
              <a:solidFill>
                <a:srgbClr val="94A3B8">
                  <a:alpha val="20000"/>
                </a:srgbClr>
              </a:solidFill>
            </a:ln>
          </p:spPr>
        </p:sp>
        <p:sp>
          <p:nvSpPr>
            <p:cNvPr id="203" name="TextBox 203"/>
            <p:cNvSpPr txBox="1"/>
            <p:nvPr/>
          </p:nvSpPr>
          <p:spPr>
            <a:xfrm>
              <a:off x="360998" y="6240304"/>
              <a:ext cx="780050" cy="167640"/>
            </a:xfrm>
            <a:prstGeom prst="rect">
              <a:avLst/>
            </a:prstGeom>
            <a:noFill/>
            <a:ln>
              <a:noFill/>
            </a:ln>
          </p:spPr>
          <p:txBody>
            <a:bodyPr wrap="none" lIns="0" tIns="0" rIns="0" bIns="0" anchor="t" anchorCtr="0">
              <a:spAutoFit/>
            </a:bodyPr>
            <a:lstStyle/>
            <a:p>
              <a:pPr algn="l"/>
              <a:r>
                <a:rPr lang="zh-CN" sz="825" b="1" dirty="0">
                  <a:solidFill>
                    <a:srgbClr val="0A0A0A"/>
                  </a:solidFill>
                  <a:latin typeface="Arial" panose="020B0604020202090204"/>
                  <a:ea typeface="微软雅黑"/>
                  <a:cs typeface="Arial" panose="020B0604020202090204"/>
                </a:rPr>
                <a:t>里程碑时间线</a:t>
              </a:r>
              <a:endParaRPr lang="zh-CN" sz="825" b="1" dirty="0">
                <a:solidFill>
                  <a:srgbClr val="0A0A0A"/>
                </a:solidFill>
                <a:latin typeface="Arial" panose="020B0604020202090204"/>
                <a:ea typeface="微软雅黑"/>
                <a:cs typeface="Arial" panose="020B0604020202090204"/>
              </a:endParaRPr>
            </a:p>
          </p:txBody>
        </p:sp>
        <p:sp>
          <p:nvSpPr>
            <p:cNvPr id="204" name="TextBox 204"/>
            <p:cNvSpPr txBox="1"/>
            <p:nvPr/>
          </p:nvSpPr>
          <p:spPr>
            <a:xfrm>
              <a:off x="361950" y="6438900"/>
              <a:ext cx="950119" cy="152400"/>
            </a:xfrm>
            <a:prstGeom prst="rect">
              <a:avLst/>
            </a:prstGeom>
            <a:noFill/>
            <a:ln>
              <a:noFill/>
            </a:ln>
          </p:spPr>
          <p:txBody>
            <a:bodyPr wrap="none" lIns="0" tIns="0" rIns="0" bIns="0" anchor="t" anchorCtr="0">
              <a:spAutoFit/>
            </a:bodyPr>
            <a:lstStyle/>
            <a:p>
              <a:pPr algn="l"/>
              <a:r>
                <a:rPr lang="zh-CN" sz="750" dirty="0">
                  <a:solidFill>
                    <a:srgbClr val="0A0A0A"/>
                  </a:solidFill>
                  <a:latin typeface="Arial" panose="020B0604020202090204"/>
                  <a:ea typeface="微软雅黑"/>
                  <a:cs typeface="Arial" panose="020B0604020202090204"/>
                </a:rPr>
                <a:t>2019 GPT-2~$ 45万</a:t>
              </a:r>
              <a:endParaRPr lang="zh-CN" sz="750" dirty="0">
                <a:solidFill>
                  <a:srgbClr val="0A0A0A"/>
                </a:solidFill>
                <a:latin typeface="Arial" panose="020B0604020202090204"/>
                <a:ea typeface="微软雅黑"/>
                <a:cs typeface="Arial" panose="020B0604020202090204"/>
              </a:endParaRPr>
            </a:p>
          </p:txBody>
        </p:sp>
        <p:sp>
          <p:nvSpPr>
            <p:cNvPr id="205" name="TextBox 205"/>
            <p:cNvSpPr txBox="1"/>
            <p:nvPr/>
          </p:nvSpPr>
          <p:spPr>
            <a:xfrm>
              <a:off x="1469041" y="6438900"/>
              <a:ext cx="1070610" cy="152400"/>
            </a:xfrm>
            <a:prstGeom prst="rect">
              <a:avLst/>
            </a:prstGeom>
            <a:noFill/>
            <a:ln>
              <a:noFill/>
            </a:ln>
          </p:spPr>
          <p:txBody>
            <a:bodyPr wrap="none" lIns="0" tIns="0" rIns="0" bIns="0" anchor="t" anchorCtr="0">
              <a:spAutoFit/>
            </a:bodyPr>
            <a:lstStyle/>
            <a:p>
              <a:pPr algn="l"/>
              <a:r>
                <a:rPr lang="zh-CN" sz="750" dirty="0">
                  <a:solidFill>
                    <a:srgbClr val="0A0A0A"/>
                  </a:solidFill>
                  <a:latin typeface="Arial" panose="020B0604020202090204"/>
                  <a:ea typeface="微软雅黑"/>
                  <a:cs typeface="Arial" panose="020B0604020202090204"/>
                </a:rPr>
                <a:t>2020 GPT-3~$ 1200万</a:t>
              </a:r>
              <a:endParaRPr lang="zh-CN" sz="750" dirty="0">
                <a:solidFill>
                  <a:srgbClr val="0A0A0A"/>
                </a:solidFill>
                <a:latin typeface="Arial" panose="020B0604020202090204"/>
                <a:ea typeface="微软雅黑"/>
                <a:cs typeface="Arial" panose="020B0604020202090204"/>
              </a:endParaRPr>
            </a:p>
          </p:txBody>
        </p:sp>
        <p:sp>
          <p:nvSpPr>
            <p:cNvPr id="206" name="TextBox 206"/>
            <p:cNvSpPr txBox="1"/>
            <p:nvPr/>
          </p:nvSpPr>
          <p:spPr>
            <a:xfrm>
              <a:off x="2682050" y="6438900"/>
              <a:ext cx="1032272" cy="152400"/>
            </a:xfrm>
            <a:prstGeom prst="rect">
              <a:avLst/>
            </a:prstGeom>
            <a:noFill/>
            <a:ln>
              <a:noFill/>
            </a:ln>
          </p:spPr>
          <p:txBody>
            <a:bodyPr wrap="none" lIns="0" tIns="0" rIns="0" bIns="0" anchor="t" anchorCtr="0">
              <a:spAutoFit/>
            </a:bodyPr>
            <a:lstStyle/>
            <a:p>
              <a:pPr algn="l"/>
              <a:r>
                <a:rPr lang="zh-CN" sz="750" dirty="0">
                  <a:solidFill>
                    <a:srgbClr val="0A0A0A"/>
                  </a:solidFill>
                  <a:latin typeface="Arial" panose="020B0604020202090204"/>
                  <a:ea typeface="微软雅黑"/>
                  <a:cs typeface="Arial" panose="020B0604020202090204"/>
                </a:rPr>
                <a:t>2022 PaLM~$ 1200万</a:t>
              </a:r>
              <a:endParaRPr lang="zh-CN" sz="750" dirty="0">
                <a:solidFill>
                  <a:srgbClr val="0A0A0A"/>
                </a:solidFill>
                <a:latin typeface="Arial" panose="020B0604020202090204"/>
                <a:ea typeface="微软雅黑"/>
                <a:cs typeface="Arial" panose="020B0604020202090204"/>
              </a:endParaRPr>
            </a:p>
          </p:txBody>
        </p:sp>
        <p:sp>
          <p:nvSpPr>
            <p:cNvPr id="207" name="TextBox 207"/>
            <p:cNvSpPr txBox="1"/>
            <p:nvPr/>
          </p:nvSpPr>
          <p:spPr>
            <a:xfrm>
              <a:off x="3868674" y="6438900"/>
              <a:ext cx="1097994" cy="152400"/>
            </a:xfrm>
            <a:prstGeom prst="rect">
              <a:avLst/>
            </a:prstGeom>
            <a:noFill/>
            <a:ln>
              <a:noFill/>
            </a:ln>
          </p:spPr>
          <p:txBody>
            <a:bodyPr wrap="none" lIns="0" tIns="0" rIns="0" bIns="0" anchor="t" anchorCtr="0">
              <a:spAutoFit/>
            </a:bodyPr>
            <a:lstStyle/>
            <a:p>
              <a:pPr algn="l"/>
              <a:r>
                <a:rPr lang="zh-CN" sz="750" dirty="0">
                  <a:solidFill>
                    <a:srgbClr val="0A0A0A"/>
                  </a:solidFill>
                  <a:latin typeface="Arial" panose="020B0604020202090204"/>
                  <a:ea typeface="微软雅黑"/>
                  <a:cs typeface="Arial" panose="020B0604020202090204"/>
                </a:rPr>
                <a:t>2023 GPT-4~$ 7800万</a:t>
              </a:r>
              <a:endParaRPr lang="zh-CN" sz="750" dirty="0">
                <a:solidFill>
                  <a:srgbClr val="0A0A0A"/>
                </a:solidFill>
                <a:latin typeface="Arial" panose="020B0604020202090204"/>
                <a:ea typeface="微软雅黑"/>
                <a:cs typeface="Arial" panose="020B0604020202090204"/>
              </a:endParaRPr>
            </a:p>
          </p:txBody>
        </p:sp>
        <p:sp>
          <p:nvSpPr>
            <p:cNvPr id="208" name="TextBox 208"/>
            <p:cNvSpPr txBox="1"/>
            <p:nvPr/>
          </p:nvSpPr>
          <p:spPr>
            <a:xfrm>
              <a:off x="5081683" y="6438900"/>
              <a:ext cx="1377315" cy="152400"/>
            </a:xfrm>
            <a:prstGeom prst="rect">
              <a:avLst/>
            </a:prstGeom>
            <a:noFill/>
            <a:ln>
              <a:noFill/>
            </a:ln>
          </p:spPr>
          <p:txBody>
            <a:bodyPr wrap="none" lIns="0" tIns="0" rIns="0" bIns="0" anchor="t" anchorCtr="0">
              <a:spAutoFit/>
            </a:bodyPr>
            <a:lstStyle/>
            <a:p>
              <a:pPr algn="l"/>
              <a:r>
                <a:rPr lang="zh-CN" sz="750" dirty="0">
                  <a:solidFill>
                    <a:srgbClr val="0A0A0A"/>
                  </a:solidFill>
                  <a:latin typeface="Arial" panose="020B0604020202090204"/>
                  <a:ea typeface="微软雅黑"/>
                  <a:cs typeface="Arial" panose="020B0604020202090204"/>
                </a:rPr>
                <a:t>2024 Gemini Ultra~$ 1.91亿</a:t>
              </a:r>
              <a:endParaRPr lang="zh-CN" sz="750" dirty="0">
                <a:solidFill>
                  <a:srgbClr val="0A0A0A"/>
                </a:solidFill>
                <a:latin typeface="Arial" panose="020B0604020202090204"/>
                <a:ea typeface="微软雅黑"/>
                <a:cs typeface="Arial" panose="020B0604020202090204"/>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151" name="Group 151"/>
          <p:cNvGrpSpPr/>
          <p:nvPr/>
        </p:nvGrpSpPr>
        <p:grpSpPr>
          <a:xfrm>
            <a:off x="430530" y="382905"/>
            <a:ext cx="11313795" cy="6100762"/>
            <a:chOff x="430530" y="382905"/>
            <a:chExt cx="11313795" cy="6100762"/>
          </a:xfrm>
        </p:grpSpPr>
        <p:sp>
          <p:nvSpPr>
            <p:cNvPr id="5" name="TextBox 5"/>
            <p:cNvSpPr txBox="1"/>
            <p:nvPr/>
          </p:nvSpPr>
          <p:spPr>
            <a:xfrm>
              <a:off x="430530" y="382905"/>
              <a:ext cx="8378080"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Times New Roman" panose="02020503050405090304"/>
                  <a:ea typeface="宋体"/>
                  <a:cs typeface="Times New Roman" panose="02020503050405090304"/>
                </a:rPr>
                <a:t>AI行业应用案例矩阵：从客服自动化到科学发现的全面渗透</a:t>
              </a:r>
              <a:endParaRPr lang="zh-CN" sz="210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445770" y="769620"/>
              <a:ext cx="5642134" cy="182880"/>
            </a:xfrm>
            <a:prstGeom prst="rect">
              <a:avLst/>
            </a:prstGeom>
            <a:noFill/>
            <a:ln>
              <a:noFill/>
            </a:ln>
          </p:spPr>
          <p:txBody>
            <a:bodyPr wrap="none" lIns="0" tIns="0" rIns="0" bIns="0" anchor="t" anchorCtr="0">
              <a:spAutoFit/>
            </a:bodyPr>
            <a:lstStyle/>
            <a:p>
              <a:pPr algn="l"/>
              <a:r>
                <a:rPr lang="zh-CN" sz="900" dirty="0">
                  <a:solidFill>
                    <a:srgbClr val="9E9E9E"/>
                  </a:solidFill>
                  <a:latin typeface="Arial" panose="020B0604020202090204"/>
                  <a:ea typeface="微软雅黑"/>
                  <a:cs typeface="Arial" panose="020B0604020202090204"/>
                </a:rPr>
                <a:t>基于 Stanford HAI 2024 AI Index·数据截至 2024Q3·涵盖金融、零售、医疗、制造四大核心场景</a:t>
              </a:r>
              <a:endParaRPr lang="zh-CN" sz="900" dirty="0">
                <a:solidFill>
                  <a:srgbClr val="9E9E9E"/>
                </a:solidFill>
                <a:latin typeface="Arial" panose="020B0604020202090204"/>
                <a:ea typeface="微软雅黑"/>
                <a:cs typeface="Arial" panose="020B0604020202090204"/>
              </a:endParaRPr>
            </a:p>
          </p:txBody>
        </p:sp>
        <p:sp>
          <p:nvSpPr>
            <p:cNvPr id="7" name="Rectangle 7"/>
            <p:cNvSpPr/>
            <p:nvPr/>
          </p:nvSpPr>
          <p:spPr>
            <a:xfrm>
              <a:off x="457200" y="1045845"/>
              <a:ext cx="609600" cy="28575"/>
            </a:xfrm>
            <a:prstGeom prst="rect">
              <a:avLst/>
            </a:prstGeom>
            <a:solidFill>
              <a:srgbClr val="0070F3"/>
            </a:solidFill>
            <a:ln>
              <a:noFill/>
            </a:ln>
          </p:spPr>
        </p:sp>
        <p:sp>
          <p:nvSpPr>
            <p:cNvPr id="8" name="Rectangle 8"/>
            <p:cNvSpPr/>
            <p:nvPr/>
          </p:nvSpPr>
          <p:spPr>
            <a:xfrm>
              <a:off x="457200" y="1245870"/>
              <a:ext cx="2733675" cy="741998"/>
            </a:xfrm>
            <a:prstGeom prst="roundRect">
              <a:avLst>
                <a:gd name="adj" fmla="val 5135"/>
              </a:avLst>
            </a:prstGeom>
            <a:solidFill>
              <a:srgbClr val="F5F5F5"/>
            </a:solidFill>
            <a:ln>
              <a:noFill/>
            </a:ln>
          </p:spPr>
        </p:sp>
        <p:sp>
          <p:nvSpPr>
            <p:cNvPr id="9" name="Line 9"/>
            <p:cNvSpPr/>
            <p:nvPr/>
          </p:nvSpPr>
          <p:spPr>
            <a:xfrm>
              <a:off x="457200" y="1245870"/>
              <a:ext cx="9525" cy="741997"/>
            </a:xfrm>
            <a:custGeom>
              <a:avLst/>
              <a:gdLst/>
              <a:ahLst/>
              <a:cxnLst/>
              <a:rect l="l" t="t" r="r" b="b"/>
              <a:pathLst>
                <a:path w="9525" h="741997">
                  <a:moveTo>
                    <a:pt x="0" y="0"/>
                  </a:moveTo>
                  <a:lnTo>
                    <a:pt x="0" y="741997"/>
                  </a:lnTo>
                </a:path>
              </a:pathLst>
            </a:custGeom>
            <a:noFill/>
            <a:ln w="28575">
              <a:solidFill>
                <a:srgbClr val="0070F3"/>
              </a:solidFill>
            </a:ln>
          </p:spPr>
        </p:sp>
        <p:sp>
          <p:nvSpPr>
            <p:cNvPr id="10" name="TextBox 10"/>
            <p:cNvSpPr txBox="1"/>
            <p:nvPr/>
          </p:nvSpPr>
          <p:spPr>
            <a:xfrm>
              <a:off x="594360" y="1397318"/>
              <a:ext cx="931690" cy="396240"/>
            </a:xfrm>
            <a:prstGeom prst="rect">
              <a:avLst/>
            </a:prstGeom>
            <a:noFill/>
            <a:ln>
              <a:noFill/>
            </a:ln>
          </p:spPr>
          <p:txBody>
            <a:bodyPr wrap="none" lIns="0" tIns="0" rIns="0" bIns="0" anchor="t" anchorCtr="0">
              <a:spAutoFit/>
            </a:bodyPr>
            <a:lstStyle/>
            <a:p>
              <a:pPr algn="l"/>
              <a:r>
                <a:rPr lang="zh-CN" sz="1950" b="1" dirty="0">
                  <a:solidFill>
                    <a:srgbClr val="0070F3"/>
                  </a:solidFill>
                  <a:latin typeface="Times New Roman" panose="02020503050405090304"/>
                  <a:ea typeface="宋体"/>
                  <a:cs typeface="Times New Roman" panose="02020503050405090304"/>
                </a:rPr>
                <a:t>1940亿</a:t>
              </a:r>
              <a:endParaRPr lang="zh-CN" sz="1950" b="1" dirty="0">
                <a:solidFill>
                  <a:srgbClr val="0070F3"/>
                </a:solidFill>
                <a:latin typeface="Times New Roman" panose="02020503050405090304"/>
                <a:ea typeface="宋体"/>
                <a:cs typeface="Times New Roman" panose="02020503050405090304"/>
              </a:endParaRPr>
            </a:p>
          </p:txBody>
        </p:sp>
        <p:sp>
          <p:nvSpPr>
            <p:cNvPr id="11" name="TextBox 11"/>
            <p:cNvSpPr txBox="1"/>
            <p:nvPr/>
          </p:nvSpPr>
          <p:spPr>
            <a:xfrm>
              <a:off x="608648" y="1742599"/>
              <a:ext cx="1786152"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医疗 AI 2030年价值预测（美元）</a:t>
              </a:r>
              <a:endParaRPr lang="zh-CN" sz="825" dirty="0">
                <a:solidFill>
                  <a:srgbClr val="666666"/>
                </a:solidFill>
                <a:latin typeface="Arial" panose="020B0604020202090204"/>
                <a:ea typeface="微软雅黑"/>
                <a:cs typeface="Arial" panose="020B0604020202090204"/>
              </a:endParaRPr>
            </a:p>
          </p:txBody>
        </p:sp>
        <p:sp>
          <p:nvSpPr>
            <p:cNvPr id="12" name="Rectangle 12"/>
            <p:cNvSpPr/>
            <p:nvPr/>
          </p:nvSpPr>
          <p:spPr>
            <a:xfrm>
              <a:off x="3305175" y="1245870"/>
              <a:ext cx="2733675" cy="741998"/>
            </a:xfrm>
            <a:prstGeom prst="roundRect">
              <a:avLst>
                <a:gd name="adj" fmla="val 5135"/>
              </a:avLst>
            </a:prstGeom>
            <a:solidFill>
              <a:srgbClr val="F5F5F5"/>
            </a:solidFill>
            <a:ln>
              <a:noFill/>
            </a:ln>
          </p:spPr>
        </p:sp>
        <p:sp>
          <p:nvSpPr>
            <p:cNvPr id="13" name="Line 13"/>
            <p:cNvSpPr/>
            <p:nvPr/>
          </p:nvSpPr>
          <p:spPr>
            <a:xfrm>
              <a:off x="3305175" y="1245870"/>
              <a:ext cx="9525" cy="741997"/>
            </a:xfrm>
            <a:custGeom>
              <a:avLst/>
              <a:gdLst/>
              <a:ahLst/>
              <a:cxnLst/>
              <a:rect l="l" t="t" r="r" b="b"/>
              <a:pathLst>
                <a:path w="9525" h="741997">
                  <a:moveTo>
                    <a:pt x="0" y="0"/>
                  </a:moveTo>
                  <a:lnTo>
                    <a:pt x="0" y="741997"/>
                  </a:lnTo>
                </a:path>
              </a:pathLst>
            </a:custGeom>
            <a:noFill/>
            <a:ln w="28575">
              <a:solidFill>
                <a:srgbClr val="D4AF37"/>
              </a:solidFill>
            </a:ln>
          </p:spPr>
        </p:sp>
        <p:sp>
          <p:nvSpPr>
            <p:cNvPr id="14" name="TextBox 14"/>
            <p:cNvSpPr txBox="1"/>
            <p:nvPr/>
          </p:nvSpPr>
          <p:spPr>
            <a:xfrm>
              <a:off x="3442335" y="1397318"/>
              <a:ext cx="542942" cy="396240"/>
            </a:xfrm>
            <a:prstGeom prst="rect">
              <a:avLst/>
            </a:prstGeom>
            <a:noFill/>
            <a:ln>
              <a:noFill/>
            </a:ln>
          </p:spPr>
          <p:txBody>
            <a:bodyPr wrap="none" lIns="0" tIns="0" rIns="0" bIns="0" anchor="t" anchorCtr="0">
              <a:spAutoFit/>
            </a:bodyPr>
            <a:lstStyle/>
            <a:p>
              <a:pPr algn="l"/>
              <a:r>
                <a:rPr lang="zh-CN" sz="1950" b="1" dirty="0">
                  <a:solidFill>
                    <a:srgbClr val="D4AF37"/>
                  </a:solidFill>
                  <a:latin typeface="Times New Roman" panose="02020503050405090304"/>
                  <a:ea typeface="宋体"/>
                  <a:cs typeface="Times New Roman" panose="02020503050405090304"/>
                </a:rPr>
                <a:t>66%</a:t>
              </a:r>
              <a:endParaRPr lang="zh-CN" sz="1950" b="1" dirty="0">
                <a:solidFill>
                  <a:srgbClr val="D4AF37"/>
                </a:solidFill>
                <a:latin typeface="Times New Roman" panose="02020503050405090304"/>
                <a:ea typeface="宋体"/>
                <a:cs typeface="Times New Roman" panose="02020503050405090304"/>
              </a:endParaRPr>
            </a:p>
          </p:txBody>
        </p:sp>
        <p:sp>
          <p:nvSpPr>
            <p:cNvPr id="15" name="TextBox 15"/>
            <p:cNvSpPr txBox="1"/>
            <p:nvPr/>
          </p:nvSpPr>
          <p:spPr>
            <a:xfrm>
              <a:off x="3456622" y="1675924"/>
              <a:ext cx="1129474"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Klarna AI客服量降幅</a:t>
              </a:r>
              <a:endParaRPr lang="zh-CN" sz="825" dirty="0">
                <a:solidFill>
                  <a:srgbClr val="666666"/>
                </a:solidFill>
                <a:latin typeface="Arial" panose="020B0604020202090204"/>
                <a:ea typeface="微软雅黑"/>
                <a:cs typeface="Arial" panose="020B0604020202090204"/>
              </a:endParaRPr>
            </a:p>
          </p:txBody>
        </p:sp>
        <p:sp>
          <p:nvSpPr>
            <p:cNvPr id="16" name="Rectangle 16"/>
            <p:cNvSpPr/>
            <p:nvPr/>
          </p:nvSpPr>
          <p:spPr>
            <a:xfrm>
              <a:off x="6153150" y="1245870"/>
              <a:ext cx="2733675" cy="741998"/>
            </a:xfrm>
            <a:prstGeom prst="roundRect">
              <a:avLst>
                <a:gd name="adj" fmla="val 5135"/>
              </a:avLst>
            </a:prstGeom>
            <a:solidFill>
              <a:srgbClr val="F5F5F5"/>
            </a:solidFill>
            <a:ln>
              <a:noFill/>
            </a:ln>
          </p:spPr>
        </p:sp>
        <p:sp>
          <p:nvSpPr>
            <p:cNvPr id="17" name="Line 17"/>
            <p:cNvSpPr/>
            <p:nvPr/>
          </p:nvSpPr>
          <p:spPr>
            <a:xfrm>
              <a:off x="6153150" y="1245870"/>
              <a:ext cx="9525" cy="741997"/>
            </a:xfrm>
            <a:custGeom>
              <a:avLst/>
              <a:gdLst/>
              <a:ahLst/>
              <a:cxnLst/>
              <a:rect l="l" t="t" r="r" b="b"/>
              <a:pathLst>
                <a:path w="9525" h="741997">
                  <a:moveTo>
                    <a:pt x="0" y="0"/>
                  </a:moveTo>
                  <a:lnTo>
                    <a:pt x="0" y="741997"/>
                  </a:lnTo>
                </a:path>
              </a:pathLst>
            </a:custGeom>
            <a:noFill/>
            <a:ln w="28575">
              <a:solidFill>
                <a:srgbClr val="0070F3"/>
              </a:solidFill>
            </a:ln>
          </p:spPr>
        </p:sp>
        <p:sp>
          <p:nvSpPr>
            <p:cNvPr id="18" name="TextBox 18"/>
            <p:cNvSpPr txBox="1"/>
            <p:nvPr/>
          </p:nvSpPr>
          <p:spPr>
            <a:xfrm>
              <a:off x="6290310" y="1397318"/>
              <a:ext cx="707412" cy="396240"/>
            </a:xfrm>
            <a:prstGeom prst="rect">
              <a:avLst/>
            </a:prstGeom>
            <a:noFill/>
            <a:ln>
              <a:noFill/>
            </a:ln>
          </p:spPr>
          <p:txBody>
            <a:bodyPr wrap="none" lIns="0" tIns="0" rIns="0" bIns="0" anchor="t" anchorCtr="0">
              <a:spAutoFit/>
            </a:bodyPr>
            <a:lstStyle/>
            <a:p>
              <a:pPr algn="l"/>
              <a:r>
                <a:rPr lang="zh-CN" sz="1950" b="1" dirty="0">
                  <a:solidFill>
                    <a:srgbClr val="0070F3"/>
                  </a:solidFill>
                  <a:latin typeface="Times New Roman" panose="02020503050405090304"/>
                  <a:ea typeface="宋体"/>
                  <a:cs typeface="Times New Roman" panose="02020503050405090304"/>
                </a:rPr>
                <a:t>300+</a:t>
              </a:r>
              <a:endParaRPr lang="zh-CN" sz="1950" b="1" dirty="0">
                <a:solidFill>
                  <a:srgbClr val="0070F3"/>
                </a:solidFill>
                <a:latin typeface="Times New Roman" panose="02020503050405090304"/>
                <a:ea typeface="宋体"/>
                <a:cs typeface="Times New Roman" panose="02020503050405090304"/>
              </a:endParaRPr>
            </a:p>
          </p:txBody>
        </p:sp>
        <p:sp>
          <p:nvSpPr>
            <p:cNvPr id="19" name="TextBox 19"/>
            <p:cNvSpPr txBox="1"/>
            <p:nvPr/>
          </p:nvSpPr>
          <p:spPr>
            <a:xfrm>
              <a:off x="6304598" y="1675924"/>
              <a:ext cx="1123450"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摩根大通 AI用例数量</a:t>
              </a:r>
              <a:endParaRPr lang="zh-CN" sz="825" dirty="0">
                <a:solidFill>
                  <a:srgbClr val="666666"/>
                </a:solidFill>
                <a:latin typeface="Arial" panose="020B0604020202090204"/>
                <a:ea typeface="微软雅黑"/>
                <a:cs typeface="Arial" panose="020B0604020202090204"/>
              </a:endParaRPr>
            </a:p>
          </p:txBody>
        </p:sp>
        <p:sp>
          <p:nvSpPr>
            <p:cNvPr id="20" name="Rectangle 20"/>
            <p:cNvSpPr/>
            <p:nvPr/>
          </p:nvSpPr>
          <p:spPr>
            <a:xfrm>
              <a:off x="9001125" y="1245870"/>
              <a:ext cx="2733675" cy="741998"/>
            </a:xfrm>
            <a:prstGeom prst="roundRect">
              <a:avLst>
                <a:gd name="adj" fmla="val 5135"/>
              </a:avLst>
            </a:prstGeom>
            <a:solidFill>
              <a:srgbClr val="F5F5F5"/>
            </a:solidFill>
            <a:ln>
              <a:noFill/>
            </a:ln>
          </p:spPr>
        </p:sp>
        <p:sp>
          <p:nvSpPr>
            <p:cNvPr id="21" name="Line 21"/>
            <p:cNvSpPr/>
            <p:nvPr/>
          </p:nvSpPr>
          <p:spPr>
            <a:xfrm>
              <a:off x="9001125" y="1245870"/>
              <a:ext cx="9525" cy="741997"/>
            </a:xfrm>
            <a:custGeom>
              <a:avLst/>
              <a:gdLst/>
              <a:ahLst/>
              <a:cxnLst/>
              <a:rect l="l" t="t" r="r" b="b"/>
              <a:pathLst>
                <a:path w="9525" h="741997">
                  <a:moveTo>
                    <a:pt x="0" y="0"/>
                  </a:moveTo>
                  <a:lnTo>
                    <a:pt x="0" y="741997"/>
                  </a:lnTo>
                </a:path>
              </a:pathLst>
            </a:custGeom>
            <a:noFill/>
            <a:ln w="28575">
              <a:solidFill>
                <a:srgbClr val="D4AF37"/>
              </a:solidFill>
            </a:ln>
          </p:spPr>
        </p:sp>
        <p:sp>
          <p:nvSpPr>
            <p:cNvPr id="22" name="TextBox 22"/>
            <p:cNvSpPr txBox="1"/>
            <p:nvPr/>
          </p:nvSpPr>
          <p:spPr>
            <a:xfrm>
              <a:off x="9138285" y="1397318"/>
              <a:ext cx="542942" cy="396240"/>
            </a:xfrm>
            <a:prstGeom prst="rect">
              <a:avLst/>
            </a:prstGeom>
            <a:noFill/>
            <a:ln>
              <a:noFill/>
            </a:ln>
          </p:spPr>
          <p:txBody>
            <a:bodyPr wrap="none" lIns="0" tIns="0" rIns="0" bIns="0" anchor="t" anchorCtr="0">
              <a:spAutoFit/>
            </a:bodyPr>
            <a:lstStyle/>
            <a:p>
              <a:pPr algn="l"/>
              <a:r>
                <a:rPr lang="zh-CN" sz="1950" b="1" dirty="0">
                  <a:solidFill>
                    <a:srgbClr val="D4AF37"/>
                  </a:solidFill>
                  <a:latin typeface="Times New Roman" panose="02020503050405090304"/>
                  <a:ea typeface="宋体"/>
                  <a:cs typeface="Times New Roman" panose="02020503050405090304"/>
                </a:rPr>
                <a:t>40%</a:t>
              </a:r>
              <a:endParaRPr lang="zh-CN" sz="1950" b="1" dirty="0">
                <a:solidFill>
                  <a:srgbClr val="D4AF37"/>
                </a:solidFill>
                <a:latin typeface="Times New Roman" panose="02020503050405090304"/>
                <a:ea typeface="宋体"/>
                <a:cs typeface="Times New Roman" panose="02020503050405090304"/>
              </a:endParaRPr>
            </a:p>
          </p:txBody>
        </p:sp>
        <p:sp>
          <p:nvSpPr>
            <p:cNvPr id="23" name="TextBox 23"/>
            <p:cNvSpPr txBox="1"/>
            <p:nvPr/>
          </p:nvSpPr>
          <p:spPr>
            <a:xfrm>
              <a:off x="9152572" y="1675924"/>
              <a:ext cx="1695783"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文档处理效率提升（Unilever）</a:t>
              </a:r>
              <a:endParaRPr lang="zh-CN" sz="825" dirty="0">
                <a:solidFill>
                  <a:srgbClr val="666666"/>
                </a:solidFill>
                <a:latin typeface="Arial" panose="020B0604020202090204"/>
                <a:ea typeface="微软雅黑"/>
                <a:cs typeface="Arial" panose="020B0604020202090204"/>
              </a:endParaRPr>
            </a:p>
          </p:txBody>
        </p:sp>
        <p:sp>
          <p:nvSpPr>
            <p:cNvPr id="24" name="Rectangle 24"/>
            <p:cNvSpPr/>
            <p:nvPr/>
          </p:nvSpPr>
          <p:spPr>
            <a:xfrm>
              <a:off x="457200" y="2159318"/>
              <a:ext cx="5562600" cy="4314825"/>
            </a:xfrm>
            <a:prstGeom prst="roundRect">
              <a:avLst>
                <a:gd name="adj" fmla="val 1325"/>
              </a:avLst>
            </a:prstGeom>
            <a:noFill/>
            <a:ln>
              <a:noFill/>
            </a:ln>
          </p:spPr>
        </p:sp>
        <p:sp>
          <p:nvSpPr>
            <p:cNvPr id="25" name="Line 25"/>
            <p:cNvSpPr/>
            <p:nvPr/>
          </p:nvSpPr>
          <p:spPr>
            <a:xfrm>
              <a:off x="457200" y="2159318"/>
              <a:ext cx="5562600" cy="9525"/>
            </a:xfrm>
            <a:custGeom>
              <a:avLst/>
              <a:gdLst/>
              <a:ahLst/>
              <a:cxnLst/>
              <a:rect l="l" t="t" r="r" b="b"/>
              <a:pathLst>
                <a:path w="5562600" h="9525">
                  <a:moveTo>
                    <a:pt x="0" y="0"/>
                  </a:moveTo>
                  <a:lnTo>
                    <a:pt x="5562600" y="0"/>
                  </a:lnTo>
                </a:path>
              </a:pathLst>
            </a:custGeom>
            <a:noFill/>
            <a:ln w="9525">
              <a:solidFill>
                <a:srgbClr val="E0E0E0"/>
              </a:solidFill>
            </a:ln>
          </p:spPr>
        </p:sp>
        <p:sp>
          <p:nvSpPr>
            <p:cNvPr id="26" name="Line 26"/>
            <p:cNvSpPr/>
            <p:nvPr/>
          </p:nvSpPr>
          <p:spPr>
            <a:xfrm>
              <a:off x="6019800" y="2159318"/>
              <a:ext cx="9525" cy="4314825"/>
            </a:xfrm>
            <a:custGeom>
              <a:avLst/>
              <a:gdLst/>
              <a:ahLst/>
              <a:cxnLst/>
              <a:rect l="l" t="t" r="r" b="b"/>
              <a:pathLst>
                <a:path w="9525" h="4314825">
                  <a:moveTo>
                    <a:pt x="0" y="0"/>
                  </a:moveTo>
                  <a:lnTo>
                    <a:pt x="0" y="4314825"/>
                  </a:lnTo>
                </a:path>
              </a:pathLst>
            </a:custGeom>
            <a:noFill/>
            <a:ln w="9525">
              <a:solidFill>
                <a:srgbClr val="E0E0E0"/>
              </a:solidFill>
            </a:ln>
          </p:spPr>
        </p:sp>
        <p:sp>
          <p:nvSpPr>
            <p:cNvPr id="27" name="Line 27"/>
            <p:cNvSpPr/>
            <p:nvPr/>
          </p:nvSpPr>
          <p:spPr>
            <a:xfrm>
              <a:off x="457200" y="6474142"/>
              <a:ext cx="5562600" cy="9525"/>
            </a:xfrm>
            <a:custGeom>
              <a:avLst/>
              <a:gdLst/>
              <a:ahLst/>
              <a:cxnLst/>
              <a:rect l="l" t="t" r="r" b="b"/>
              <a:pathLst>
                <a:path w="5562600" h="9525">
                  <a:moveTo>
                    <a:pt x="0" y="0"/>
                  </a:moveTo>
                  <a:lnTo>
                    <a:pt x="5562600" y="0"/>
                  </a:lnTo>
                </a:path>
              </a:pathLst>
            </a:custGeom>
            <a:noFill/>
            <a:ln w="9525">
              <a:solidFill>
                <a:srgbClr val="E0E0E0"/>
              </a:solidFill>
            </a:ln>
          </p:spPr>
        </p:sp>
        <p:sp>
          <p:nvSpPr>
            <p:cNvPr id="28" name="Line 28"/>
            <p:cNvSpPr/>
            <p:nvPr/>
          </p:nvSpPr>
          <p:spPr>
            <a:xfrm>
              <a:off x="457200" y="2159318"/>
              <a:ext cx="9525" cy="4314825"/>
            </a:xfrm>
            <a:custGeom>
              <a:avLst/>
              <a:gdLst/>
              <a:ahLst/>
              <a:cxnLst/>
              <a:rect l="l" t="t" r="r" b="b"/>
              <a:pathLst>
                <a:path w="9525" h="4314825">
                  <a:moveTo>
                    <a:pt x="0" y="0"/>
                  </a:moveTo>
                  <a:lnTo>
                    <a:pt x="0" y="4314825"/>
                  </a:lnTo>
                </a:path>
              </a:pathLst>
            </a:custGeom>
            <a:noFill/>
            <a:ln w="9525">
              <a:solidFill>
                <a:srgbClr val="E0E0E0"/>
              </a:solidFill>
            </a:ln>
          </p:spPr>
        </p:sp>
        <p:sp>
          <p:nvSpPr>
            <p:cNvPr id="29" name="Rectangle 29"/>
            <p:cNvSpPr/>
            <p:nvPr/>
          </p:nvSpPr>
          <p:spPr>
            <a:xfrm>
              <a:off x="466725" y="2168842"/>
              <a:ext cx="5543550" cy="400050"/>
            </a:xfrm>
            <a:prstGeom prst="rect">
              <a:avLst/>
            </a:prstGeom>
            <a:solidFill>
              <a:srgbClr val="F5F5F5"/>
            </a:solidFill>
            <a:ln>
              <a:noFill/>
            </a:ln>
          </p:spPr>
        </p:sp>
        <p:sp>
          <p:nvSpPr>
            <p:cNvPr id="30" name="Line 30"/>
            <p:cNvSpPr/>
            <p:nvPr/>
          </p:nvSpPr>
          <p:spPr>
            <a:xfrm>
              <a:off x="466725" y="2568892"/>
              <a:ext cx="5543550" cy="9525"/>
            </a:xfrm>
            <a:custGeom>
              <a:avLst/>
              <a:gdLst/>
              <a:ahLst/>
              <a:cxnLst/>
              <a:rect l="l" t="t" r="r" b="b"/>
              <a:pathLst>
                <a:path w="5543550" h="9525">
                  <a:moveTo>
                    <a:pt x="0" y="0"/>
                  </a:moveTo>
                  <a:lnTo>
                    <a:pt x="5543550" y="0"/>
                  </a:lnTo>
                </a:path>
              </a:pathLst>
            </a:custGeom>
            <a:noFill/>
            <a:ln w="9525">
              <a:solidFill>
                <a:srgbClr val="E0E0E0"/>
              </a:solidFill>
            </a:ln>
          </p:spPr>
        </p:sp>
        <p:sp>
          <p:nvSpPr>
            <p:cNvPr id="31" name="TextBox 31"/>
            <p:cNvSpPr txBox="1"/>
            <p:nvPr/>
          </p:nvSpPr>
          <p:spPr>
            <a:xfrm>
              <a:off x="585788" y="2285524"/>
              <a:ext cx="1555391"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Times New Roman" panose="02020503050405090304"/>
                  <a:ea typeface="宋体"/>
                  <a:cs typeface="Times New Roman" panose="02020503050405090304"/>
                </a:rPr>
                <a:t>AI行业应用案例矩阵</a:t>
              </a:r>
              <a:endParaRPr lang="zh-CN" sz="1125" b="1" dirty="0">
                <a:solidFill>
                  <a:srgbClr val="0A0A0A"/>
                </a:solidFill>
                <a:latin typeface="Times New Roman" panose="02020503050405090304"/>
                <a:ea typeface="宋体"/>
                <a:cs typeface="Times New Roman" panose="02020503050405090304"/>
              </a:endParaRPr>
            </a:p>
          </p:txBody>
        </p:sp>
        <p:sp>
          <p:nvSpPr>
            <p:cNvPr id="32" name="Rectangle 32"/>
            <p:cNvSpPr/>
            <p:nvPr/>
          </p:nvSpPr>
          <p:spPr>
            <a:xfrm>
              <a:off x="466725" y="2568892"/>
              <a:ext cx="5543550" cy="300038"/>
            </a:xfrm>
            <a:prstGeom prst="rect">
              <a:avLst/>
            </a:prstGeom>
            <a:solidFill>
              <a:srgbClr val="FAFAFA"/>
            </a:solidFill>
            <a:ln>
              <a:noFill/>
            </a:ln>
          </p:spPr>
        </p:sp>
        <p:sp>
          <p:nvSpPr>
            <p:cNvPr id="33" name="Rectangle 33"/>
            <p:cNvSpPr/>
            <p:nvPr/>
          </p:nvSpPr>
          <p:spPr>
            <a:xfrm>
              <a:off x="466725" y="2568892"/>
              <a:ext cx="866204" cy="300038"/>
            </a:xfrm>
            <a:prstGeom prst="rect">
              <a:avLst/>
            </a:prstGeom>
            <a:noFill/>
            <a:ln>
              <a:noFill/>
            </a:ln>
          </p:spPr>
        </p:sp>
        <p:sp>
          <p:nvSpPr>
            <p:cNvPr id="34" name="Line 34"/>
            <p:cNvSpPr/>
            <p:nvPr/>
          </p:nvSpPr>
          <p:spPr>
            <a:xfrm>
              <a:off x="466725" y="2868930"/>
              <a:ext cx="866204" cy="9525"/>
            </a:xfrm>
            <a:custGeom>
              <a:avLst/>
              <a:gdLst/>
              <a:ahLst/>
              <a:cxnLst/>
              <a:rect l="l" t="t" r="r" b="b"/>
              <a:pathLst>
                <a:path w="866204" h="9525">
                  <a:moveTo>
                    <a:pt x="0" y="0"/>
                  </a:moveTo>
                  <a:lnTo>
                    <a:pt x="866204" y="0"/>
                  </a:lnTo>
                </a:path>
              </a:pathLst>
            </a:custGeom>
            <a:noFill/>
            <a:ln w="9525">
              <a:solidFill>
                <a:srgbClr val="E0E0E0"/>
              </a:solidFill>
            </a:ln>
          </p:spPr>
        </p:sp>
        <p:sp>
          <p:nvSpPr>
            <p:cNvPr id="35" name="TextBox 35"/>
            <p:cNvSpPr txBox="1"/>
            <p:nvPr/>
          </p:nvSpPr>
          <p:spPr>
            <a:xfrm>
              <a:off x="551498" y="2660809"/>
              <a:ext cx="273987" cy="167640"/>
            </a:xfrm>
            <a:prstGeom prst="rect">
              <a:avLst/>
            </a:prstGeom>
            <a:noFill/>
            <a:ln>
              <a:noFill/>
            </a:ln>
          </p:spPr>
          <p:txBody>
            <a:bodyPr wrap="none" lIns="0" tIns="0" rIns="0" bIns="0" anchor="t" anchorCtr="0">
              <a:spAutoFit/>
            </a:bodyPr>
            <a:lstStyle/>
            <a:p>
              <a:pPr algn="l"/>
              <a:r>
                <a:rPr lang="zh-CN" sz="825" b="1" dirty="0">
                  <a:solidFill>
                    <a:srgbClr val="0A0A0A"/>
                  </a:solidFill>
                  <a:latin typeface="Arial" panose="020B0604020202090204"/>
                  <a:ea typeface="微软雅黑"/>
                  <a:cs typeface="Arial" panose="020B0604020202090204"/>
                </a:rPr>
                <a:t>行业</a:t>
              </a:r>
              <a:endParaRPr lang="zh-CN" sz="825" b="1" dirty="0">
                <a:solidFill>
                  <a:srgbClr val="0A0A0A"/>
                </a:solidFill>
                <a:latin typeface="Arial" panose="020B0604020202090204"/>
                <a:ea typeface="微软雅黑"/>
                <a:cs typeface="Arial" panose="020B0604020202090204"/>
              </a:endParaRPr>
            </a:p>
          </p:txBody>
        </p:sp>
        <p:sp>
          <p:nvSpPr>
            <p:cNvPr id="36" name="Rectangle 36"/>
            <p:cNvSpPr/>
            <p:nvPr/>
          </p:nvSpPr>
          <p:spPr>
            <a:xfrm>
              <a:off x="1332928" y="2568892"/>
              <a:ext cx="1566386" cy="300038"/>
            </a:xfrm>
            <a:prstGeom prst="rect">
              <a:avLst/>
            </a:prstGeom>
            <a:noFill/>
            <a:ln>
              <a:noFill/>
            </a:ln>
          </p:spPr>
        </p:sp>
        <p:sp>
          <p:nvSpPr>
            <p:cNvPr id="37" name="Line 37"/>
            <p:cNvSpPr/>
            <p:nvPr/>
          </p:nvSpPr>
          <p:spPr>
            <a:xfrm>
              <a:off x="1332928" y="2868930"/>
              <a:ext cx="1566291" cy="9525"/>
            </a:xfrm>
            <a:custGeom>
              <a:avLst/>
              <a:gdLst/>
              <a:ahLst/>
              <a:cxnLst/>
              <a:rect l="l" t="t" r="r" b="b"/>
              <a:pathLst>
                <a:path w="1566291" h="9525">
                  <a:moveTo>
                    <a:pt x="0" y="0"/>
                  </a:moveTo>
                  <a:lnTo>
                    <a:pt x="1566291" y="0"/>
                  </a:lnTo>
                </a:path>
              </a:pathLst>
            </a:custGeom>
            <a:noFill/>
            <a:ln w="9525">
              <a:solidFill>
                <a:srgbClr val="E0E0E0"/>
              </a:solidFill>
            </a:ln>
          </p:spPr>
        </p:sp>
        <p:sp>
          <p:nvSpPr>
            <p:cNvPr id="38" name="TextBox 38"/>
            <p:cNvSpPr txBox="1"/>
            <p:nvPr/>
          </p:nvSpPr>
          <p:spPr>
            <a:xfrm>
              <a:off x="1417701" y="2660809"/>
              <a:ext cx="527018" cy="167640"/>
            </a:xfrm>
            <a:prstGeom prst="rect">
              <a:avLst/>
            </a:prstGeom>
            <a:noFill/>
            <a:ln>
              <a:noFill/>
            </a:ln>
          </p:spPr>
          <p:txBody>
            <a:bodyPr wrap="none" lIns="0" tIns="0" rIns="0" bIns="0" anchor="t" anchorCtr="0">
              <a:spAutoFit/>
            </a:bodyPr>
            <a:lstStyle/>
            <a:p>
              <a:pPr algn="l"/>
              <a:r>
                <a:rPr lang="zh-CN" sz="825" b="1" dirty="0">
                  <a:solidFill>
                    <a:srgbClr val="0A0A0A"/>
                  </a:solidFill>
                  <a:latin typeface="Arial" panose="020B0604020202090204"/>
                  <a:ea typeface="微软雅黑"/>
                  <a:cs typeface="Arial" panose="020B0604020202090204"/>
                </a:rPr>
                <a:t>企业案例</a:t>
              </a:r>
              <a:endParaRPr lang="zh-CN" sz="825" b="1" dirty="0">
                <a:solidFill>
                  <a:srgbClr val="0A0A0A"/>
                </a:solidFill>
                <a:latin typeface="Arial" panose="020B0604020202090204"/>
                <a:ea typeface="微软雅黑"/>
                <a:cs typeface="Arial" panose="020B0604020202090204"/>
              </a:endParaRPr>
            </a:p>
          </p:txBody>
        </p:sp>
        <p:sp>
          <p:nvSpPr>
            <p:cNvPr id="39" name="Rectangle 39"/>
            <p:cNvSpPr/>
            <p:nvPr/>
          </p:nvSpPr>
          <p:spPr>
            <a:xfrm>
              <a:off x="2899220" y="2568892"/>
              <a:ext cx="1824990" cy="300038"/>
            </a:xfrm>
            <a:prstGeom prst="rect">
              <a:avLst/>
            </a:prstGeom>
            <a:noFill/>
            <a:ln>
              <a:noFill/>
            </a:ln>
          </p:spPr>
        </p:sp>
        <p:sp>
          <p:nvSpPr>
            <p:cNvPr id="40" name="Line 40"/>
            <p:cNvSpPr/>
            <p:nvPr/>
          </p:nvSpPr>
          <p:spPr>
            <a:xfrm>
              <a:off x="2899220" y="2868930"/>
              <a:ext cx="1824990" cy="9525"/>
            </a:xfrm>
            <a:custGeom>
              <a:avLst/>
              <a:gdLst/>
              <a:ahLst/>
              <a:cxnLst/>
              <a:rect l="l" t="t" r="r" b="b"/>
              <a:pathLst>
                <a:path w="1824990" h="9525">
                  <a:moveTo>
                    <a:pt x="0" y="0"/>
                  </a:moveTo>
                  <a:lnTo>
                    <a:pt x="1824990" y="0"/>
                  </a:lnTo>
                </a:path>
              </a:pathLst>
            </a:custGeom>
            <a:noFill/>
            <a:ln w="9525">
              <a:solidFill>
                <a:srgbClr val="E0E0E0"/>
              </a:solidFill>
            </a:ln>
          </p:spPr>
        </p:sp>
        <p:sp>
          <p:nvSpPr>
            <p:cNvPr id="41" name="TextBox 41"/>
            <p:cNvSpPr txBox="1"/>
            <p:nvPr/>
          </p:nvSpPr>
          <p:spPr>
            <a:xfrm>
              <a:off x="2983992" y="2660809"/>
              <a:ext cx="634557" cy="167640"/>
            </a:xfrm>
            <a:prstGeom prst="rect">
              <a:avLst/>
            </a:prstGeom>
            <a:noFill/>
            <a:ln>
              <a:noFill/>
            </a:ln>
          </p:spPr>
          <p:txBody>
            <a:bodyPr wrap="none" lIns="0" tIns="0" rIns="0" bIns="0" anchor="t" anchorCtr="0">
              <a:spAutoFit/>
            </a:bodyPr>
            <a:lstStyle/>
            <a:p>
              <a:pPr algn="l"/>
              <a:r>
                <a:rPr lang="zh-CN" sz="825" b="1" dirty="0">
                  <a:solidFill>
                    <a:srgbClr val="0A0A0A"/>
                  </a:solidFill>
                  <a:latin typeface="Arial" panose="020B0604020202090204"/>
                  <a:ea typeface="微软雅黑"/>
                  <a:cs typeface="Arial" panose="020B0604020202090204"/>
                </a:rPr>
                <a:t>AI应用场景</a:t>
              </a:r>
              <a:endParaRPr lang="zh-CN" sz="825" b="1" dirty="0">
                <a:solidFill>
                  <a:srgbClr val="0A0A0A"/>
                </a:solidFill>
                <a:latin typeface="Arial" panose="020B0604020202090204"/>
                <a:ea typeface="微软雅黑"/>
                <a:cs typeface="Arial" panose="020B0604020202090204"/>
              </a:endParaRPr>
            </a:p>
          </p:txBody>
        </p:sp>
        <p:sp>
          <p:nvSpPr>
            <p:cNvPr id="42" name="Rectangle 42"/>
            <p:cNvSpPr/>
            <p:nvPr/>
          </p:nvSpPr>
          <p:spPr>
            <a:xfrm>
              <a:off x="4724210" y="2568892"/>
              <a:ext cx="1286066" cy="300038"/>
            </a:xfrm>
            <a:prstGeom prst="rect">
              <a:avLst/>
            </a:prstGeom>
            <a:noFill/>
            <a:ln>
              <a:noFill/>
            </a:ln>
          </p:spPr>
        </p:sp>
        <p:sp>
          <p:nvSpPr>
            <p:cNvPr id="43" name="Line 43"/>
            <p:cNvSpPr/>
            <p:nvPr/>
          </p:nvSpPr>
          <p:spPr>
            <a:xfrm>
              <a:off x="4724210" y="2868930"/>
              <a:ext cx="1286065" cy="9525"/>
            </a:xfrm>
            <a:custGeom>
              <a:avLst/>
              <a:gdLst/>
              <a:ahLst/>
              <a:cxnLst/>
              <a:rect l="l" t="t" r="r" b="b"/>
              <a:pathLst>
                <a:path w="1286065" h="9525">
                  <a:moveTo>
                    <a:pt x="0" y="0"/>
                  </a:moveTo>
                  <a:lnTo>
                    <a:pt x="1286065" y="0"/>
                  </a:lnTo>
                </a:path>
              </a:pathLst>
            </a:custGeom>
            <a:noFill/>
            <a:ln w="9525">
              <a:solidFill>
                <a:srgbClr val="E0E0E0"/>
              </a:solidFill>
            </a:ln>
          </p:spPr>
        </p:sp>
        <p:sp>
          <p:nvSpPr>
            <p:cNvPr id="44" name="TextBox 44"/>
            <p:cNvSpPr txBox="1"/>
            <p:nvPr/>
          </p:nvSpPr>
          <p:spPr>
            <a:xfrm>
              <a:off x="5398484" y="2660809"/>
              <a:ext cx="527018" cy="167640"/>
            </a:xfrm>
            <a:prstGeom prst="rect">
              <a:avLst/>
            </a:prstGeom>
            <a:noFill/>
            <a:ln>
              <a:noFill/>
            </a:ln>
          </p:spPr>
          <p:txBody>
            <a:bodyPr wrap="none" lIns="0" tIns="0" rIns="0" bIns="0" anchor="t" anchorCtr="0">
              <a:spAutoFit/>
            </a:bodyPr>
            <a:lstStyle/>
            <a:p>
              <a:pPr algn="r"/>
              <a:r>
                <a:rPr lang="zh-CN" sz="825" b="1" dirty="0">
                  <a:solidFill>
                    <a:srgbClr val="0A0A0A"/>
                  </a:solidFill>
                  <a:latin typeface="Arial" panose="020B0604020202090204"/>
                  <a:ea typeface="微软雅黑"/>
                  <a:cs typeface="Arial" panose="020B0604020202090204"/>
                </a:rPr>
                <a:t>量化成效</a:t>
              </a:r>
              <a:endParaRPr lang="zh-CN" sz="825" b="1" dirty="0">
                <a:solidFill>
                  <a:srgbClr val="0A0A0A"/>
                </a:solidFill>
                <a:latin typeface="Arial" panose="020B0604020202090204"/>
                <a:ea typeface="微软雅黑"/>
                <a:cs typeface="Arial" panose="020B0604020202090204"/>
              </a:endParaRPr>
            </a:p>
          </p:txBody>
        </p:sp>
        <p:sp>
          <p:nvSpPr>
            <p:cNvPr id="45" name="Rectangle 45"/>
            <p:cNvSpPr/>
            <p:nvPr/>
          </p:nvSpPr>
          <p:spPr>
            <a:xfrm>
              <a:off x="466725" y="2868930"/>
              <a:ext cx="866204" cy="447675"/>
            </a:xfrm>
            <a:prstGeom prst="rect">
              <a:avLst/>
            </a:prstGeom>
            <a:noFill/>
            <a:ln>
              <a:noFill/>
            </a:ln>
          </p:spPr>
        </p:sp>
        <p:sp>
          <p:nvSpPr>
            <p:cNvPr id="46" name="Line 46"/>
            <p:cNvSpPr/>
            <p:nvPr/>
          </p:nvSpPr>
          <p:spPr>
            <a:xfrm>
              <a:off x="466725" y="3316605"/>
              <a:ext cx="866204" cy="9525"/>
            </a:xfrm>
            <a:custGeom>
              <a:avLst/>
              <a:gdLst/>
              <a:ahLst/>
              <a:cxnLst/>
              <a:rect l="l" t="t" r="r" b="b"/>
              <a:pathLst>
                <a:path w="866204" h="9525">
                  <a:moveTo>
                    <a:pt x="0" y="0"/>
                  </a:moveTo>
                  <a:lnTo>
                    <a:pt x="866204" y="0"/>
                  </a:lnTo>
                </a:path>
              </a:pathLst>
            </a:custGeom>
            <a:noFill/>
            <a:ln w="9525">
              <a:solidFill>
                <a:srgbClr val="E0E0E0"/>
              </a:solidFill>
            </a:ln>
          </p:spPr>
        </p:sp>
        <p:sp>
          <p:nvSpPr>
            <p:cNvPr id="47" name="TextBox 47"/>
            <p:cNvSpPr txBox="1"/>
            <p:nvPr/>
          </p:nvSpPr>
          <p:spPr>
            <a:xfrm>
              <a:off x="551498" y="2960846"/>
              <a:ext cx="273987" cy="167640"/>
            </a:xfrm>
            <a:prstGeom prst="rect">
              <a:avLst/>
            </a:prstGeom>
            <a:noFill/>
            <a:ln>
              <a:noFill/>
            </a:ln>
          </p:spPr>
          <p:txBody>
            <a:bodyPr wrap="none" lIns="0" tIns="0" rIns="0" bIns="0" anchor="t" anchorCtr="0">
              <a:spAutoFit/>
            </a:bodyPr>
            <a:lstStyle/>
            <a:p>
              <a:pPr algn="l"/>
              <a:r>
                <a:rPr lang="zh-CN" sz="825" b="1" dirty="0">
                  <a:solidFill>
                    <a:srgbClr val="0070F3"/>
                  </a:solidFill>
                  <a:latin typeface="Arial" panose="020B0604020202090204"/>
                  <a:ea typeface="微软雅黑"/>
                  <a:cs typeface="Arial" panose="020B0604020202090204"/>
                </a:rPr>
                <a:t>金融</a:t>
              </a:r>
              <a:endParaRPr lang="zh-CN" sz="825" b="1" dirty="0">
                <a:solidFill>
                  <a:srgbClr val="0070F3"/>
                </a:solidFill>
                <a:latin typeface="Arial" panose="020B0604020202090204"/>
                <a:ea typeface="微软雅黑"/>
                <a:cs typeface="Arial" panose="020B0604020202090204"/>
              </a:endParaRPr>
            </a:p>
          </p:txBody>
        </p:sp>
        <p:sp>
          <p:nvSpPr>
            <p:cNvPr id="48" name="Rectangle 48"/>
            <p:cNvSpPr/>
            <p:nvPr/>
          </p:nvSpPr>
          <p:spPr>
            <a:xfrm>
              <a:off x="1332928" y="2868930"/>
              <a:ext cx="1566386" cy="447675"/>
            </a:xfrm>
            <a:prstGeom prst="rect">
              <a:avLst/>
            </a:prstGeom>
            <a:noFill/>
            <a:ln>
              <a:noFill/>
            </a:ln>
          </p:spPr>
        </p:sp>
        <p:sp>
          <p:nvSpPr>
            <p:cNvPr id="49" name="Line 49"/>
            <p:cNvSpPr/>
            <p:nvPr/>
          </p:nvSpPr>
          <p:spPr>
            <a:xfrm>
              <a:off x="1332928" y="3316605"/>
              <a:ext cx="1566291" cy="9525"/>
            </a:xfrm>
            <a:custGeom>
              <a:avLst/>
              <a:gdLst/>
              <a:ahLst/>
              <a:cxnLst/>
              <a:rect l="l" t="t" r="r" b="b"/>
              <a:pathLst>
                <a:path w="1566291" h="9525">
                  <a:moveTo>
                    <a:pt x="0" y="0"/>
                  </a:moveTo>
                  <a:lnTo>
                    <a:pt x="1566291" y="0"/>
                  </a:lnTo>
                </a:path>
              </a:pathLst>
            </a:custGeom>
            <a:noFill/>
            <a:ln w="9525">
              <a:solidFill>
                <a:srgbClr val="E0E0E0"/>
              </a:solidFill>
            </a:ln>
          </p:spPr>
        </p:sp>
        <p:sp>
          <p:nvSpPr>
            <p:cNvPr id="50" name="TextBox 50"/>
            <p:cNvSpPr txBox="1"/>
            <p:nvPr/>
          </p:nvSpPr>
          <p:spPr>
            <a:xfrm>
              <a:off x="1417701" y="2960846"/>
              <a:ext cx="502920"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摩根大通</a:t>
              </a:r>
              <a:endParaRPr lang="zh-CN" sz="825" dirty="0">
                <a:solidFill>
                  <a:srgbClr val="0A0A0A"/>
                </a:solidFill>
                <a:latin typeface="Arial" panose="020B0604020202090204"/>
                <a:ea typeface="微软雅黑"/>
                <a:cs typeface="Arial" panose="020B0604020202090204"/>
              </a:endParaRPr>
            </a:p>
          </p:txBody>
        </p:sp>
        <p:sp>
          <p:nvSpPr>
            <p:cNvPr id="51" name="Rectangle 51"/>
            <p:cNvSpPr/>
            <p:nvPr/>
          </p:nvSpPr>
          <p:spPr>
            <a:xfrm>
              <a:off x="2899220" y="2868930"/>
              <a:ext cx="1824990" cy="447675"/>
            </a:xfrm>
            <a:prstGeom prst="rect">
              <a:avLst/>
            </a:prstGeom>
            <a:noFill/>
            <a:ln>
              <a:noFill/>
            </a:ln>
          </p:spPr>
        </p:sp>
        <p:sp>
          <p:nvSpPr>
            <p:cNvPr id="52" name="Line 52"/>
            <p:cNvSpPr/>
            <p:nvPr/>
          </p:nvSpPr>
          <p:spPr>
            <a:xfrm>
              <a:off x="2899220" y="3316605"/>
              <a:ext cx="1824990" cy="9525"/>
            </a:xfrm>
            <a:custGeom>
              <a:avLst/>
              <a:gdLst/>
              <a:ahLst/>
              <a:cxnLst/>
              <a:rect l="l" t="t" r="r" b="b"/>
              <a:pathLst>
                <a:path w="1824990" h="9525">
                  <a:moveTo>
                    <a:pt x="0" y="0"/>
                  </a:moveTo>
                  <a:lnTo>
                    <a:pt x="1824990" y="0"/>
                  </a:lnTo>
                </a:path>
              </a:pathLst>
            </a:custGeom>
            <a:noFill/>
            <a:ln w="9525">
              <a:solidFill>
                <a:srgbClr val="E0E0E0"/>
              </a:solidFill>
            </a:ln>
          </p:spPr>
        </p:sp>
        <p:sp>
          <p:nvSpPr>
            <p:cNvPr id="53" name="TextBox 53"/>
            <p:cNvSpPr txBox="1"/>
            <p:nvPr/>
          </p:nvSpPr>
          <p:spPr>
            <a:xfrm>
              <a:off x="2983992" y="2960846"/>
              <a:ext cx="179217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COIN合同分析欺诈检测·智能投顾</a:t>
              </a:r>
              <a:endParaRPr lang="zh-CN" sz="825" dirty="0">
                <a:solidFill>
                  <a:srgbClr val="555555"/>
                </a:solidFill>
                <a:latin typeface="Arial" panose="020B0604020202090204"/>
                <a:ea typeface="微软雅黑"/>
                <a:cs typeface="Arial" panose="020B0604020202090204"/>
              </a:endParaRPr>
            </a:p>
          </p:txBody>
        </p:sp>
        <p:sp>
          <p:nvSpPr>
            <p:cNvPr id="54" name="Rectangle 54"/>
            <p:cNvSpPr/>
            <p:nvPr/>
          </p:nvSpPr>
          <p:spPr>
            <a:xfrm>
              <a:off x="4724210" y="2868930"/>
              <a:ext cx="1286066" cy="447675"/>
            </a:xfrm>
            <a:prstGeom prst="rect">
              <a:avLst/>
            </a:prstGeom>
            <a:noFill/>
            <a:ln>
              <a:noFill/>
            </a:ln>
          </p:spPr>
        </p:sp>
        <p:sp>
          <p:nvSpPr>
            <p:cNvPr id="55" name="Line 55"/>
            <p:cNvSpPr/>
            <p:nvPr/>
          </p:nvSpPr>
          <p:spPr>
            <a:xfrm>
              <a:off x="4724210" y="3316605"/>
              <a:ext cx="1286065" cy="9525"/>
            </a:xfrm>
            <a:custGeom>
              <a:avLst/>
              <a:gdLst/>
              <a:ahLst/>
              <a:cxnLst/>
              <a:rect l="l" t="t" r="r" b="b"/>
              <a:pathLst>
                <a:path w="1286065" h="9525">
                  <a:moveTo>
                    <a:pt x="0" y="0"/>
                  </a:moveTo>
                  <a:lnTo>
                    <a:pt x="1286065" y="0"/>
                  </a:lnTo>
                </a:path>
              </a:pathLst>
            </a:custGeom>
            <a:noFill/>
            <a:ln w="9525">
              <a:solidFill>
                <a:srgbClr val="E0E0E0"/>
              </a:solidFill>
            </a:ln>
          </p:spPr>
        </p:sp>
        <p:sp>
          <p:nvSpPr>
            <p:cNvPr id="56" name="TextBox 56"/>
            <p:cNvSpPr txBox="1"/>
            <p:nvPr/>
          </p:nvSpPr>
          <p:spPr>
            <a:xfrm>
              <a:off x="5373181" y="2960846"/>
              <a:ext cx="552321" cy="167640"/>
            </a:xfrm>
            <a:prstGeom prst="rect">
              <a:avLst/>
            </a:prstGeom>
            <a:noFill/>
            <a:ln>
              <a:noFill/>
            </a:ln>
          </p:spPr>
          <p:txBody>
            <a:bodyPr wrap="none" lIns="0" tIns="0" rIns="0" bIns="0" anchor="t" anchorCtr="0">
              <a:spAutoFit/>
            </a:bodyPr>
            <a:lstStyle/>
            <a:p>
              <a:pPr algn="r"/>
              <a:r>
                <a:rPr lang="zh-CN" sz="825" b="1" dirty="0">
                  <a:solidFill>
                    <a:srgbClr val="0070F3"/>
                  </a:solidFill>
                  <a:latin typeface="Arial" panose="020B0604020202090204"/>
                  <a:ea typeface="微软雅黑"/>
                  <a:cs typeface="Arial" panose="020B0604020202090204"/>
                </a:rPr>
                <a:t>300+用例</a:t>
              </a:r>
              <a:endParaRPr lang="zh-CN" sz="825" b="1" dirty="0">
                <a:solidFill>
                  <a:srgbClr val="0070F3"/>
                </a:solidFill>
                <a:latin typeface="Arial" panose="020B0604020202090204"/>
                <a:ea typeface="微软雅黑"/>
                <a:cs typeface="Arial" panose="020B0604020202090204"/>
              </a:endParaRPr>
            </a:p>
          </p:txBody>
        </p:sp>
        <p:sp>
          <p:nvSpPr>
            <p:cNvPr id="57" name="Rectangle 57"/>
            <p:cNvSpPr/>
            <p:nvPr/>
          </p:nvSpPr>
          <p:spPr>
            <a:xfrm>
              <a:off x="466725" y="3316605"/>
              <a:ext cx="5543550" cy="447675"/>
            </a:xfrm>
            <a:prstGeom prst="rect">
              <a:avLst/>
            </a:prstGeom>
            <a:solidFill>
              <a:srgbClr val="FAFAFA"/>
            </a:solidFill>
            <a:ln>
              <a:noFill/>
            </a:ln>
          </p:spPr>
        </p:sp>
        <p:sp>
          <p:nvSpPr>
            <p:cNvPr id="58" name="Rectangle 58"/>
            <p:cNvSpPr/>
            <p:nvPr/>
          </p:nvSpPr>
          <p:spPr>
            <a:xfrm>
              <a:off x="466725" y="3316605"/>
              <a:ext cx="866204" cy="447675"/>
            </a:xfrm>
            <a:prstGeom prst="rect">
              <a:avLst/>
            </a:prstGeom>
            <a:noFill/>
            <a:ln>
              <a:noFill/>
            </a:ln>
          </p:spPr>
        </p:sp>
        <p:sp>
          <p:nvSpPr>
            <p:cNvPr id="59" name="Line 59"/>
            <p:cNvSpPr/>
            <p:nvPr/>
          </p:nvSpPr>
          <p:spPr>
            <a:xfrm>
              <a:off x="466725" y="3764280"/>
              <a:ext cx="866204" cy="9525"/>
            </a:xfrm>
            <a:custGeom>
              <a:avLst/>
              <a:gdLst/>
              <a:ahLst/>
              <a:cxnLst/>
              <a:rect l="l" t="t" r="r" b="b"/>
              <a:pathLst>
                <a:path w="866204" h="9525">
                  <a:moveTo>
                    <a:pt x="0" y="0"/>
                  </a:moveTo>
                  <a:lnTo>
                    <a:pt x="866204" y="0"/>
                  </a:lnTo>
                </a:path>
              </a:pathLst>
            </a:custGeom>
            <a:noFill/>
            <a:ln w="9525">
              <a:solidFill>
                <a:srgbClr val="E0E0E0"/>
              </a:solidFill>
            </a:ln>
          </p:spPr>
        </p:sp>
        <p:sp>
          <p:nvSpPr>
            <p:cNvPr id="60" name="TextBox 60"/>
            <p:cNvSpPr txBox="1"/>
            <p:nvPr/>
          </p:nvSpPr>
          <p:spPr>
            <a:xfrm>
              <a:off x="551498" y="3408521"/>
              <a:ext cx="273987" cy="167640"/>
            </a:xfrm>
            <a:prstGeom prst="rect">
              <a:avLst/>
            </a:prstGeom>
            <a:noFill/>
            <a:ln>
              <a:noFill/>
            </a:ln>
          </p:spPr>
          <p:txBody>
            <a:bodyPr wrap="none" lIns="0" tIns="0" rIns="0" bIns="0" anchor="t" anchorCtr="0">
              <a:spAutoFit/>
            </a:bodyPr>
            <a:lstStyle/>
            <a:p>
              <a:pPr algn="l"/>
              <a:r>
                <a:rPr lang="zh-CN" sz="825" b="1" dirty="0">
                  <a:solidFill>
                    <a:srgbClr val="0070F3"/>
                  </a:solidFill>
                  <a:latin typeface="Arial" panose="020B0604020202090204"/>
                  <a:ea typeface="微软雅黑"/>
                  <a:cs typeface="Arial" panose="020B0604020202090204"/>
                </a:rPr>
                <a:t>零售</a:t>
              </a:r>
              <a:endParaRPr lang="zh-CN" sz="825" b="1" dirty="0">
                <a:solidFill>
                  <a:srgbClr val="0070F3"/>
                </a:solidFill>
                <a:latin typeface="Arial" panose="020B0604020202090204"/>
                <a:ea typeface="微软雅黑"/>
                <a:cs typeface="Arial" panose="020B0604020202090204"/>
              </a:endParaRPr>
            </a:p>
          </p:txBody>
        </p:sp>
        <p:sp>
          <p:nvSpPr>
            <p:cNvPr id="61" name="Rectangle 61"/>
            <p:cNvSpPr/>
            <p:nvPr/>
          </p:nvSpPr>
          <p:spPr>
            <a:xfrm>
              <a:off x="1332928" y="3316605"/>
              <a:ext cx="1566386" cy="447675"/>
            </a:xfrm>
            <a:prstGeom prst="rect">
              <a:avLst/>
            </a:prstGeom>
            <a:noFill/>
            <a:ln>
              <a:noFill/>
            </a:ln>
          </p:spPr>
        </p:sp>
        <p:sp>
          <p:nvSpPr>
            <p:cNvPr id="62" name="Line 62"/>
            <p:cNvSpPr/>
            <p:nvPr/>
          </p:nvSpPr>
          <p:spPr>
            <a:xfrm>
              <a:off x="1332928" y="3764280"/>
              <a:ext cx="1566291" cy="9525"/>
            </a:xfrm>
            <a:custGeom>
              <a:avLst/>
              <a:gdLst/>
              <a:ahLst/>
              <a:cxnLst/>
              <a:rect l="l" t="t" r="r" b="b"/>
              <a:pathLst>
                <a:path w="1566291" h="9525">
                  <a:moveTo>
                    <a:pt x="0" y="0"/>
                  </a:moveTo>
                  <a:lnTo>
                    <a:pt x="1566291" y="0"/>
                  </a:lnTo>
                </a:path>
              </a:pathLst>
            </a:custGeom>
            <a:noFill/>
            <a:ln w="9525">
              <a:solidFill>
                <a:srgbClr val="E0E0E0"/>
              </a:solidFill>
            </a:ln>
          </p:spPr>
        </p:sp>
        <p:sp>
          <p:nvSpPr>
            <p:cNvPr id="63" name="TextBox 63"/>
            <p:cNvSpPr txBox="1"/>
            <p:nvPr/>
          </p:nvSpPr>
          <p:spPr>
            <a:xfrm>
              <a:off x="1417701" y="3408521"/>
              <a:ext cx="388453"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Klarna</a:t>
              </a:r>
              <a:endParaRPr lang="zh-CN" sz="825" dirty="0">
                <a:solidFill>
                  <a:srgbClr val="0A0A0A"/>
                </a:solidFill>
                <a:latin typeface="Arial" panose="020B0604020202090204"/>
                <a:ea typeface="微软雅黑"/>
                <a:cs typeface="Arial" panose="020B0604020202090204"/>
              </a:endParaRPr>
            </a:p>
          </p:txBody>
        </p:sp>
        <p:sp>
          <p:nvSpPr>
            <p:cNvPr id="64" name="Rectangle 64"/>
            <p:cNvSpPr/>
            <p:nvPr/>
          </p:nvSpPr>
          <p:spPr>
            <a:xfrm>
              <a:off x="2899220" y="3316605"/>
              <a:ext cx="1824990" cy="447675"/>
            </a:xfrm>
            <a:prstGeom prst="rect">
              <a:avLst/>
            </a:prstGeom>
            <a:noFill/>
            <a:ln>
              <a:noFill/>
            </a:ln>
          </p:spPr>
        </p:sp>
        <p:sp>
          <p:nvSpPr>
            <p:cNvPr id="65" name="Line 65"/>
            <p:cNvSpPr/>
            <p:nvPr/>
          </p:nvSpPr>
          <p:spPr>
            <a:xfrm>
              <a:off x="2899220" y="3764280"/>
              <a:ext cx="1824990" cy="9525"/>
            </a:xfrm>
            <a:custGeom>
              <a:avLst/>
              <a:gdLst/>
              <a:ahLst/>
              <a:cxnLst/>
              <a:rect l="l" t="t" r="r" b="b"/>
              <a:pathLst>
                <a:path w="1824990" h="9525">
                  <a:moveTo>
                    <a:pt x="0" y="0"/>
                  </a:moveTo>
                  <a:lnTo>
                    <a:pt x="1824990" y="0"/>
                  </a:lnTo>
                </a:path>
              </a:pathLst>
            </a:custGeom>
            <a:noFill/>
            <a:ln w="9525">
              <a:solidFill>
                <a:srgbClr val="E0E0E0"/>
              </a:solidFill>
            </a:ln>
          </p:spPr>
        </p:sp>
        <p:sp>
          <p:nvSpPr>
            <p:cNvPr id="66" name="TextBox 66"/>
            <p:cNvSpPr txBox="1"/>
            <p:nvPr/>
          </p:nvSpPr>
          <p:spPr>
            <a:xfrm>
              <a:off x="2983992" y="3408521"/>
              <a:ext cx="1328285"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AI客服机器人个性化推荐</a:t>
              </a:r>
              <a:endParaRPr lang="zh-CN" sz="825" dirty="0">
                <a:solidFill>
                  <a:srgbClr val="555555"/>
                </a:solidFill>
                <a:latin typeface="Arial" panose="020B0604020202090204"/>
                <a:ea typeface="微软雅黑"/>
                <a:cs typeface="Arial" panose="020B0604020202090204"/>
              </a:endParaRPr>
            </a:p>
          </p:txBody>
        </p:sp>
        <p:sp>
          <p:nvSpPr>
            <p:cNvPr id="67" name="Rectangle 67"/>
            <p:cNvSpPr/>
            <p:nvPr/>
          </p:nvSpPr>
          <p:spPr>
            <a:xfrm>
              <a:off x="4724210" y="3316605"/>
              <a:ext cx="1286066" cy="447675"/>
            </a:xfrm>
            <a:prstGeom prst="rect">
              <a:avLst/>
            </a:prstGeom>
            <a:noFill/>
            <a:ln>
              <a:noFill/>
            </a:ln>
          </p:spPr>
        </p:sp>
        <p:sp>
          <p:nvSpPr>
            <p:cNvPr id="68" name="Line 68"/>
            <p:cNvSpPr/>
            <p:nvPr/>
          </p:nvSpPr>
          <p:spPr>
            <a:xfrm>
              <a:off x="4724210" y="3764280"/>
              <a:ext cx="1286065" cy="9525"/>
            </a:xfrm>
            <a:custGeom>
              <a:avLst/>
              <a:gdLst/>
              <a:ahLst/>
              <a:cxnLst/>
              <a:rect l="l" t="t" r="r" b="b"/>
              <a:pathLst>
                <a:path w="1286065" h="9525">
                  <a:moveTo>
                    <a:pt x="0" y="0"/>
                  </a:moveTo>
                  <a:lnTo>
                    <a:pt x="1286065" y="0"/>
                  </a:lnTo>
                </a:path>
              </a:pathLst>
            </a:custGeom>
            <a:noFill/>
            <a:ln w="9525">
              <a:solidFill>
                <a:srgbClr val="E0E0E0"/>
              </a:solidFill>
            </a:ln>
          </p:spPr>
        </p:sp>
        <p:sp>
          <p:nvSpPr>
            <p:cNvPr id="69" name="TextBox 69"/>
            <p:cNvSpPr txBox="1"/>
            <p:nvPr/>
          </p:nvSpPr>
          <p:spPr>
            <a:xfrm>
              <a:off x="5246665" y="3408521"/>
              <a:ext cx="678837" cy="167640"/>
            </a:xfrm>
            <a:prstGeom prst="rect">
              <a:avLst/>
            </a:prstGeom>
            <a:noFill/>
            <a:ln>
              <a:noFill/>
            </a:ln>
          </p:spPr>
          <p:txBody>
            <a:bodyPr wrap="none" lIns="0" tIns="0" rIns="0" bIns="0" anchor="t" anchorCtr="0">
              <a:spAutoFit/>
            </a:bodyPr>
            <a:lstStyle/>
            <a:p>
              <a:pPr algn="r"/>
              <a:r>
                <a:rPr lang="zh-CN" sz="825" b="1" dirty="0">
                  <a:solidFill>
                    <a:srgbClr val="D4AF37"/>
                  </a:solidFill>
                  <a:latin typeface="Arial" panose="020B0604020202090204"/>
                  <a:ea typeface="微软雅黑"/>
                  <a:cs typeface="Arial" panose="020B0604020202090204"/>
                </a:rPr>
                <a:t>-66%客服量</a:t>
              </a:r>
              <a:endParaRPr lang="zh-CN" sz="825" b="1" dirty="0">
                <a:solidFill>
                  <a:srgbClr val="D4AF37"/>
                </a:solidFill>
                <a:latin typeface="Arial" panose="020B0604020202090204"/>
                <a:ea typeface="微软雅黑"/>
                <a:cs typeface="Arial" panose="020B0604020202090204"/>
              </a:endParaRPr>
            </a:p>
          </p:txBody>
        </p:sp>
        <p:sp>
          <p:nvSpPr>
            <p:cNvPr id="70" name="Rectangle 70"/>
            <p:cNvSpPr/>
            <p:nvPr/>
          </p:nvSpPr>
          <p:spPr>
            <a:xfrm>
              <a:off x="466725" y="3764280"/>
              <a:ext cx="866204" cy="447675"/>
            </a:xfrm>
            <a:prstGeom prst="rect">
              <a:avLst/>
            </a:prstGeom>
            <a:noFill/>
            <a:ln>
              <a:noFill/>
            </a:ln>
          </p:spPr>
        </p:sp>
        <p:sp>
          <p:nvSpPr>
            <p:cNvPr id="71" name="Line 71"/>
            <p:cNvSpPr/>
            <p:nvPr/>
          </p:nvSpPr>
          <p:spPr>
            <a:xfrm>
              <a:off x="466725" y="4211955"/>
              <a:ext cx="866204" cy="9525"/>
            </a:xfrm>
            <a:custGeom>
              <a:avLst/>
              <a:gdLst/>
              <a:ahLst/>
              <a:cxnLst/>
              <a:rect l="l" t="t" r="r" b="b"/>
              <a:pathLst>
                <a:path w="866204" h="9525">
                  <a:moveTo>
                    <a:pt x="0" y="0"/>
                  </a:moveTo>
                  <a:lnTo>
                    <a:pt x="866204" y="0"/>
                  </a:lnTo>
                </a:path>
              </a:pathLst>
            </a:custGeom>
            <a:noFill/>
            <a:ln w="9525">
              <a:solidFill>
                <a:srgbClr val="E0E0E0"/>
              </a:solidFill>
            </a:ln>
          </p:spPr>
        </p:sp>
        <p:sp>
          <p:nvSpPr>
            <p:cNvPr id="72" name="TextBox 72"/>
            <p:cNvSpPr txBox="1"/>
            <p:nvPr/>
          </p:nvSpPr>
          <p:spPr>
            <a:xfrm>
              <a:off x="551498" y="3856196"/>
              <a:ext cx="273987" cy="167640"/>
            </a:xfrm>
            <a:prstGeom prst="rect">
              <a:avLst/>
            </a:prstGeom>
            <a:noFill/>
            <a:ln>
              <a:noFill/>
            </a:ln>
          </p:spPr>
          <p:txBody>
            <a:bodyPr wrap="none" lIns="0" tIns="0" rIns="0" bIns="0" anchor="t" anchorCtr="0">
              <a:spAutoFit/>
            </a:bodyPr>
            <a:lstStyle/>
            <a:p>
              <a:pPr algn="l"/>
              <a:r>
                <a:rPr lang="zh-CN" sz="825" b="1" dirty="0">
                  <a:solidFill>
                    <a:srgbClr val="0070F3"/>
                  </a:solidFill>
                  <a:latin typeface="Arial" panose="020B0604020202090204"/>
                  <a:ea typeface="微软雅黑"/>
                  <a:cs typeface="Arial" panose="020B0604020202090204"/>
                </a:rPr>
                <a:t>零售</a:t>
              </a:r>
              <a:endParaRPr lang="zh-CN" sz="825" b="1" dirty="0">
                <a:solidFill>
                  <a:srgbClr val="0070F3"/>
                </a:solidFill>
                <a:latin typeface="Arial" panose="020B0604020202090204"/>
                <a:ea typeface="微软雅黑"/>
                <a:cs typeface="Arial" panose="020B0604020202090204"/>
              </a:endParaRPr>
            </a:p>
          </p:txBody>
        </p:sp>
        <p:sp>
          <p:nvSpPr>
            <p:cNvPr id="73" name="Rectangle 73"/>
            <p:cNvSpPr/>
            <p:nvPr/>
          </p:nvSpPr>
          <p:spPr>
            <a:xfrm>
              <a:off x="1332928" y="3764280"/>
              <a:ext cx="1566386" cy="447675"/>
            </a:xfrm>
            <a:prstGeom prst="rect">
              <a:avLst/>
            </a:prstGeom>
            <a:noFill/>
            <a:ln>
              <a:noFill/>
            </a:ln>
          </p:spPr>
        </p:sp>
        <p:sp>
          <p:nvSpPr>
            <p:cNvPr id="74" name="Line 74"/>
            <p:cNvSpPr/>
            <p:nvPr/>
          </p:nvSpPr>
          <p:spPr>
            <a:xfrm>
              <a:off x="1332928" y="4211955"/>
              <a:ext cx="1566291" cy="9525"/>
            </a:xfrm>
            <a:custGeom>
              <a:avLst/>
              <a:gdLst/>
              <a:ahLst/>
              <a:cxnLst/>
              <a:rect l="l" t="t" r="r" b="b"/>
              <a:pathLst>
                <a:path w="1566291" h="9525">
                  <a:moveTo>
                    <a:pt x="0" y="0"/>
                  </a:moveTo>
                  <a:lnTo>
                    <a:pt x="1566291" y="0"/>
                  </a:lnTo>
                </a:path>
              </a:pathLst>
            </a:custGeom>
            <a:noFill/>
            <a:ln w="9525">
              <a:solidFill>
                <a:srgbClr val="E0E0E0"/>
              </a:solidFill>
            </a:ln>
          </p:spPr>
        </p:sp>
        <p:sp>
          <p:nvSpPr>
            <p:cNvPr id="75" name="TextBox 75"/>
            <p:cNvSpPr txBox="1"/>
            <p:nvPr/>
          </p:nvSpPr>
          <p:spPr>
            <a:xfrm>
              <a:off x="1417701" y="3856196"/>
              <a:ext cx="255913"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IKEA</a:t>
              </a:r>
              <a:endParaRPr lang="zh-CN" sz="825" dirty="0">
                <a:solidFill>
                  <a:srgbClr val="0A0A0A"/>
                </a:solidFill>
                <a:latin typeface="Arial" panose="020B0604020202090204"/>
                <a:ea typeface="微软雅黑"/>
                <a:cs typeface="Arial" panose="020B0604020202090204"/>
              </a:endParaRPr>
            </a:p>
          </p:txBody>
        </p:sp>
        <p:sp>
          <p:nvSpPr>
            <p:cNvPr id="76" name="Rectangle 76"/>
            <p:cNvSpPr/>
            <p:nvPr/>
          </p:nvSpPr>
          <p:spPr>
            <a:xfrm>
              <a:off x="2899220" y="3764280"/>
              <a:ext cx="1824990" cy="447675"/>
            </a:xfrm>
            <a:prstGeom prst="rect">
              <a:avLst/>
            </a:prstGeom>
            <a:noFill/>
            <a:ln>
              <a:noFill/>
            </a:ln>
          </p:spPr>
        </p:sp>
        <p:sp>
          <p:nvSpPr>
            <p:cNvPr id="77" name="Line 77"/>
            <p:cNvSpPr/>
            <p:nvPr/>
          </p:nvSpPr>
          <p:spPr>
            <a:xfrm>
              <a:off x="2899220" y="4211955"/>
              <a:ext cx="1824990" cy="9525"/>
            </a:xfrm>
            <a:custGeom>
              <a:avLst/>
              <a:gdLst/>
              <a:ahLst/>
              <a:cxnLst/>
              <a:rect l="l" t="t" r="r" b="b"/>
              <a:pathLst>
                <a:path w="1824990" h="9525">
                  <a:moveTo>
                    <a:pt x="0" y="0"/>
                  </a:moveTo>
                  <a:lnTo>
                    <a:pt x="1824990" y="0"/>
                  </a:lnTo>
                </a:path>
              </a:pathLst>
            </a:custGeom>
            <a:noFill/>
            <a:ln w="9525">
              <a:solidFill>
                <a:srgbClr val="E0E0E0"/>
              </a:solidFill>
            </a:ln>
          </p:spPr>
        </p:sp>
        <p:sp>
          <p:nvSpPr>
            <p:cNvPr id="78" name="TextBox 78"/>
            <p:cNvSpPr txBox="1"/>
            <p:nvPr/>
          </p:nvSpPr>
          <p:spPr>
            <a:xfrm>
              <a:off x="2983992" y="3856196"/>
              <a:ext cx="1286113"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GenAI退货预测库存优化</a:t>
              </a:r>
              <a:endParaRPr lang="zh-CN" sz="825" dirty="0">
                <a:solidFill>
                  <a:srgbClr val="555555"/>
                </a:solidFill>
                <a:latin typeface="Arial" panose="020B0604020202090204"/>
                <a:ea typeface="微软雅黑"/>
                <a:cs typeface="Arial" panose="020B0604020202090204"/>
              </a:endParaRPr>
            </a:p>
          </p:txBody>
        </p:sp>
        <p:sp>
          <p:nvSpPr>
            <p:cNvPr id="79" name="Rectangle 79"/>
            <p:cNvSpPr/>
            <p:nvPr/>
          </p:nvSpPr>
          <p:spPr>
            <a:xfrm>
              <a:off x="4724210" y="3764280"/>
              <a:ext cx="1286066" cy="447675"/>
            </a:xfrm>
            <a:prstGeom prst="rect">
              <a:avLst/>
            </a:prstGeom>
            <a:noFill/>
            <a:ln>
              <a:noFill/>
            </a:ln>
          </p:spPr>
        </p:sp>
        <p:sp>
          <p:nvSpPr>
            <p:cNvPr id="80" name="Line 80"/>
            <p:cNvSpPr/>
            <p:nvPr/>
          </p:nvSpPr>
          <p:spPr>
            <a:xfrm>
              <a:off x="4724210" y="4211955"/>
              <a:ext cx="1286065" cy="9525"/>
            </a:xfrm>
            <a:custGeom>
              <a:avLst/>
              <a:gdLst/>
              <a:ahLst/>
              <a:cxnLst/>
              <a:rect l="l" t="t" r="r" b="b"/>
              <a:pathLst>
                <a:path w="1286065" h="9525">
                  <a:moveTo>
                    <a:pt x="0" y="0"/>
                  </a:moveTo>
                  <a:lnTo>
                    <a:pt x="1286065" y="0"/>
                  </a:lnTo>
                </a:path>
              </a:pathLst>
            </a:custGeom>
            <a:noFill/>
            <a:ln w="9525">
              <a:solidFill>
                <a:srgbClr val="E0E0E0"/>
              </a:solidFill>
            </a:ln>
          </p:spPr>
        </p:sp>
        <p:sp>
          <p:nvSpPr>
            <p:cNvPr id="81" name="TextBox 81"/>
            <p:cNvSpPr txBox="1"/>
            <p:nvPr/>
          </p:nvSpPr>
          <p:spPr>
            <a:xfrm>
              <a:off x="5455416" y="3856196"/>
              <a:ext cx="470086" cy="167640"/>
            </a:xfrm>
            <a:prstGeom prst="rect">
              <a:avLst/>
            </a:prstGeom>
            <a:noFill/>
            <a:ln>
              <a:noFill/>
            </a:ln>
          </p:spPr>
          <p:txBody>
            <a:bodyPr wrap="none" lIns="0" tIns="0" rIns="0" bIns="0" anchor="t" anchorCtr="0">
              <a:spAutoFit/>
            </a:bodyPr>
            <a:lstStyle/>
            <a:p>
              <a:pPr algn="r"/>
              <a:r>
                <a:rPr lang="zh-CN" sz="825" b="1" dirty="0">
                  <a:solidFill>
                    <a:srgbClr val="D4AF37"/>
                  </a:solidFill>
                  <a:latin typeface="Arial" panose="020B0604020202090204"/>
                  <a:ea typeface="微软雅黑"/>
                  <a:cs typeface="Arial" panose="020B0604020202090204"/>
                </a:rPr>
                <a:t>退货率↓</a:t>
              </a:r>
              <a:endParaRPr lang="zh-CN" sz="825" b="1" dirty="0">
                <a:solidFill>
                  <a:srgbClr val="D4AF37"/>
                </a:solidFill>
                <a:latin typeface="Arial" panose="020B0604020202090204"/>
                <a:ea typeface="微软雅黑"/>
                <a:cs typeface="Arial" panose="020B0604020202090204"/>
              </a:endParaRPr>
            </a:p>
          </p:txBody>
        </p:sp>
        <p:sp>
          <p:nvSpPr>
            <p:cNvPr id="82" name="Rectangle 82"/>
            <p:cNvSpPr/>
            <p:nvPr/>
          </p:nvSpPr>
          <p:spPr>
            <a:xfrm>
              <a:off x="466725" y="4211955"/>
              <a:ext cx="5543550" cy="447675"/>
            </a:xfrm>
            <a:prstGeom prst="rect">
              <a:avLst/>
            </a:prstGeom>
            <a:solidFill>
              <a:srgbClr val="FAFAFA"/>
            </a:solidFill>
            <a:ln>
              <a:noFill/>
            </a:ln>
          </p:spPr>
        </p:sp>
        <p:sp>
          <p:nvSpPr>
            <p:cNvPr id="83" name="Rectangle 83"/>
            <p:cNvSpPr/>
            <p:nvPr/>
          </p:nvSpPr>
          <p:spPr>
            <a:xfrm>
              <a:off x="466725" y="4211955"/>
              <a:ext cx="866204" cy="447675"/>
            </a:xfrm>
            <a:prstGeom prst="rect">
              <a:avLst/>
            </a:prstGeom>
            <a:noFill/>
            <a:ln>
              <a:noFill/>
            </a:ln>
          </p:spPr>
        </p:sp>
        <p:sp>
          <p:nvSpPr>
            <p:cNvPr id="84" name="Line 84"/>
            <p:cNvSpPr/>
            <p:nvPr/>
          </p:nvSpPr>
          <p:spPr>
            <a:xfrm>
              <a:off x="466725" y="4659630"/>
              <a:ext cx="866204" cy="9525"/>
            </a:xfrm>
            <a:custGeom>
              <a:avLst/>
              <a:gdLst/>
              <a:ahLst/>
              <a:cxnLst/>
              <a:rect l="l" t="t" r="r" b="b"/>
              <a:pathLst>
                <a:path w="866204" h="9525">
                  <a:moveTo>
                    <a:pt x="0" y="0"/>
                  </a:moveTo>
                  <a:lnTo>
                    <a:pt x="866204" y="0"/>
                  </a:lnTo>
                </a:path>
              </a:pathLst>
            </a:custGeom>
            <a:noFill/>
            <a:ln w="9525">
              <a:solidFill>
                <a:srgbClr val="E0E0E0"/>
              </a:solidFill>
            </a:ln>
          </p:spPr>
        </p:sp>
        <p:sp>
          <p:nvSpPr>
            <p:cNvPr id="85" name="TextBox 85"/>
            <p:cNvSpPr txBox="1"/>
            <p:nvPr/>
          </p:nvSpPr>
          <p:spPr>
            <a:xfrm>
              <a:off x="551498" y="4303871"/>
              <a:ext cx="273987" cy="167640"/>
            </a:xfrm>
            <a:prstGeom prst="rect">
              <a:avLst/>
            </a:prstGeom>
            <a:noFill/>
            <a:ln>
              <a:noFill/>
            </a:ln>
          </p:spPr>
          <p:txBody>
            <a:bodyPr wrap="none" lIns="0" tIns="0" rIns="0" bIns="0" anchor="t" anchorCtr="0">
              <a:spAutoFit/>
            </a:bodyPr>
            <a:lstStyle/>
            <a:p>
              <a:pPr algn="l"/>
              <a:r>
                <a:rPr lang="zh-CN" sz="825" b="1" dirty="0">
                  <a:solidFill>
                    <a:srgbClr val="0070F3"/>
                  </a:solidFill>
                  <a:latin typeface="Arial" panose="020B0604020202090204"/>
                  <a:ea typeface="微软雅黑"/>
                  <a:cs typeface="Arial" panose="020B0604020202090204"/>
                </a:rPr>
                <a:t>医疗</a:t>
              </a:r>
              <a:endParaRPr lang="zh-CN" sz="825" b="1" dirty="0">
                <a:solidFill>
                  <a:srgbClr val="0070F3"/>
                </a:solidFill>
                <a:latin typeface="Arial" panose="020B0604020202090204"/>
                <a:ea typeface="微软雅黑"/>
                <a:cs typeface="Arial" panose="020B0604020202090204"/>
              </a:endParaRPr>
            </a:p>
          </p:txBody>
        </p:sp>
        <p:sp>
          <p:nvSpPr>
            <p:cNvPr id="86" name="Rectangle 86"/>
            <p:cNvSpPr/>
            <p:nvPr/>
          </p:nvSpPr>
          <p:spPr>
            <a:xfrm>
              <a:off x="1332928" y="4211955"/>
              <a:ext cx="1566386" cy="447675"/>
            </a:xfrm>
            <a:prstGeom prst="rect">
              <a:avLst/>
            </a:prstGeom>
            <a:noFill/>
            <a:ln>
              <a:noFill/>
            </a:ln>
          </p:spPr>
        </p:sp>
        <p:sp>
          <p:nvSpPr>
            <p:cNvPr id="87" name="Line 87"/>
            <p:cNvSpPr/>
            <p:nvPr/>
          </p:nvSpPr>
          <p:spPr>
            <a:xfrm>
              <a:off x="1332928" y="4659630"/>
              <a:ext cx="1566291" cy="9525"/>
            </a:xfrm>
            <a:custGeom>
              <a:avLst/>
              <a:gdLst/>
              <a:ahLst/>
              <a:cxnLst/>
              <a:rect l="l" t="t" r="r" b="b"/>
              <a:pathLst>
                <a:path w="1566291" h="9525">
                  <a:moveTo>
                    <a:pt x="0" y="0"/>
                  </a:moveTo>
                  <a:lnTo>
                    <a:pt x="1566291" y="0"/>
                  </a:lnTo>
                </a:path>
              </a:pathLst>
            </a:custGeom>
            <a:noFill/>
            <a:ln w="9525">
              <a:solidFill>
                <a:srgbClr val="E0E0E0"/>
              </a:solidFill>
            </a:ln>
          </p:spPr>
        </p:sp>
        <p:sp>
          <p:nvSpPr>
            <p:cNvPr id="88" name="TextBox 88"/>
            <p:cNvSpPr txBox="1"/>
            <p:nvPr/>
          </p:nvSpPr>
          <p:spPr>
            <a:xfrm>
              <a:off x="1417701" y="4303871"/>
              <a:ext cx="502920"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行业综合</a:t>
              </a:r>
              <a:endParaRPr lang="zh-CN" sz="825" dirty="0">
                <a:solidFill>
                  <a:srgbClr val="0A0A0A"/>
                </a:solidFill>
                <a:latin typeface="Arial" panose="020B0604020202090204"/>
                <a:ea typeface="微软雅黑"/>
                <a:cs typeface="Arial" panose="020B0604020202090204"/>
              </a:endParaRPr>
            </a:p>
          </p:txBody>
        </p:sp>
        <p:sp>
          <p:nvSpPr>
            <p:cNvPr id="89" name="Rectangle 89"/>
            <p:cNvSpPr/>
            <p:nvPr/>
          </p:nvSpPr>
          <p:spPr>
            <a:xfrm>
              <a:off x="2899220" y="4211955"/>
              <a:ext cx="1824990" cy="447675"/>
            </a:xfrm>
            <a:prstGeom prst="rect">
              <a:avLst/>
            </a:prstGeom>
            <a:noFill/>
            <a:ln>
              <a:noFill/>
            </a:ln>
          </p:spPr>
        </p:sp>
        <p:sp>
          <p:nvSpPr>
            <p:cNvPr id="90" name="Line 90"/>
            <p:cNvSpPr/>
            <p:nvPr/>
          </p:nvSpPr>
          <p:spPr>
            <a:xfrm>
              <a:off x="2899220" y="4659630"/>
              <a:ext cx="1824990" cy="9525"/>
            </a:xfrm>
            <a:custGeom>
              <a:avLst/>
              <a:gdLst/>
              <a:ahLst/>
              <a:cxnLst/>
              <a:rect l="l" t="t" r="r" b="b"/>
              <a:pathLst>
                <a:path w="1824990" h="9525">
                  <a:moveTo>
                    <a:pt x="0" y="0"/>
                  </a:moveTo>
                  <a:lnTo>
                    <a:pt x="1824990" y="0"/>
                  </a:lnTo>
                </a:path>
              </a:pathLst>
            </a:custGeom>
            <a:noFill/>
            <a:ln w="9525">
              <a:solidFill>
                <a:srgbClr val="E0E0E0"/>
              </a:solidFill>
            </a:ln>
          </p:spPr>
        </p:sp>
        <p:sp>
          <p:nvSpPr>
            <p:cNvPr id="91" name="TextBox 91"/>
            <p:cNvSpPr txBox="1"/>
            <p:nvPr/>
          </p:nvSpPr>
          <p:spPr>
            <a:xfrm>
              <a:off x="2983992" y="4303871"/>
              <a:ext cx="153312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药物发现诊断辅助·医院运营</a:t>
              </a:r>
              <a:endParaRPr lang="zh-CN" sz="825" dirty="0">
                <a:solidFill>
                  <a:srgbClr val="555555"/>
                </a:solidFill>
                <a:latin typeface="Arial" panose="020B0604020202090204"/>
                <a:ea typeface="微软雅黑"/>
                <a:cs typeface="Arial" panose="020B0604020202090204"/>
              </a:endParaRPr>
            </a:p>
          </p:txBody>
        </p:sp>
        <p:sp>
          <p:nvSpPr>
            <p:cNvPr id="92" name="Rectangle 92"/>
            <p:cNvSpPr/>
            <p:nvPr/>
          </p:nvSpPr>
          <p:spPr>
            <a:xfrm>
              <a:off x="4724210" y="4211955"/>
              <a:ext cx="1286066" cy="447675"/>
            </a:xfrm>
            <a:prstGeom prst="rect">
              <a:avLst/>
            </a:prstGeom>
            <a:noFill/>
            <a:ln>
              <a:noFill/>
            </a:ln>
          </p:spPr>
        </p:sp>
        <p:sp>
          <p:nvSpPr>
            <p:cNvPr id="93" name="Line 93"/>
            <p:cNvSpPr/>
            <p:nvPr/>
          </p:nvSpPr>
          <p:spPr>
            <a:xfrm>
              <a:off x="4724210" y="4659630"/>
              <a:ext cx="1286065" cy="9525"/>
            </a:xfrm>
            <a:custGeom>
              <a:avLst/>
              <a:gdLst/>
              <a:ahLst/>
              <a:cxnLst/>
              <a:rect l="l" t="t" r="r" b="b"/>
              <a:pathLst>
                <a:path w="1286065" h="9525">
                  <a:moveTo>
                    <a:pt x="0" y="0"/>
                  </a:moveTo>
                  <a:lnTo>
                    <a:pt x="1286065" y="0"/>
                  </a:lnTo>
                </a:path>
              </a:pathLst>
            </a:custGeom>
            <a:noFill/>
            <a:ln w="9525">
              <a:solidFill>
                <a:srgbClr val="E0E0E0"/>
              </a:solidFill>
            </a:ln>
          </p:spPr>
        </p:sp>
        <p:sp>
          <p:nvSpPr>
            <p:cNvPr id="94" name="TextBox 94"/>
            <p:cNvSpPr txBox="1"/>
            <p:nvPr/>
          </p:nvSpPr>
          <p:spPr>
            <a:xfrm>
              <a:off x="5278294" y="4303871"/>
              <a:ext cx="647208" cy="167640"/>
            </a:xfrm>
            <a:prstGeom prst="rect">
              <a:avLst/>
            </a:prstGeom>
            <a:noFill/>
            <a:ln>
              <a:noFill/>
            </a:ln>
          </p:spPr>
          <p:txBody>
            <a:bodyPr wrap="none" lIns="0" tIns="0" rIns="0" bIns="0" anchor="t" anchorCtr="0">
              <a:spAutoFit/>
            </a:bodyPr>
            <a:lstStyle/>
            <a:p>
              <a:pPr algn="r"/>
              <a:r>
                <a:rPr lang="zh-CN" sz="825" b="1" dirty="0">
                  <a:solidFill>
                    <a:srgbClr val="0070F3"/>
                  </a:solidFill>
                  <a:latin typeface="Arial" panose="020B0604020202090204"/>
                  <a:ea typeface="微软雅黑"/>
                  <a:cs typeface="Arial" panose="020B0604020202090204"/>
                </a:rPr>
                <a:t>1940亿美元</a:t>
              </a:r>
              <a:endParaRPr lang="zh-CN" sz="825" b="1" dirty="0">
                <a:solidFill>
                  <a:srgbClr val="0070F3"/>
                </a:solidFill>
                <a:latin typeface="Arial" panose="020B0604020202090204"/>
                <a:ea typeface="微软雅黑"/>
                <a:cs typeface="Arial" panose="020B0604020202090204"/>
              </a:endParaRPr>
            </a:p>
          </p:txBody>
        </p:sp>
        <p:sp>
          <p:nvSpPr>
            <p:cNvPr id="95" name="Rectangle 95"/>
            <p:cNvSpPr/>
            <p:nvPr/>
          </p:nvSpPr>
          <p:spPr>
            <a:xfrm>
              <a:off x="466725" y="4659630"/>
              <a:ext cx="866204" cy="447675"/>
            </a:xfrm>
            <a:prstGeom prst="rect">
              <a:avLst/>
            </a:prstGeom>
            <a:noFill/>
            <a:ln>
              <a:noFill/>
            </a:ln>
          </p:spPr>
        </p:sp>
        <p:sp>
          <p:nvSpPr>
            <p:cNvPr id="96" name="Line 96"/>
            <p:cNvSpPr/>
            <p:nvPr/>
          </p:nvSpPr>
          <p:spPr>
            <a:xfrm>
              <a:off x="466725" y="5107305"/>
              <a:ext cx="866204" cy="9525"/>
            </a:xfrm>
            <a:custGeom>
              <a:avLst/>
              <a:gdLst/>
              <a:ahLst/>
              <a:cxnLst/>
              <a:rect l="l" t="t" r="r" b="b"/>
              <a:pathLst>
                <a:path w="866204" h="9525">
                  <a:moveTo>
                    <a:pt x="0" y="0"/>
                  </a:moveTo>
                  <a:lnTo>
                    <a:pt x="866204" y="0"/>
                  </a:lnTo>
                </a:path>
              </a:pathLst>
            </a:custGeom>
            <a:noFill/>
            <a:ln w="9525">
              <a:solidFill>
                <a:srgbClr val="E0E0E0"/>
              </a:solidFill>
            </a:ln>
          </p:spPr>
        </p:sp>
        <p:sp>
          <p:nvSpPr>
            <p:cNvPr id="97" name="TextBox 97"/>
            <p:cNvSpPr txBox="1"/>
            <p:nvPr/>
          </p:nvSpPr>
          <p:spPr>
            <a:xfrm>
              <a:off x="551498" y="4751546"/>
              <a:ext cx="273987" cy="167640"/>
            </a:xfrm>
            <a:prstGeom prst="rect">
              <a:avLst/>
            </a:prstGeom>
            <a:noFill/>
            <a:ln>
              <a:noFill/>
            </a:ln>
          </p:spPr>
          <p:txBody>
            <a:bodyPr wrap="none" lIns="0" tIns="0" rIns="0" bIns="0" anchor="t" anchorCtr="0">
              <a:spAutoFit/>
            </a:bodyPr>
            <a:lstStyle/>
            <a:p>
              <a:pPr algn="l"/>
              <a:r>
                <a:rPr lang="zh-CN" sz="825" b="1" dirty="0">
                  <a:solidFill>
                    <a:srgbClr val="0070F3"/>
                  </a:solidFill>
                  <a:latin typeface="Arial" panose="020B0604020202090204"/>
                  <a:ea typeface="微软雅黑"/>
                  <a:cs typeface="Arial" panose="020B0604020202090204"/>
                </a:rPr>
                <a:t>制造</a:t>
              </a:r>
              <a:endParaRPr lang="zh-CN" sz="825" b="1" dirty="0">
                <a:solidFill>
                  <a:srgbClr val="0070F3"/>
                </a:solidFill>
                <a:latin typeface="Arial" panose="020B0604020202090204"/>
                <a:ea typeface="微软雅黑"/>
                <a:cs typeface="Arial" panose="020B0604020202090204"/>
              </a:endParaRPr>
            </a:p>
          </p:txBody>
        </p:sp>
        <p:sp>
          <p:nvSpPr>
            <p:cNvPr id="98" name="Rectangle 98"/>
            <p:cNvSpPr/>
            <p:nvPr/>
          </p:nvSpPr>
          <p:spPr>
            <a:xfrm>
              <a:off x="1332928" y="4659630"/>
              <a:ext cx="1566386" cy="447675"/>
            </a:xfrm>
            <a:prstGeom prst="rect">
              <a:avLst/>
            </a:prstGeom>
            <a:noFill/>
            <a:ln>
              <a:noFill/>
            </a:ln>
          </p:spPr>
        </p:sp>
        <p:sp>
          <p:nvSpPr>
            <p:cNvPr id="99" name="Line 99"/>
            <p:cNvSpPr/>
            <p:nvPr/>
          </p:nvSpPr>
          <p:spPr>
            <a:xfrm>
              <a:off x="1332928" y="5107305"/>
              <a:ext cx="1566291" cy="9525"/>
            </a:xfrm>
            <a:custGeom>
              <a:avLst/>
              <a:gdLst/>
              <a:ahLst/>
              <a:cxnLst/>
              <a:rect l="l" t="t" r="r" b="b"/>
              <a:pathLst>
                <a:path w="1566291" h="9525">
                  <a:moveTo>
                    <a:pt x="0" y="0"/>
                  </a:moveTo>
                  <a:lnTo>
                    <a:pt x="1566291" y="0"/>
                  </a:lnTo>
                </a:path>
              </a:pathLst>
            </a:custGeom>
            <a:noFill/>
            <a:ln w="9525">
              <a:solidFill>
                <a:srgbClr val="E0E0E0"/>
              </a:solidFill>
            </a:ln>
          </p:spPr>
        </p:sp>
        <p:sp>
          <p:nvSpPr>
            <p:cNvPr id="100" name="TextBox 100"/>
            <p:cNvSpPr txBox="1"/>
            <p:nvPr/>
          </p:nvSpPr>
          <p:spPr>
            <a:xfrm>
              <a:off x="1417701" y="4751546"/>
              <a:ext cx="490871"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Unilever</a:t>
              </a:r>
              <a:endParaRPr lang="zh-CN" sz="825" dirty="0">
                <a:solidFill>
                  <a:srgbClr val="0A0A0A"/>
                </a:solidFill>
                <a:latin typeface="Arial" panose="020B0604020202090204"/>
                <a:ea typeface="微软雅黑"/>
                <a:cs typeface="Arial" panose="020B0604020202090204"/>
              </a:endParaRPr>
            </a:p>
          </p:txBody>
        </p:sp>
        <p:sp>
          <p:nvSpPr>
            <p:cNvPr id="101" name="Rectangle 101"/>
            <p:cNvSpPr/>
            <p:nvPr/>
          </p:nvSpPr>
          <p:spPr>
            <a:xfrm>
              <a:off x="2899220" y="4659630"/>
              <a:ext cx="1824990" cy="447675"/>
            </a:xfrm>
            <a:prstGeom prst="rect">
              <a:avLst/>
            </a:prstGeom>
            <a:noFill/>
            <a:ln>
              <a:noFill/>
            </a:ln>
          </p:spPr>
        </p:sp>
        <p:sp>
          <p:nvSpPr>
            <p:cNvPr id="102" name="Line 102"/>
            <p:cNvSpPr/>
            <p:nvPr/>
          </p:nvSpPr>
          <p:spPr>
            <a:xfrm>
              <a:off x="2899220" y="5107305"/>
              <a:ext cx="1824990" cy="9525"/>
            </a:xfrm>
            <a:custGeom>
              <a:avLst/>
              <a:gdLst/>
              <a:ahLst/>
              <a:cxnLst/>
              <a:rect l="l" t="t" r="r" b="b"/>
              <a:pathLst>
                <a:path w="1824990" h="9525">
                  <a:moveTo>
                    <a:pt x="0" y="0"/>
                  </a:moveTo>
                  <a:lnTo>
                    <a:pt x="1824990" y="0"/>
                  </a:lnTo>
                </a:path>
              </a:pathLst>
            </a:custGeom>
            <a:noFill/>
            <a:ln w="9525">
              <a:solidFill>
                <a:srgbClr val="E0E0E0"/>
              </a:solidFill>
            </a:ln>
          </p:spPr>
        </p:sp>
        <p:sp>
          <p:nvSpPr>
            <p:cNvPr id="103" name="TextBox 103"/>
            <p:cNvSpPr txBox="1"/>
            <p:nvPr/>
          </p:nvSpPr>
          <p:spPr>
            <a:xfrm>
              <a:off x="2983992" y="4751546"/>
              <a:ext cx="144877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LLM文档自动化供应链优化</a:t>
              </a:r>
              <a:endParaRPr lang="zh-CN" sz="825" dirty="0">
                <a:solidFill>
                  <a:srgbClr val="555555"/>
                </a:solidFill>
                <a:latin typeface="Arial" panose="020B0604020202090204"/>
                <a:ea typeface="微软雅黑"/>
                <a:cs typeface="Arial" panose="020B0604020202090204"/>
              </a:endParaRPr>
            </a:p>
          </p:txBody>
        </p:sp>
        <p:sp>
          <p:nvSpPr>
            <p:cNvPr id="104" name="Rectangle 104"/>
            <p:cNvSpPr/>
            <p:nvPr/>
          </p:nvSpPr>
          <p:spPr>
            <a:xfrm>
              <a:off x="4724210" y="4659630"/>
              <a:ext cx="1286066" cy="447675"/>
            </a:xfrm>
            <a:prstGeom prst="rect">
              <a:avLst/>
            </a:prstGeom>
            <a:noFill/>
            <a:ln>
              <a:noFill/>
            </a:ln>
          </p:spPr>
        </p:sp>
        <p:sp>
          <p:nvSpPr>
            <p:cNvPr id="105" name="Line 105"/>
            <p:cNvSpPr/>
            <p:nvPr/>
          </p:nvSpPr>
          <p:spPr>
            <a:xfrm>
              <a:off x="4724210" y="5107305"/>
              <a:ext cx="1286065" cy="9525"/>
            </a:xfrm>
            <a:custGeom>
              <a:avLst/>
              <a:gdLst/>
              <a:ahLst/>
              <a:cxnLst/>
              <a:rect l="l" t="t" r="r" b="b"/>
              <a:pathLst>
                <a:path w="1286065" h="9525">
                  <a:moveTo>
                    <a:pt x="0" y="0"/>
                  </a:moveTo>
                  <a:lnTo>
                    <a:pt x="1286065" y="0"/>
                  </a:lnTo>
                </a:path>
              </a:pathLst>
            </a:custGeom>
            <a:noFill/>
            <a:ln w="9525">
              <a:solidFill>
                <a:srgbClr val="E0E0E0"/>
              </a:solidFill>
            </a:ln>
          </p:spPr>
        </p:sp>
        <p:sp>
          <p:nvSpPr>
            <p:cNvPr id="106" name="TextBox 106"/>
            <p:cNvSpPr txBox="1"/>
            <p:nvPr/>
          </p:nvSpPr>
          <p:spPr>
            <a:xfrm>
              <a:off x="5373181" y="4751546"/>
              <a:ext cx="552321" cy="167640"/>
            </a:xfrm>
            <a:prstGeom prst="rect">
              <a:avLst/>
            </a:prstGeom>
            <a:noFill/>
            <a:ln>
              <a:noFill/>
            </a:ln>
          </p:spPr>
          <p:txBody>
            <a:bodyPr wrap="none" lIns="0" tIns="0" rIns="0" bIns="0" anchor="t" anchorCtr="0">
              <a:spAutoFit/>
            </a:bodyPr>
            <a:lstStyle/>
            <a:p>
              <a:pPr algn="r"/>
              <a:r>
                <a:rPr lang="zh-CN" sz="825" b="1" dirty="0">
                  <a:solidFill>
                    <a:srgbClr val="D4AF37"/>
                  </a:solidFill>
                  <a:latin typeface="Arial" panose="020B0604020202090204"/>
                  <a:ea typeface="微软雅黑"/>
                  <a:cs typeface="Arial" panose="020B0604020202090204"/>
                </a:rPr>
                <a:t>+40%效率</a:t>
              </a:r>
              <a:endParaRPr lang="zh-CN" sz="825" b="1" dirty="0">
                <a:solidFill>
                  <a:srgbClr val="D4AF37"/>
                </a:solidFill>
                <a:latin typeface="Arial" panose="020B0604020202090204"/>
                <a:ea typeface="微软雅黑"/>
                <a:cs typeface="Arial" panose="020B0604020202090204"/>
              </a:endParaRPr>
            </a:p>
          </p:txBody>
        </p:sp>
        <p:sp>
          <p:nvSpPr>
            <p:cNvPr id="107" name="Rectangle 107"/>
            <p:cNvSpPr/>
            <p:nvPr/>
          </p:nvSpPr>
          <p:spPr>
            <a:xfrm>
              <a:off x="466725" y="5107305"/>
              <a:ext cx="5543550" cy="442912"/>
            </a:xfrm>
            <a:prstGeom prst="rect">
              <a:avLst/>
            </a:prstGeom>
            <a:solidFill>
              <a:srgbClr val="FAFAFA"/>
            </a:solidFill>
            <a:ln>
              <a:noFill/>
            </a:ln>
          </p:spPr>
        </p:sp>
        <p:sp>
          <p:nvSpPr>
            <p:cNvPr id="108" name="TextBox 108"/>
            <p:cNvSpPr txBox="1"/>
            <p:nvPr/>
          </p:nvSpPr>
          <p:spPr>
            <a:xfrm>
              <a:off x="551498" y="5199221"/>
              <a:ext cx="400502" cy="167640"/>
            </a:xfrm>
            <a:prstGeom prst="rect">
              <a:avLst/>
            </a:prstGeom>
            <a:noFill/>
            <a:ln>
              <a:noFill/>
            </a:ln>
          </p:spPr>
          <p:txBody>
            <a:bodyPr wrap="none" lIns="0" tIns="0" rIns="0" bIns="0" anchor="t" anchorCtr="0">
              <a:spAutoFit/>
            </a:bodyPr>
            <a:lstStyle/>
            <a:p>
              <a:pPr algn="l"/>
              <a:r>
                <a:rPr lang="zh-CN" sz="825" b="1" dirty="0">
                  <a:solidFill>
                    <a:srgbClr val="0070F3"/>
                  </a:solidFill>
                  <a:latin typeface="Arial" panose="020B0604020202090204"/>
                  <a:ea typeface="微软雅黑"/>
                  <a:cs typeface="Arial" panose="020B0604020202090204"/>
                </a:rPr>
                <a:t>多行业</a:t>
              </a:r>
              <a:endParaRPr lang="zh-CN" sz="825" b="1" dirty="0">
                <a:solidFill>
                  <a:srgbClr val="0070F3"/>
                </a:solidFill>
                <a:latin typeface="Arial" panose="020B0604020202090204"/>
                <a:ea typeface="微软雅黑"/>
                <a:cs typeface="Arial" panose="020B0604020202090204"/>
              </a:endParaRPr>
            </a:p>
          </p:txBody>
        </p:sp>
        <p:sp>
          <p:nvSpPr>
            <p:cNvPr id="109" name="TextBox 109"/>
            <p:cNvSpPr txBox="1"/>
            <p:nvPr/>
          </p:nvSpPr>
          <p:spPr>
            <a:xfrm>
              <a:off x="1417701" y="5199221"/>
              <a:ext cx="846320" cy="167640"/>
            </a:xfrm>
            <a:prstGeom prst="rect">
              <a:avLst/>
            </a:prstGeom>
            <a:noFill/>
            <a:ln>
              <a:noFill/>
            </a:ln>
          </p:spPr>
          <p:txBody>
            <a:bodyPr wrap="none" lIns="0" tIns="0" rIns="0" bIns="0" anchor="t" anchorCtr="0">
              <a:spAutoFit/>
            </a:bodyPr>
            <a:lstStyle/>
            <a:p>
              <a:pPr algn="l"/>
              <a:r>
                <a:rPr lang="zh-CN" sz="825" dirty="0">
                  <a:solidFill>
                    <a:srgbClr val="0A0A0A"/>
                  </a:solidFill>
                  <a:latin typeface="Arial" panose="020B0604020202090204"/>
                  <a:ea typeface="微软雅黑"/>
                  <a:cs typeface="Arial" panose="020B0604020202090204"/>
                </a:rPr>
                <a:t>OpenAI/Google</a:t>
              </a:r>
              <a:endParaRPr lang="zh-CN" sz="825" dirty="0">
                <a:solidFill>
                  <a:srgbClr val="0A0A0A"/>
                </a:solidFill>
                <a:latin typeface="Arial" panose="020B0604020202090204"/>
                <a:ea typeface="微软雅黑"/>
                <a:cs typeface="Arial" panose="020B0604020202090204"/>
              </a:endParaRPr>
            </a:p>
          </p:txBody>
        </p:sp>
        <p:sp>
          <p:nvSpPr>
            <p:cNvPr id="110" name="TextBox 110"/>
            <p:cNvSpPr txBox="1"/>
            <p:nvPr/>
          </p:nvSpPr>
          <p:spPr>
            <a:xfrm>
              <a:off x="2983992" y="5199221"/>
              <a:ext cx="175602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LLM企业部署代码生成·数据分析</a:t>
              </a:r>
              <a:endParaRPr lang="zh-CN" sz="825" dirty="0">
                <a:solidFill>
                  <a:srgbClr val="555555"/>
                </a:solidFill>
                <a:latin typeface="Arial" panose="020B0604020202090204"/>
                <a:ea typeface="微软雅黑"/>
                <a:cs typeface="Arial" panose="020B0604020202090204"/>
              </a:endParaRPr>
            </a:p>
          </p:txBody>
        </p:sp>
        <p:sp>
          <p:nvSpPr>
            <p:cNvPr id="111" name="TextBox 111"/>
            <p:cNvSpPr txBox="1"/>
            <p:nvPr/>
          </p:nvSpPr>
          <p:spPr>
            <a:xfrm>
              <a:off x="5455416" y="5199221"/>
              <a:ext cx="470086" cy="167640"/>
            </a:xfrm>
            <a:prstGeom prst="rect">
              <a:avLst/>
            </a:prstGeom>
            <a:noFill/>
            <a:ln>
              <a:noFill/>
            </a:ln>
          </p:spPr>
          <p:txBody>
            <a:bodyPr wrap="none" lIns="0" tIns="0" rIns="0" bIns="0" anchor="t" anchorCtr="0">
              <a:spAutoFit/>
            </a:bodyPr>
            <a:lstStyle/>
            <a:p>
              <a:pPr algn="r"/>
              <a:r>
                <a:rPr lang="zh-CN" sz="825" b="1" dirty="0">
                  <a:solidFill>
                    <a:srgbClr val="0070F3"/>
                  </a:solidFill>
                  <a:latin typeface="Arial" panose="020B0604020202090204"/>
                  <a:ea typeface="微软雅黑"/>
                  <a:cs typeface="Arial" panose="020B0604020202090204"/>
                </a:rPr>
                <a:t>渗透率↑</a:t>
              </a:r>
              <a:endParaRPr lang="zh-CN" sz="825" b="1" dirty="0">
                <a:solidFill>
                  <a:srgbClr val="0070F3"/>
                </a:solidFill>
                <a:latin typeface="Arial" panose="020B0604020202090204"/>
                <a:ea typeface="微软雅黑"/>
                <a:cs typeface="Arial" panose="020B0604020202090204"/>
              </a:endParaRPr>
            </a:p>
          </p:txBody>
        </p:sp>
        <p:sp>
          <p:nvSpPr>
            <p:cNvPr id="112" name="Rectangle 112"/>
            <p:cNvSpPr/>
            <p:nvPr/>
          </p:nvSpPr>
          <p:spPr>
            <a:xfrm>
              <a:off x="6172200" y="2159318"/>
              <a:ext cx="5562600" cy="2090738"/>
            </a:xfrm>
            <a:prstGeom prst="roundRect">
              <a:avLst>
                <a:gd name="adj" fmla="val 2733"/>
              </a:avLst>
            </a:prstGeom>
            <a:noFill/>
            <a:ln>
              <a:noFill/>
            </a:ln>
          </p:spPr>
        </p:sp>
        <p:sp>
          <p:nvSpPr>
            <p:cNvPr id="113" name="Line 113"/>
            <p:cNvSpPr/>
            <p:nvPr/>
          </p:nvSpPr>
          <p:spPr>
            <a:xfrm>
              <a:off x="6172200" y="2159318"/>
              <a:ext cx="5562600" cy="9525"/>
            </a:xfrm>
            <a:custGeom>
              <a:avLst/>
              <a:gdLst/>
              <a:ahLst/>
              <a:cxnLst/>
              <a:rect l="l" t="t" r="r" b="b"/>
              <a:pathLst>
                <a:path w="5562600" h="9525">
                  <a:moveTo>
                    <a:pt x="0" y="0"/>
                  </a:moveTo>
                  <a:lnTo>
                    <a:pt x="5562600" y="0"/>
                  </a:lnTo>
                </a:path>
              </a:pathLst>
            </a:custGeom>
            <a:noFill/>
            <a:ln w="9525">
              <a:solidFill>
                <a:srgbClr val="E0E0E0"/>
              </a:solidFill>
            </a:ln>
          </p:spPr>
        </p:sp>
        <p:sp>
          <p:nvSpPr>
            <p:cNvPr id="114" name="Line 114"/>
            <p:cNvSpPr/>
            <p:nvPr/>
          </p:nvSpPr>
          <p:spPr>
            <a:xfrm>
              <a:off x="11734800" y="2159318"/>
              <a:ext cx="9525" cy="2090738"/>
            </a:xfrm>
            <a:custGeom>
              <a:avLst/>
              <a:gdLst/>
              <a:ahLst/>
              <a:cxnLst/>
              <a:rect l="l" t="t" r="r" b="b"/>
              <a:pathLst>
                <a:path w="9525" h="2090738">
                  <a:moveTo>
                    <a:pt x="0" y="0"/>
                  </a:moveTo>
                  <a:lnTo>
                    <a:pt x="0" y="2090738"/>
                  </a:lnTo>
                </a:path>
              </a:pathLst>
            </a:custGeom>
            <a:noFill/>
            <a:ln w="9525">
              <a:solidFill>
                <a:srgbClr val="E0E0E0"/>
              </a:solidFill>
            </a:ln>
          </p:spPr>
        </p:sp>
        <p:sp>
          <p:nvSpPr>
            <p:cNvPr id="115" name="Line 115"/>
            <p:cNvSpPr/>
            <p:nvPr/>
          </p:nvSpPr>
          <p:spPr>
            <a:xfrm>
              <a:off x="6172200" y="4250055"/>
              <a:ext cx="5562600" cy="9525"/>
            </a:xfrm>
            <a:custGeom>
              <a:avLst/>
              <a:gdLst/>
              <a:ahLst/>
              <a:cxnLst/>
              <a:rect l="l" t="t" r="r" b="b"/>
              <a:pathLst>
                <a:path w="5562600" h="9525">
                  <a:moveTo>
                    <a:pt x="0" y="0"/>
                  </a:moveTo>
                  <a:lnTo>
                    <a:pt x="5562600" y="0"/>
                  </a:lnTo>
                </a:path>
              </a:pathLst>
            </a:custGeom>
            <a:noFill/>
            <a:ln w="9525">
              <a:solidFill>
                <a:srgbClr val="E0E0E0"/>
              </a:solidFill>
            </a:ln>
          </p:spPr>
        </p:sp>
        <p:sp>
          <p:nvSpPr>
            <p:cNvPr id="116" name="Line 116"/>
            <p:cNvSpPr/>
            <p:nvPr/>
          </p:nvSpPr>
          <p:spPr>
            <a:xfrm>
              <a:off x="6172200" y="2159318"/>
              <a:ext cx="9525" cy="2090738"/>
            </a:xfrm>
            <a:custGeom>
              <a:avLst/>
              <a:gdLst/>
              <a:ahLst/>
              <a:cxnLst/>
              <a:rect l="l" t="t" r="r" b="b"/>
              <a:pathLst>
                <a:path w="9525" h="2090738">
                  <a:moveTo>
                    <a:pt x="0" y="0"/>
                  </a:moveTo>
                  <a:lnTo>
                    <a:pt x="0" y="2090738"/>
                  </a:lnTo>
                </a:path>
              </a:pathLst>
            </a:custGeom>
            <a:noFill/>
            <a:ln w="9525">
              <a:solidFill>
                <a:srgbClr val="E0E0E0"/>
              </a:solidFill>
            </a:ln>
          </p:spPr>
        </p:sp>
        <p:sp>
          <p:nvSpPr>
            <p:cNvPr id="117" name="TextBox 117"/>
            <p:cNvSpPr txBox="1"/>
            <p:nvPr/>
          </p:nvSpPr>
          <p:spPr>
            <a:xfrm>
              <a:off x="6301740" y="2322195"/>
              <a:ext cx="2127983"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AI商业价值行业分布（2024）</a:t>
              </a:r>
              <a:endParaRPr lang="zh-CN" sz="1050" b="1" dirty="0">
                <a:solidFill>
                  <a:srgbClr val="0A0A0A"/>
                </a:solidFill>
                <a:latin typeface="Times New Roman" panose="02020503050405090304"/>
                <a:ea typeface="宋体"/>
                <a:cs typeface="Times New Roman" panose="02020503050405090304"/>
              </a:endParaRPr>
            </a:p>
          </p:txBody>
        </p:sp>
        <p:sp>
          <p:nvSpPr>
            <p:cNvPr id="118" name="Rectangle 118"/>
            <p:cNvSpPr/>
            <p:nvPr/>
          </p:nvSpPr>
          <p:spPr>
            <a:xfrm>
              <a:off x="6315075" y="2459355"/>
              <a:ext cx="994410" cy="809625"/>
            </a:xfrm>
            <a:prstGeom prst="roundRect">
              <a:avLst>
                <a:gd name="adj" fmla="val 3529"/>
              </a:avLst>
            </a:prstGeom>
            <a:solidFill>
              <a:srgbClr val="0070F3"/>
            </a:solidFill>
            <a:ln>
              <a:noFill/>
            </a:ln>
          </p:spPr>
        </p:sp>
        <p:sp>
          <p:nvSpPr>
            <p:cNvPr id="119" name="TextBox 119"/>
            <p:cNvSpPr txBox="1"/>
            <p:nvPr/>
          </p:nvSpPr>
          <p:spPr>
            <a:xfrm>
              <a:off x="6707505" y="3321368"/>
              <a:ext cx="249079" cy="152400"/>
            </a:xfrm>
            <a:prstGeom prst="rect">
              <a:avLst/>
            </a:prstGeom>
            <a:noFill/>
            <a:ln>
              <a:noFill/>
            </a:ln>
          </p:spPr>
          <p:txBody>
            <a:bodyPr wrap="none" lIns="0" tIns="0" rIns="0" bIns="0" anchor="t" anchorCtr="0">
              <a:spAutoFit/>
            </a:bodyPr>
            <a:lstStyle/>
            <a:p>
              <a:pPr algn="l"/>
              <a:r>
                <a:rPr lang="zh-CN" sz="750" b="1" dirty="0">
                  <a:solidFill>
                    <a:srgbClr val="0A0A0A"/>
                  </a:solidFill>
                  <a:latin typeface="Arial" panose="020B0604020202090204"/>
                  <a:ea typeface="微软雅黑"/>
                  <a:cs typeface="Arial" panose="020B0604020202090204"/>
                </a:rPr>
                <a:t>金融</a:t>
              </a:r>
              <a:endParaRPr lang="zh-CN" sz="750" b="1" dirty="0">
                <a:solidFill>
                  <a:srgbClr val="0A0A0A"/>
                </a:solidFill>
                <a:latin typeface="Arial" panose="020B0604020202090204"/>
                <a:ea typeface="微软雅黑"/>
                <a:cs typeface="Arial" panose="020B0604020202090204"/>
              </a:endParaRPr>
            </a:p>
          </p:txBody>
        </p:sp>
        <p:sp>
          <p:nvSpPr>
            <p:cNvPr id="120" name="TextBox 120"/>
            <p:cNvSpPr txBox="1"/>
            <p:nvPr/>
          </p:nvSpPr>
          <p:spPr>
            <a:xfrm>
              <a:off x="6717887" y="3453289"/>
              <a:ext cx="179808" cy="137160"/>
            </a:xfrm>
            <a:prstGeom prst="rect">
              <a:avLst/>
            </a:prstGeom>
            <a:noFill/>
            <a:ln>
              <a:noFill/>
            </a:ln>
          </p:spPr>
          <p:txBody>
            <a:bodyPr wrap="none" lIns="0" tIns="0" rIns="0" bIns="0" anchor="t" anchorCtr="0">
              <a:spAutoFit/>
            </a:bodyPr>
            <a:lstStyle/>
            <a:p>
              <a:pPr algn="l"/>
              <a:r>
                <a:rPr lang="zh-CN" sz="675" dirty="0">
                  <a:solidFill>
                    <a:srgbClr val="888888"/>
                  </a:solidFill>
                  <a:latin typeface="Arial" panose="020B0604020202090204"/>
                  <a:ea typeface="微软雅黑"/>
                  <a:cs typeface="Arial" panose="020B0604020202090204"/>
                </a:rPr>
                <a:t>32%</a:t>
              </a:r>
              <a:endParaRPr lang="zh-CN" sz="675" dirty="0">
                <a:solidFill>
                  <a:srgbClr val="888888"/>
                </a:solidFill>
                <a:latin typeface="Arial" panose="020B0604020202090204"/>
                <a:ea typeface="微软雅黑"/>
                <a:cs typeface="Arial" panose="020B0604020202090204"/>
              </a:endParaRPr>
            </a:p>
          </p:txBody>
        </p:sp>
        <p:sp>
          <p:nvSpPr>
            <p:cNvPr id="121" name="Rectangle 121"/>
            <p:cNvSpPr/>
            <p:nvPr/>
          </p:nvSpPr>
          <p:spPr>
            <a:xfrm>
              <a:off x="7385685" y="2583180"/>
              <a:ext cx="994410" cy="685800"/>
            </a:xfrm>
            <a:prstGeom prst="roundRect">
              <a:avLst>
                <a:gd name="adj" fmla="val 4167"/>
              </a:avLst>
            </a:prstGeom>
            <a:solidFill>
              <a:srgbClr val="D4AF37"/>
            </a:solidFill>
            <a:ln>
              <a:noFill/>
            </a:ln>
          </p:spPr>
        </p:sp>
        <p:sp>
          <p:nvSpPr>
            <p:cNvPr id="122" name="TextBox 122"/>
            <p:cNvSpPr txBox="1"/>
            <p:nvPr/>
          </p:nvSpPr>
          <p:spPr>
            <a:xfrm>
              <a:off x="7778020" y="3321368"/>
              <a:ext cx="249079" cy="152400"/>
            </a:xfrm>
            <a:prstGeom prst="rect">
              <a:avLst/>
            </a:prstGeom>
            <a:noFill/>
            <a:ln>
              <a:noFill/>
            </a:ln>
          </p:spPr>
          <p:txBody>
            <a:bodyPr wrap="none" lIns="0" tIns="0" rIns="0" bIns="0" anchor="t" anchorCtr="0">
              <a:spAutoFit/>
            </a:bodyPr>
            <a:lstStyle/>
            <a:p>
              <a:pPr algn="l"/>
              <a:r>
                <a:rPr lang="zh-CN" sz="750" b="1" dirty="0">
                  <a:solidFill>
                    <a:srgbClr val="0A0A0A"/>
                  </a:solidFill>
                  <a:latin typeface="Arial" panose="020B0604020202090204"/>
                  <a:ea typeface="微软雅黑"/>
                  <a:cs typeface="Arial" panose="020B0604020202090204"/>
                </a:rPr>
                <a:t>零售</a:t>
              </a:r>
              <a:endParaRPr lang="zh-CN" sz="750" b="1" dirty="0">
                <a:solidFill>
                  <a:srgbClr val="0A0A0A"/>
                </a:solidFill>
                <a:latin typeface="Arial" panose="020B0604020202090204"/>
                <a:ea typeface="微软雅黑"/>
                <a:cs typeface="Arial" panose="020B0604020202090204"/>
              </a:endParaRPr>
            </a:p>
          </p:txBody>
        </p:sp>
        <p:sp>
          <p:nvSpPr>
            <p:cNvPr id="123" name="TextBox 123"/>
            <p:cNvSpPr txBox="1"/>
            <p:nvPr/>
          </p:nvSpPr>
          <p:spPr>
            <a:xfrm>
              <a:off x="7788497" y="3453289"/>
              <a:ext cx="179808" cy="137160"/>
            </a:xfrm>
            <a:prstGeom prst="rect">
              <a:avLst/>
            </a:prstGeom>
            <a:noFill/>
            <a:ln>
              <a:noFill/>
            </a:ln>
          </p:spPr>
          <p:txBody>
            <a:bodyPr wrap="none" lIns="0" tIns="0" rIns="0" bIns="0" anchor="t" anchorCtr="0">
              <a:spAutoFit/>
            </a:bodyPr>
            <a:lstStyle/>
            <a:p>
              <a:pPr algn="l"/>
              <a:r>
                <a:rPr lang="zh-CN" sz="675" dirty="0">
                  <a:solidFill>
                    <a:srgbClr val="888888"/>
                  </a:solidFill>
                  <a:latin typeface="Arial" panose="020B0604020202090204"/>
                  <a:ea typeface="微软雅黑"/>
                  <a:cs typeface="Arial" panose="020B0604020202090204"/>
                </a:rPr>
                <a:t>24%</a:t>
              </a:r>
              <a:endParaRPr lang="zh-CN" sz="675" dirty="0">
                <a:solidFill>
                  <a:srgbClr val="888888"/>
                </a:solidFill>
                <a:latin typeface="Arial" panose="020B0604020202090204"/>
                <a:ea typeface="微软雅黑"/>
                <a:cs typeface="Arial" panose="020B0604020202090204"/>
              </a:endParaRPr>
            </a:p>
          </p:txBody>
        </p:sp>
        <p:sp>
          <p:nvSpPr>
            <p:cNvPr id="124" name="Rectangle 124"/>
            <p:cNvSpPr/>
            <p:nvPr/>
          </p:nvSpPr>
          <p:spPr>
            <a:xfrm>
              <a:off x="8456295" y="2649855"/>
              <a:ext cx="994410" cy="619125"/>
            </a:xfrm>
            <a:prstGeom prst="roundRect">
              <a:avLst>
                <a:gd name="adj" fmla="val 4615"/>
              </a:avLst>
            </a:prstGeom>
            <a:solidFill>
              <a:srgbClr val="0070F3"/>
            </a:solidFill>
            <a:ln>
              <a:noFill/>
            </a:ln>
          </p:spPr>
        </p:sp>
        <p:sp>
          <p:nvSpPr>
            <p:cNvPr id="125" name="TextBox 125"/>
            <p:cNvSpPr txBox="1"/>
            <p:nvPr/>
          </p:nvSpPr>
          <p:spPr>
            <a:xfrm>
              <a:off x="8848630" y="3321368"/>
              <a:ext cx="249079" cy="152400"/>
            </a:xfrm>
            <a:prstGeom prst="rect">
              <a:avLst/>
            </a:prstGeom>
            <a:noFill/>
            <a:ln>
              <a:noFill/>
            </a:ln>
          </p:spPr>
          <p:txBody>
            <a:bodyPr wrap="none" lIns="0" tIns="0" rIns="0" bIns="0" anchor="t" anchorCtr="0">
              <a:spAutoFit/>
            </a:bodyPr>
            <a:lstStyle/>
            <a:p>
              <a:pPr algn="l"/>
              <a:r>
                <a:rPr lang="zh-CN" sz="750" b="1" dirty="0">
                  <a:solidFill>
                    <a:srgbClr val="0A0A0A"/>
                  </a:solidFill>
                  <a:latin typeface="Arial" panose="020B0604020202090204"/>
                  <a:ea typeface="微软雅黑"/>
                  <a:cs typeface="Arial" panose="020B0604020202090204"/>
                </a:rPr>
                <a:t>医疗</a:t>
              </a:r>
              <a:endParaRPr lang="zh-CN" sz="750" b="1" dirty="0">
                <a:solidFill>
                  <a:srgbClr val="0A0A0A"/>
                </a:solidFill>
                <a:latin typeface="Arial" panose="020B0604020202090204"/>
                <a:ea typeface="微软雅黑"/>
                <a:cs typeface="Arial" panose="020B0604020202090204"/>
              </a:endParaRPr>
            </a:p>
          </p:txBody>
        </p:sp>
        <p:sp>
          <p:nvSpPr>
            <p:cNvPr id="126" name="TextBox 126"/>
            <p:cNvSpPr txBox="1"/>
            <p:nvPr/>
          </p:nvSpPr>
          <p:spPr>
            <a:xfrm>
              <a:off x="8859012" y="3453289"/>
              <a:ext cx="155162" cy="137160"/>
            </a:xfrm>
            <a:prstGeom prst="rect">
              <a:avLst/>
            </a:prstGeom>
            <a:noFill/>
            <a:ln>
              <a:noFill/>
            </a:ln>
          </p:spPr>
          <p:txBody>
            <a:bodyPr wrap="none" lIns="0" tIns="0" rIns="0" bIns="0" anchor="t" anchorCtr="0">
              <a:spAutoFit/>
            </a:bodyPr>
            <a:lstStyle/>
            <a:p>
              <a:pPr algn="l"/>
              <a:r>
                <a:rPr lang="zh-CN" sz="675" dirty="0">
                  <a:solidFill>
                    <a:srgbClr val="888888"/>
                  </a:solidFill>
                  <a:latin typeface="Arial" panose="020B0604020202090204"/>
                  <a:ea typeface="微软雅黑"/>
                  <a:cs typeface="Arial" panose="020B0604020202090204"/>
                </a:rPr>
                <a:t>21%</a:t>
              </a:r>
              <a:endParaRPr lang="zh-CN" sz="675" dirty="0">
                <a:solidFill>
                  <a:srgbClr val="888888"/>
                </a:solidFill>
                <a:latin typeface="Arial" panose="020B0604020202090204"/>
                <a:ea typeface="微软雅黑"/>
                <a:cs typeface="Arial" panose="020B0604020202090204"/>
              </a:endParaRPr>
            </a:p>
          </p:txBody>
        </p:sp>
        <p:sp>
          <p:nvSpPr>
            <p:cNvPr id="127" name="Rectangle 127"/>
            <p:cNvSpPr/>
            <p:nvPr/>
          </p:nvSpPr>
          <p:spPr>
            <a:xfrm>
              <a:off x="9526905" y="2745105"/>
              <a:ext cx="994410" cy="523875"/>
            </a:xfrm>
            <a:prstGeom prst="roundRect">
              <a:avLst>
                <a:gd name="adj" fmla="val 5455"/>
              </a:avLst>
            </a:prstGeom>
            <a:solidFill>
              <a:srgbClr val="D4AF37"/>
            </a:solidFill>
            <a:ln>
              <a:noFill/>
            </a:ln>
          </p:spPr>
        </p:sp>
        <p:sp>
          <p:nvSpPr>
            <p:cNvPr id="128" name="TextBox 128"/>
            <p:cNvSpPr txBox="1"/>
            <p:nvPr/>
          </p:nvSpPr>
          <p:spPr>
            <a:xfrm>
              <a:off x="9919240" y="3321368"/>
              <a:ext cx="249079" cy="152400"/>
            </a:xfrm>
            <a:prstGeom prst="rect">
              <a:avLst/>
            </a:prstGeom>
            <a:noFill/>
            <a:ln>
              <a:noFill/>
            </a:ln>
          </p:spPr>
          <p:txBody>
            <a:bodyPr wrap="none" lIns="0" tIns="0" rIns="0" bIns="0" anchor="t" anchorCtr="0">
              <a:spAutoFit/>
            </a:bodyPr>
            <a:lstStyle/>
            <a:p>
              <a:pPr algn="l"/>
              <a:r>
                <a:rPr lang="zh-CN" sz="750" b="1" dirty="0">
                  <a:solidFill>
                    <a:srgbClr val="0A0A0A"/>
                  </a:solidFill>
                  <a:latin typeface="Arial" panose="020B0604020202090204"/>
                  <a:ea typeface="微软雅黑"/>
                  <a:cs typeface="Arial" panose="020B0604020202090204"/>
                </a:rPr>
                <a:t>制造</a:t>
              </a:r>
              <a:endParaRPr lang="zh-CN" sz="750" b="1" dirty="0">
                <a:solidFill>
                  <a:srgbClr val="0A0A0A"/>
                </a:solidFill>
                <a:latin typeface="Arial" panose="020B0604020202090204"/>
                <a:ea typeface="微软雅黑"/>
                <a:cs typeface="Arial" panose="020B0604020202090204"/>
              </a:endParaRPr>
            </a:p>
          </p:txBody>
        </p:sp>
        <p:sp>
          <p:nvSpPr>
            <p:cNvPr id="129" name="TextBox 129"/>
            <p:cNvSpPr txBox="1"/>
            <p:nvPr/>
          </p:nvSpPr>
          <p:spPr>
            <a:xfrm>
              <a:off x="9929622" y="3453289"/>
              <a:ext cx="155162" cy="137160"/>
            </a:xfrm>
            <a:prstGeom prst="rect">
              <a:avLst/>
            </a:prstGeom>
            <a:noFill/>
            <a:ln>
              <a:noFill/>
            </a:ln>
          </p:spPr>
          <p:txBody>
            <a:bodyPr wrap="none" lIns="0" tIns="0" rIns="0" bIns="0" anchor="t" anchorCtr="0">
              <a:spAutoFit/>
            </a:bodyPr>
            <a:lstStyle/>
            <a:p>
              <a:pPr algn="l"/>
              <a:r>
                <a:rPr lang="zh-CN" sz="675" dirty="0">
                  <a:solidFill>
                    <a:srgbClr val="888888"/>
                  </a:solidFill>
                  <a:latin typeface="Arial" panose="020B0604020202090204"/>
                  <a:ea typeface="微软雅黑"/>
                  <a:cs typeface="Arial" panose="020B0604020202090204"/>
                </a:rPr>
                <a:t>15%</a:t>
              </a:r>
              <a:endParaRPr lang="zh-CN" sz="675" dirty="0">
                <a:solidFill>
                  <a:srgbClr val="888888"/>
                </a:solidFill>
                <a:latin typeface="Arial" panose="020B0604020202090204"/>
                <a:ea typeface="微软雅黑"/>
                <a:cs typeface="Arial" panose="020B0604020202090204"/>
              </a:endParaRPr>
            </a:p>
          </p:txBody>
        </p:sp>
        <p:sp>
          <p:nvSpPr>
            <p:cNvPr id="130" name="Rectangle 130"/>
            <p:cNvSpPr/>
            <p:nvPr/>
          </p:nvSpPr>
          <p:spPr>
            <a:xfrm>
              <a:off x="10597420" y="2907030"/>
              <a:ext cx="994410" cy="361950"/>
            </a:xfrm>
            <a:prstGeom prst="roundRect">
              <a:avLst>
                <a:gd name="adj" fmla="val 7895"/>
              </a:avLst>
            </a:prstGeom>
            <a:solidFill>
              <a:srgbClr val="0070F3"/>
            </a:solidFill>
            <a:ln>
              <a:noFill/>
            </a:ln>
          </p:spPr>
        </p:sp>
        <p:sp>
          <p:nvSpPr>
            <p:cNvPr id="131" name="TextBox 131"/>
            <p:cNvSpPr txBox="1"/>
            <p:nvPr/>
          </p:nvSpPr>
          <p:spPr>
            <a:xfrm>
              <a:off x="10989850" y="3321368"/>
              <a:ext cx="249079" cy="152400"/>
            </a:xfrm>
            <a:prstGeom prst="rect">
              <a:avLst/>
            </a:prstGeom>
            <a:noFill/>
            <a:ln>
              <a:noFill/>
            </a:ln>
          </p:spPr>
          <p:txBody>
            <a:bodyPr wrap="none" lIns="0" tIns="0" rIns="0" bIns="0" anchor="t" anchorCtr="0">
              <a:spAutoFit/>
            </a:bodyPr>
            <a:lstStyle/>
            <a:p>
              <a:pPr algn="l"/>
              <a:r>
                <a:rPr lang="zh-CN" sz="750" b="1" dirty="0">
                  <a:solidFill>
                    <a:srgbClr val="0A0A0A"/>
                  </a:solidFill>
                  <a:latin typeface="Arial" panose="020B0604020202090204"/>
                  <a:ea typeface="微软雅黑"/>
                  <a:cs typeface="Arial" panose="020B0604020202090204"/>
                </a:rPr>
                <a:t>其他</a:t>
              </a:r>
              <a:endParaRPr lang="zh-CN" sz="750" b="1" dirty="0">
                <a:solidFill>
                  <a:srgbClr val="0A0A0A"/>
                </a:solidFill>
                <a:latin typeface="Arial" panose="020B0604020202090204"/>
                <a:ea typeface="微软雅黑"/>
                <a:cs typeface="Arial" panose="020B0604020202090204"/>
              </a:endParaRPr>
            </a:p>
          </p:txBody>
        </p:sp>
        <p:sp>
          <p:nvSpPr>
            <p:cNvPr id="132" name="TextBox 132"/>
            <p:cNvSpPr txBox="1"/>
            <p:nvPr/>
          </p:nvSpPr>
          <p:spPr>
            <a:xfrm>
              <a:off x="11024140" y="3453289"/>
              <a:ext cx="125587" cy="137160"/>
            </a:xfrm>
            <a:prstGeom prst="rect">
              <a:avLst/>
            </a:prstGeom>
            <a:noFill/>
            <a:ln>
              <a:noFill/>
            </a:ln>
          </p:spPr>
          <p:txBody>
            <a:bodyPr wrap="none" lIns="0" tIns="0" rIns="0" bIns="0" anchor="t" anchorCtr="0">
              <a:spAutoFit/>
            </a:bodyPr>
            <a:lstStyle/>
            <a:p>
              <a:pPr algn="l"/>
              <a:r>
                <a:rPr lang="zh-CN" sz="675" dirty="0">
                  <a:solidFill>
                    <a:srgbClr val="888888"/>
                  </a:solidFill>
                  <a:latin typeface="Arial" panose="020B0604020202090204"/>
                  <a:ea typeface="微软雅黑"/>
                  <a:cs typeface="Arial" panose="020B0604020202090204"/>
                </a:rPr>
                <a:t>8%</a:t>
              </a:r>
              <a:endParaRPr lang="zh-CN" sz="675" dirty="0">
                <a:solidFill>
                  <a:srgbClr val="888888"/>
                </a:solidFill>
                <a:latin typeface="Arial" panose="020B0604020202090204"/>
                <a:ea typeface="微软雅黑"/>
                <a:cs typeface="Arial" panose="020B0604020202090204"/>
              </a:endParaRPr>
            </a:p>
          </p:txBody>
        </p:sp>
        <p:sp>
          <p:nvSpPr>
            <p:cNvPr id="133" name="Rectangle 133"/>
            <p:cNvSpPr/>
            <p:nvPr/>
          </p:nvSpPr>
          <p:spPr>
            <a:xfrm>
              <a:off x="6172200" y="4383405"/>
              <a:ext cx="5562600" cy="2090738"/>
            </a:xfrm>
            <a:prstGeom prst="roundRect">
              <a:avLst>
                <a:gd name="adj" fmla="val 2733"/>
              </a:avLst>
            </a:prstGeom>
            <a:solidFill>
              <a:srgbClr val="FAFAFA"/>
            </a:solidFill>
            <a:ln>
              <a:noFill/>
            </a:ln>
          </p:spPr>
        </p:sp>
        <p:sp>
          <p:nvSpPr>
            <p:cNvPr id="134" name="Line 134"/>
            <p:cNvSpPr/>
            <p:nvPr/>
          </p:nvSpPr>
          <p:spPr>
            <a:xfrm>
              <a:off x="6172200" y="4383405"/>
              <a:ext cx="5562600" cy="9525"/>
            </a:xfrm>
            <a:custGeom>
              <a:avLst/>
              <a:gdLst/>
              <a:ahLst/>
              <a:cxnLst/>
              <a:rect l="l" t="t" r="r" b="b"/>
              <a:pathLst>
                <a:path w="5562600" h="9525">
                  <a:moveTo>
                    <a:pt x="0" y="0"/>
                  </a:moveTo>
                  <a:lnTo>
                    <a:pt x="5562600" y="0"/>
                  </a:lnTo>
                </a:path>
              </a:pathLst>
            </a:custGeom>
            <a:noFill/>
            <a:ln w="9525">
              <a:solidFill>
                <a:srgbClr val="E0E0E0"/>
              </a:solidFill>
            </a:ln>
          </p:spPr>
        </p:sp>
        <p:sp>
          <p:nvSpPr>
            <p:cNvPr id="135" name="Line 135"/>
            <p:cNvSpPr/>
            <p:nvPr/>
          </p:nvSpPr>
          <p:spPr>
            <a:xfrm>
              <a:off x="11734800" y="4383405"/>
              <a:ext cx="9525" cy="2090738"/>
            </a:xfrm>
            <a:custGeom>
              <a:avLst/>
              <a:gdLst/>
              <a:ahLst/>
              <a:cxnLst/>
              <a:rect l="l" t="t" r="r" b="b"/>
              <a:pathLst>
                <a:path w="9525" h="2090738">
                  <a:moveTo>
                    <a:pt x="0" y="0"/>
                  </a:moveTo>
                  <a:lnTo>
                    <a:pt x="0" y="2090738"/>
                  </a:lnTo>
                </a:path>
              </a:pathLst>
            </a:custGeom>
            <a:noFill/>
            <a:ln w="9525">
              <a:solidFill>
                <a:srgbClr val="E0E0E0"/>
              </a:solidFill>
            </a:ln>
          </p:spPr>
        </p:sp>
        <p:sp>
          <p:nvSpPr>
            <p:cNvPr id="136" name="Line 136"/>
            <p:cNvSpPr/>
            <p:nvPr/>
          </p:nvSpPr>
          <p:spPr>
            <a:xfrm>
              <a:off x="6172200" y="6474142"/>
              <a:ext cx="5562600" cy="9525"/>
            </a:xfrm>
            <a:custGeom>
              <a:avLst/>
              <a:gdLst/>
              <a:ahLst/>
              <a:cxnLst/>
              <a:rect l="l" t="t" r="r" b="b"/>
              <a:pathLst>
                <a:path w="5562600" h="9525">
                  <a:moveTo>
                    <a:pt x="0" y="0"/>
                  </a:moveTo>
                  <a:lnTo>
                    <a:pt x="5562600" y="0"/>
                  </a:lnTo>
                </a:path>
              </a:pathLst>
            </a:custGeom>
            <a:noFill/>
            <a:ln w="9525">
              <a:solidFill>
                <a:srgbClr val="E0E0E0"/>
              </a:solidFill>
            </a:ln>
          </p:spPr>
        </p:sp>
        <p:sp>
          <p:nvSpPr>
            <p:cNvPr id="137" name="Line 137"/>
            <p:cNvSpPr/>
            <p:nvPr/>
          </p:nvSpPr>
          <p:spPr>
            <a:xfrm>
              <a:off x="6172200" y="4383405"/>
              <a:ext cx="9525" cy="2090738"/>
            </a:xfrm>
            <a:custGeom>
              <a:avLst/>
              <a:gdLst/>
              <a:ahLst/>
              <a:cxnLst/>
              <a:rect l="l" t="t" r="r" b="b"/>
              <a:pathLst>
                <a:path w="9525" h="2090738">
                  <a:moveTo>
                    <a:pt x="0" y="0"/>
                  </a:moveTo>
                  <a:lnTo>
                    <a:pt x="0" y="2090738"/>
                  </a:lnTo>
                </a:path>
              </a:pathLst>
            </a:custGeom>
            <a:noFill/>
            <a:ln w="9525">
              <a:solidFill>
                <a:srgbClr val="E0E0E0"/>
              </a:solidFill>
            </a:ln>
          </p:spPr>
        </p:sp>
        <p:sp>
          <p:nvSpPr>
            <p:cNvPr id="138" name="TextBox 138"/>
            <p:cNvSpPr txBox="1"/>
            <p:nvPr/>
          </p:nvSpPr>
          <p:spPr>
            <a:xfrm>
              <a:off x="6301740" y="4546282"/>
              <a:ext cx="670750"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关键洞察</a:t>
              </a:r>
              <a:endParaRPr lang="zh-CN" sz="1050" b="1" dirty="0">
                <a:solidFill>
                  <a:srgbClr val="0A0A0A"/>
                </a:solidFill>
                <a:latin typeface="Times New Roman" panose="02020503050405090304"/>
                <a:ea typeface="宋体"/>
                <a:cs typeface="Times New Roman" panose="02020503050405090304"/>
              </a:endParaRPr>
            </a:p>
          </p:txBody>
        </p:sp>
        <p:sp>
          <p:nvSpPr>
            <p:cNvPr id="139" name="Rectangle 139"/>
            <p:cNvSpPr/>
            <p:nvPr/>
          </p:nvSpPr>
          <p:spPr>
            <a:xfrm>
              <a:off x="6315075" y="4792980"/>
              <a:ext cx="5276850" cy="178118"/>
            </a:xfrm>
            <a:prstGeom prst="rect">
              <a:avLst/>
            </a:prstGeom>
            <a:noFill/>
            <a:ln>
              <a:noFill/>
            </a:ln>
          </p:spPr>
        </p:sp>
        <p:sp>
          <p:nvSpPr>
            <p:cNvPr id="140" name="Line 140"/>
            <p:cNvSpPr/>
            <p:nvPr/>
          </p:nvSpPr>
          <p:spPr>
            <a:xfrm>
              <a:off x="6315075" y="4792980"/>
              <a:ext cx="9525" cy="178022"/>
            </a:xfrm>
            <a:custGeom>
              <a:avLst/>
              <a:gdLst/>
              <a:ahLst/>
              <a:cxnLst/>
              <a:rect l="l" t="t" r="r" b="b"/>
              <a:pathLst>
                <a:path w="9525" h="178022">
                  <a:moveTo>
                    <a:pt x="0" y="0"/>
                  </a:moveTo>
                  <a:lnTo>
                    <a:pt x="0" y="178022"/>
                  </a:lnTo>
                </a:path>
              </a:pathLst>
            </a:custGeom>
            <a:noFill/>
            <a:ln w="19050">
              <a:solidFill>
                <a:srgbClr val="0070F3"/>
              </a:solidFill>
            </a:ln>
          </p:spPr>
        </p:sp>
        <p:sp>
          <p:nvSpPr>
            <p:cNvPr id="141" name="TextBox 141"/>
            <p:cNvSpPr txBox="1"/>
            <p:nvPr/>
          </p:nvSpPr>
          <p:spPr>
            <a:xfrm>
              <a:off x="6418898" y="4808696"/>
              <a:ext cx="389474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78%《财富》 500强企业已部署 AI解决方案， LLM企业市场年增速超 150%</a:t>
              </a:r>
              <a:endParaRPr lang="zh-CN" sz="825" dirty="0">
                <a:solidFill>
                  <a:srgbClr val="555555"/>
                </a:solidFill>
                <a:latin typeface="Arial" panose="020B0604020202090204"/>
                <a:ea typeface="微软雅黑"/>
                <a:cs typeface="Arial" panose="020B0604020202090204"/>
              </a:endParaRPr>
            </a:p>
          </p:txBody>
        </p:sp>
        <p:sp>
          <p:nvSpPr>
            <p:cNvPr id="142" name="Rectangle 142"/>
            <p:cNvSpPr/>
            <p:nvPr/>
          </p:nvSpPr>
          <p:spPr>
            <a:xfrm>
              <a:off x="6315075" y="5028152"/>
              <a:ext cx="5276850" cy="178118"/>
            </a:xfrm>
            <a:prstGeom prst="rect">
              <a:avLst/>
            </a:prstGeom>
            <a:noFill/>
            <a:ln>
              <a:noFill/>
            </a:ln>
          </p:spPr>
        </p:sp>
        <p:sp>
          <p:nvSpPr>
            <p:cNvPr id="143" name="Line 143"/>
            <p:cNvSpPr/>
            <p:nvPr/>
          </p:nvSpPr>
          <p:spPr>
            <a:xfrm>
              <a:off x="6315075" y="5028152"/>
              <a:ext cx="9525" cy="178118"/>
            </a:xfrm>
            <a:custGeom>
              <a:avLst/>
              <a:gdLst/>
              <a:ahLst/>
              <a:cxnLst/>
              <a:rect l="l" t="t" r="r" b="b"/>
              <a:pathLst>
                <a:path w="9525" h="178118">
                  <a:moveTo>
                    <a:pt x="0" y="0"/>
                  </a:moveTo>
                  <a:lnTo>
                    <a:pt x="0" y="178118"/>
                  </a:lnTo>
                </a:path>
              </a:pathLst>
            </a:custGeom>
            <a:noFill/>
            <a:ln w="19050">
              <a:solidFill>
                <a:srgbClr val="D4AF37"/>
              </a:solidFill>
            </a:ln>
          </p:spPr>
        </p:sp>
        <p:sp>
          <p:nvSpPr>
            <p:cNvPr id="144" name="TextBox 144"/>
            <p:cNvSpPr txBox="1"/>
            <p:nvPr/>
          </p:nvSpPr>
          <p:spPr>
            <a:xfrm>
              <a:off x="6418898" y="5043868"/>
              <a:ext cx="3105531"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AI投资平均回收周期缩短至 14个月，运营成本降低 20-40%</a:t>
              </a:r>
              <a:endParaRPr lang="zh-CN" sz="825" dirty="0">
                <a:solidFill>
                  <a:srgbClr val="555555"/>
                </a:solidFill>
                <a:latin typeface="Arial" panose="020B0604020202090204"/>
                <a:ea typeface="微软雅黑"/>
                <a:cs typeface="Arial" panose="020B0604020202090204"/>
              </a:endParaRPr>
            </a:p>
          </p:txBody>
        </p:sp>
        <p:sp>
          <p:nvSpPr>
            <p:cNvPr id="145" name="Rectangle 145"/>
            <p:cNvSpPr/>
            <p:nvPr/>
          </p:nvSpPr>
          <p:spPr>
            <a:xfrm>
              <a:off x="6315075" y="5263420"/>
              <a:ext cx="5276850" cy="178118"/>
            </a:xfrm>
            <a:prstGeom prst="rect">
              <a:avLst/>
            </a:prstGeom>
            <a:noFill/>
            <a:ln>
              <a:noFill/>
            </a:ln>
          </p:spPr>
        </p:sp>
        <p:sp>
          <p:nvSpPr>
            <p:cNvPr id="146" name="Line 146"/>
            <p:cNvSpPr/>
            <p:nvPr/>
          </p:nvSpPr>
          <p:spPr>
            <a:xfrm>
              <a:off x="6315075" y="5263420"/>
              <a:ext cx="9525" cy="178022"/>
            </a:xfrm>
            <a:custGeom>
              <a:avLst/>
              <a:gdLst/>
              <a:ahLst/>
              <a:cxnLst/>
              <a:rect l="l" t="t" r="r" b="b"/>
              <a:pathLst>
                <a:path w="9525" h="178022">
                  <a:moveTo>
                    <a:pt x="0" y="0"/>
                  </a:moveTo>
                  <a:lnTo>
                    <a:pt x="0" y="178022"/>
                  </a:lnTo>
                </a:path>
              </a:pathLst>
            </a:custGeom>
            <a:noFill/>
            <a:ln w="19050">
              <a:solidFill>
                <a:srgbClr val="0070F3"/>
              </a:solidFill>
            </a:ln>
          </p:spPr>
        </p:sp>
        <p:sp>
          <p:nvSpPr>
            <p:cNvPr id="147" name="TextBox 147"/>
            <p:cNvSpPr txBox="1"/>
            <p:nvPr/>
          </p:nvSpPr>
          <p:spPr>
            <a:xfrm>
              <a:off x="6418898" y="5279136"/>
              <a:ext cx="461769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从客服自动化（Klarna -66%客服量）到科学发现（AlphaFold）， AI全面渗透核心业务</a:t>
              </a:r>
              <a:endParaRPr lang="zh-CN" sz="825" dirty="0">
                <a:solidFill>
                  <a:srgbClr val="555555"/>
                </a:solidFill>
                <a:latin typeface="Arial" panose="020B0604020202090204"/>
                <a:ea typeface="微软雅黑"/>
                <a:cs typeface="Arial" panose="020B0604020202090204"/>
              </a:endParaRPr>
            </a:p>
          </p:txBody>
        </p:sp>
        <p:sp>
          <p:nvSpPr>
            <p:cNvPr id="148" name="Rectangle 148"/>
            <p:cNvSpPr/>
            <p:nvPr/>
          </p:nvSpPr>
          <p:spPr>
            <a:xfrm>
              <a:off x="6315075" y="5498592"/>
              <a:ext cx="5276850" cy="178118"/>
            </a:xfrm>
            <a:prstGeom prst="rect">
              <a:avLst/>
            </a:prstGeom>
            <a:noFill/>
            <a:ln>
              <a:noFill/>
            </a:ln>
          </p:spPr>
        </p:sp>
        <p:sp>
          <p:nvSpPr>
            <p:cNvPr id="149" name="Line 149"/>
            <p:cNvSpPr/>
            <p:nvPr/>
          </p:nvSpPr>
          <p:spPr>
            <a:xfrm>
              <a:off x="6315075" y="5498592"/>
              <a:ext cx="9525" cy="178118"/>
            </a:xfrm>
            <a:custGeom>
              <a:avLst/>
              <a:gdLst/>
              <a:ahLst/>
              <a:cxnLst/>
              <a:rect l="l" t="t" r="r" b="b"/>
              <a:pathLst>
                <a:path w="9525" h="178118">
                  <a:moveTo>
                    <a:pt x="0" y="0"/>
                  </a:moveTo>
                  <a:lnTo>
                    <a:pt x="0" y="178118"/>
                  </a:lnTo>
                </a:path>
              </a:pathLst>
            </a:custGeom>
            <a:noFill/>
            <a:ln w="19050">
              <a:solidFill>
                <a:srgbClr val="D4AF37"/>
              </a:solidFill>
            </a:ln>
          </p:spPr>
        </p:sp>
        <p:sp>
          <p:nvSpPr>
            <p:cNvPr id="150" name="TextBox 150"/>
            <p:cNvSpPr txBox="1"/>
            <p:nvPr/>
          </p:nvSpPr>
          <p:spPr>
            <a:xfrm>
              <a:off x="6418898" y="5514308"/>
              <a:ext cx="393089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panose="020B0604020202090204"/>
                  <a:ea typeface="微软雅黑"/>
                  <a:cs typeface="Arial" panose="020B0604020202090204"/>
                </a:rPr>
                <a:t>金融业用例密度最高（摩根大通 300+），医疗业潜力最大（1940亿美元）</a:t>
              </a:r>
              <a:endParaRPr lang="zh-CN" sz="825" dirty="0">
                <a:solidFill>
                  <a:srgbClr val="555555"/>
                </a:solidFill>
                <a:latin typeface="Arial" panose="020B0604020202090204"/>
                <a:ea typeface="微软雅黑"/>
                <a:cs typeface="Arial" panose="020B0604020202090204"/>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151" name="Group 151"/>
          <p:cNvGrpSpPr/>
          <p:nvPr/>
        </p:nvGrpSpPr>
        <p:grpSpPr>
          <a:xfrm>
            <a:off x="240030" y="228600"/>
            <a:ext cx="11694795" cy="6410325"/>
            <a:chOff x="240030" y="228600"/>
            <a:chExt cx="11694795" cy="6410325"/>
          </a:xfrm>
        </p:grpSpPr>
        <p:sp>
          <p:nvSpPr>
            <p:cNvPr id="5" name="TextBox 5"/>
            <p:cNvSpPr txBox="1"/>
            <p:nvPr/>
          </p:nvSpPr>
          <p:spPr>
            <a:xfrm>
              <a:off x="240030" y="268605"/>
              <a:ext cx="7186532"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Times New Roman" panose="02020503050405090304"/>
                  <a:ea typeface="宋体"/>
                  <a:cs typeface="Times New Roman" panose="02020503050405090304"/>
                </a:rPr>
                <a:t>美国印度主导全球 AI人才格局，新兴城市正在崛起</a:t>
              </a:r>
              <a:endParaRPr lang="zh-CN" sz="210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255270" y="636270"/>
              <a:ext cx="3453574"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美国和印度占据全球 AI劳动力 54%，英德以新加正快速崛起</a:t>
              </a:r>
              <a:endParaRPr lang="zh-CN" sz="900" dirty="0">
                <a:solidFill>
                  <a:srgbClr val="0A0A0A"/>
                </a:solidFill>
                <a:latin typeface="Arial" panose="020B0604020202090204"/>
                <a:ea typeface="微软雅黑"/>
                <a:cs typeface="Arial" panose="020B0604020202090204"/>
              </a:endParaRPr>
            </a:p>
          </p:txBody>
        </p:sp>
        <p:sp>
          <p:nvSpPr>
            <p:cNvPr id="7" name="Rectangle 7"/>
            <p:cNvSpPr/>
            <p:nvPr/>
          </p:nvSpPr>
          <p:spPr>
            <a:xfrm>
              <a:off x="10541984" y="228600"/>
              <a:ext cx="1383316" cy="276225"/>
            </a:xfrm>
            <a:prstGeom prst="roundRect">
              <a:avLst>
                <a:gd name="adj" fmla="val 50000"/>
              </a:avLst>
            </a:prstGeom>
            <a:solidFill>
              <a:srgbClr val="0070F3">
                <a:alpha val="10000"/>
              </a:srgbClr>
            </a:solidFill>
            <a:ln>
              <a:noFill/>
            </a:ln>
          </p:spPr>
        </p:sp>
        <p:sp>
          <p:nvSpPr>
            <p:cNvPr id="8" name="Line 8"/>
            <p:cNvSpPr/>
            <p:nvPr/>
          </p:nvSpPr>
          <p:spPr>
            <a:xfrm>
              <a:off x="10541984" y="228600"/>
              <a:ext cx="1383316" cy="9525"/>
            </a:xfrm>
            <a:custGeom>
              <a:avLst/>
              <a:gdLst/>
              <a:ahLst/>
              <a:cxnLst/>
              <a:rect l="l" t="t" r="r" b="b"/>
              <a:pathLst>
                <a:path w="1383316" h="9525">
                  <a:moveTo>
                    <a:pt x="0" y="0"/>
                  </a:moveTo>
                  <a:lnTo>
                    <a:pt x="1383316" y="0"/>
                  </a:lnTo>
                </a:path>
              </a:pathLst>
            </a:custGeom>
            <a:noFill/>
            <a:ln w="9525">
              <a:solidFill>
                <a:srgbClr val="0070F3">
                  <a:alpha val="20000"/>
                </a:srgbClr>
              </a:solidFill>
            </a:ln>
          </p:spPr>
        </p:sp>
        <p:sp>
          <p:nvSpPr>
            <p:cNvPr id="9" name="Line 9"/>
            <p:cNvSpPr/>
            <p:nvPr/>
          </p:nvSpPr>
          <p:spPr>
            <a:xfrm>
              <a:off x="11925300" y="228600"/>
              <a:ext cx="9525" cy="276225"/>
            </a:xfrm>
            <a:custGeom>
              <a:avLst/>
              <a:gdLst/>
              <a:ahLst/>
              <a:cxnLst/>
              <a:rect l="l" t="t" r="r" b="b"/>
              <a:pathLst>
                <a:path w="9525" h="276225">
                  <a:moveTo>
                    <a:pt x="0" y="0"/>
                  </a:moveTo>
                  <a:lnTo>
                    <a:pt x="0" y="276225"/>
                  </a:lnTo>
                </a:path>
              </a:pathLst>
            </a:custGeom>
            <a:noFill/>
            <a:ln w="9525">
              <a:solidFill>
                <a:srgbClr val="0070F3">
                  <a:alpha val="20000"/>
                </a:srgbClr>
              </a:solidFill>
            </a:ln>
          </p:spPr>
        </p:sp>
        <p:sp>
          <p:nvSpPr>
            <p:cNvPr id="10" name="Line 10"/>
            <p:cNvSpPr/>
            <p:nvPr/>
          </p:nvSpPr>
          <p:spPr>
            <a:xfrm>
              <a:off x="10541984" y="504825"/>
              <a:ext cx="1383316" cy="9525"/>
            </a:xfrm>
            <a:custGeom>
              <a:avLst/>
              <a:gdLst/>
              <a:ahLst/>
              <a:cxnLst/>
              <a:rect l="l" t="t" r="r" b="b"/>
              <a:pathLst>
                <a:path w="1383316" h="9525">
                  <a:moveTo>
                    <a:pt x="0" y="0"/>
                  </a:moveTo>
                  <a:lnTo>
                    <a:pt x="1383316" y="0"/>
                  </a:lnTo>
                </a:path>
              </a:pathLst>
            </a:custGeom>
            <a:noFill/>
            <a:ln w="9525">
              <a:solidFill>
                <a:srgbClr val="0070F3">
                  <a:alpha val="20000"/>
                </a:srgbClr>
              </a:solidFill>
            </a:ln>
          </p:spPr>
        </p:sp>
        <p:sp>
          <p:nvSpPr>
            <p:cNvPr id="11" name="Line 11"/>
            <p:cNvSpPr/>
            <p:nvPr/>
          </p:nvSpPr>
          <p:spPr>
            <a:xfrm>
              <a:off x="10541984" y="228600"/>
              <a:ext cx="9525" cy="276225"/>
            </a:xfrm>
            <a:custGeom>
              <a:avLst/>
              <a:gdLst/>
              <a:ahLst/>
              <a:cxnLst/>
              <a:rect l="l" t="t" r="r" b="b"/>
              <a:pathLst>
                <a:path w="9525" h="276225">
                  <a:moveTo>
                    <a:pt x="0" y="0"/>
                  </a:moveTo>
                  <a:lnTo>
                    <a:pt x="0" y="276225"/>
                  </a:lnTo>
                </a:path>
              </a:pathLst>
            </a:custGeom>
            <a:noFill/>
            <a:ln w="9525">
              <a:solidFill>
                <a:srgbClr val="0070F3">
                  <a:alpha val="20000"/>
                </a:srgbClr>
              </a:solidFill>
            </a:ln>
          </p:spPr>
        </p:sp>
        <p:sp>
          <p:nvSpPr>
            <p:cNvPr id="12" name="TextBox 12"/>
            <p:cNvSpPr txBox="1"/>
            <p:nvPr/>
          </p:nvSpPr>
          <p:spPr>
            <a:xfrm>
              <a:off x="10645807" y="301466"/>
              <a:ext cx="1111401"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数据来源 : LinkedIn</a:t>
              </a:r>
              <a:endParaRPr lang="zh-CN" sz="825" dirty="0">
                <a:solidFill>
                  <a:srgbClr val="0070F3"/>
                </a:solidFill>
                <a:latin typeface="Arial" panose="020B0604020202090204"/>
                <a:ea typeface="微软雅黑"/>
                <a:cs typeface="Arial" panose="020B0604020202090204"/>
              </a:endParaRPr>
            </a:p>
          </p:txBody>
        </p:sp>
        <p:sp>
          <p:nvSpPr>
            <p:cNvPr id="13" name="TextBox 13"/>
            <p:cNvSpPr txBox="1"/>
            <p:nvPr/>
          </p:nvSpPr>
          <p:spPr>
            <a:xfrm>
              <a:off x="10645807" y="432435"/>
              <a:ext cx="286036"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2024</a:t>
              </a:r>
              <a:endParaRPr lang="zh-CN" sz="825" dirty="0">
                <a:solidFill>
                  <a:srgbClr val="0070F3"/>
                </a:solidFill>
                <a:latin typeface="Arial" panose="020B0604020202090204"/>
                <a:ea typeface="微软雅黑"/>
                <a:cs typeface="Arial" panose="020B0604020202090204"/>
              </a:endParaRPr>
            </a:p>
          </p:txBody>
        </p:sp>
        <p:sp>
          <p:nvSpPr>
            <p:cNvPr id="14" name="Rectangle 14"/>
            <p:cNvSpPr/>
            <p:nvPr/>
          </p:nvSpPr>
          <p:spPr>
            <a:xfrm>
              <a:off x="266700" y="942975"/>
              <a:ext cx="5238750" cy="4724400"/>
            </a:xfrm>
            <a:prstGeom prst="roundRect">
              <a:avLst>
                <a:gd name="adj" fmla="val 3226"/>
              </a:avLst>
            </a:prstGeom>
            <a:solidFill>
              <a:srgbClr val="FFFFFF">
                <a:alpha val="85000"/>
              </a:srgbClr>
            </a:solidFill>
            <a:ln>
              <a:noFill/>
            </a:ln>
          </p:spPr>
        </p:sp>
        <p:sp>
          <p:nvSpPr>
            <p:cNvPr id="15" name="Line 15"/>
            <p:cNvSpPr/>
            <p:nvPr/>
          </p:nvSpPr>
          <p:spPr>
            <a:xfrm>
              <a:off x="266700" y="942975"/>
              <a:ext cx="5238750" cy="9525"/>
            </a:xfrm>
            <a:custGeom>
              <a:avLst/>
              <a:gdLst/>
              <a:ahLst/>
              <a:cxnLst/>
              <a:rect l="l" t="t" r="r" b="b"/>
              <a:pathLst>
                <a:path w="5238750" h="9525">
                  <a:moveTo>
                    <a:pt x="0" y="0"/>
                  </a:moveTo>
                  <a:lnTo>
                    <a:pt x="5238750" y="0"/>
                  </a:lnTo>
                </a:path>
              </a:pathLst>
            </a:custGeom>
            <a:noFill/>
            <a:ln w="9525">
              <a:solidFill>
                <a:srgbClr val="0070F3">
                  <a:alpha val="12000"/>
                </a:srgbClr>
              </a:solidFill>
            </a:ln>
          </p:spPr>
        </p:sp>
        <p:sp>
          <p:nvSpPr>
            <p:cNvPr id="16" name="Line 16"/>
            <p:cNvSpPr/>
            <p:nvPr/>
          </p:nvSpPr>
          <p:spPr>
            <a:xfrm>
              <a:off x="5505450" y="942975"/>
              <a:ext cx="9525" cy="4724400"/>
            </a:xfrm>
            <a:custGeom>
              <a:avLst/>
              <a:gdLst/>
              <a:ahLst/>
              <a:cxnLst/>
              <a:rect l="l" t="t" r="r" b="b"/>
              <a:pathLst>
                <a:path w="9525" h="4724400">
                  <a:moveTo>
                    <a:pt x="0" y="0"/>
                  </a:moveTo>
                  <a:lnTo>
                    <a:pt x="0" y="4724400"/>
                  </a:lnTo>
                </a:path>
              </a:pathLst>
            </a:custGeom>
            <a:noFill/>
            <a:ln w="9525">
              <a:solidFill>
                <a:srgbClr val="0070F3">
                  <a:alpha val="12000"/>
                </a:srgbClr>
              </a:solidFill>
            </a:ln>
          </p:spPr>
        </p:sp>
        <p:sp>
          <p:nvSpPr>
            <p:cNvPr id="17" name="Line 17"/>
            <p:cNvSpPr/>
            <p:nvPr/>
          </p:nvSpPr>
          <p:spPr>
            <a:xfrm>
              <a:off x="266700" y="5667375"/>
              <a:ext cx="5238750" cy="9525"/>
            </a:xfrm>
            <a:custGeom>
              <a:avLst/>
              <a:gdLst/>
              <a:ahLst/>
              <a:cxnLst/>
              <a:rect l="l" t="t" r="r" b="b"/>
              <a:pathLst>
                <a:path w="5238750" h="9525">
                  <a:moveTo>
                    <a:pt x="0" y="0"/>
                  </a:moveTo>
                  <a:lnTo>
                    <a:pt x="5238750" y="0"/>
                  </a:lnTo>
                </a:path>
              </a:pathLst>
            </a:custGeom>
            <a:noFill/>
            <a:ln w="9525">
              <a:solidFill>
                <a:srgbClr val="0070F3">
                  <a:alpha val="12000"/>
                </a:srgbClr>
              </a:solidFill>
            </a:ln>
          </p:spPr>
        </p:sp>
        <p:sp>
          <p:nvSpPr>
            <p:cNvPr id="18" name="Line 18"/>
            <p:cNvSpPr/>
            <p:nvPr/>
          </p:nvSpPr>
          <p:spPr>
            <a:xfrm>
              <a:off x="266700" y="942975"/>
              <a:ext cx="9525" cy="4724400"/>
            </a:xfrm>
            <a:custGeom>
              <a:avLst/>
              <a:gdLst/>
              <a:ahLst/>
              <a:cxnLst/>
              <a:rect l="l" t="t" r="r" b="b"/>
              <a:pathLst>
                <a:path w="9525" h="4724400">
                  <a:moveTo>
                    <a:pt x="0" y="0"/>
                  </a:moveTo>
                  <a:lnTo>
                    <a:pt x="0" y="4724400"/>
                  </a:lnTo>
                </a:path>
              </a:pathLst>
            </a:custGeom>
            <a:noFill/>
            <a:ln w="9525">
              <a:solidFill>
                <a:srgbClr val="0070F3">
                  <a:alpha val="12000"/>
                </a:srgbClr>
              </a:solidFill>
            </a:ln>
          </p:spPr>
        </p:sp>
        <p:sp>
          <p:nvSpPr>
            <p:cNvPr id="19" name="TextBox 19"/>
            <p:cNvSpPr txBox="1"/>
            <p:nvPr/>
          </p:nvSpPr>
          <p:spPr>
            <a:xfrm>
              <a:off x="434340" y="1124902"/>
              <a:ext cx="1500004"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Arial" panose="020B0604020202090204"/>
                  <a:ea typeface="微软雅黑"/>
                  <a:cs typeface="Arial" panose="020B0604020202090204"/>
                </a:rPr>
                <a:t>全球 AI人才国家分布</a:t>
              </a:r>
              <a:endParaRPr lang="zh-CN" sz="1050" b="1" dirty="0">
                <a:solidFill>
                  <a:srgbClr val="0A0A0A"/>
                </a:solidFill>
                <a:latin typeface="Arial" panose="020B0604020202090204"/>
                <a:ea typeface="微软雅黑"/>
                <a:cs typeface="Arial" panose="020B0604020202090204"/>
              </a:endParaRPr>
            </a:p>
          </p:txBody>
        </p:sp>
        <p:sp>
          <p:nvSpPr>
            <p:cNvPr id="20" name="TextBox 20"/>
            <p:cNvSpPr txBox="1"/>
            <p:nvPr/>
          </p:nvSpPr>
          <p:spPr>
            <a:xfrm>
              <a:off x="437198" y="1339691"/>
              <a:ext cx="1942790"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美国印度占比 54%，新兴市场快速崛</a:t>
              </a:r>
              <a:endParaRPr lang="zh-CN" sz="825" dirty="0">
                <a:solidFill>
                  <a:srgbClr val="94A3B8"/>
                </a:solidFill>
                <a:latin typeface="Arial" panose="020B0604020202090204"/>
                <a:ea typeface="微软雅黑"/>
                <a:cs typeface="Arial" panose="020B0604020202090204"/>
              </a:endParaRPr>
            </a:p>
          </p:txBody>
        </p:sp>
        <p:sp>
          <p:nvSpPr>
            <p:cNvPr id="21" name="TextBox 21"/>
            <p:cNvSpPr txBox="1"/>
            <p:nvPr/>
          </p:nvSpPr>
          <p:spPr>
            <a:xfrm>
              <a:off x="437198" y="1470660"/>
              <a:ext cx="141446"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panose="020B0604020202090204"/>
                  <a:ea typeface="微软雅黑"/>
                  <a:cs typeface="Arial" panose="020B0604020202090204"/>
                </a:rPr>
                <a:t>起</a:t>
              </a:r>
              <a:endParaRPr lang="zh-CN" sz="825" dirty="0">
                <a:solidFill>
                  <a:srgbClr val="94A3B8"/>
                </a:solidFill>
                <a:latin typeface="Arial" panose="020B0604020202090204"/>
                <a:ea typeface="微软雅黑"/>
                <a:cs typeface="Arial" panose="020B0604020202090204"/>
              </a:endParaRPr>
            </a:p>
          </p:txBody>
        </p:sp>
        <p:sp>
          <p:nvSpPr>
            <p:cNvPr id="22" name="Rectangle 22"/>
            <p:cNvSpPr/>
            <p:nvPr/>
          </p:nvSpPr>
          <p:spPr>
            <a:xfrm>
              <a:off x="4563428" y="1176338"/>
              <a:ext cx="761048" cy="219075"/>
            </a:xfrm>
            <a:prstGeom prst="roundRect">
              <a:avLst>
                <a:gd name="adj" fmla="val 50000"/>
              </a:avLst>
            </a:prstGeom>
            <a:solidFill>
              <a:srgbClr val="0070F3">
                <a:alpha val="10000"/>
              </a:srgbClr>
            </a:solidFill>
            <a:ln>
              <a:noFill/>
            </a:ln>
          </p:spPr>
        </p:sp>
        <p:sp>
          <p:nvSpPr>
            <p:cNvPr id="23" name="TextBox 23"/>
            <p:cNvSpPr txBox="1"/>
            <p:nvPr/>
          </p:nvSpPr>
          <p:spPr>
            <a:xfrm>
              <a:off x="4648200" y="1230154"/>
              <a:ext cx="671608"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单位 :占比%</a:t>
              </a:r>
              <a:endParaRPr lang="zh-CN" sz="825" dirty="0">
                <a:solidFill>
                  <a:srgbClr val="0070F3"/>
                </a:solidFill>
                <a:latin typeface="Arial" panose="020B0604020202090204"/>
                <a:ea typeface="微软雅黑"/>
                <a:cs typeface="Arial" panose="020B0604020202090204"/>
              </a:endParaRPr>
            </a:p>
          </p:txBody>
        </p:sp>
        <p:grpSp>
          <p:nvGrpSpPr>
            <p:cNvPr id="69" name="Group 69"/>
            <p:cNvGrpSpPr/>
            <p:nvPr/>
          </p:nvGrpSpPr>
          <p:grpSpPr>
            <a:xfrm>
              <a:off x="447675" y="1322070"/>
              <a:ext cx="4876800" cy="4183380"/>
              <a:chOff x="447675" y="1322070"/>
              <a:chExt cx="4876800" cy="4183380"/>
            </a:xfrm>
          </p:grpSpPr>
          <p:sp>
            <p:nvSpPr>
              <p:cNvPr id="24" name="Rectangle 24"/>
              <p:cNvSpPr/>
              <p:nvPr/>
            </p:nvSpPr>
            <p:spPr>
              <a:xfrm>
                <a:off x="447675" y="1466850"/>
                <a:ext cx="4876800" cy="4038600"/>
              </a:xfrm>
              <a:prstGeom prst="rect">
                <a:avLst/>
              </a:prstGeom>
              <a:noFill/>
              <a:ln>
                <a:noFill/>
              </a:ln>
            </p:spPr>
          </p:sp>
          <p:grpSp>
            <p:nvGrpSpPr>
              <p:cNvPr id="68" name="Group 68"/>
              <p:cNvGrpSpPr/>
              <p:nvPr/>
            </p:nvGrpSpPr>
            <p:grpSpPr>
              <a:xfrm>
                <a:off x="889159" y="1322070"/>
                <a:ext cx="4297204" cy="3904774"/>
                <a:chOff x="889159" y="1322070"/>
                <a:chExt cx="4297204" cy="3904774"/>
              </a:xfrm>
            </p:grpSpPr>
            <p:sp>
              <p:nvSpPr>
                <p:cNvPr id="25" name="Freeform 25"/>
                <p:cNvSpPr/>
                <p:nvPr/>
              </p:nvSpPr>
              <p:spPr>
                <a:xfrm>
                  <a:off x="1095375" y="5024438"/>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26" name="Freeform 26"/>
                <p:cNvSpPr/>
                <p:nvPr/>
              </p:nvSpPr>
              <p:spPr>
                <a:xfrm>
                  <a:off x="1095375" y="4538662"/>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27" name="Freeform 27"/>
                <p:cNvSpPr/>
                <p:nvPr/>
              </p:nvSpPr>
              <p:spPr>
                <a:xfrm>
                  <a:off x="1095375" y="4052888"/>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28" name="Freeform 28"/>
                <p:cNvSpPr/>
                <p:nvPr/>
              </p:nvSpPr>
              <p:spPr>
                <a:xfrm>
                  <a:off x="1095375" y="3567112"/>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29" name="Freeform 29"/>
                <p:cNvSpPr/>
                <p:nvPr/>
              </p:nvSpPr>
              <p:spPr>
                <a:xfrm>
                  <a:off x="1095375" y="3081338"/>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30" name="Freeform 30"/>
                <p:cNvSpPr/>
                <p:nvPr/>
              </p:nvSpPr>
              <p:spPr>
                <a:xfrm>
                  <a:off x="1095375" y="2595562"/>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31" name="Freeform 31"/>
                <p:cNvSpPr/>
                <p:nvPr/>
              </p:nvSpPr>
              <p:spPr>
                <a:xfrm>
                  <a:off x="1095375" y="2109788"/>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32" name="Freeform 32"/>
                <p:cNvSpPr/>
                <p:nvPr/>
              </p:nvSpPr>
              <p:spPr>
                <a:xfrm>
                  <a:off x="1095375" y="1624012"/>
                  <a:ext cx="4076700" cy="9525"/>
                </a:xfrm>
                <a:custGeom>
                  <a:avLst/>
                  <a:gdLst/>
                  <a:ahLst/>
                  <a:cxnLst/>
                  <a:rect l="l" t="t" r="r" b="b"/>
                  <a:pathLst>
                    <a:path w="4076700" h="9525">
                      <a:moveTo>
                        <a:pt x="0" y="0"/>
                      </a:moveTo>
                      <a:lnTo>
                        <a:pt x="4076700" y="0"/>
                      </a:lnTo>
                    </a:path>
                  </a:pathLst>
                </a:custGeom>
                <a:noFill/>
                <a:ln w="9525">
                  <a:solidFill>
                    <a:srgbClr val="94A3B8">
                      <a:alpha val="10000"/>
                    </a:srgbClr>
                  </a:solidFill>
                </a:ln>
              </p:spPr>
            </p:sp>
            <p:sp>
              <p:nvSpPr>
                <p:cNvPr id="33" name="TextBox 33"/>
                <p:cNvSpPr txBox="1"/>
                <p:nvPr/>
              </p:nvSpPr>
              <p:spPr>
                <a:xfrm>
                  <a:off x="916353" y="1322070"/>
                  <a:ext cx="358045" cy="182880"/>
                </a:xfrm>
                <a:prstGeom prst="rect">
                  <a:avLst/>
                </a:prstGeom>
                <a:noFill/>
                <a:ln>
                  <a:noFill/>
                </a:ln>
              </p:spPr>
              <p:txBody>
                <a:bodyPr wrap="none" lIns="0" tIns="0" rIns="0" bIns="0" anchor="t" anchorCtr="0">
                  <a:spAutoFit/>
                </a:bodyPr>
                <a:lstStyle/>
                <a:p>
                  <a:pPr algn="ctr"/>
                  <a:r>
                    <a:rPr lang="zh-CN" sz="900" dirty="0">
                      <a:solidFill>
                        <a:srgbClr val="E0E0E0"/>
                      </a:solidFill>
                      <a:latin typeface="Segoe UI"/>
                      <a:ea typeface="微软雅黑"/>
                      <a:cs typeface="Segoe UI"/>
                    </a:rPr>
                    <a:t>占比%</a:t>
                  </a:r>
                  <a:endParaRPr lang="zh-CN" sz="900" dirty="0">
                    <a:solidFill>
                      <a:srgbClr val="E0E0E0"/>
                    </a:solidFill>
                    <a:latin typeface="Segoe UI"/>
                    <a:ea typeface="微软雅黑"/>
                    <a:cs typeface="Segoe UI"/>
                  </a:endParaRPr>
                </a:p>
              </p:txBody>
            </p:sp>
            <p:sp>
              <p:nvSpPr>
                <p:cNvPr id="34" name="Freeform 34"/>
                <p:cNvSpPr/>
                <p:nvPr/>
              </p:nvSpPr>
              <p:spPr>
                <a:xfrm>
                  <a:off x="1095375" y="5024438"/>
                  <a:ext cx="4076700" cy="9525"/>
                </a:xfrm>
                <a:custGeom>
                  <a:avLst/>
                  <a:gdLst/>
                  <a:ahLst/>
                  <a:cxnLst/>
                  <a:rect l="l" t="t" r="r" b="b"/>
                  <a:pathLst>
                    <a:path w="4076700" h="9525">
                      <a:moveTo>
                        <a:pt x="0" y="0"/>
                      </a:moveTo>
                      <a:lnTo>
                        <a:pt x="4076700" y="0"/>
                      </a:lnTo>
                    </a:path>
                  </a:pathLst>
                </a:custGeom>
                <a:noFill/>
                <a:ln w="9525" cap="rnd">
                  <a:solidFill>
                    <a:srgbClr val="E0E0E0"/>
                  </a:solidFill>
                </a:ln>
              </p:spPr>
            </p:sp>
            <p:sp>
              <p:nvSpPr>
                <p:cNvPr id="35" name="Freeform 35"/>
                <p:cNvSpPr/>
                <p:nvPr/>
              </p:nvSpPr>
              <p:spPr>
                <a:xfrm>
                  <a:off x="1100138" y="5019675"/>
                  <a:ext cx="9525" cy="47625"/>
                </a:xfrm>
                <a:custGeom>
                  <a:avLst/>
                  <a:gdLst/>
                  <a:ahLst/>
                  <a:cxnLst/>
                  <a:rect l="l" t="t" r="r" b="b"/>
                  <a:pathLst>
                    <a:path w="9525" h="47625">
                      <a:moveTo>
                        <a:pt x="0" y="0"/>
                      </a:moveTo>
                      <a:lnTo>
                        <a:pt x="0" y="47625"/>
                      </a:lnTo>
                    </a:path>
                  </a:pathLst>
                </a:custGeom>
                <a:noFill/>
                <a:ln w="9525">
                  <a:solidFill>
                    <a:srgbClr val="E0E0E0"/>
                  </a:solidFill>
                </a:ln>
              </p:spPr>
            </p:sp>
            <p:sp>
              <p:nvSpPr>
                <p:cNvPr id="36" name="Freeform 36"/>
                <p:cNvSpPr/>
                <p:nvPr/>
              </p:nvSpPr>
              <p:spPr>
                <a:xfrm>
                  <a:off x="1776412" y="5019675"/>
                  <a:ext cx="9525" cy="47625"/>
                </a:xfrm>
                <a:custGeom>
                  <a:avLst/>
                  <a:gdLst/>
                  <a:ahLst/>
                  <a:cxnLst/>
                  <a:rect l="l" t="t" r="r" b="b"/>
                  <a:pathLst>
                    <a:path w="9525" h="47625">
                      <a:moveTo>
                        <a:pt x="0" y="0"/>
                      </a:moveTo>
                      <a:lnTo>
                        <a:pt x="0" y="47625"/>
                      </a:lnTo>
                    </a:path>
                  </a:pathLst>
                </a:custGeom>
                <a:noFill/>
                <a:ln w="9525">
                  <a:solidFill>
                    <a:srgbClr val="E0E0E0"/>
                  </a:solidFill>
                </a:ln>
              </p:spPr>
            </p:sp>
            <p:sp>
              <p:nvSpPr>
                <p:cNvPr id="37" name="Freeform 37"/>
                <p:cNvSpPr/>
                <p:nvPr/>
              </p:nvSpPr>
              <p:spPr>
                <a:xfrm>
                  <a:off x="2452688" y="5019675"/>
                  <a:ext cx="9525" cy="47625"/>
                </a:xfrm>
                <a:custGeom>
                  <a:avLst/>
                  <a:gdLst/>
                  <a:ahLst/>
                  <a:cxnLst/>
                  <a:rect l="l" t="t" r="r" b="b"/>
                  <a:pathLst>
                    <a:path w="9525" h="47625">
                      <a:moveTo>
                        <a:pt x="0" y="0"/>
                      </a:moveTo>
                      <a:lnTo>
                        <a:pt x="0" y="47625"/>
                      </a:lnTo>
                    </a:path>
                  </a:pathLst>
                </a:custGeom>
                <a:noFill/>
                <a:ln w="9525">
                  <a:solidFill>
                    <a:srgbClr val="E0E0E0"/>
                  </a:solidFill>
                </a:ln>
              </p:spPr>
            </p:sp>
            <p:sp>
              <p:nvSpPr>
                <p:cNvPr id="38" name="Freeform 38"/>
                <p:cNvSpPr/>
                <p:nvPr/>
              </p:nvSpPr>
              <p:spPr>
                <a:xfrm>
                  <a:off x="3138488" y="5019675"/>
                  <a:ext cx="9525" cy="47625"/>
                </a:xfrm>
                <a:custGeom>
                  <a:avLst/>
                  <a:gdLst/>
                  <a:ahLst/>
                  <a:cxnLst/>
                  <a:rect l="l" t="t" r="r" b="b"/>
                  <a:pathLst>
                    <a:path w="9525" h="47625">
                      <a:moveTo>
                        <a:pt x="0" y="0"/>
                      </a:moveTo>
                      <a:lnTo>
                        <a:pt x="0" y="47625"/>
                      </a:lnTo>
                    </a:path>
                  </a:pathLst>
                </a:custGeom>
                <a:noFill/>
                <a:ln w="9525">
                  <a:solidFill>
                    <a:srgbClr val="E0E0E0"/>
                  </a:solidFill>
                </a:ln>
              </p:spPr>
            </p:sp>
            <p:sp>
              <p:nvSpPr>
                <p:cNvPr id="39" name="Freeform 39"/>
                <p:cNvSpPr/>
                <p:nvPr/>
              </p:nvSpPr>
              <p:spPr>
                <a:xfrm>
                  <a:off x="3814762" y="5019675"/>
                  <a:ext cx="9525" cy="47625"/>
                </a:xfrm>
                <a:custGeom>
                  <a:avLst/>
                  <a:gdLst/>
                  <a:ahLst/>
                  <a:cxnLst/>
                  <a:rect l="l" t="t" r="r" b="b"/>
                  <a:pathLst>
                    <a:path w="9525" h="47625">
                      <a:moveTo>
                        <a:pt x="0" y="0"/>
                      </a:moveTo>
                      <a:lnTo>
                        <a:pt x="0" y="47625"/>
                      </a:lnTo>
                    </a:path>
                  </a:pathLst>
                </a:custGeom>
                <a:noFill/>
                <a:ln w="9525">
                  <a:solidFill>
                    <a:srgbClr val="E0E0E0"/>
                  </a:solidFill>
                </a:ln>
              </p:spPr>
            </p:sp>
            <p:sp>
              <p:nvSpPr>
                <p:cNvPr id="40" name="Freeform 40"/>
                <p:cNvSpPr/>
                <p:nvPr/>
              </p:nvSpPr>
              <p:spPr>
                <a:xfrm>
                  <a:off x="4491038" y="5019675"/>
                  <a:ext cx="9525" cy="47625"/>
                </a:xfrm>
                <a:custGeom>
                  <a:avLst/>
                  <a:gdLst/>
                  <a:ahLst/>
                  <a:cxnLst/>
                  <a:rect l="l" t="t" r="r" b="b"/>
                  <a:pathLst>
                    <a:path w="9525" h="47625">
                      <a:moveTo>
                        <a:pt x="0" y="0"/>
                      </a:moveTo>
                      <a:lnTo>
                        <a:pt x="0" y="47625"/>
                      </a:lnTo>
                    </a:path>
                  </a:pathLst>
                </a:custGeom>
                <a:noFill/>
                <a:ln w="9525">
                  <a:solidFill>
                    <a:srgbClr val="E0E0E0"/>
                  </a:solidFill>
                </a:ln>
              </p:spPr>
            </p:sp>
            <p:sp>
              <p:nvSpPr>
                <p:cNvPr id="41" name="Freeform 41"/>
                <p:cNvSpPr/>
                <p:nvPr/>
              </p:nvSpPr>
              <p:spPr>
                <a:xfrm>
                  <a:off x="5176838" y="5019675"/>
                  <a:ext cx="9525" cy="47625"/>
                </a:xfrm>
                <a:custGeom>
                  <a:avLst/>
                  <a:gdLst/>
                  <a:ahLst/>
                  <a:cxnLst/>
                  <a:rect l="l" t="t" r="r" b="b"/>
                  <a:pathLst>
                    <a:path w="9525" h="47625">
                      <a:moveTo>
                        <a:pt x="0" y="0"/>
                      </a:moveTo>
                      <a:lnTo>
                        <a:pt x="0" y="47625"/>
                      </a:lnTo>
                    </a:path>
                  </a:pathLst>
                </a:custGeom>
                <a:noFill/>
                <a:ln w="9525">
                  <a:solidFill>
                    <a:srgbClr val="E0E0E0"/>
                  </a:solidFill>
                </a:ln>
              </p:spPr>
            </p:sp>
            <p:sp>
              <p:nvSpPr>
                <p:cNvPr id="42" name="TextBox 42"/>
                <p:cNvSpPr txBox="1"/>
                <p:nvPr/>
              </p:nvSpPr>
              <p:spPr>
                <a:xfrm>
                  <a:off x="949404" y="4938712"/>
                  <a:ext cx="79296"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0</a:t>
                  </a:r>
                  <a:endParaRPr lang="zh-CN" sz="750" dirty="0">
                    <a:solidFill>
                      <a:srgbClr val="94A3B8"/>
                    </a:solidFill>
                    <a:latin typeface="Segoe UI"/>
                    <a:ea typeface="微软雅黑"/>
                    <a:cs typeface="Segoe UI"/>
                  </a:endParaRPr>
                </a:p>
              </p:txBody>
            </p:sp>
            <p:sp>
              <p:nvSpPr>
                <p:cNvPr id="43" name="TextBox 43"/>
                <p:cNvSpPr txBox="1"/>
                <p:nvPr/>
              </p:nvSpPr>
              <p:spPr>
                <a:xfrm>
                  <a:off x="949404" y="4452938"/>
                  <a:ext cx="79296"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5</a:t>
                  </a:r>
                  <a:endParaRPr lang="zh-CN" sz="750" dirty="0">
                    <a:solidFill>
                      <a:srgbClr val="94A3B8"/>
                    </a:solidFill>
                    <a:latin typeface="Segoe UI"/>
                    <a:ea typeface="微软雅黑"/>
                    <a:cs typeface="Segoe UI"/>
                  </a:endParaRPr>
                </a:p>
              </p:txBody>
            </p:sp>
            <p:sp>
              <p:nvSpPr>
                <p:cNvPr id="44" name="TextBox 44"/>
                <p:cNvSpPr txBox="1"/>
                <p:nvPr/>
              </p:nvSpPr>
              <p:spPr>
                <a:xfrm>
                  <a:off x="916543" y="3967162"/>
                  <a:ext cx="112157"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10</a:t>
                  </a:r>
                  <a:endParaRPr lang="zh-CN" sz="750" dirty="0">
                    <a:solidFill>
                      <a:srgbClr val="94A3B8"/>
                    </a:solidFill>
                    <a:latin typeface="Segoe UI"/>
                    <a:ea typeface="微软雅黑"/>
                    <a:cs typeface="Segoe UI"/>
                  </a:endParaRPr>
                </a:p>
              </p:txBody>
            </p:sp>
            <p:sp>
              <p:nvSpPr>
                <p:cNvPr id="45" name="TextBox 45"/>
                <p:cNvSpPr txBox="1"/>
                <p:nvPr/>
              </p:nvSpPr>
              <p:spPr>
                <a:xfrm>
                  <a:off x="916543" y="3481388"/>
                  <a:ext cx="112157"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15</a:t>
                  </a:r>
                  <a:endParaRPr lang="zh-CN" sz="750" dirty="0">
                    <a:solidFill>
                      <a:srgbClr val="94A3B8"/>
                    </a:solidFill>
                    <a:latin typeface="Segoe UI"/>
                    <a:ea typeface="微软雅黑"/>
                    <a:cs typeface="Segoe UI"/>
                  </a:endParaRPr>
                </a:p>
              </p:txBody>
            </p:sp>
            <p:sp>
              <p:nvSpPr>
                <p:cNvPr id="46" name="TextBox 46"/>
                <p:cNvSpPr txBox="1"/>
                <p:nvPr/>
              </p:nvSpPr>
              <p:spPr>
                <a:xfrm>
                  <a:off x="889159" y="2995612"/>
                  <a:ext cx="139541"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20</a:t>
                  </a:r>
                  <a:endParaRPr lang="zh-CN" sz="750" dirty="0">
                    <a:solidFill>
                      <a:srgbClr val="94A3B8"/>
                    </a:solidFill>
                    <a:latin typeface="Segoe UI"/>
                    <a:ea typeface="微软雅黑"/>
                    <a:cs typeface="Segoe UI"/>
                  </a:endParaRPr>
                </a:p>
              </p:txBody>
            </p:sp>
            <p:sp>
              <p:nvSpPr>
                <p:cNvPr id="47" name="TextBox 47"/>
                <p:cNvSpPr txBox="1"/>
                <p:nvPr/>
              </p:nvSpPr>
              <p:spPr>
                <a:xfrm>
                  <a:off x="889159" y="2509838"/>
                  <a:ext cx="139541"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25</a:t>
                  </a:r>
                  <a:endParaRPr lang="zh-CN" sz="750" dirty="0">
                    <a:solidFill>
                      <a:srgbClr val="94A3B8"/>
                    </a:solidFill>
                    <a:latin typeface="Segoe UI"/>
                    <a:ea typeface="微软雅黑"/>
                    <a:cs typeface="Segoe UI"/>
                  </a:endParaRPr>
                </a:p>
              </p:txBody>
            </p:sp>
            <p:sp>
              <p:nvSpPr>
                <p:cNvPr id="48" name="TextBox 48"/>
                <p:cNvSpPr txBox="1"/>
                <p:nvPr/>
              </p:nvSpPr>
              <p:spPr>
                <a:xfrm>
                  <a:off x="889159" y="2024062"/>
                  <a:ext cx="139541"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30</a:t>
                  </a:r>
                  <a:endParaRPr lang="zh-CN" sz="750" dirty="0">
                    <a:solidFill>
                      <a:srgbClr val="94A3B8"/>
                    </a:solidFill>
                    <a:latin typeface="Segoe UI"/>
                    <a:ea typeface="微软雅黑"/>
                    <a:cs typeface="Segoe UI"/>
                  </a:endParaRPr>
                </a:p>
              </p:txBody>
            </p:sp>
            <p:sp>
              <p:nvSpPr>
                <p:cNvPr id="49" name="TextBox 49"/>
                <p:cNvSpPr txBox="1"/>
                <p:nvPr/>
              </p:nvSpPr>
              <p:spPr>
                <a:xfrm>
                  <a:off x="889159" y="1538288"/>
                  <a:ext cx="139541" cy="152400"/>
                </a:xfrm>
                <a:prstGeom prst="rect">
                  <a:avLst/>
                </a:prstGeom>
                <a:noFill/>
                <a:ln>
                  <a:noFill/>
                </a:ln>
              </p:spPr>
              <p:txBody>
                <a:bodyPr wrap="none" lIns="0" tIns="0" rIns="0" bIns="0" anchor="t" anchorCtr="0">
                  <a:spAutoFit/>
                </a:bodyPr>
                <a:lstStyle/>
                <a:p>
                  <a:pPr algn="r"/>
                  <a:r>
                    <a:rPr lang="zh-CN" sz="750" dirty="0">
                      <a:solidFill>
                        <a:srgbClr val="94A3B8"/>
                      </a:solidFill>
                      <a:latin typeface="Segoe UI"/>
                      <a:ea typeface="微软雅黑"/>
                      <a:cs typeface="Segoe UI"/>
                    </a:rPr>
                    <a:t>35</a:t>
                  </a:r>
                  <a:endParaRPr lang="zh-CN" sz="750" dirty="0">
                    <a:solidFill>
                      <a:srgbClr val="94A3B8"/>
                    </a:solidFill>
                    <a:latin typeface="Segoe UI"/>
                    <a:ea typeface="微软雅黑"/>
                    <a:cs typeface="Segoe UI"/>
                  </a:endParaRPr>
                </a:p>
              </p:txBody>
            </p:sp>
            <p:sp>
              <p:nvSpPr>
                <p:cNvPr id="50" name="TextBox 50"/>
                <p:cNvSpPr txBox="1"/>
                <p:nvPr/>
              </p:nvSpPr>
              <p:spPr>
                <a:xfrm>
                  <a:off x="1304132" y="5059204"/>
                  <a:ext cx="261937"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美国</a:t>
                  </a:r>
                  <a:endParaRPr lang="zh-CN" sz="825" dirty="0">
                    <a:solidFill>
                      <a:srgbClr val="94A3B8"/>
                    </a:solidFill>
                    <a:latin typeface="Segoe UI"/>
                    <a:ea typeface="微软雅黑"/>
                    <a:cs typeface="Segoe UI"/>
                  </a:endParaRPr>
                </a:p>
              </p:txBody>
            </p:sp>
            <p:sp>
              <p:nvSpPr>
                <p:cNvPr id="51" name="TextBox 51"/>
                <p:cNvSpPr txBox="1"/>
                <p:nvPr/>
              </p:nvSpPr>
              <p:spPr>
                <a:xfrm>
                  <a:off x="1983581" y="5059204"/>
                  <a:ext cx="261937"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印度</a:t>
                  </a:r>
                  <a:endParaRPr lang="zh-CN" sz="825" dirty="0">
                    <a:solidFill>
                      <a:srgbClr val="94A3B8"/>
                    </a:solidFill>
                    <a:latin typeface="Segoe UI"/>
                    <a:ea typeface="微软雅黑"/>
                    <a:cs typeface="Segoe UI"/>
                  </a:endParaRPr>
                </a:p>
              </p:txBody>
            </p:sp>
            <p:sp>
              <p:nvSpPr>
                <p:cNvPr id="52" name="TextBox 52"/>
                <p:cNvSpPr txBox="1"/>
                <p:nvPr/>
              </p:nvSpPr>
              <p:spPr>
                <a:xfrm>
                  <a:off x="2663031" y="5059204"/>
                  <a:ext cx="261937"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中国</a:t>
                  </a:r>
                  <a:endParaRPr lang="zh-CN" sz="825" dirty="0">
                    <a:solidFill>
                      <a:srgbClr val="94A3B8"/>
                    </a:solidFill>
                    <a:latin typeface="Segoe UI"/>
                    <a:ea typeface="微软雅黑"/>
                    <a:cs typeface="Segoe UI"/>
                  </a:endParaRPr>
                </a:p>
              </p:txBody>
            </p:sp>
            <p:sp>
              <p:nvSpPr>
                <p:cNvPr id="53" name="TextBox 53"/>
                <p:cNvSpPr txBox="1"/>
                <p:nvPr/>
              </p:nvSpPr>
              <p:spPr>
                <a:xfrm>
                  <a:off x="3342482" y="5059204"/>
                  <a:ext cx="261937"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欧洲</a:t>
                  </a:r>
                  <a:endParaRPr lang="zh-CN" sz="825" dirty="0">
                    <a:solidFill>
                      <a:srgbClr val="94A3B8"/>
                    </a:solidFill>
                    <a:latin typeface="Segoe UI"/>
                    <a:ea typeface="微软雅黑"/>
                    <a:cs typeface="Segoe UI"/>
                  </a:endParaRPr>
                </a:p>
              </p:txBody>
            </p:sp>
            <p:sp>
              <p:nvSpPr>
                <p:cNvPr id="54" name="TextBox 54"/>
                <p:cNvSpPr txBox="1"/>
                <p:nvPr/>
              </p:nvSpPr>
              <p:spPr>
                <a:xfrm>
                  <a:off x="3901440" y="5059204"/>
                  <a:ext cx="502920"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亚太其他</a:t>
                  </a:r>
                  <a:endParaRPr lang="zh-CN" sz="825" dirty="0">
                    <a:solidFill>
                      <a:srgbClr val="94A3B8"/>
                    </a:solidFill>
                    <a:latin typeface="Segoe UI"/>
                    <a:ea typeface="微软雅黑"/>
                    <a:cs typeface="Segoe UI"/>
                  </a:endParaRPr>
                </a:p>
              </p:txBody>
            </p:sp>
            <p:sp>
              <p:nvSpPr>
                <p:cNvPr id="55" name="TextBox 55"/>
                <p:cNvSpPr txBox="1"/>
                <p:nvPr/>
              </p:nvSpPr>
              <p:spPr>
                <a:xfrm>
                  <a:off x="4701381" y="5059204"/>
                  <a:ext cx="261937"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Segoe UI"/>
                      <a:ea typeface="微软雅黑"/>
                      <a:cs typeface="Segoe UI"/>
                    </a:rPr>
                    <a:t>英国</a:t>
                  </a:r>
                  <a:endParaRPr lang="zh-CN" sz="825" dirty="0">
                    <a:solidFill>
                      <a:srgbClr val="94A3B8"/>
                    </a:solidFill>
                    <a:latin typeface="Segoe UI"/>
                    <a:ea typeface="微软雅黑"/>
                    <a:cs typeface="Segoe UI"/>
                  </a:endParaRPr>
                </a:p>
              </p:txBody>
            </p:sp>
            <p:sp>
              <p:nvSpPr>
                <p:cNvPr id="56" name="Freeform 56"/>
                <p:cNvSpPr/>
                <p:nvPr/>
              </p:nvSpPr>
              <p:spPr>
                <a:xfrm>
                  <a:off x="1263650" y="1910715"/>
                  <a:ext cx="342900" cy="3108960"/>
                </a:xfrm>
                <a:custGeom>
                  <a:avLst/>
                  <a:gdLst/>
                  <a:ahLst/>
                  <a:cxnLst/>
                  <a:rect l="l" t="t" r="r" b="b"/>
                  <a:pathLst>
                    <a:path w="342900" h="3108960">
                      <a:moveTo>
                        <a:pt x="57150" y="0"/>
                      </a:moveTo>
                      <a:lnTo>
                        <a:pt x="285750" y="0"/>
                      </a:lnTo>
                      <a:cubicBezTo>
                        <a:pt x="317313" y="0"/>
                        <a:pt x="342900" y="25587"/>
                        <a:pt x="342900" y="57150"/>
                      </a:cubicBezTo>
                      <a:lnTo>
                        <a:pt x="342900" y="3108960"/>
                      </a:lnTo>
                      <a:lnTo>
                        <a:pt x="0" y="3108960"/>
                      </a:lnTo>
                      <a:lnTo>
                        <a:pt x="0" y="57150"/>
                      </a:lnTo>
                      <a:cubicBezTo>
                        <a:pt x="0" y="25587"/>
                        <a:pt x="25587" y="0"/>
                        <a:pt x="57150" y="0"/>
                      </a:cubicBezTo>
                    </a:path>
                  </a:pathLst>
                </a:custGeom>
                <a:solidFill>
                  <a:srgbClr val="0070F3"/>
                </a:solidFill>
                <a:ln>
                  <a:noFill/>
                </a:ln>
              </p:spPr>
            </p:sp>
            <p:sp>
              <p:nvSpPr>
                <p:cNvPr id="57" name="Freeform 57"/>
                <p:cNvSpPr/>
                <p:nvPr/>
              </p:nvSpPr>
              <p:spPr>
                <a:xfrm>
                  <a:off x="1943100" y="2882265"/>
                  <a:ext cx="342900" cy="2137410"/>
                </a:xfrm>
                <a:custGeom>
                  <a:avLst/>
                  <a:gdLst/>
                  <a:ahLst/>
                  <a:cxnLst/>
                  <a:rect l="l" t="t" r="r" b="b"/>
                  <a:pathLst>
                    <a:path w="342900" h="2137410">
                      <a:moveTo>
                        <a:pt x="57150" y="0"/>
                      </a:moveTo>
                      <a:lnTo>
                        <a:pt x="285750" y="0"/>
                      </a:lnTo>
                      <a:cubicBezTo>
                        <a:pt x="317313" y="0"/>
                        <a:pt x="342900" y="25587"/>
                        <a:pt x="342900" y="57150"/>
                      </a:cubicBezTo>
                      <a:lnTo>
                        <a:pt x="342900" y="2137410"/>
                      </a:lnTo>
                      <a:lnTo>
                        <a:pt x="0" y="2137410"/>
                      </a:lnTo>
                      <a:lnTo>
                        <a:pt x="0" y="57150"/>
                      </a:lnTo>
                      <a:cubicBezTo>
                        <a:pt x="0" y="25587"/>
                        <a:pt x="25587" y="0"/>
                        <a:pt x="57150" y="0"/>
                      </a:cubicBezTo>
                    </a:path>
                  </a:pathLst>
                </a:custGeom>
                <a:solidFill>
                  <a:srgbClr val="0070F3"/>
                </a:solidFill>
                <a:ln>
                  <a:noFill/>
                </a:ln>
              </p:spPr>
            </p:sp>
            <p:sp>
              <p:nvSpPr>
                <p:cNvPr id="58" name="Freeform 58"/>
                <p:cNvSpPr/>
                <p:nvPr/>
              </p:nvSpPr>
              <p:spPr>
                <a:xfrm>
                  <a:off x="2622550" y="3270885"/>
                  <a:ext cx="342900" cy="1748790"/>
                </a:xfrm>
                <a:custGeom>
                  <a:avLst/>
                  <a:gdLst/>
                  <a:ahLst/>
                  <a:cxnLst/>
                  <a:rect l="l" t="t" r="r" b="b"/>
                  <a:pathLst>
                    <a:path w="342900" h="1748790">
                      <a:moveTo>
                        <a:pt x="57150" y="0"/>
                      </a:moveTo>
                      <a:lnTo>
                        <a:pt x="285750" y="0"/>
                      </a:lnTo>
                      <a:cubicBezTo>
                        <a:pt x="317313" y="0"/>
                        <a:pt x="342900" y="25587"/>
                        <a:pt x="342900" y="57150"/>
                      </a:cubicBezTo>
                      <a:lnTo>
                        <a:pt x="342900" y="1748790"/>
                      </a:lnTo>
                      <a:lnTo>
                        <a:pt x="0" y="1748790"/>
                      </a:lnTo>
                      <a:lnTo>
                        <a:pt x="0" y="57150"/>
                      </a:lnTo>
                      <a:cubicBezTo>
                        <a:pt x="0" y="25587"/>
                        <a:pt x="25587" y="0"/>
                        <a:pt x="57150" y="0"/>
                      </a:cubicBezTo>
                    </a:path>
                  </a:pathLst>
                </a:custGeom>
                <a:solidFill>
                  <a:srgbClr val="666666"/>
                </a:solidFill>
                <a:ln>
                  <a:noFill/>
                </a:ln>
              </p:spPr>
            </p:sp>
            <p:sp>
              <p:nvSpPr>
                <p:cNvPr id="59" name="Freeform 59"/>
                <p:cNvSpPr/>
                <p:nvPr/>
              </p:nvSpPr>
              <p:spPr>
                <a:xfrm>
                  <a:off x="3302000" y="3562350"/>
                  <a:ext cx="342900" cy="1457325"/>
                </a:xfrm>
                <a:custGeom>
                  <a:avLst/>
                  <a:gdLst/>
                  <a:ahLst/>
                  <a:cxnLst/>
                  <a:rect l="l" t="t" r="r" b="b"/>
                  <a:pathLst>
                    <a:path w="342900" h="1457325">
                      <a:moveTo>
                        <a:pt x="57150" y="0"/>
                      </a:moveTo>
                      <a:lnTo>
                        <a:pt x="285750" y="0"/>
                      </a:lnTo>
                      <a:cubicBezTo>
                        <a:pt x="317313" y="0"/>
                        <a:pt x="342900" y="25587"/>
                        <a:pt x="342900" y="57150"/>
                      </a:cubicBezTo>
                      <a:lnTo>
                        <a:pt x="342900" y="1457325"/>
                      </a:lnTo>
                      <a:lnTo>
                        <a:pt x="0" y="1457325"/>
                      </a:lnTo>
                      <a:lnTo>
                        <a:pt x="0" y="57150"/>
                      </a:lnTo>
                      <a:cubicBezTo>
                        <a:pt x="0" y="25587"/>
                        <a:pt x="25587" y="0"/>
                        <a:pt x="57150" y="0"/>
                      </a:cubicBezTo>
                    </a:path>
                  </a:pathLst>
                </a:custGeom>
                <a:solidFill>
                  <a:srgbClr val="888888"/>
                </a:solidFill>
                <a:ln>
                  <a:noFill/>
                </a:ln>
              </p:spPr>
            </p:sp>
            <p:sp>
              <p:nvSpPr>
                <p:cNvPr id="60" name="Freeform 60"/>
                <p:cNvSpPr/>
                <p:nvPr/>
              </p:nvSpPr>
              <p:spPr>
                <a:xfrm>
                  <a:off x="3981450" y="4242435"/>
                  <a:ext cx="342900" cy="777240"/>
                </a:xfrm>
                <a:custGeom>
                  <a:avLst/>
                  <a:gdLst/>
                  <a:ahLst/>
                  <a:cxnLst/>
                  <a:rect l="l" t="t" r="r" b="b"/>
                  <a:pathLst>
                    <a:path w="342900" h="777240">
                      <a:moveTo>
                        <a:pt x="57150" y="0"/>
                      </a:moveTo>
                      <a:lnTo>
                        <a:pt x="285750" y="0"/>
                      </a:lnTo>
                      <a:cubicBezTo>
                        <a:pt x="317313" y="0"/>
                        <a:pt x="342900" y="25587"/>
                        <a:pt x="342900" y="57150"/>
                      </a:cubicBezTo>
                      <a:lnTo>
                        <a:pt x="342900" y="777240"/>
                      </a:lnTo>
                      <a:lnTo>
                        <a:pt x="0" y="777240"/>
                      </a:lnTo>
                      <a:lnTo>
                        <a:pt x="0" y="57150"/>
                      </a:lnTo>
                      <a:cubicBezTo>
                        <a:pt x="0" y="25587"/>
                        <a:pt x="25587" y="0"/>
                        <a:pt x="57150" y="0"/>
                      </a:cubicBezTo>
                    </a:path>
                  </a:pathLst>
                </a:custGeom>
                <a:solidFill>
                  <a:srgbClr val="AAAAAA"/>
                </a:solidFill>
                <a:ln>
                  <a:noFill/>
                </a:ln>
              </p:spPr>
            </p:sp>
            <p:sp>
              <p:nvSpPr>
                <p:cNvPr id="61" name="Freeform 61"/>
                <p:cNvSpPr/>
                <p:nvPr/>
              </p:nvSpPr>
              <p:spPr>
                <a:xfrm>
                  <a:off x="4660900" y="4533900"/>
                  <a:ext cx="342900" cy="485775"/>
                </a:xfrm>
                <a:custGeom>
                  <a:avLst/>
                  <a:gdLst/>
                  <a:ahLst/>
                  <a:cxnLst/>
                  <a:rect l="l" t="t" r="r" b="b"/>
                  <a:pathLst>
                    <a:path w="342900" h="485775">
                      <a:moveTo>
                        <a:pt x="57150" y="0"/>
                      </a:moveTo>
                      <a:lnTo>
                        <a:pt x="285750" y="0"/>
                      </a:lnTo>
                      <a:cubicBezTo>
                        <a:pt x="317313" y="0"/>
                        <a:pt x="342900" y="25587"/>
                        <a:pt x="342900" y="57150"/>
                      </a:cubicBezTo>
                      <a:lnTo>
                        <a:pt x="342900" y="485775"/>
                      </a:lnTo>
                      <a:lnTo>
                        <a:pt x="0" y="485775"/>
                      </a:lnTo>
                      <a:lnTo>
                        <a:pt x="0" y="57150"/>
                      </a:lnTo>
                      <a:cubicBezTo>
                        <a:pt x="0" y="25587"/>
                        <a:pt x="25587" y="0"/>
                        <a:pt x="57150" y="0"/>
                      </a:cubicBezTo>
                    </a:path>
                  </a:pathLst>
                </a:custGeom>
                <a:solidFill>
                  <a:srgbClr val="D4AF37"/>
                </a:solidFill>
                <a:ln>
                  <a:noFill/>
                </a:ln>
              </p:spPr>
            </p:sp>
            <p:sp>
              <p:nvSpPr>
                <p:cNvPr id="62" name="TextBox 62"/>
                <p:cNvSpPr txBox="1"/>
                <p:nvPr/>
              </p:nvSpPr>
              <p:spPr>
                <a:xfrm>
                  <a:off x="1358353" y="1721644"/>
                  <a:ext cx="153495" cy="167640"/>
                </a:xfrm>
                <a:prstGeom prst="rect">
                  <a:avLst/>
                </a:prstGeom>
                <a:noFill/>
                <a:ln>
                  <a:noFill/>
                </a:ln>
              </p:spPr>
              <p:txBody>
                <a:bodyPr wrap="none" lIns="0" tIns="0" rIns="0" bIns="0" anchor="t" anchorCtr="0">
                  <a:spAutoFit/>
                </a:bodyPr>
                <a:lstStyle/>
                <a:p>
                  <a:pPr algn="ctr"/>
                  <a:r>
                    <a:rPr lang="zh-CN" sz="825" dirty="0">
                      <a:solidFill>
                        <a:srgbClr val="0070F3"/>
                      </a:solidFill>
                      <a:latin typeface="Segoe UI"/>
                      <a:ea typeface="微软雅黑"/>
                      <a:cs typeface="Segoe UI"/>
                    </a:rPr>
                    <a:t>32</a:t>
                  </a:r>
                  <a:endParaRPr lang="zh-CN" sz="825" dirty="0">
                    <a:solidFill>
                      <a:srgbClr val="0070F3"/>
                    </a:solidFill>
                    <a:latin typeface="Segoe UI"/>
                    <a:ea typeface="微软雅黑"/>
                    <a:cs typeface="Segoe UI"/>
                  </a:endParaRPr>
                </a:p>
              </p:txBody>
            </p:sp>
            <p:sp>
              <p:nvSpPr>
                <p:cNvPr id="63" name="TextBox 63"/>
                <p:cNvSpPr txBox="1"/>
                <p:nvPr/>
              </p:nvSpPr>
              <p:spPr>
                <a:xfrm>
                  <a:off x="2037802" y="2693194"/>
                  <a:ext cx="153495" cy="167640"/>
                </a:xfrm>
                <a:prstGeom prst="rect">
                  <a:avLst/>
                </a:prstGeom>
                <a:noFill/>
                <a:ln>
                  <a:noFill/>
                </a:ln>
              </p:spPr>
              <p:txBody>
                <a:bodyPr wrap="none" lIns="0" tIns="0" rIns="0" bIns="0" anchor="t" anchorCtr="0">
                  <a:spAutoFit/>
                </a:bodyPr>
                <a:lstStyle/>
                <a:p>
                  <a:pPr algn="ctr"/>
                  <a:r>
                    <a:rPr lang="zh-CN" sz="825" dirty="0">
                      <a:solidFill>
                        <a:srgbClr val="0070F3"/>
                      </a:solidFill>
                      <a:latin typeface="Segoe UI"/>
                      <a:ea typeface="微软雅黑"/>
                      <a:cs typeface="Segoe UI"/>
                    </a:rPr>
                    <a:t>22</a:t>
                  </a:r>
                  <a:endParaRPr lang="zh-CN" sz="825" dirty="0">
                    <a:solidFill>
                      <a:srgbClr val="0070F3"/>
                    </a:solidFill>
                    <a:latin typeface="Segoe UI"/>
                    <a:ea typeface="微软雅黑"/>
                    <a:cs typeface="Segoe UI"/>
                  </a:endParaRPr>
                </a:p>
              </p:txBody>
            </p:sp>
            <p:sp>
              <p:nvSpPr>
                <p:cNvPr id="64" name="TextBox 64"/>
                <p:cNvSpPr txBox="1"/>
                <p:nvPr/>
              </p:nvSpPr>
              <p:spPr>
                <a:xfrm>
                  <a:off x="2732313" y="3081814"/>
                  <a:ext cx="123373" cy="167640"/>
                </a:xfrm>
                <a:prstGeom prst="rect">
                  <a:avLst/>
                </a:prstGeom>
                <a:noFill/>
                <a:ln>
                  <a:noFill/>
                </a:ln>
              </p:spPr>
              <p:txBody>
                <a:bodyPr wrap="none" lIns="0" tIns="0" rIns="0" bIns="0" anchor="t" anchorCtr="0">
                  <a:spAutoFit/>
                </a:bodyPr>
                <a:lstStyle/>
                <a:p>
                  <a:pPr algn="ctr"/>
                  <a:r>
                    <a:rPr lang="zh-CN" sz="825" dirty="0">
                      <a:solidFill>
                        <a:srgbClr val="0070F3"/>
                      </a:solidFill>
                      <a:latin typeface="Segoe UI"/>
                      <a:ea typeface="微软雅黑"/>
                      <a:cs typeface="Segoe UI"/>
                    </a:rPr>
                    <a:t>18</a:t>
                  </a:r>
                  <a:endParaRPr lang="zh-CN" sz="825" dirty="0">
                    <a:solidFill>
                      <a:srgbClr val="0070F3"/>
                    </a:solidFill>
                    <a:latin typeface="Segoe UI"/>
                    <a:ea typeface="微软雅黑"/>
                    <a:cs typeface="Segoe UI"/>
                  </a:endParaRPr>
                </a:p>
              </p:txBody>
            </p:sp>
            <p:sp>
              <p:nvSpPr>
                <p:cNvPr id="65" name="TextBox 65"/>
                <p:cNvSpPr txBox="1"/>
                <p:nvPr/>
              </p:nvSpPr>
              <p:spPr>
                <a:xfrm>
                  <a:off x="3411764" y="3373279"/>
                  <a:ext cx="123373" cy="167640"/>
                </a:xfrm>
                <a:prstGeom prst="rect">
                  <a:avLst/>
                </a:prstGeom>
                <a:noFill/>
                <a:ln>
                  <a:noFill/>
                </a:ln>
              </p:spPr>
              <p:txBody>
                <a:bodyPr wrap="none" lIns="0" tIns="0" rIns="0" bIns="0" anchor="t" anchorCtr="0">
                  <a:spAutoFit/>
                </a:bodyPr>
                <a:lstStyle/>
                <a:p>
                  <a:pPr algn="ctr"/>
                  <a:r>
                    <a:rPr lang="zh-CN" sz="825" dirty="0">
                      <a:solidFill>
                        <a:srgbClr val="0070F3"/>
                      </a:solidFill>
                      <a:latin typeface="Segoe UI"/>
                      <a:ea typeface="微软雅黑"/>
                      <a:cs typeface="Segoe UI"/>
                    </a:rPr>
                    <a:t>15</a:t>
                  </a:r>
                  <a:endParaRPr lang="zh-CN" sz="825" dirty="0">
                    <a:solidFill>
                      <a:srgbClr val="0070F3"/>
                    </a:solidFill>
                    <a:latin typeface="Segoe UI"/>
                    <a:ea typeface="微软雅黑"/>
                    <a:cs typeface="Segoe UI"/>
                  </a:endParaRPr>
                </a:p>
              </p:txBody>
            </p:sp>
            <p:sp>
              <p:nvSpPr>
                <p:cNvPr id="66" name="TextBox 66"/>
                <p:cNvSpPr txBox="1"/>
                <p:nvPr/>
              </p:nvSpPr>
              <p:spPr>
                <a:xfrm>
                  <a:off x="4109287" y="4053364"/>
                  <a:ext cx="87225" cy="167640"/>
                </a:xfrm>
                <a:prstGeom prst="rect">
                  <a:avLst/>
                </a:prstGeom>
                <a:noFill/>
                <a:ln>
                  <a:noFill/>
                </a:ln>
              </p:spPr>
              <p:txBody>
                <a:bodyPr wrap="none" lIns="0" tIns="0" rIns="0" bIns="0" anchor="t" anchorCtr="0">
                  <a:spAutoFit/>
                </a:bodyPr>
                <a:lstStyle/>
                <a:p>
                  <a:pPr algn="ctr"/>
                  <a:r>
                    <a:rPr lang="zh-CN" sz="825" dirty="0">
                      <a:solidFill>
                        <a:srgbClr val="0070F3"/>
                      </a:solidFill>
                      <a:latin typeface="Segoe UI"/>
                      <a:ea typeface="微软雅黑"/>
                      <a:cs typeface="Segoe UI"/>
                    </a:rPr>
                    <a:t>8</a:t>
                  </a:r>
                  <a:endParaRPr lang="zh-CN" sz="825" dirty="0">
                    <a:solidFill>
                      <a:srgbClr val="0070F3"/>
                    </a:solidFill>
                    <a:latin typeface="Segoe UI"/>
                    <a:ea typeface="微软雅黑"/>
                    <a:cs typeface="Segoe UI"/>
                  </a:endParaRPr>
                </a:p>
              </p:txBody>
            </p:sp>
            <p:sp>
              <p:nvSpPr>
                <p:cNvPr id="67" name="TextBox 67"/>
                <p:cNvSpPr txBox="1"/>
                <p:nvPr/>
              </p:nvSpPr>
              <p:spPr>
                <a:xfrm>
                  <a:off x="4788737" y="4344829"/>
                  <a:ext cx="87225" cy="167640"/>
                </a:xfrm>
                <a:prstGeom prst="rect">
                  <a:avLst/>
                </a:prstGeom>
                <a:noFill/>
                <a:ln>
                  <a:noFill/>
                </a:ln>
              </p:spPr>
              <p:txBody>
                <a:bodyPr wrap="none" lIns="0" tIns="0" rIns="0" bIns="0" anchor="t" anchorCtr="0">
                  <a:spAutoFit/>
                </a:bodyPr>
                <a:lstStyle/>
                <a:p>
                  <a:pPr algn="ctr"/>
                  <a:r>
                    <a:rPr lang="zh-CN" sz="825" dirty="0">
                      <a:solidFill>
                        <a:srgbClr val="0070F3"/>
                      </a:solidFill>
                      <a:latin typeface="Segoe UI"/>
                      <a:ea typeface="微软雅黑"/>
                      <a:cs typeface="Segoe UI"/>
                    </a:rPr>
                    <a:t>5</a:t>
                  </a:r>
                  <a:endParaRPr lang="zh-CN" sz="825" dirty="0">
                    <a:solidFill>
                      <a:srgbClr val="0070F3"/>
                    </a:solidFill>
                    <a:latin typeface="Segoe UI"/>
                    <a:ea typeface="微软雅黑"/>
                    <a:cs typeface="Segoe UI"/>
                  </a:endParaRPr>
                </a:p>
              </p:txBody>
            </p:sp>
          </p:grpSp>
        </p:grpSp>
        <p:sp>
          <p:nvSpPr>
            <p:cNvPr id="70" name="Rectangle 70"/>
            <p:cNvSpPr/>
            <p:nvPr/>
          </p:nvSpPr>
          <p:spPr>
            <a:xfrm>
              <a:off x="266700" y="5781675"/>
              <a:ext cx="2571750" cy="847725"/>
            </a:xfrm>
            <a:prstGeom prst="roundRect">
              <a:avLst>
                <a:gd name="adj" fmla="val 13483"/>
              </a:avLst>
            </a:prstGeom>
            <a:solidFill>
              <a:srgbClr val="FFFFFF">
                <a:alpha val="85000"/>
              </a:srgbClr>
            </a:solidFill>
            <a:ln>
              <a:noFill/>
            </a:ln>
          </p:spPr>
        </p:sp>
        <p:sp>
          <p:nvSpPr>
            <p:cNvPr id="71" name="Line 71"/>
            <p:cNvSpPr/>
            <p:nvPr/>
          </p:nvSpPr>
          <p:spPr>
            <a:xfrm>
              <a:off x="266700" y="5781675"/>
              <a:ext cx="2571750" cy="9525"/>
            </a:xfrm>
            <a:custGeom>
              <a:avLst/>
              <a:gdLst/>
              <a:ahLst/>
              <a:cxnLst/>
              <a:rect l="l" t="t" r="r" b="b"/>
              <a:pathLst>
                <a:path w="2571750" h="9525">
                  <a:moveTo>
                    <a:pt x="0" y="0"/>
                  </a:moveTo>
                  <a:lnTo>
                    <a:pt x="2571750" y="0"/>
                  </a:lnTo>
                </a:path>
              </a:pathLst>
            </a:custGeom>
            <a:noFill/>
            <a:ln w="9525">
              <a:solidFill>
                <a:srgbClr val="0070F3">
                  <a:alpha val="10000"/>
                </a:srgbClr>
              </a:solidFill>
            </a:ln>
          </p:spPr>
        </p:sp>
        <p:sp>
          <p:nvSpPr>
            <p:cNvPr id="72" name="Line 72"/>
            <p:cNvSpPr/>
            <p:nvPr/>
          </p:nvSpPr>
          <p:spPr>
            <a:xfrm>
              <a:off x="2838450" y="5781675"/>
              <a:ext cx="9525" cy="847725"/>
            </a:xfrm>
            <a:custGeom>
              <a:avLst/>
              <a:gdLst/>
              <a:ahLst/>
              <a:cxnLst/>
              <a:rect l="l" t="t" r="r" b="b"/>
              <a:pathLst>
                <a:path w="9525" h="847725">
                  <a:moveTo>
                    <a:pt x="0" y="0"/>
                  </a:moveTo>
                  <a:lnTo>
                    <a:pt x="0" y="847725"/>
                  </a:lnTo>
                </a:path>
              </a:pathLst>
            </a:custGeom>
            <a:noFill/>
            <a:ln w="9525">
              <a:solidFill>
                <a:srgbClr val="0070F3">
                  <a:alpha val="10000"/>
                </a:srgbClr>
              </a:solidFill>
            </a:ln>
          </p:spPr>
        </p:sp>
        <p:sp>
          <p:nvSpPr>
            <p:cNvPr id="73" name="Line 73"/>
            <p:cNvSpPr/>
            <p:nvPr/>
          </p:nvSpPr>
          <p:spPr>
            <a:xfrm>
              <a:off x="266700" y="6629400"/>
              <a:ext cx="2571750" cy="9525"/>
            </a:xfrm>
            <a:custGeom>
              <a:avLst/>
              <a:gdLst/>
              <a:ahLst/>
              <a:cxnLst/>
              <a:rect l="l" t="t" r="r" b="b"/>
              <a:pathLst>
                <a:path w="2571750" h="9525">
                  <a:moveTo>
                    <a:pt x="0" y="0"/>
                  </a:moveTo>
                  <a:lnTo>
                    <a:pt x="2571750" y="0"/>
                  </a:lnTo>
                </a:path>
              </a:pathLst>
            </a:custGeom>
            <a:noFill/>
            <a:ln w="9525">
              <a:solidFill>
                <a:srgbClr val="0070F3">
                  <a:alpha val="10000"/>
                </a:srgbClr>
              </a:solidFill>
            </a:ln>
          </p:spPr>
        </p:sp>
        <p:sp>
          <p:nvSpPr>
            <p:cNvPr id="74" name="Line 74"/>
            <p:cNvSpPr/>
            <p:nvPr/>
          </p:nvSpPr>
          <p:spPr>
            <a:xfrm>
              <a:off x="266700" y="5781675"/>
              <a:ext cx="9525" cy="847725"/>
            </a:xfrm>
            <a:custGeom>
              <a:avLst/>
              <a:gdLst/>
              <a:ahLst/>
              <a:cxnLst/>
              <a:rect l="l" t="t" r="r" b="b"/>
              <a:pathLst>
                <a:path w="9525" h="847725">
                  <a:moveTo>
                    <a:pt x="0" y="0"/>
                  </a:moveTo>
                  <a:lnTo>
                    <a:pt x="0" y="847725"/>
                  </a:lnTo>
                </a:path>
              </a:pathLst>
            </a:custGeom>
            <a:noFill/>
            <a:ln w="9525">
              <a:solidFill>
                <a:srgbClr val="0070F3">
                  <a:alpha val="10000"/>
                </a:srgbClr>
              </a:solidFill>
            </a:ln>
          </p:spPr>
        </p:sp>
        <p:sp>
          <p:nvSpPr>
            <p:cNvPr id="75" name="TextBox 75"/>
            <p:cNvSpPr txBox="1"/>
            <p:nvPr/>
          </p:nvSpPr>
          <p:spPr>
            <a:xfrm>
              <a:off x="400050" y="5919788"/>
              <a:ext cx="676275"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人才密度指数</a:t>
              </a:r>
              <a:endParaRPr lang="zh-CN" sz="750" dirty="0">
                <a:solidFill>
                  <a:srgbClr val="94A3B8"/>
                </a:solidFill>
                <a:latin typeface="Arial" panose="020B0604020202090204"/>
                <a:ea typeface="微软雅黑"/>
                <a:cs typeface="Arial" panose="020B0604020202090204"/>
              </a:endParaRPr>
            </a:p>
          </p:txBody>
        </p:sp>
        <p:sp>
          <p:nvSpPr>
            <p:cNvPr id="76" name="TextBox 76"/>
            <p:cNvSpPr txBox="1"/>
            <p:nvPr/>
          </p:nvSpPr>
          <p:spPr>
            <a:xfrm>
              <a:off x="390525" y="6105525"/>
              <a:ext cx="820198" cy="304800"/>
            </a:xfrm>
            <a:prstGeom prst="rect">
              <a:avLst/>
            </a:prstGeom>
            <a:noFill/>
            <a:ln>
              <a:noFill/>
            </a:ln>
          </p:spPr>
          <p:txBody>
            <a:bodyPr wrap="none" lIns="0" tIns="0" rIns="0" bIns="0" anchor="t" anchorCtr="0">
              <a:spAutoFit/>
            </a:bodyPr>
            <a:lstStyle/>
            <a:p>
              <a:pPr algn="l"/>
              <a:r>
                <a:rPr lang="zh-CN" sz="1500" b="1" dirty="0">
                  <a:solidFill>
                    <a:srgbClr val="0A0A0A"/>
                  </a:solidFill>
                  <a:latin typeface="Arial" panose="020B0604020202090204"/>
                  <a:ea typeface="微软雅黑"/>
                  <a:cs typeface="Arial" panose="020B0604020202090204"/>
                </a:rPr>
                <a:t>英国 #3</a:t>
              </a:r>
              <a:endParaRPr lang="zh-CN" sz="1500" b="1" dirty="0">
                <a:solidFill>
                  <a:srgbClr val="0A0A0A"/>
                </a:solidFill>
                <a:latin typeface="Arial" panose="020B0604020202090204"/>
                <a:ea typeface="微软雅黑"/>
                <a:cs typeface="Arial" panose="020B0604020202090204"/>
              </a:endParaRPr>
            </a:p>
          </p:txBody>
        </p:sp>
        <p:sp>
          <p:nvSpPr>
            <p:cNvPr id="77" name="TextBox 77"/>
            <p:cNvSpPr txBox="1"/>
            <p:nvPr/>
          </p:nvSpPr>
          <p:spPr>
            <a:xfrm>
              <a:off x="400050" y="6386512"/>
              <a:ext cx="988457" cy="152400"/>
            </a:xfrm>
            <a:prstGeom prst="rect">
              <a:avLst/>
            </a:prstGeom>
            <a:noFill/>
            <a:ln>
              <a:noFill/>
            </a:ln>
          </p:spPr>
          <p:txBody>
            <a:bodyPr wrap="none" lIns="0" tIns="0" rIns="0" bIns="0" anchor="t" anchorCtr="0">
              <a:spAutoFit/>
            </a:bodyPr>
            <a:lstStyle/>
            <a:p>
              <a:pPr algn="l"/>
              <a:r>
                <a:rPr lang="zh-CN" sz="750" dirty="0">
                  <a:solidFill>
                    <a:srgbClr val="0070F3"/>
                  </a:solidFill>
                  <a:latin typeface="Arial" panose="020B0604020202090204"/>
                  <a:ea typeface="微软雅黑"/>
                  <a:cs typeface="Arial" panose="020B0604020202090204"/>
                </a:rPr>
                <a:t>伦敦 /剑桥科技集群</a:t>
              </a:r>
              <a:endParaRPr lang="zh-CN" sz="750" dirty="0">
                <a:solidFill>
                  <a:srgbClr val="0070F3"/>
                </a:solidFill>
                <a:latin typeface="Arial" panose="020B0604020202090204"/>
                <a:ea typeface="微软雅黑"/>
                <a:cs typeface="Arial" panose="020B0604020202090204"/>
              </a:endParaRPr>
            </a:p>
          </p:txBody>
        </p:sp>
        <p:sp>
          <p:nvSpPr>
            <p:cNvPr id="78" name="Rectangle 78"/>
            <p:cNvSpPr/>
            <p:nvPr/>
          </p:nvSpPr>
          <p:spPr>
            <a:xfrm>
              <a:off x="2933700" y="5781675"/>
              <a:ext cx="2571750" cy="847725"/>
            </a:xfrm>
            <a:prstGeom prst="roundRect">
              <a:avLst>
                <a:gd name="adj" fmla="val 13483"/>
              </a:avLst>
            </a:prstGeom>
            <a:solidFill>
              <a:srgbClr val="FFFFFF">
                <a:alpha val="85000"/>
              </a:srgbClr>
            </a:solidFill>
            <a:ln>
              <a:noFill/>
            </a:ln>
          </p:spPr>
        </p:sp>
        <p:sp>
          <p:nvSpPr>
            <p:cNvPr id="79" name="Line 79"/>
            <p:cNvSpPr/>
            <p:nvPr/>
          </p:nvSpPr>
          <p:spPr>
            <a:xfrm>
              <a:off x="2933700" y="5781675"/>
              <a:ext cx="2571750" cy="9525"/>
            </a:xfrm>
            <a:custGeom>
              <a:avLst/>
              <a:gdLst/>
              <a:ahLst/>
              <a:cxnLst/>
              <a:rect l="l" t="t" r="r" b="b"/>
              <a:pathLst>
                <a:path w="2571750" h="9525">
                  <a:moveTo>
                    <a:pt x="0" y="0"/>
                  </a:moveTo>
                  <a:lnTo>
                    <a:pt x="2571750" y="0"/>
                  </a:lnTo>
                </a:path>
              </a:pathLst>
            </a:custGeom>
            <a:noFill/>
            <a:ln w="9525">
              <a:solidFill>
                <a:srgbClr val="0070F3">
                  <a:alpha val="10000"/>
                </a:srgbClr>
              </a:solidFill>
            </a:ln>
          </p:spPr>
        </p:sp>
        <p:sp>
          <p:nvSpPr>
            <p:cNvPr id="80" name="Line 80"/>
            <p:cNvSpPr/>
            <p:nvPr/>
          </p:nvSpPr>
          <p:spPr>
            <a:xfrm>
              <a:off x="5505450" y="5781675"/>
              <a:ext cx="9525" cy="847725"/>
            </a:xfrm>
            <a:custGeom>
              <a:avLst/>
              <a:gdLst/>
              <a:ahLst/>
              <a:cxnLst/>
              <a:rect l="l" t="t" r="r" b="b"/>
              <a:pathLst>
                <a:path w="9525" h="847725">
                  <a:moveTo>
                    <a:pt x="0" y="0"/>
                  </a:moveTo>
                  <a:lnTo>
                    <a:pt x="0" y="847725"/>
                  </a:lnTo>
                </a:path>
              </a:pathLst>
            </a:custGeom>
            <a:noFill/>
            <a:ln w="9525">
              <a:solidFill>
                <a:srgbClr val="0070F3">
                  <a:alpha val="10000"/>
                </a:srgbClr>
              </a:solidFill>
            </a:ln>
          </p:spPr>
        </p:sp>
        <p:sp>
          <p:nvSpPr>
            <p:cNvPr id="81" name="Line 81"/>
            <p:cNvSpPr/>
            <p:nvPr/>
          </p:nvSpPr>
          <p:spPr>
            <a:xfrm>
              <a:off x="2933700" y="6629400"/>
              <a:ext cx="2571750" cy="9525"/>
            </a:xfrm>
            <a:custGeom>
              <a:avLst/>
              <a:gdLst/>
              <a:ahLst/>
              <a:cxnLst/>
              <a:rect l="l" t="t" r="r" b="b"/>
              <a:pathLst>
                <a:path w="2571750" h="9525">
                  <a:moveTo>
                    <a:pt x="0" y="0"/>
                  </a:moveTo>
                  <a:lnTo>
                    <a:pt x="2571750" y="0"/>
                  </a:lnTo>
                </a:path>
              </a:pathLst>
            </a:custGeom>
            <a:noFill/>
            <a:ln w="9525">
              <a:solidFill>
                <a:srgbClr val="0070F3">
                  <a:alpha val="10000"/>
                </a:srgbClr>
              </a:solidFill>
            </a:ln>
          </p:spPr>
        </p:sp>
        <p:sp>
          <p:nvSpPr>
            <p:cNvPr id="82" name="Line 82"/>
            <p:cNvSpPr/>
            <p:nvPr/>
          </p:nvSpPr>
          <p:spPr>
            <a:xfrm>
              <a:off x="2933700" y="5781675"/>
              <a:ext cx="9525" cy="847725"/>
            </a:xfrm>
            <a:custGeom>
              <a:avLst/>
              <a:gdLst/>
              <a:ahLst/>
              <a:cxnLst/>
              <a:rect l="l" t="t" r="r" b="b"/>
              <a:pathLst>
                <a:path w="9525" h="847725">
                  <a:moveTo>
                    <a:pt x="0" y="0"/>
                  </a:moveTo>
                  <a:lnTo>
                    <a:pt x="0" y="847725"/>
                  </a:lnTo>
                </a:path>
              </a:pathLst>
            </a:custGeom>
            <a:noFill/>
            <a:ln w="9525">
              <a:solidFill>
                <a:srgbClr val="0070F3">
                  <a:alpha val="10000"/>
                </a:srgbClr>
              </a:solidFill>
            </a:ln>
          </p:spPr>
        </p:sp>
        <p:sp>
          <p:nvSpPr>
            <p:cNvPr id="83" name="TextBox 83"/>
            <p:cNvSpPr txBox="1"/>
            <p:nvPr/>
          </p:nvSpPr>
          <p:spPr>
            <a:xfrm>
              <a:off x="3067050" y="5919788"/>
              <a:ext cx="566737" cy="152400"/>
            </a:xfrm>
            <a:prstGeom prst="rect">
              <a:avLst/>
            </a:prstGeom>
            <a:noFill/>
            <a:ln>
              <a:noFill/>
            </a:ln>
          </p:spPr>
          <p:txBody>
            <a:bodyPr wrap="none" lIns="0" tIns="0" rIns="0" bIns="0" anchor="t" anchorCtr="0">
              <a:spAutoFit/>
            </a:bodyPr>
            <a:lstStyle/>
            <a:p>
              <a:pPr algn="l"/>
              <a:r>
                <a:rPr lang="zh-CN" sz="750" dirty="0">
                  <a:solidFill>
                    <a:srgbClr val="94A3B8"/>
                  </a:solidFill>
                  <a:latin typeface="Arial" panose="020B0604020202090204"/>
                  <a:ea typeface="微软雅黑"/>
                  <a:cs typeface="Arial" panose="020B0604020202090204"/>
                </a:rPr>
                <a:t>新兴聚集度</a:t>
              </a:r>
              <a:endParaRPr lang="zh-CN" sz="750" dirty="0">
                <a:solidFill>
                  <a:srgbClr val="94A3B8"/>
                </a:solidFill>
                <a:latin typeface="Arial" panose="020B0604020202090204"/>
                <a:ea typeface="微软雅黑"/>
                <a:cs typeface="Arial" panose="020B0604020202090204"/>
              </a:endParaRPr>
            </a:p>
          </p:txBody>
        </p:sp>
        <p:sp>
          <p:nvSpPr>
            <p:cNvPr id="84" name="TextBox 84"/>
            <p:cNvSpPr txBox="1"/>
            <p:nvPr/>
          </p:nvSpPr>
          <p:spPr>
            <a:xfrm>
              <a:off x="3057525" y="6105525"/>
              <a:ext cx="728186" cy="304800"/>
            </a:xfrm>
            <a:prstGeom prst="rect">
              <a:avLst/>
            </a:prstGeom>
            <a:noFill/>
            <a:ln>
              <a:noFill/>
            </a:ln>
          </p:spPr>
          <p:txBody>
            <a:bodyPr wrap="none" lIns="0" tIns="0" rIns="0" bIns="0" anchor="t" anchorCtr="0">
              <a:spAutoFit/>
            </a:bodyPr>
            <a:lstStyle/>
            <a:p>
              <a:pPr algn="l"/>
              <a:r>
                <a:rPr lang="zh-CN" sz="1500" b="1" dirty="0">
                  <a:solidFill>
                    <a:srgbClr val="0A0A0A"/>
                  </a:solidFill>
                  <a:latin typeface="Arial" panose="020B0604020202090204"/>
                  <a:ea typeface="微软雅黑"/>
                  <a:cs typeface="Arial" panose="020B0604020202090204"/>
                </a:rPr>
                <a:t>多伦多</a:t>
              </a:r>
              <a:endParaRPr lang="zh-CN" sz="1500" b="1" dirty="0">
                <a:solidFill>
                  <a:srgbClr val="0A0A0A"/>
                </a:solidFill>
                <a:latin typeface="Arial" panose="020B0604020202090204"/>
                <a:ea typeface="微软雅黑"/>
                <a:cs typeface="Arial" panose="020B0604020202090204"/>
              </a:endParaRPr>
            </a:p>
          </p:txBody>
        </p:sp>
        <p:sp>
          <p:nvSpPr>
            <p:cNvPr id="85" name="TextBox 85"/>
            <p:cNvSpPr txBox="1"/>
            <p:nvPr/>
          </p:nvSpPr>
          <p:spPr>
            <a:xfrm>
              <a:off x="3067050" y="6386512"/>
              <a:ext cx="878919" cy="152400"/>
            </a:xfrm>
            <a:prstGeom prst="rect">
              <a:avLst/>
            </a:prstGeom>
            <a:noFill/>
            <a:ln>
              <a:noFill/>
            </a:ln>
          </p:spPr>
          <p:txBody>
            <a:bodyPr wrap="none" lIns="0" tIns="0" rIns="0" bIns="0" anchor="t" anchorCtr="0">
              <a:spAutoFit/>
            </a:bodyPr>
            <a:lstStyle/>
            <a:p>
              <a:pPr algn="l"/>
              <a:r>
                <a:rPr lang="zh-CN" sz="750" dirty="0">
                  <a:solidFill>
                    <a:srgbClr val="0070F3"/>
                  </a:solidFill>
                  <a:latin typeface="Arial" panose="020B0604020202090204"/>
                  <a:ea typeface="微软雅黑"/>
                  <a:cs typeface="Arial" panose="020B0604020202090204"/>
                </a:rPr>
                <a:t>向量研究所 +高校</a:t>
              </a:r>
              <a:endParaRPr lang="zh-CN" sz="750" dirty="0">
                <a:solidFill>
                  <a:srgbClr val="0070F3"/>
                </a:solidFill>
                <a:latin typeface="Arial" panose="020B0604020202090204"/>
                <a:ea typeface="微软雅黑"/>
                <a:cs typeface="Arial" panose="020B0604020202090204"/>
              </a:endParaRPr>
            </a:p>
          </p:txBody>
        </p:sp>
        <p:sp>
          <p:nvSpPr>
            <p:cNvPr id="86" name="Rectangle 86"/>
            <p:cNvSpPr/>
            <p:nvPr/>
          </p:nvSpPr>
          <p:spPr>
            <a:xfrm>
              <a:off x="5638800" y="942975"/>
              <a:ext cx="6286500" cy="5686425"/>
            </a:xfrm>
            <a:prstGeom prst="roundRect">
              <a:avLst>
                <a:gd name="adj" fmla="val 2345"/>
              </a:avLst>
            </a:prstGeom>
            <a:solidFill>
              <a:srgbClr val="FFFFFF"/>
            </a:solidFill>
            <a:ln>
              <a:noFill/>
            </a:ln>
          </p:spPr>
        </p:sp>
        <p:sp>
          <p:nvSpPr>
            <p:cNvPr id="87" name="Line 87"/>
            <p:cNvSpPr/>
            <p:nvPr/>
          </p:nvSpPr>
          <p:spPr>
            <a:xfrm>
              <a:off x="5638800" y="942975"/>
              <a:ext cx="6286500" cy="9525"/>
            </a:xfrm>
            <a:custGeom>
              <a:avLst/>
              <a:gdLst/>
              <a:ahLst/>
              <a:cxnLst/>
              <a:rect l="l" t="t" r="r" b="b"/>
              <a:pathLst>
                <a:path w="6286500" h="9525">
                  <a:moveTo>
                    <a:pt x="0" y="0"/>
                  </a:moveTo>
                  <a:lnTo>
                    <a:pt x="6286500" y="0"/>
                  </a:lnTo>
                </a:path>
              </a:pathLst>
            </a:custGeom>
            <a:noFill/>
            <a:ln w="9525">
              <a:solidFill>
                <a:srgbClr val="0070F3">
                  <a:alpha val="12000"/>
                </a:srgbClr>
              </a:solidFill>
            </a:ln>
          </p:spPr>
        </p:sp>
        <p:sp>
          <p:nvSpPr>
            <p:cNvPr id="88" name="Line 88"/>
            <p:cNvSpPr/>
            <p:nvPr/>
          </p:nvSpPr>
          <p:spPr>
            <a:xfrm>
              <a:off x="11925300" y="942975"/>
              <a:ext cx="9525" cy="5686425"/>
            </a:xfrm>
            <a:custGeom>
              <a:avLst/>
              <a:gdLst/>
              <a:ahLst/>
              <a:cxnLst/>
              <a:rect l="l" t="t" r="r" b="b"/>
              <a:pathLst>
                <a:path w="9525" h="5686425">
                  <a:moveTo>
                    <a:pt x="0" y="0"/>
                  </a:moveTo>
                  <a:lnTo>
                    <a:pt x="0" y="5686425"/>
                  </a:lnTo>
                </a:path>
              </a:pathLst>
            </a:custGeom>
            <a:noFill/>
            <a:ln w="9525">
              <a:solidFill>
                <a:srgbClr val="0070F3">
                  <a:alpha val="12000"/>
                </a:srgbClr>
              </a:solidFill>
            </a:ln>
          </p:spPr>
        </p:sp>
        <p:sp>
          <p:nvSpPr>
            <p:cNvPr id="89" name="Line 89"/>
            <p:cNvSpPr/>
            <p:nvPr/>
          </p:nvSpPr>
          <p:spPr>
            <a:xfrm>
              <a:off x="5638800" y="6629400"/>
              <a:ext cx="6286500" cy="9525"/>
            </a:xfrm>
            <a:custGeom>
              <a:avLst/>
              <a:gdLst/>
              <a:ahLst/>
              <a:cxnLst/>
              <a:rect l="l" t="t" r="r" b="b"/>
              <a:pathLst>
                <a:path w="6286500" h="9525">
                  <a:moveTo>
                    <a:pt x="0" y="0"/>
                  </a:moveTo>
                  <a:lnTo>
                    <a:pt x="6286500" y="0"/>
                  </a:lnTo>
                </a:path>
              </a:pathLst>
            </a:custGeom>
            <a:noFill/>
            <a:ln w="9525">
              <a:solidFill>
                <a:srgbClr val="0070F3">
                  <a:alpha val="12000"/>
                </a:srgbClr>
              </a:solidFill>
            </a:ln>
          </p:spPr>
        </p:sp>
        <p:sp>
          <p:nvSpPr>
            <p:cNvPr id="90" name="Line 90"/>
            <p:cNvSpPr/>
            <p:nvPr/>
          </p:nvSpPr>
          <p:spPr>
            <a:xfrm>
              <a:off x="5638800" y="942975"/>
              <a:ext cx="9525" cy="5686425"/>
            </a:xfrm>
            <a:custGeom>
              <a:avLst/>
              <a:gdLst/>
              <a:ahLst/>
              <a:cxnLst/>
              <a:rect l="l" t="t" r="r" b="b"/>
              <a:pathLst>
                <a:path w="9525" h="5686425">
                  <a:moveTo>
                    <a:pt x="0" y="0"/>
                  </a:moveTo>
                  <a:lnTo>
                    <a:pt x="0" y="5686425"/>
                  </a:lnTo>
                </a:path>
              </a:pathLst>
            </a:custGeom>
            <a:noFill/>
            <a:ln w="9525">
              <a:solidFill>
                <a:srgbClr val="0070F3">
                  <a:alpha val="12000"/>
                </a:srgbClr>
              </a:solidFill>
            </a:ln>
          </p:spPr>
        </p:sp>
        <p:sp>
          <p:nvSpPr>
            <p:cNvPr id="91" name="TextBox 91"/>
            <p:cNvSpPr txBox="1"/>
            <p:nvPr/>
          </p:nvSpPr>
          <p:spPr>
            <a:xfrm>
              <a:off x="5806440" y="1143952"/>
              <a:ext cx="1983065"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Arial" panose="020B0604020202090204"/>
                  <a:ea typeface="微软雅黑"/>
                  <a:cs typeface="Arial" panose="020B0604020202090204"/>
                </a:rPr>
                <a:t>全球 AI人才流动与聚集地图</a:t>
              </a:r>
              <a:endParaRPr lang="zh-CN" sz="1050" b="1" dirty="0">
                <a:solidFill>
                  <a:srgbClr val="0A0A0A"/>
                </a:solidFill>
                <a:latin typeface="Arial" panose="020B0604020202090204"/>
                <a:ea typeface="微软雅黑"/>
                <a:cs typeface="Arial" panose="020B0604020202090204"/>
              </a:endParaRPr>
            </a:p>
          </p:txBody>
        </p:sp>
        <p:grpSp>
          <p:nvGrpSpPr>
            <p:cNvPr id="150" name="Group 150"/>
            <p:cNvGrpSpPr/>
            <p:nvPr/>
          </p:nvGrpSpPr>
          <p:grpSpPr>
            <a:xfrm>
              <a:off x="5819775" y="1390650"/>
              <a:ext cx="5924551" cy="5057775"/>
              <a:chOff x="5819775" y="1390650"/>
              <a:chExt cx="5924551" cy="5057775"/>
            </a:xfrm>
          </p:grpSpPr>
          <p:sp>
            <p:nvSpPr>
              <p:cNvPr id="92" name="Rectangle 92"/>
              <p:cNvSpPr/>
              <p:nvPr/>
            </p:nvSpPr>
            <p:spPr>
              <a:xfrm>
                <a:off x="5819775" y="1390650"/>
                <a:ext cx="5924551" cy="5057775"/>
              </a:xfrm>
              <a:prstGeom prst="rect">
                <a:avLst/>
              </a:prstGeom>
              <a:solidFill>
                <a:srgbClr val="FFFFFF"/>
              </a:solidFill>
              <a:ln>
                <a:noFill/>
              </a:ln>
            </p:spPr>
          </p:sp>
          <p:grpSp>
            <p:nvGrpSpPr>
              <p:cNvPr id="97" name="Group 97"/>
              <p:cNvGrpSpPr/>
              <p:nvPr/>
            </p:nvGrpSpPr>
            <p:grpSpPr>
              <a:xfrm>
                <a:off x="5962650" y="1676400"/>
                <a:ext cx="1481138" cy="869305"/>
                <a:chOff x="5962650" y="1676400"/>
                <a:chExt cx="1481138" cy="869305"/>
              </a:xfrm>
            </p:grpSpPr>
            <p:sp>
              <p:nvSpPr>
                <p:cNvPr id="93" name="Rectangle 93"/>
                <p:cNvSpPr/>
                <p:nvPr/>
              </p:nvSpPr>
              <p:spPr>
                <a:xfrm>
                  <a:off x="5962650" y="1676400"/>
                  <a:ext cx="1481138" cy="869305"/>
                </a:xfrm>
                <a:custGeom>
                  <a:avLst/>
                  <a:gdLst/>
                  <a:ahLst/>
                  <a:cxnLst/>
                  <a:rect l="l" t="t" r="r" b="b"/>
                  <a:pathLst>
                    <a:path w="1481138" h="869305">
                      <a:moveTo>
                        <a:pt x="68360" y="0"/>
                      </a:moveTo>
                      <a:lnTo>
                        <a:pt x="1412778" y="0"/>
                      </a:lnTo>
                      <a:cubicBezTo>
                        <a:pt x="1450532" y="0"/>
                        <a:pt x="1481138" y="42458"/>
                        <a:pt x="1481138" y="94833"/>
                      </a:cubicBezTo>
                      <a:lnTo>
                        <a:pt x="1481138" y="774472"/>
                      </a:lnTo>
                      <a:cubicBezTo>
                        <a:pt x="1481138" y="826847"/>
                        <a:pt x="1450532" y="869305"/>
                        <a:pt x="1412778" y="869305"/>
                      </a:cubicBezTo>
                      <a:lnTo>
                        <a:pt x="68360" y="869305"/>
                      </a:lnTo>
                      <a:cubicBezTo>
                        <a:pt x="30606" y="869305"/>
                        <a:pt x="0" y="826847"/>
                        <a:pt x="0" y="774472"/>
                      </a:cubicBezTo>
                      <a:lnTo>
                        <a:pt x="0" y="94833"/>
                      </a:lnTo>
                      <a:cubicBezTo>
                        <a:pt x="0" y="42458"/>
                        <a:pt x="30606" y="0"/>
                        <a:pt x="68360" y="0"/>
                      </a:cubicBezTo>
                      <a:close/>
                    </a:path>
                  </a:pathLst>
                </a:custGeom>
                <a:solidFill>
                  <a:srgbClr val="FFFFFF"/>
                </a:solidFill>
                <a:ln w="14288">
                  <a:solidFill>
                    <a:srgbClr val="0070F3"/>
                  </a:solidFill>
                </a:ln>
              </p:spPr>
            </p:sp>
            <p:sp>
              <p:nvSpPr>
                <p:cNvPr id="94" name="TextBox 94"/>
                <p:cNvSpPr txBox="1"/>
                <p:nvPr/>
              </p:nvSpPr>
              <p:spPr>
                <a:xfrm>
                  <a:off x="6294914" y="1799683"/>
                  <a:ext cx="816609" cy="303466"/>
                </a:xfrm>
                <a:prstGeom prst="rect">
                  <a:avLst/>
                </a:prstGeom>
                <a:noFill/>
                <a:ln>
                  <a:noFill/>
                </a:ln>
              </p:spPr>
              <p:txBody>
                <a:bodyPr wrap="none" lIns="0" tIns="0" rIns="0" bIns="0" anchor="t" anchorCtr="0">
                  <a:spAutoFit/>
                </a:bodyPr>
                <a:lstStyle/>
                <a:p>
                  <a:pPr algn="ctr"/>
                  <a:r>
                    <a:rPr lang="zh-CN" sz="1495" b="1" dirty="0">
                      <a:solidFill>
                        <a:srgbClr val="0A0A0A"/>
                      </a:solidFill>
                      <a:latin typeface="Arial" panose="020B0604020202090204"/>
                      <a:ea typeface="微软雅黑"/>
                      <a:cs typeface="Arial" panose="020B0604020202090204"/>
                    </a:rPr>
                    <a:t>🇺🇸 美国</a:t>
                  </a:r>
                  <a:endParaRPr lang="zh-CN" sz="1495" b="1" dirty="0">
                    <a:solidFill>
                      <a:srgbClr val="0A0A0A"/>
                    </a:solidFill>
                    <a:latin typeface="Arial" panose="020B0604020202090204"/>
                    <a:ea typeface="微软雅黑"/>
                    <a:cs typeface="Arial" panose="020B0604020202090204"/>
                  </a:endParaRPr>
                </a:p>
              </p:txBody>
            </p:sp>
            <p:sp>
              <p:nvSpPr>
                <p:cNvPr id="95" name="TextBox 95"/>
                <p:cNvSpPr txBox="1"/>
                <p:nvPr/>
              </p:nvSpPr>
              <p:spPr>
                <a:xfrm>
                  <a:off x="6477983" y="2054943"/>
                  <a:ext cx="450472" cy="328755"/>
                </a:xfrm>
                <a:prstGeom prst="rect">
                  <a:avLst/>
                </a:prstGeom>
                <a:noFill/>
                <a:ln>
                  <a:noFill/>
                </a:ln>
              </p:spPr>
              <p:txBody>
                <a:bodyPr wrap="none" lIns="0" tIns="0" rIns="0" bIns="0" anchor="t" anchorCtr="0">
                  <a:spAutoFit/>
                </a:bodyPr>
                <a:lstStyle/>
                <a:p>
                  <a:pPr algn="ctr"/>
                  <a:r>
                    <a:rPr lang="zh-CN" sz="1620" b="1" dirty="0">
                      <a:solidFill>
                        <a:srgbClr val="0070F3"/>
                      </a:solidFill>
                      <a:latin typeface="Arial" panose="020B0604020202090204"/>
                      <a:ea typeface="微软雅黑"/>
                      <a:cs typeface="Arial" panose="020B0604020202090204"/>
                    </a:rPr>
                    <a:t>32%</a:t>
                  </a:r>
                  <a:endParaRPr lang="zh-CN" sz="1620" b="1" dirty="0">
                    <a:solidFill>
                      <a:srgbClr val="0070F3"/>
                    </a:solidFill>
                    <a:latin typeface="Arial" panose="020B0604020202090204"/>
                    <a:ea typeface="微软雅黑"/>
                    <a:cs typeface="Arial" panose="020B0604020202090204"/>
                  </a:endParaRPr>
                </a:p>
              </p:txBody>
            </p:sp>
            <p:sp>
              <p:nvSpPr>
                <p:cNvPr id="96" name="TextBox 96"/>
                <p:cNvSpPr txBox="1"/>
                <p:nvPr/>
              </p:nvSpPr>
              <p:spPr>
                <a:xfrm>
                  <a:off x="6026465" y="2314154"/>
                  <a:ext cx="1353508" cy="227600"/>
                </a:xfrm>
                <a:prstGeom prst="rect">
                  <a:avLst/>
                </a:prstGeom>
                <a:noFill/>
                <a:ln>
                  <a:noFill/>
                </a:ln>
              </p:spPr>
              <p:txBody>
                <a:bodyPr wrap="none" lIns="0" tIns="0" rIns="0" bIns="0" anchor="t" anchorCtr="0">
                  <a:spAutoFit/>
                </a:bodyPr>
                <a:lstStyle/>
                <a:p>
                  <a:pPr algn="ctr"/>
                  <a:r>
                    <a:rPr lang="zh-CN" sz="1120" dirty="0">
                      <a:solidFill>
                        <a:srgbClr val="666666"/>
                      </a:solidFill>
                      <a:latin typeface="Arial" panose="020B0604020202090204"/>
                      <a:ea typeface="微软雅黑"/>
                      <a:cs typeface="Arial" panose="020B0604020202090204"/>
                    </a:rPr>
                    <a:t>硅谷·纽约·西雅图</a:t>
                  </a:r>
                  <a:endParaRPr lang="zh-CN" sz="1120" dirty="0">
                    <a:solidFill>
                      <a:srgbClr val="666666"/>
                    </a:solidFill>
                    <a:latin typeface="Arial" panose="020B0604020202090204"/>
                    <a:ea typeface="微软雅黑"/>
                    <a:cs typeface="Arial" panose="020B0604020202090204"/>
                  </a:endParaRPr>
                </a:p>
              </p:txBody>
            </p:sp>
          </p:grpSp>
          <p:grpSp>
            <p:nvGrpSpPr>
              <p:cNvPr id="102" name="Group 102"/>
              <p:cNvGrpSpPr/>
              <p:nvPr/>
            </p:nvGrpSpPr>
            <p:grpSpPr>
              <a:xfrm>
                <a:off x="5962650" y="2295525"/>
                <a:ext cx="1481138" cy="869305"/>
                <a:chOff x="5962650" y="2295525"/>
                <a:chExt cx="1481138" cy="869305"/>
              </a:xfrm>
            </p:grpSpPr>
            <p:sp>
              <p:nvSpPr>
                <p:cNvPr id="98" name="Rectangle 98"/>
                <p:cNvSpPr/>
                <p:nvPr/>
              </p:nvSpPr>
              <p:spPr>
                <a:xfrm>
                  <a:off x="5962650" y="2295525"/>
                  <a:ext cx="1481138" cy="869305"/>
                </a:xfrm>
                <a:custGeom>
                  <a:avLst/>
                  <a:gdLst/>
                  <a:ahLst/>
                  <a:cxnLst/>
                  <a:rect l="l" t="t" r="r" b="b"/>
                  <a:pathLst>
                    <a:path w="1481138" h="869305">
                      <a:moveTo>
                        <a:pt x="68360" y="0"/>
                      </a:moveTo>
                      <a:lnTo>
                        <a:pt x="1412778" y="0"/>
                      </a:lnTo>
                      <a:cubicBezTo>
                        <a:pt x="1450532" y="0"/>
                        <a:pt x="1481138" y="42458"/>
                        <a:pt x="1481138" y="94833"/>
                      </a:cubicBezTo>
                      <a:lnTo>
                        <a:pt x="1481138" y="774472"/>
                      </a:lnTo>
                      <a:cubicBezTo>
                        <a:pt x="1481138" y="826847"/>
                        <a:pt x="1450532" y="869305"/>
                        <a:pt x="1412778" y="869305"/>
                      </a:cubicBezTo>
                      <a:lnTo>
                        <a:pt x="68360" y="869305"/>
                      </a:lnTo>
                      <a:cubicBezTo>
                        <a:pt x="30606" y="869305"/>
                        <a:pt x="0" y="826847"/>
                        <a:pt x="0" y="774472"/>
                      </a:cubicBezTo>
                      <a:lnTo>
                        <a:pt x="0" y="94833"/>
                      </a:lnTo>
                      <a:cubicBezTo>
                        <a:pt x="0" y="42458"/>
                        <a:pt x="30606" y="0"/>
                        <a:pt x="68360" y="0"/>
                      </a:cubicBezTo>
                      <a:close/>
                    </a:path>
                  </a:pathLst>
                </a:custGeom>
                <a:solidFill>
                  <a:srgbClr val="FFFFFF"/>
                </a:solidFill>
                <a:ln w="14288">
                  <a:solidFill>
                    <a:srgbClr val="0070F3"/>
                  </a:solidFill>
                </a:ln>
              </p:spPr>
            </p:sp>
            <p:sp>
              <p:nvSpPr>
                <p:cNvPr id="99" name="TextBox 99"/>
                <p:cNvSpPr txBox="1"/>
                <p:nvPr/>
              </p:nvSpPr>
              <p:spPr>
                <a:xfrm>
                  <a:off x="6294914" y="2418808"/>
                  <a:ext cx="816609" cy="303466"/>
                </a:xfrm>
                <a:prstGeom prst="rect">
                  <a:avLst/>
                </a:prstGeom>
                <a:noFill/>
                <a:ln>
                  <a:noFill/>
                </a:ln>
              </p:spPr>
              <p:txBody>
                <a:bodyPr wrap="none" lIns="0" tIns="0" rIns="0" bIns="0" anchor="t" anchorCtr="0">
                  <a:spAutoFit/>
                </a:bodyPr>
                <a:lstStyle/>
                <a:p>
                  <a:pPr algn="ctr"/>
                  <a:r>
                    <a:rPr lang="zh-CN" sz="1495" b="1" dirty="0">
                      <a:solidFill>
                        <a:srgbClr val="0A0A0A"/>
                      </a:solidFill>
                      <a:latin typeface="Arial" panose="020B0604020202090204"/>
                      <a:ea typeface="微软雅黑"/>
                      <a:cs typeface="Arial" panose="020B0604020202090204"/>
                    </a:rPr>
                    <a:t>🇮🇳 印度</a:t>
                  </a:r>
                  <a:endParaRPr lang="zh-CN" sz="1495" b="1" dirty="0">
                    <a:solidFill>
                      <a:srgbClr val="0A0A0A"/>
                    </a:solidFill>
                    <a:latin typeface="Arial" panose="020B0604020202090204"/>
                    <a:ea typeface="微软雅黑"/>
                    <a:cs typeface="Arial" panose="020B0604020202090204"/>
                  </a:endParaRPr>
                </a:p>
              </p:txBody>
            </p:sp>
            <p:sp>
              <p:nvSpPr>
                <p:cNvPr id="100" name="TextBox 100"/>
                <p:cNvSpPr txBox="1"/>
                <p:nvPr/>
              </p:nvSpPr>
              <p:spPr>
                <a:xfrm>
                  <a:off x="6477983" y="2674068"/>
                  <a:ext cx="450472" cy="328755"/>
                </a:xfrm>
                <a:prstGeom prst="rect">
                  <a:avLst/>
                </a:prstGeom>
                <a:noFill/>
                <a:ln>
                  <a:noFill/>
                </a:ln>
              </p:spPr>
              <p:txBody>
                <a:bodyPr wrap="none" lIns="0" tIns="0" rIns="0" bIns="0" anchor="t" anchorCtr="0">
                  <a:spAutoFit/>
                </a:bodyPr>
                <a:lstStyle/>
                <a:p>
                  <a:pPr algn="ctr"/>
                  <a:r>
                    <a:rPr lang="zh-CN" sz="1620" b="1" dirty="0">
                      <a:solidFill>
                        <a:srgbClr val="0070F3"/>
                      </a:solidFill>
                      <a:latin typeface="Arial" panose="020B0604020202090204"/>
                      <a:ea typeface="微软雅黑"/>
                      <a:cs typeface="Arial" panose="020B0604020202090204"/>
                    </a:rPr>
                    <a:t>22%</a:t>
                  </a:r>
                  <a:endParaRPr lang="zh-CN" sz="1620" b="1" dirty="0">
                    <a:solidFill>
                      <a:srgbClr val="0070F3"/>
                    </a:solidFill>
                    <a:latin typeface="Arial" panose="020B0604020202090204"/>
                    <a:ea typeface="微软雅黑"/>
                    <a:cs typeface="Arial" panose="020B0604020202090204"/>
                  </a:endParaRPr>
                </a:p>
              </p:txBody>
            </p:sp>
            <p:sp>
              <p:nvSpPr>
                <p:cNvPr id="101" name="TextBox 101"/>
                <p:cNvSpPr txBox="1"/>
                <p:nvPr/>
              </p:nvSpPr>
              <p:spPr>
                <a:xfrm>
                  <a:off x="5989658" y="2933279"/>
                  <a:ext cx="1427122" cy="227600"/>
                </a:xfrm>
                <a:prstGeom prst="rect">
                  <a:avLst/>
                </a:prstGeom>
                <a:noFill/>
                <a:ln>
                  <a:noFill/>
                </a:ln>
              </p:spPr>
              <p:txBody>
                <a:bodyPr wrap="none" lIns="0" tIns="0" rIns="0" bIns="0" anchor="t" anchorCtr="0">
                  <a:spAutoFit/>
                </a:bodyPr>
                <a:lstStyle/>
                <a:p>
                  <a:pPr algn="ctr"/>
                  <a:r>
                    <a:rPr lang="zh-CN" sz="1120" dirty="0">
                      <a:solidFill>
                        <a:srgbClr val="666666"/>
                      </a:solidFill>
                      <a:latin typeface="Arial" panose="020B0604020202090204"/>
                      <a:ea typeface="微软雅黑"/>
                      <a:cs typeface="Arial" panose="020B0604020202090204"/>
                    </a:rPr>
                    <a:t>班加罗尔·海德拉巴</a:t>
                  </a:r>
                  <a:endParaRPr lang="zh-CN" sz="1120" dirty="0">
                    <a:solidFill>
                      <a:srgbClr val="666666"/>
                    </a:solidFill>
                    <a:latin typeface="Arial" panose="020B0604020202090204"/>
                    <a:ea typeface="微软雅黑"/>
                    <a:cs typeface="Arial" panose="020B0604020202090204"/>
                  </a:endParaRPr>
                </a:p>
              </p:txBody>
            </p:sp>
          </p:grpSp>
          <p:grpSp>
            <p:nvGrpSpPr>
              <p:cNvPr id="107" name="Group 107"/>
              <p:cNvGrpSpPr/>
              <p:nvPr/>
            </p:nvGrpSpPr>
            <p:grpSpPr>
              <a:xfrm>
                <a:off x="5962650" y="2914650"/>
                <a:ext cx="1481138" cy="869305"/>
                <a:chOff x="5962650" y="2914650"/>
                <a:chExt cx="1481138" cy="869305"/>
              </a:xfrm>
            </p:grpSpPr>
            <p:sp>
              <p:nvSpPr>
                <p:cNvPr id="103" name="Rectangle 103"/>
                <p:cNvSpPr/>
                <p:nvPr/>
              </p:nvSpPr>
              <p:spPr>
                <a:xfrm>
                  <a:off x="5962650" y="2914650"/>
                  <a:ext cx="1481138" cy="869305"/>
                </a:xfrm>
                <a:custGeom>
                  <a:avLst/>
                  <a:gdLst/>
                  <a:ahLst/>
                  <a:cxnLst/>
                  <a:rect l="l" t="t" r="r" b="b"/>
                  <a:pathLst>
                    <a:path w="1481138" h="869305">
                      <a:moveTo>
                        <a:pt x="68360" y="0"/>
                      </a:moveTo>
                      <a:lnTo>
                        <a:pt x="1412778" y="0"/>
                      </a:lnTo>
                      <a:cubicBezTo>
                        <a:pt x="1450532" y="0"/>
                        <a:pt x="1481138" y="42458"/>
                        <a:pt x="1481138" y="94833"/>
                      </a:cubicBezTo>
                      <a:lnTo>
                        <a:pt x="1481138" y="774472"/>
                      </a:lnTo>
                      <a:cubicBezTo>
                        <a:pt x="1481138" y="826847"/>
                        <a:pt x="1450532" y="869305"/>
                        <a:pt x="1412778" y="869305"/>
                      </a:cubicBezTo>
                      <a:lnTo>
                        <a:pt x="68360" y="869305"/>
                      </a:lnTo>
                      <a:cubicBezTo>
                        <a:pt x="30606" y="869305"/>
                        <a:pt x="0" y="826847"/>
                        <a:pt x="0" y="774472"/>
                      </a:cubicBezTo>
                      <a:lnTo>
                        <a:pt x="0" y="94833"/>
                      </a:lnTo>
                      <a:cubicBezTo>
                        <a:pt x="0" y="42458"/>
                        <a:pt x="30606" y="0"/>
                        <a:pt x="68360" y="0"/>
                      </a:cubicBezTo>
                      <a:close/>
                    </a:path>
                  </a:pathLst>
                </a:custGeom>
                <a:solidFill>
                  <a:srgbClr val="FFFFFF"/>
                </a:solidFill>
                <a:ln w="14288">
                  <a:solidFill>
                    <a:srgbClr val="D4AF37"/>
                  </a:solidFill>
                </a:ln>
              </p:spPr>
            </p:sp>
            <p:sp>
              <p:nvSpPr>
                <p:cNvPr id="104" name="TextBox 104"/>
                <p:cNvSpPr txBox="1"/>
                <p:nvPr/>
              </p:nvSpPr>
              <p:spPr>
                <a:xfrm>
                  <a:off x="6294914" y="3037933"/>
                  <a:ext cx="816609" cy="303466"/>
                </a:xfrm>
                <a:prstGeom prst="rect">
                  <a:avLst/>
                </a:prstGeom>
                <a:noFill/>
                <a:ln>
                  <a:noFill/>
                </a:ln>
              </p:spPr>
              <p:txBody>
                <a:bodyPr wrap="none" lIns="0" tIns="0" rIns="0" bIns="0" anchor="t" anchorCtr="0">
                  <a:spAutoFit/>
                </a:bodyPr>
                <a:lstStyle/>
                <a:p>
                  <a:pPr algn="ctr"/>
                  <a:r>
                    <a:rPr lang="zh-CN" sz="1495" b="1" dirty="0">
                      <a:solidFill>
                        <a:srgbClr val="0A0A0A"/>
                      </a:solidFill>
                      <a:latin typeface="Arial" panose="020B0604020202090204"/>
                      <a:ea typeface="微软雅黑"/>
                      <a:cs typeface="Arial" panose="020B0604020202090204"/>
                    </a:rPr>
                    <a:t>🇬🇧 英国</a:t>
                  </a:r>
                  <a:endParaRPr lang="zh-CN" sz="1495" b="1" dirty="0">
                    <a:solidFill>
                      <a:srgbClr val="0A0A0A"/>
                    </a:solidFill>
                    <a:latin typeface="Arial" panose="020B0604020202090204"/>
                    <a:ea typeface="微软雅黑"/>
                    <a:cs typeface="Arial" panose="020B0604020202090204"/>
                  </a:endParaRPr>
                </a:p>
              </p:txBody>
            </p:sp>
            <p:sp>
              <p:nvSpPr>
                <p:cNvPr id="105" name="TextBox 105"/>
                <p:cNvSpPr txBox="1"/>
                <p:nvPr/>
              </p:nvSpPr>
              <p:spPr>
                <a:xfrm>
                  <a:off x="6260889" y="3293193"/>
                  <a:ext cx="884660" cy="328755"/>
                </a:xfrm>
                <a:prstGeom prst="rect">
                  <a:avLst/>
                </a:prstGeom>
                <a:noFill/>
                <a:ln>
                  <a:noFill/>
                </a:ln>
              </p:spPr>
              <p:txBody>
                <a:bodyPr wrap="none" lIns="0" tIns="0" rIns="0" bIns="0" anchor="t" anchorCtr="0">
                  <a:spAutoFit/>
                </a:bodyPr>
                <a:lstStyle/>
                <a:p>
                  <a:pPr algn="ctr"/>
                  <a:r>
                    <a:rPr lang="zh-CN" sz="1620" b="1" dirty="0">
                      <a:solidFill>
                        <a:srgbClr val="D4AF37"/>
                      </a:solidFill>
                      <a:latin typeface="Arial" panose="020B0604020202090204"/>
                      <a:ea typeface="微软雅黑"/>
                      <a:cs typeface="Arial" panose="020B0604020202090204"/>
                    </a:rPr>
                    <a:t>#3 密度</a:t>
                  </a:r>
                  <a:endParaRPr lang="zh-CN" sz="1620" b="1" dirty="0">
                    <a:solidFill>
                      <a:srgbClr val="D4AF37"/>
                    </a:solidFill>
                    <a:latin typeface="Arial" panose="020B0604020202090204"/>
                    <a:ea typeface="微软雅黑"/>
                    <a:cs typeface="Arial" panose="020B0604020202090204"/>
                  </a:endParaRPr>
                </a:p>
              </p:txBody>
            </p:sp>
            <p:sp>
              <p:nvSpPr>
                <p:cNvPr id="106" name="TextBox 106"/>
                <p:cNvSpPr txBox="1"/>
                <p:nvPr/>
              </p:nvSpPr>
              <p:spPr>
                <a:xfrm>
                  <a:off x="6316832" y="3552404"/>
                  <a:ext cx="772773" cy="227600"/>
                </a:xfrm>
                <a:prstGeom prst="rect">
                  <a:avLst/>
                </a:prstGeom>
                <a:noFill/>
                <a:ln>
                  <a:noFill/>
                </a:ln>
              </p:spPr>
              <p:txBody>
                <a:bodyPr wrap="none" lIns="0" tIns="0" rIns="0" bIns="0" anchor="t" anchorCtr="0">
                  <a:spAutoFit/>
                </a:bodyPr>
                <a:lstStyle/>
                <a:p>
                  <a:pPr algn="ctr"/>
                  <a:r>
                    <a:rPr lang="zh-CN" sz="1120" dirty="0">
                      <a:solidFill>
                        <a:srgbClr val="666666"/>
                      </a:solidFill>
                      <a:latin typeface="Arial" panose="020B0604020202090204"/>
                      <a:ea typeface="微软雅黑"/>
                      <a:cs typeface="Arial" panose="020B0604020202090204"/>
                    </a:rPr>
                    <a:t>伦敦·剑桥</a:t>
                  </a:r>
                  <a:endParaRPr lang="zh-CN" sz="1120" dirty="0">
                    <a:solidFill>
                      <a:srgbClr val="666666"/>
                    </a:solidFill>
                    <a:latin typeface="Arial" panose="020B0604020202090204"/>
                    <a:ea typeface="微软雅黑"/>
                    <a:cs typeface="Arial" panose="020B0604020202090204"/>
                  </a:endParaRPr>
                </a:p>
              </p:txBody>
            </p:sp>
          </p:grpSp>
          <p:grpSp>
            <p:nvGrpSpPr>
              <p:cNvPr id="112" name="Group 112"/>
              <p:cNvGrpSpPr/>
              <p:nvPr/>
            </p:nvGrpSpPr>
            <p:grpSpPr>
              <a:xfrm>
                <a:off x="7581900" y="1676400"/>
                <a:ext cx="1139337" cy="790277"/>
                <a:chOff x="7581900" y="1676400"/>
                <a:chExt cx="1139337" cy="790277"/>
              </a:xfrm>
            </p:grpSpPr>
            <p:sp>
              <p:nvSpPr>
                <p:cNvPr id="108" name="Rectangle 108"/>
                <p:cNvSpPr/>
                <p:nvPr/>
              </p:nvSpPr>
              <p:spPr>
                <a:xfrm>
                  <a:off x="7581900" y="1676400"/>
                  <a:ext cx="1139337" cy="790277"/>
                </a:xfrm>
                <a:custGeom>
                  <a:avLst/>
                  <a:gdLst/>
                  <a:ahLst/>
                  <a:cxnLst/>
                  <a:rect l="l" t="t" r="r" b="b"/>
                  <a:pathLst>
                    <a:path w="1139337" h="790277">
                      <a:moveTo>
                        <a:pt x="68360" y="0"/>
                      </a:moveTo>
                      <a:lnTo>
                        <a:pt x="1070977" y="0"/>
                      </a:lnTo>
                      <a:cubicBezTo>
                        <a:pt x="1108731" y="0"/>
                        <a:pt x="1139337" y="42458"/>
                        <a:pt x="1139337" y="94833"/>
                      </a:cubicBezTo>
                      <a:lnTo>
                        <a:pt x="1139337" y="695444"/>
                      </a:lnTo>
                      <a:cubicBezTo>
                        <a:pt x="1139337" y="747819"/>
                        <a:pt x="1108731" y="790277"/>
                        <a:pt x="1070977" y="790277"/>
                      </a:cubicBezTo>
                      <a:lnTo>
                        <a:pt x="68360" y="790277"/>
                      </a:lnTo>
                      <a:cubicBezTo>
                        <a:pt x="30606" y="790277"/>
                        <a:pt x="0" y="747819"/>
                        <a:pt x="0" y="695444"/>
                      </a:cubicBezTo>
                      <a:lnTo>
                        <a:pt x="0" y="94833"/>
                      </a:lnTo>
                      <a:cubicBezTo>
                        <a:pt x="0" y="42458"/>
                        <a:pt x="30606" y="0"/>
                        <a:pt x="68360" y="0"/>
                      </a:cubicBezTo>
                      <a:close/>
                    </a:path>
                  </a:pathLst>
                </a:custGeom>
                <a:solidFill>
                  <a:srgbClr val="FFFFFF"/>
                </a:solidFill>
                <a:ln w="9525">
                  <a:solidFill>
                    <a:srgbClr val="666666"/>
                  </a:solidFill>
                </a:ln>
              </p:spPr>
            </p:sp>
            <p:sp>
              <p:nvSpPr>
                <p:cNvPr id="109" name="TextBox 109"/>
                <p:cNvSpPr txBox="1"/>
                <p:nvPr/>
              </p:nvSpPr>
              <p:spPr>
                <a:xfrm>
                  <a:off x="7777289" y="1781507"/>
                  <a:ext cx="748559" cy="278178"/>
                </a:xfrm>
                <a:prstGeom prst="rect">
                  <a:avLst/>
                </a:prstGeom>
                <a:noFill/>
                <a:ln>
                  <a:noFill/>
                </a:ln>
              </p:spPr>
              <p:txBody>
                <a:bodyPr wrap="none" lIns="0" tIns="0" rIns="0" bIns="0" anchor="t" anchorCtr="0">
                  <a:spAutoFit/>
                </a:bodyPr>
                <a:lstStyle/>
                <a:p>
                  <a:pPr algn="ctr"/>
                  <a:r>
                    <a:rPr lang="zh-CN" sz="1370" b="1" dirty="0">
                      <a:solidFill>
                        <a:srgbClr val="0A0A0A"/>
                      </a:solidFill>
                      <a:latin typeface="Arial" panose="020B0604020202090204"/>
                      <a:ea typeface="微软雅黑"/>
                      <a:cs typeface="Arial" panose="020B0604020202090204"/>
                    </a:rPr>
                    <a:t>🇨🇳 中国</a:t>
                  </a:r>
                  <a:endParaRPr lang="zh-CN" sz="1370" b="1" dirty="0">
                    <a:solidFill>
                      <a:srgbClr val="0A0A0A"/>
                    </a:solidFill>
                    <a:latin typeface="Arial" panose="020B0604020202090204"/>
                    <a:ea typeface="微软雅黑"/>
                    <a:cs typeface="Arial" panose="020B0604020202090204"/>
                  </a:endParaRPr>
                </a:p>
              </p:txBody>
            </p:sp>
            <p:sp>
              <p:nvSpPr>
                <p:cNvPr id="110" name="TextBox 110"/>
                <p:cNvSpPr txBox="1"/>
                <p:nvPr/>
              </p:nvSpPr>
              <p:spPr>
                <a:xfrm>
                  <a:off x="7972286" y="2020961"/>
                  <a:ext cx="358565" cy="303466"/>
                </a:xfrm>
                <a:prstGeom prst="rect">
                  <a:avLst/>
                </a:prstGeom>
                <a:noFill/>
                <a:ln>
                  <a:noFill/>
                </a:ln>
              </p:spPr>
              <p:txBody>
                <a:bodyPr wrap="none" lIns="0" tIns="0" rIns="0" bIns="0" anchor="t" anchorCtr="0">
                  <a:spAutoFit/>
                </a:bodyPr>
                <a:lstStyle/>
                <a:p>
                  <a:pPr algn="ctr"/>
                  <a:r>
                    <a:rPr lang="zh-CN" sz="1495" b="1" dirty="0">
                      <a:solidFill>
                        <a:srgbClr val="666666"/>
                      </a:solidFill>
                      <a:latin typeface="Arial" panose="020B0604020202090204"/>
                      <a:ea typeface="微软雅黑"/>
                      <a:cs typeface="Arial" panose="020B0604020202090204"/>
                    </a:rPr>
                    <a:t>18%</a:t>
                  </a:r>
                  <a:endParaRPr lang="zh-CN" sz="1495" b="1" dirty="0">
                    <a:solidFill>
                      <a:srgbClr val="666666"/>
                    </a:solidFill>
                    <a:latin typeface="Arial" panose="020B0604020202090204"/>
                    <a:ea typeface="微软雅黑"/>
                    <a:cs typeface="Arial" panose="020B0604020202090204"/>
                  </a:endParaRPr>
                </a:p>
              </p:txBody>
            </p:sp>
            <p:sp>
              <p:nvSpPr>
                <p:cNvPr id="111" name="TextBox 111"/>
                <p:cNvSpPr txBox="1"/>
                <p:nvPr/>
              </p:nvSpPr>
              <p:spPr>
                <a:xfrm>
                  <a:off x="7920807" y="2264366"/>
                  <a:ext cx="461522" cy="202311"/>
                </a:xfrm>
                <a:prstGeom prst="rect">
                  <a:avLst/>
                </a:prstGeom>
                <a:noFill/>
                <a:ln>
                  <a:noFill/>
                </a:ln>
              </p:spPr>
              <p:txBody>
                <a:bodyPr wrap="none" lIns="0" tIns="0" rIns="0" bIns="0" anchor="t" anchorCtr="0">
                  <a:spAutoFit/>
                </a:bodyPr>
                <a:lstStyle/>
                <a:p>
                  <a:pPr algn="ctr"/>
                  <a:r>
                    <a:rPr lang="zh-CN" sz="995" dirty="0">
                      <a:solidFill>
                        <a:srgbClr val="888888"/>
                      </a:solidFill>
                      <a:latin typeface="Arial" panose="020B0604020202090204"/>
                      <a:ea typeface="微软雅黑"/>
                      <a:cs typeface="Arial" panose="020B0604020202090204"/>
                    </a:rPr>
                    <a:t>京沪深</a:t>
                  </a:r>
                  <a:endParaRPr lang="zh-CN" sz="995" dirty="0">
                    <a:solidFill>
                      <a:srgbClr val="888888"/>
                    </a:solidFill>
                    <a:latin typeface="Arial" panose="020B0604020202090204"/>
                    <a:ea typeface="微软雅黑"/>
                    <a:cs typeface="Arial" panose="020B0604020202090204"/>
                  </a:endParaRPr>
                </a:p>
              </p:txBody>
            </p:sp>
          </p:grpSp>
          <p:grpSp>
            <p:nvGrpSpPr>
              <p:cNvPr id="117" name="Group 117"/>
              <p:cNvGrpSpPr/>
              <p:nvPr/>
            </p:nvGrpSpPr>
            <p:grpSpPr>
              <a:xfrm>
                <a:off x="7581900" y="2247900"/>
                <a:ext cx="1139337" cy="790277"/>
                <a:chOff x="7581900" y="2247900"/>
                <a:chExt cx="1139337" cy="790277"/>
              </a:xfrm>
            </p:grpSpPr>
            <p:sp>
              <p:nvSpPr>
                <p:cNvPr id="113" name="Rectangle 113"/>
                <p:cNvSpPr/>
                <p:nvPr/>
              </p:nvSpPr>
              <p:spPr>
                <a:xfrm>
                  <a:off x="7581900" y="2247900"/>
                  <a:ext cx="1139337" cy="790277"/>
                </a:xfrm>
                <a:custGeom>
                  <a:avLst/>
                  <a:gdLst/>
                  <a:ahLst/>
                  <a:cxnLst/>
                  <a:rect l="l" t="t" r="r" b="b"/>
                  <a:pathLst>
                    <a:path w="1139337" h="790277">
                      <a:moveTo>
                        <a:pt x="68360" y="0"/>
                      </a:moveTo>
                      <a:lnTo>
                        <a:pt x="1070977" y="0"/>
                      </a:lnTo>
                      <a:cubicBezTo>
                        <a:pt x="1108731" y="0"/>
                        <a:pt x="1139337" y="42458"/>
                        <a:pt x="1139337" y="94833"/>
                      </a:cubicBezTo>
                      <a:lnTo>
                        <a:pt x="1139337" y="695444"/>
                      </a:lnTo>
                      <a:cubicBezTo>
                        <a:pt x="1139337" y="747819"/>
                        <a:pt x="1108731" y="790277"/>
                        <a:pt x="1070977" y="790277"/>
                      </a:cubicBezTo>
                      <a:lnTo>
                        <a:pt x="68360" y="790277"/>
                      </a:lnTo>
                      <a:cubicBezTo>
                        <a:pt x="30606" y="790277"/>
                        <a:pt x="0" y="747819"/>
                        <a:pt x="0" y="695444"/>
                      </a:cubicBezTo>
                      <a:lnTo>
                        <a:pt x="0" y="94833"/>
                      </a:lnTo>
                      <a:cubicBezTo>
                        <a:pt x="0" y="42458"/>
                        <a:pt x="30606" y="0"/>
                        <a:pt x="68360" y="0"/>
                      </a:cubicBezTo>
                      <a:close/>
                    </a:path>
                  </a:pathLst>
                </a:custGeom>
                <a:solidFill>
                  <a:srgbClr val="FFFFFF"/>
                </a:solidFill>
                <a:ln w="9525">
                  <a:solidFill>
                    <a:srgbClr val="666666"/>
                  </a:solidFill>
                </a:ln>
              </p:spPr>
            </p:sp>
            <p:sp>
              <p:nvSpPr>
                <p:cNvPr id="114" name="TextBox 114"/>
                <p:cNvSpPr txBox="1"/>
                <p:nvPr/>
              </p:nvSpPr>
              <p:spPr>
                <a:xfrm>
                  <a:off x="7777289" y="2353007"/>
                  <a:ext cx="748559" cy="278178"/>
                </a:xfrm>
                <a:prstGeom prst="rect">
                  <a:avLst/>
                </a:prstGeom>
                <a:noFill/>
                <a:ln>
                  <a:noFill/>
                </a:ln>
              </p:spPr>
              <p:txBody>
                <a:bodyPr wrap="none" lIns="0" tIns="0" rIns="0" bIns="0" anchor="t" anchorCtr="0">
                  <a:spAutoFit/>
                </a:bodyPr>
                <a:lstStyle/>
                <a:p>
                  <a:pPr algn="ctr"/>
                  <a:r>
                    <a:rPr lang="zh-CN" sz="1370" b="1" dirty="0">
                      <a:solidFill>
                        <a:srgbClr val="0A0A0A"/>
                      </a:solidFill>
                      <a:latin typeface="Arial" panose="020B0604020202090204"/>
                      <a:ea typeface="微软雅黑"/>
                      <a:cs typeface="Arial" panose="020B0604020202090204"/>
                    </a:rPr>
                    <a:t>🇪🇺 欧洲</a:t>
                  </a:r>
                  <a:endParaRPr lang="zh-CN" sz="1370" b="1" dirty="0">
                    <a:solidFill>
                      <a:srgbClr val="0A0A0A"/>
                    </a:solidFill>
                    <a:latin typeface="Arial" panose="020B0604020202090204"/>
                    <a:ea typeface="微软雅黑"/>
                    <a:cs typeface="Arial" panose="020B0604020202090204"/>
                  </a:endParaRPr>
                </a:p>
              </p:txBody>
            </p:sp>
            <p:sp>
              <p:nvSpPr>
                <p:cNvPr id="115" name="TextBox 115"/>
                <p:cNvSpPr txBox="1"/>
                <p:nvPr/>
              </p:nvSpPr>
              <p:spPr>
                <a:xfrm>
                  <a:off x="7972286" y="2592461"/>
                  <a:ext cx="358565" cy="303466"/>
                </a:xfrm>
                <a:prstGeom prst="rect">
                  <a:avLst/>
                </a:prstGeom>
                <a:noFill/>
                <a:ln>
                  <a:noFill/>
                </a:ln>
              </p:spPr>
              <p:txBody>
                <a:bodyPr wrap="none" lIns="0" tIns="0" rIns="0" bIns="0" anchor="t" anchorCtr="0">
                  <a:spAutoFit/>
                </a:bodyPr>
                <a:lstStyle/>
                <a:p>
                  <a:pPr algn="ctr"/>
                  <a:r>
                    <a:rPr lang="zh-CN" sz="1495" b="1" dirty="0">
                      <a:solidFill>
                        <a:srgbClr val="666666"/>
                      </a:solidFill>
                      <a:latin typeface="Arial" panose="020B0604020202090204"/>
                      <a:ea typeface="微软雅黑"/>
                      <a:cs typeface="Arial" panose="020B0604020202090204"/>
                    </a:rPr>
                    <a:t>15%</a:t>
                  </a:r>
                  <a:endParaRPr lang="zh-CN" sz="1495" b="1" dirty="0">
                    <a:solidFill>
                      <a:srgbClr val="666666"/>
                    </a:solidFill>
                    <a:latin typeface="Arial" panose="020B0604020202090204"/>
                    <a:ea typeface="微软雅黑"/>
                    <a:cs typeface="Arial" panose="020B0604020202090204"/>
                  </a:endParaRPr>
                </a:p>
              </p:txBody>
            </p:sp>
            <p:sp>
              <p:nvSpPr>
                <p:cNvPr id="116" name="TextBox 116"/>
                <p:cNvSpPr txBox="1"/>
                <p:nvPr/>
              </p:nvSpPr>
              <p:spPr>
                <a:xfrm>
                  <a:off x="7808114" y="2835866"/>
                  <a:ext cx="686909" cy="202311"/>
                </a:xfrm>
                <a:prstGeom prst="rect">
                  <a:avLst/>
                </a:prstGeom>
                <a:noFill/>
                <a:ln>
                  <a:noFill/>
                </a:ln>
              </p:spPr>
              <p:txBody>
                <a:bodyPr wrap="none" lIns="0" tIns="0" rIns="0" bIns="0" anchor="t" anchorCtr="0">
                  <a:spAutoFit/>
                </a:bodyPr>
                <a:lstStyle/>
                <a:p>
                  <a:pPr algn="ctr"/>
                  <a:r>
                    <a:rPr lang="zh-CN" sz="995" dirty="0">
                      <a:solidFill>
                        <a:srgbClr val="888888"/>
                      </a:solidFill>
                      <a:latin typeface="Arial" panose="020B0604020202090204"/>
                      <a:ea typeface="微软雅黑"/>
                      <a:cs typeface="Arial" panose="020B0604020202090204"/>
                    </a:rPr>
                    <a:t>巴黎·阿姆</a:t>
                  </a:r>
                  <a:endParaRPr lang="zh-CN" sz="995" dirty="0">
                    <a:solidFill>
                      <a:srgbClr val="888888"/>
                    </a:solidFill>
                    <a:latin typeface="Arial" panose="020B0604020202090204"/>
                    <a:ea typeface="微软雅黑"/>
                    <a:cs typeface="Arial" panose="020B0604020202090204"/>
                  </a:endParaRPr>
                </a:p>
              </p:txBody>
            </p:sp>
          </p:grpSp>
          <p:grpSp>
            <p:nvGrpSpPr>
              <p:cNvPr id="122" name="Group 122"/>
              <p:cNvGrpSpPr/>
              <p:nvPr/>
            </p:nvGrpSpPr>
            <p:grpSpPr>
              <a:xfrm>
                <a:off x="7581900" y="2819400"/>
                <a:ext cx="1139337" cy="790277"/>
                <a:chOff x="7581900" y="2819400"/>
                <a:chExt cx="1139337" cy="790277"/>
              </a:xfrm>
            </p:grpSpPr>
            <p:sp>
              <p:nvSpPr>
                <p:cNvPr id="118" name="Rectangle 118"/>
                <p:cNvSpPr/>
                <p:nvPr/>
              </p:nvSpPr>
              <p:spPr>
                <a:xfrm>
                  <a:off x="7581900" y="2819400"/>
                  <a:ext cx="1139337" cy="790277"/>
                </a:xfrm>
                <a:custGeom>
                  <a:avLst/>
                  <a:gdLst/>
                  <a:ahLst/>
                  <a:cxnLst/>
                  <a:rect l="l" t="t" r="r" b="b"/>
                  <a:pathLst>
                    <a:path w="1139337" h="790277">
                      <a:moveTo>
                        <a:pt x="68360" y="0"/>
                      </a:moveTo>
                      <a:lnTo>
                        <a:pt x="1070977" y="0"/>
                      </a:lnTo>
                      <a:cubicBezTo>
                        <a:pt x="1108731" y="0"/>
                        <a:pt x="1139337" y="42458"/>
                        <a:pt x="1139337" y="94833"/>
                      </a:cubicBezTo>
                      <a:lnTo>
                        <a:pt x="1139337" y="695444"/>
                      </a:lnTo>
                      <a:cubicBezTo>
                        <a:pt x="1139337" y="747819"/>
                        <a:pt x="1108731" y="790277"/>
                        <a:pt x="1070977" y="790277"/>
                      </a:cubicBezTo>
                      <a:lnTo>
                        <a:pt x="68360" y="790277"/>
                      </a:lnTo>
                      <a:cubicBezTo>
                        <a:pt x="30606" y="790277"/>
                        <a:pt x="0" y="747819"/>
                        <a:pt x="0" y="695444"/>
                      </a:cubicBezTo>
                      <a:lnTo>
                        <a:pt x="0" y="94833"/>
                      </a:lnTo>
                      <a:cubicBezTo>
                        <a:pt x="0" y="42458"/>
                        <a:pt x="30606" y="0"/>
                        <a:pt x="68360" y="0"/>
                      </a:cubicBezTo>
                      <a:close/>
                    </a:path>
                  </a:pathLst>
                </a:custGeom>
                <a:solidFill>
                  <a:srgbClr val="FFFFFF"/>
                </a:solidFill>
                <a:ln w="9525">
                  <a:solidFill>
                    <a:srgbClr val="666666"/>
                  </a:solidFill>
                </a:ln>
              </p:spPr>
            </p:sp>
            <p:sp>
              <p:nvSpPr>
                <p:cNvPr id="119" name="TextBox 119"/>
                <p:cNvSpPr txBox="1"/>
                <p:nvPr/>
              </p:nvSpPr>
              <p:spPr>
                <a:xfrm>
                  <a:off x="7835022" y="2924507"/>
                  <a:ext cx="633093" cy="278178"/>
                </a:xfrm>
                <a:prstGeom prst="rect">
                  <a:avLst/>
                </a:prstGeom>
                <a:noFill/>
                <a:ln>
                  <a:noFill/>
                </a:ln>
              </p:spPr>
              <p:txBody>
                <a:bodyPr wrap="none" lIns="0" tIns="0" rIns="0" bIns="0" anchor="t" anchorCtr="0">
                  <a:spAutoFit/>
                </a:bodyPr>
                <a:lstStyle/>
                <a:p>
                  <a:pPr algn="ctr"/>
                  <a:r>
                    <a:rPr lang="zh-CN" sz="1370" b="1" dirty="0">
                      <a:solidFill>
                        <a:srgbClr val="0A0A0A"/>
                      </a:solidFill>
                      <a:latin typeface="Arial" panose="020B0604020202090204"/>
                      <a:ea typeface="微软雅黑"/>
                      <a:cs typeface="Arial" panose="020B0604020202090204"/>
                    </a:rPr>
                    <a:t>🌏 亚太</a:t>
                  </a:r>
                  <a:endParaRPr lang="zh-CN" sz="1370" b="1" dirty="0">
                    <a:solidFill>
                      <a:srgbClr val="0A0A0A"/>
                    </a:solidFill>
                    <a:latin typeface="Arial" panose="020B0604020202090204"/>
                    <a:ea typeface="微软雅黑"/>
                    <a:cs typeface="Arial" panose="020B0604020202090204"/>
                  </a:endParaRPr>
                </a:p>
              </p:txBody>
            </p:sp>
            <p:sp>
              <p:nvSpPr>
                <p:cNvPr id="120" name="TextBox 120"/>
                <p:cNvSpPr txBox="1"/>
                <p:nvPr/>
              </p:nvSpPr>
              <p:spPr>
                <a:xfrm>
                  <a:off x="7972286" y="3163961"/>
                  <a:ext cx="358565" cy="303466"/>
                </a:xfrm>
                <a:prstGeom prst="rect">
                  <a:avLst/>
                </a:prstGeom>
                <a:noFill/>
                <a:ln>
                  <a:noFill/>
                </a:ln>
              </p:spPr>
              <p:txBody>
                <a:bodyPr wrap="none" lIns="0" tIns="0" rIns="0" bIns="0" anchor="t" anchorCtr="0">
                  <a:spAutoFit/>
                </a:bodyPr>
                <a:lstStyle/>
                <a:p>
                  <a:pPr algn="ctr"/>
                  <a:r>
                    <a:rPr lang="zh-CN" sz="1495" b="1" dirty="0">
                      <a:solidFill>
                        <a:srgbClr val="666666"/>
                      </a:solidFill>
                      <a:latin typeface="Arial" panose="020B0604020202090204"/>
                      <a:ea typeface="微软雅黑"/>
                      <a:cs typeface="Arial" panose="020B0604020202090204"/>
                    </a:rPr>
                    <a:t>13%</a:t>
                  </a:r>
                  <a:endParaRPr lang="zh-CN" sz="1495" b="1" dirty="0">
                    <a:solidFill>
                      <a:srgbClr val="666666"/>
                    </a:solidFill>
                    <a:latin typeface="Arial" panose="020B0604020202090204"/>
                    <a:ea typeface="微软雅黑"/>
                    <a:cs typeface="Arial" panose="020B0604020202090204"/>
                  </a:endParaRPr>
                </a:p>
              </p:txBody>
            </p:sp>
            <p:sp>
              <p:nvSpPr>
                <p:cNvPr id="121" name="TextBox 121"/>
                <p:cNvSpPr txBox="1"/>
                <p:nvPr/>
              </p:nvSpPr>
              <p:spPr>
                <a:xfrm>
                  <a:off x="7808114" y="3407366"/>
                  <a:ext cx="686909" cy="202311"/>
                </a:xfrm>
                <a:prstGeom prst="rect">
                  <a:avLst/>
                </a:prstGeom>
                <a:noFill/>
                <a:ln>
                  <a:noFill/>
                </a:ln>
              </p:spPr>
              <p:txBody>
                <a:bodyPr wrap="none" lIns="0" tIns="0" rIns="0" bIns="0" anchor="t" anchorCtr="0">
                  <a:spAutoFit/>
                </a:bodyPr>
                <a:lstStyle/>
                <a:p>
                  <a:pPr algn="ctr"/>
                  <a:r>
                    <a:rPr lang="zh-CN" sz="995" dirty="0">
                      <a:solidFill>
                        <a:srgbClr val="888888"/>
                      </a:solidFill>
                      <a:latin typeface="Arial" panose="020B0604020202090204"/>
                      <a:ea typeface="微软雅黑"/>
                      <a:cs typeface="Arial" panose="020B0604020202090204"/>
                    </a:rPr>
                    <a:t>东京·首尔</a:t>
                  </a:r>
                  <a:endParaRPr lang="zh-CN" sz="995" dirty="0">
                    <a:solidFill>
                      <a:srgbClr val="888888"/>
                    </a:solidFill>
                    <a:latin typeface="Arial" panose="020B0604020202090204"/>
                    <a:ea typeface="微软雅黑"/>
                    <a:cs typeface="Arial" panose="020B0604020202090204"/>
                  </a:endParaRPr>
                </a:p>
              </p:txBody>
            </p:sp>
          </p:grpSp>
          <p:grpSp>
            <p:nvGrpSpPr>
              <p:cNvPr id="127" name="Group 127"/>
              <p:cNvGrpSpPr/>
              <p:nvPr/>
            </p:nvGrpSpPr>
            <p:grpSpPr>
              <a:xfrm>
                <a:off x="8867775" y="1446803"/>
                <a:ext cx="1822939" cy="904868"/>
                <a:chOff x="8867775" y="1446803"/>
                <a:chExt cx="1822939" cy="904868"/>
              </a:xfrm>
            </p:grpSpPr>
            <p:sp>
              <p:nvSpPr>
                <p:cNvPr id="123" name="TextBox 123"/>
                <p:cNvSpPr txBox="1"/>
                <p:nvPr/>
              </p:nvSpPr>
              <p:spPr>
                <a:xfrm>
                  <a:off x="9286309" y="1446803"/>
                  <a:ext cx="985871" cy="252889"/>
                </a:xfrm>
                <a:prstGeom prst="rect">
                  <a:avLst/>
                </a:prstGeom>
                <a:noFill/>
                <a:ln>
                  <a:noFill/>
                </a:ln>
              </p:spPr>
              <p:txBody>
                <a:bodyPr wrap="none" lIns="0" tIns="0" rIns="0" bIns="0" anchor="t" anchorCtr="0">
                  <a:spAutoFit/>
                </a:bodyPr>
                <a:lstStyle/>
                <a:p>
                  <a:pPr algn="ctr"/>
                  <a:r>
                    <a:rPr lang="zh-CN" sz="1245" b="1" dirty="0">
                      <a:solidFill>
                        <a:srgbClr val="0A0A0A"/>
                      </a:solidFill>
                      <a:latin typeface="Arial" panose="020B0604020202090204"/>
                      <a:ea typeface="微软雅黑"/>
                      <a:cs typeface="Arial" panose="020B0604020202090204"/>
                    </a:rPr>
                    <a:t>新兴聚集地</a:t>
                  </a:r>
                  <a:endParaRPr lang="zh-CN" sz="1245" b="1" dirty="0">
                    <a:solidFill>
                      <a:srgbClr val="0A0A0A"/>
                    </a:solidFill>
                    <a:latin typeface="Arial" panose="020B0604020202090204"/>
                    <a:ea typeface="微软雅黑"/>
                    <a:cs typeface="Arial" panose="020B0604020202090204"/>
                  </a:endParaRPr>
                </a:p>
              </p:txBody>
            </p:sp>
            <p:sp>
              <p:nvSpPr>
                <p:cNvPr id="124" name="Rectangle 124"/>
                <p:cNvSpPr/>
                <p:nvPr/>
              </p:nvSpPr>
              <p:spPr>
                <a:xfrm>
                  <a:off x="8867775" y="1739205"/>
                  <a:ext cx="1822939" cy="600611"/>
                </a:xfrm>
                <a:custGeom>
                  <a:avLst/>
                  <a:gdLst/>
                  <a:ahLst/>
                  <a:cxnLst/>
                  <a:rect l="l" t="t" r="r" b="b"/>
                  <a:pathLst>
                    <a:path w="1822939" h="600611">
                      <a:moveTo>
                        <a:pt x="56967" y="0"/>
                      </a:moveTo>
                      <a:lnTo>
                        <a:pt x="1765972" y="0"/>
                      </a:lnTo>
                      <a:cubicBezTo>
                        <a:pt x="1797434" y="0"/>
                        <a:pt x="1822939" y="35382"/>
                        <a:pt x="1822939" y="79028"/>
                      </a:cubicBezTo>
                      <a:lnTo>
                        <a:pt x="1822939" y="521583"/>
                      </a:lnTo>
                      <a:cubicBezTo>
                        <a:pt x="1822939" y="565229"/>
                        <a:pt x="1797434" y="600611"/>
                        <a:pt x="1765972" y="600611"/>
                      </a:cubicBezTo>
                      <a:lnTo>
                        <a:pt x="56967" y="600611"/>
                      </a:lnTo>
                      <a:cubicBezTo>
                        <a:pt x="25505" y="600611"/>
                        <a:pt x="0" y="565229"/>
                        <a:pt x="0" y="521583"/>
                      </a:cubicBezTo>
                      <a:lnTo>
                        <a:pt x="0" y="79028"/>
                      </a:lnTo>
                      <a:cubicBezTo>
                        <a:pt x="0" y="35382"/>
                        <a:pt x="25505" y="0"/>
                        <a:pt x="56967" y="0"/>
                      </a:cubicBezTo>
                      <a:close/>
                    </a:path>
                  </a:pathLst>
                </a:custGeom>
                <a:solidFill>
                  <a:srgbClr val="F0F7FF"/>
                </a:solidFill>
                <a:ln w="9525">
                  <a:solidFill>
                    <a:srgbClr val="0070F3"/>
                  </a:solidFill>
                  <a:custDash>
                    <a:ds d="300000" sp="200000"/>
                  </a:custDash>
                </a:ln>
              </p:spPr>
            </p:sp>
            <p:sp>
              <p:nvSpPr>
                <p:cNvPr id="125" name="TextBox 125"/>
                <p:cNvSpPr txBox="1"/>
                <p:nvPr/>
              </p:nvSpPr>
              <p:spPr>
                <a:xfrm>
                  <a:off x="9299996" y="1875923"/>
                  <a:ext cx="958496" cy="278178"/>
                </a:xfrm>
                <a:prstGeom prst="rect">
                  <a:avLst/>
                </a:prstGeom>
                <a:noFill/>
                <a:ln>
                  <a:noFill/>
                </a:ln>
              </p:spPr>
              <p:txBody>
                <a:bodyPr wrap="none" lIns="0" tIns="0" rIns="0" bIns="0" anchor="t" anchorCtr="0">
                  <a:spAutoFit/>
                </a:bodyPr>
                <a:lstStyle/>
                <a:p>
                  <a:pPr algn="ctr"/>
                  <a:r>
                    <a:rPr lang="zh-CN" sz="1370" b="1" dirty="0">
                      <a:solidFill>
                        <a:srgbClr val="0A0A0A"/>
                      </a:solidFill>
                      <a:latin typeface="Arial" panose="020B0604020202090204"/>
                      <a:ea typeface="微软雅黑"/>
                      <a:cs typeface="Arial" panose="020B0604020202090204"/>
                    </a:rPr>
                    <a:t>🇨🇦 多伦多</a:t>
                  </a:r>
                  <a:endParaRPr lang="zh-CN" sz="1370" b="1" dirty="0">
                    <a:solidFill>
                      <a:srgbClr val="0A0A0A"/>
                    </a:solidFill>
                    <a:latin typeface="Arial" panose="020B0604020202090204"/>
                    <a:ea typeface="微软雅黑"/>
                    <a:cs typeface="Arial" panose="020B0604020202090204"/>
                  </a:endParaRPr>
                </a:p>
              </p:txBody>
            </p:sp>
            <p:sp>
              <p:nvSpPr>
                <p:cNvPr id="126" name="TextBox 126"/>
                <p:cNvSpPr txBox="1"/>
                <p:nvPr/>
              </p:nvSpPr>
              <p:spPr>
                <a:xfrm>
                  <a:off x="9311064" y="2124071"/>
                  <a:ext cx="936360" cy="227600"/>
                </a:xfrm>
                <a:prstGeom prst="rect">
                  <a:avLst/>
                </a:prstGeom>
                <a:noFill/>
                <a:ln>
                  <a:noFill/>
                </a:ln>
              </p:spPr>
              <p:txBody>
                <a:bodyPr wrap="none" lIns="0" tIns="0" rIns="0" bIns="0" anchor="t" anchorCtr="0">
                  <a:spAutoFit/>
                </a:bodyPr>
                <a:lstStyle/>
                <a:p>
                  <a:pPr algn="ctr"/>
                  <a:r>
                    <a:rPr lang="zh-CN" sz="1120" dirty="0">
                      <a:solidFill>
                        <a:srgbClr val="0070F3"/>
                      </a:solidFill>
                      <a:latin typeface="Arial" panose="020B0604020202090204"/>
                      <a:ea typeface="微软雅黑"/>
                      <a:cs typeface="Arial" panose="020B0604020202090204"/>
                    </a:rPr>
                    <a:t>向量所+高校</a:t>
                  </a:r>
                  <a:endParaRPr lang="zh-CN" sz="1120" dirty="0">
                    <a:solidFill>
                      <a:srgbClr val="0070F3"/>
                    </a:solidFill>
                    <a:latin typeface="Arial" panose="020B0604020202090204"/>
                    <a:ea typeface="微软雅黑"/>
                    <a:cs typeface="Arial" panose="020B0604020202090204"/>
                  </a:endParaRPr>
                </a:p>
              </p:txBody>
            </p:sp>
          </p:grpSp>
          <p:grpSp>
            <p:nvGrpSpPr>
              <p:cNvPr id="131" name="Group 131"/>
              <p:cNvGrpSpPr/>
              <p:nvPr/>
            </p:nvGrpSpPr>
            <p:grpSpPr>
              <a:xfrm>
                <a:off x="8867775" y="2105025"/>
                <a:ext cx="1822939" cy="612465"/>
                <a:chOff x="8867775" y="2105025"/>
                <a:chExt cx="1822939" cy="612465"/>
              </a:xfrm>
            </p:grpSpPr>
            <p:sp>
              <p:nvSpPr>
                <p:cNvPr id="128" name="Rectangle 128"/>
                <p:cNvSpPr/>
                <p:nvPr/>
              </p:nvSpPr>
              <p:spPr>
                <a:xfrm>
                  <a:off x="8867775" y="2105025"/>
                  <a:ext cx="1822939" cy="600611"/>
                </a:xfrm>
                <a:custGeom>
                  <a:avLst/>
                  <a:gdLst/>
                  <a:ahLst/>
                  <a:cxnLst/>
                  <a:rect l="l" t="t" r="r" b="b"/>
                  <a:pathLst>
                    <a:path w="1822939" h="600611">
                      <a:moveTo>
                        <a:pt x="56967" y="0"/>
                      </a:moveTo>
                      <a:lnTo>
                        <a:pt x="1765972" y="0"/>
                      </a:lnTo>
                      <a:cubicBezTo>
                        <a:pt x="1797434" y="0"/>
                        <a:pt x="1822939" y="35382"/>
                        <a:pt x="1822939" y="79028"/>
                      </a:cubicBezTo>
                      <a:lnTo>
                        <a:pt x="1822939" y="521583"/>
                      </a:lnTo>
                      <a:cubicBezTo>
                        <a:pt x="1822939" y="565229"/>
                        <a:pt x="1797434" y="600611"/>
                        <a:pt x="1765972" y="600611"/>
                      </a:cubicBezTo>
                      <a:lnTo>
                        <a:pt x="56967" y="600611"/>
                      </a:lnTo>
                      <a:cubicBezTo>
                        <a:pt x="25505" y="600611"/>
                        <a:pt x="0" y="565229"/>
                        <a:pt x="0" y="521583"/>
                      </a:cubicBezTo>
                      <a:lnTo>
                        <a:pt x="0" y="79028"/>
                      </a:lnTo>
                      <a:cubicBezTo>
                        <a:pt x="0" y="35382"/>
                        <a:pt x="25505" y="0"/>
                        <a:pt x="56967" y="0"/>
                      </a:cubicBezTo>
                      <a:close/>
                    </a:path>
                  </a:pathLst>
                </a:custGeom>
                <a:solidFill>
                  <a:srgbClr val="F0F7FF"/>
                </a:solidFill>
                <a:ln w="9525">
                  <a:solidFill>
                    <a:srgbClr val="0070F3"/>
                  </a:solidFill>
                  <a:custDash>
                    <a:ds d="300000" sp="200000"/>
                  </a:custDash>
                </a:ln>
              </p:spPr>
            </p:sp>
            <p:sp>
              <p:nvSpPr>
                <p:cNvPr id="129" name="TextBox 129"/>
                <p:cNvSpPr txBox="1"/>
                <p:nvPr/>
              </p:nvSpPr>
              <p:spPr>
                <a:xfrm>
                  <a:off x="9195028" y="2241743"/>
                  <a:ext cx="1168433" cy="278178"/>
                </a:xfrm>
                <a:prstGeom prst="rect">
                  <a:avLst/>
                </a:prstGeom>
                <a:noFill/>
                <a:ln>
                  <a:noFill/>
                </a:ln>
              </p:spPr>
              <p:txBody>
                <a:bodyPr wrap="none" lIns="0" tIns="0" rIns="0" bIns="0" anchor="t" anchorCtr="0">
                  <a:spAutoFit/>
                </a:bodyPr>
                <a:lstStyle/>
                <a:p>
                  <a:pPr algn="ctr"/>
                  <a:r>
                    <a:rPr lang="zh-CN" sz="1370" b="1" dirty="0">
                      <a:solidFill>
                        <a:srgbClr val="0A0A0A"/>
                      </a:solidFill>
                      <a:latin typeface="Arial" panose="020B0604020202090204"/>
                      <a:ea typeface="微软雅黑"/>
                      <a:cs typeface="Arial" panose="020B0604020202090204"/>
                    </a:rPr>
                    <a:t>🇮🇱 特拉维夫</a:t>
                  </a:r>
                  <a:endParaRPr lang="zh-CN" sz="1370" b="1" dirty="0">
                    <a:solidFill>
                      <a:srgbClr val="0A0A0A"/>
                    </a:solidFill>
                    <a:latin typeface="Arial" panose="020B0604020202090204"/>
                    <a:ea typeface="微软雅黑"/>
                    <a:cs typeface="Arial" panose="020B0604020202090204"/>
                  </a:endParaRPr>
                </a:p>
              </p:txBody>
            </p:sp>
            <p:sp>
              <p:nvSpPr>
                <p:cNvPr id="130" name="TextBox 130"/>
                <p:cNvSpPr txBox="1"/>
                <p:nvPr/>
              </p:nvSpPr>
              <p:spPr>
                <a:xfrm>
                  <a:off x="9229271" y="2489890"/>
                  <a:ext cx="1099948" cy="227600"/>
                </a:xfrm>
                <a:prstGeom prst="rect">
                  <a:avLst/>
                </a:prstGeom>
                <a:noFill/>
                <a:ln>
                  <a:noFill/>
                </a:ln>
              </p:spPr>
              <p:txBody>
                <a:bodyPr wrap="none" lIns="0" tIns="0" rIns="0" bIns="0" anchor="t" anchorCtr="0">
                  <a:spAutoFit/>
                </a:bodyPr>
                <a:lstStyle/>
                <a:p>
                  <a:pPr algn="ctr"/>
                  <a:r>
                    <a:rPr lang="zh-CN" sz="1120" dirty="0">
                      <a:solidFill>
                        <a:srgbClr val="0070F3"/>
                      </a:solidFill>
                      <a:latin typeface="Arial" panose="020B0604020202090204"/>
                      <a:ea typeface="微软雅黑"/>
                      <a:cs typeface="Arial" panose="020B0604020202090204"/>
                    </a:rPr>
                    <a:t>安全+自动驾驶</a:t>
                  </a:r>
                  <a:endParaRPr lang="zh-CN" sz="1120" dirty="0">
                    <a:solidFill>
                      <a:srgbClr val="0070F3"/>
                    </a:solidFill>
                    <a:latin typeface="Arial" panose="020B0604020202090204"/>
                    <a:ea typeface="微软雅黑"/>
                    <a:cs typeface="Arial" panose="020B0604020202090204"/>
                  </a:endParaRPr>
                </a:p>
              </p:txBody>
            </p:sp>
          </p:grpSp>
          <p:grpSp>
            <p:nvGrpSpPr>
              <p:cNvPr id="135" name="Group 135"/>
              <p:cNvGrpSpPr/>
              <p:nvPr/>
            </p:nvGrpSpPr>
            <p:grpSpPr>
              <a:xfrm>
                <a:off x="8867775" y="2628900"/>
                <a:ext cx="1822939" cy="612465"/>
                <a:chOff x="8867775" y="2628900"/>
                <a:chExt cx="1822939" cy="612465"/>
              </a:xfrm>
            </p:grpSpPr>
            <p:sp>
              <p:nvSpPr>
                <p:cNvPr id="132" name="Rectangle 132"/>
                <p:cNvSpPr/>
                <p:nvPr/>
              </p:nvSpPr>
              <p:spPr>
                <a:xfrm>
                  <a:off x="8867775" y="2628900"/>
                  <a:ext cx="1822939" cy="600611"/>
                </a:xfrm>
                <a:custGeom>
                  <a:avLst/>
                  <a:gdLst/>
                  <a:ahLst/>
                  <a:cxnLst/>
                  <a:rect l="l" t="t" r="r" b="b"/>
                  <a:pathLst>
                    <a:path w="1822939" h="600611">
                      <a:moveTo>
                        <a:pt x="56967" y="0"/>
                      </a:moveTo>
                      <a:lnTo>
                        <a:pt x="1765972" y="0"/>
                      </a:lnTo>
                      <a:cubicBezTo>
                        <a:pt x="1797434" y="0"/>
                        <a:pt x="1822939" y="35382"/>
                        <a:pt x="1822939" y="79028"/>
                      </a:cubicBezTo>
                      <a:lnTo>
                        <a:pt x="1822939" y="521583"/>
                      </a:lnTo>
                      <a:cubicBezTo>
                        <a:pt x="1822939" y="565229"/>
                        <a:pt x="1797434" y="600611"/>
                        <a:pt x="1765972" y="600611"/>
                      </a:cubicBezTo>
                      <a:lnTo>
                        <a:pt x="56967" y="600611"/>
                      </a:lnTo>
                      <a:cubicBezTo>
                        <a:pt x="25505" y="600611"/>
                        <a:pt x="0" y="565229"/>
                        <a:pt x="0" y="521583"/>
                      </a:cubicBezTo>
                      <a:lnTo>
                        <a:pt x="0" y="79028"/>
                      </a:lnTo>
                      <a:cubicBezTo>
                        <a:pt x="0" y="35382"/>
                        <a:pt x="25505" y="0"/>
                        <a:pt x="56967" y="0"/>
                      </a:cubicBezTo>
                      <a:close/>
                    </a:path>
                  </a:pathLst>
                </a:custGeom>
                <a:solidFill>
                  <a:srgbClr val="F0F7FF"/>
                </a:solidFill>
                <a:ln w="9525">
                  <a:solidFill>
                    <a:srgbClr val="0070F3"/>
                  </a:solidFill>
                  <a:custDash>
                    <a:ds d="300000" sp="200000"/>
                  </a:custDash>
                </a:ln>
              </p:spPr>
            </p:sp>
            <p:sp>
              <p:nvSpPr>
                <p:cNvPr id="133" name="TextBox 133"/>
                <p:cNvSpPr txBox="1"/>
                <p:nvPr/>
              </p:nvSpPr>
              <p:spPr>
                <a:xfrm>
                  <a:off x="9404965" y="2765618"/>
                  <a:ext cx="748559" cy="278178"/>
                </a:xfrm>
                <a:prstGeom prst="rect">
                  <a:avLst/>
                </a:prstGeom>
                <a:noFill/>
                <a:ln>
                  <a:noFill/>
                </a:ln>
              </p:spPr>
              <p:txBody>
                <a:bodyPr wrap="none" lIns="0" tIns="0" rIns="0" bIns="0" anchor="t" anchorCtr="0">
                  <a:spAutoFit/>
                </a:bodyPr>
                <a:lstStyle/>
                <a:p>
                  <a:pPr algn="ctr"/>
                  <a:r>
                    <a:rPr lang="zh-CN" sz="1370" b="1" dirty="0">
                      <a:solidFill>
                        <a:srgbClr val="0A0A0A"/>
                      </a:solidFill>
                      <a:latin typeface="Arial" panose="020B0604020202090204"/>
                      <a:ea typeface="微软雅黑"/>
                      <a:cs typeface="Arial" panose="020B0604020202090204"/>
                    </a:rPr>
                    <a:t>🇩🇪 柏林</a:t>
                  </a:r>
                  <a:endParaRPr lang="zh-CN" sz="1370" b="1" dirty="0">
                    <a:solidFill>
                      <a:srgbClr val="0A0A0A"/>
                    </a:solidFill>
                    <a:latin typeface="Arial" panose="020B0604020202090204"/>
                    <a:ea typeface="微软雅黑"/>
                    <a:cs typeface="Arial" panose="020B0604020202090204"/>
                  </a:endParaRPr>
                </a:p>
              </p:txBody>
            </p:sp>
            <p:sp>
              <p:nvSpPr>
                <p:cNvPr id="134" name="TextBox 134"/>
                <p:cNvSpPr txBox="1"/>
                <p:nvPr/>
              </p:nvSpPr>
              <p:spPr>
                <a:xfrm>
                  <a:off x="9323333" y="3013765"/>
                  <a:ext cx="911822" cy="227600"/>
                </a:xfrm>
                <a:prstGeom prst="rect">
                  <a:avLst/>
                </a:prstGeom>
                <a:noFill/>
                <a:ln>
                  <a:noFill/>
                </a:ln>
              </p:spPr>
              <p:txBody>
                <a:bodyPr wrap="none" lIns="0" tIns="0" rIns="0" bIns="0" anchor="t" anchorCtr="0">
                  <a:spAutoFit/>
                </a:bodyPr>
                <a:lstStyle/>
                <a:p>
                  <a:pPr algn="ctr"/>
                  <a:r>
                    <a:rPr lang="zh-CN" sz="1120" dirty="0">
                      <a:solidFill>
                        <a:srgbClr val="0070F3"/>
                      </a:solidFill>
                      <a:latin typeface="Arial" panose="020B0604020202090204"/>
                      <a:ea typeface="微软雅黑"/>
                      <a:cs typeface="Arial" panose="020B0604020202090204"/>
                    </a:rPr>
                    <a:t>创业+工业AI</a:t>
                  </a:r>
                  <a:endParaRPr lang="zh-CN" sz="1120" dirty="0">
                    <a:solidFill>
                      <a:srgbClr val="0070F3"/>
                    </a:solidFill>
                    <a:latin typeface="Arial" panose="020B0604020202090204"/>
                    <a:ea typeface="微软雅黑"/>
                    <a:cs typeface="Arial" panose="020B0604020202090204"/>
                  </a:endParaRPr>
                </a:p>
              </p:txBody>
            </p:sp>
          </p:grpSp>
          <p:grpSp>
            <p:nvGrpSpPr>
              <p:cNvPr id="139" name="Group 139"/>
              <p:cNvGrpSpPr/>
              <p:nvPr/>
            </p:nvGrpSpPr>
            <p:grpSpPr>
              <a:xfrm>
                <a:off x="8867775" y="3152775"/>
                <a:ext cx="1822939" cy="612465"/>
                <a:chOff x="8867775" y="3152775"/>
                <a:chExt cx="1822939" cy="612465"/>
              </a:xfrm>
            </p:grpSpPr>
            <p:sp>
              <p:nvSpPr>
                <p:cNvPr id="136" name="Rectangle 136"/>
                <p:cNvSpPr/>
                <p:nvPr/>
              </p:nvSpPr>
              <p:spPr>
                <a:xfrm>
                  <a:off x="8867775" y="3152775"/>
                  <a:ext cx="1822939" cy="600611"/>
                </a:xfrm>
                <a:custGeom>
                  <a:avLst/>
                  <a:gdLst/>
                  <a:ahLst/>
                  <a:cxnLst/>
                  <a:rect l="l" t="t" r="r" b="b"/>
                  <a:pathLst>
                    <a:path w="1822939" h="600611">
                      <a:moveTo>
                        <a:pt x="56967" y="0"/>
                      </a:moveTo>
                      <a:lnTo>
                        <a:pt x="1765972" y="0"/>
                      </a:lnTo>
                      <a:cubicBezTo>
                        <a:pt x="1797434" y="0"/>
                        <a:pt x="1822939" y="35382"/>
                        <a:pt x="1822939" y="79028"/>
                      </a:cubicBezTo>
                      <a:lnTo>
                        <a:pt x="1822939" y="521583"/>
                      </a:lnTo>
                      <a:cubicBezTo>
                        <a:pt x="1822939" y="565229"/>
                        <a:pt x="1797434" y="600611"/>
                        <a:pt x="1765972" y="600611"/>
                      </a:cubicBezTo>
                      <a:lnTo>
                        <a:pt x="56967" y="600611"/>
                      </a:lnTo>
                      <a:cubicBezTo>
                        <a:pt x="25505" y="600611"/>
                        <a:pt x="0" y="565229"/>
                        <a:pt x="0" y="521583"/>
                      </a:cubicBezTo>
                      <a:lnTo>
                        <a:pt x="0" y="79028"/>
                      </a:lnTo>
                      <a:cubicBezTo>
                        <a:pt x="0" y="35382"/>
                        <a:pt x="25505" y="0"/>
                        <a:pt x="56967" y="0"/>
                      </a:cubicBezTo>
                      <a:close/>
                    </a:path>
                  </a:pathLst>
                </a:custGeom>
                <a:solidFill>
                  <a:srgbClr val="F0F7FF"/>
                </a:solidFill>
                <a:ln w="9525">
                  <a:solidFill>
                    <a:srgbClr val="0070F3"/>
                  </a:solidFill>
                  <a:custDash>
                    <a:ds d="300000" sp="200000"/>
                  </a:custDash>
                </a:ln>
              </p:spPr>
            </p:sp>
            <p:sp>
              <p:nvSpPr>
                <p:cNvPr id="137" name="TextBox 137"/>
                <p:cNvSpPr txBox="1"/>
                <p:nvPr/>
              </p:nvSpPr>
              <p:spPr>
                <a:xfrm>
                  <a:off x="9299996" y="3289493"/>
                  <a:ext cx="958496" cy="278178"/>
                </a:xfrm>
                <a:prstGeom prst="rect">
                  <a:avLst/>
                </a:prstGeom>
                <a:noFill/>
                <a:ln>
                  <a:noFill/>
                </a:ln>
              </p:spPr>
              <p:txBody>
                <a:bodyPr wrap="none" lIns="0" tIns="0" rIns="0" bIns="0" anchor="t" anchorCtr="0">
                  <a:spAutoFit/>
                </a:bodyPr>
                <a:lstStyle/>
                <a:p>
                  <a:pPr algn="ctr"/>
                  <a:r>
                    <a:rPr lang="zh-CN" sz="1370" b="1" dirty="0">
                      <a:solidFill>
                        <a:srgbClr val="0A0A0A"/>
                      </a:solidFill>
                      <a:latin typeface="Arial" panose="020B0604020202090204"/>
                      <a:ea typeface="微软雅黑"/>
                      <a:cs typeface="Arial" panose="020B0604020202090204"/>
                    </a:rPr>
                    <a:t>🇸🇬 新加坡</a:t>
                  </a:r>
                  <a:endParaRPr lang="zh-CN" sz="1370" b="1" dirty="0">
                    <a:solidFill>
                      <a:srgbClr val="0A0A0A"/>
                    </a:solidFill>
                    <a:latin typeface="Arial" panose="020B0604020202090204"/>
                    <a:ea typeface="微软雅黑"/>
                    <a:cs typeface="Arial" panose="020B0604020202090204"/>
                  </a:endParaRPr>
                </a:p>
              </p:txBody>
            </p:sp>
            <p:sp>
              <p:nvSpPr>
                <p:cNvPr id="138" name="TextBox 138"/>
                <p:cNvSpPr txBox="1"/>
                <p:nvPr/>
              </p:nvSpPr>
              <p:spPr>
                <a:xfrm>
                  <a:off x="9437845" y="3537640"/>
                  <a:ext cx="682800" cy="227600"/>
                </a:xfrm>
                <a:prstGeom prst="rect">
                  <a:avLst/>
                </a:prstGeom>
                <a:noFill/>
                <a:ln>
                  <a:noFill/>
                </a:ln>
              </p:spPr>
              <p:txBody>
                <a:bodyPr wrap="none" lIns="0" tIns="0" rIns="0" bIns="0" anchor="t" anchorCtr="0">
                  <a:spAutoFit/>
                </a:bodyPr>
                <a:lstStyle/>
                <a:p>
                  <a:pPr algn="ctr"/>
                  <a:r>
                    <a:rPr lang="zh-CN" sz="1120" dirty="0">
                      <a:solidFill>
                        <a:srgbClr val="0070F3"/>
                      </a:solidFill>
                      <a:latin typeface="Arial" panose="020B0604020202090204"/>
                      <a:ea typeface="微软雅黑"/>
                      <a:cs typeface="Arial" panose="020B0604020202090204"/>
                    </a:rPr>
                    <a:t>金融科技</a:t>
                  </a:r>
                  <a:endParaRPr lang="zh-CN" sz="1120" dirty="0">
                    <a:solidFill>
                      <a:srgbClr val="0070F3"/>
                    </a:solidFill>
                    <a:latin typeface="Arial" panose="020B0604020202090204"/>
                    <a:ea typeface="微软雅黑"/>
                    <a:cs typeface="Arial" panose="020B0604020202090204"/>
                  </a:endParaRPr>
                </a:p>
              </p:txBody>
            </p:sp>
          </p:grpSp>
          <p:grpSp>
            <p:nvGrpSpPr>
              <p:cNvPr id="149" name="Group 149"/>
              <p:cNvGrpSpPr/>
              <p:nvPr/>
            </p:nvGrpSpPr>
            <p:grpSpPr>
              <a:xfrm>
                <a:off x="5948425" y="3454956"/>
                <a:ext cx="3855623" cy="233132"/>
                <a:chOff x="5948425" y="3454956"/>
                <a:chExt cx="3855623" cy="233132"/>
              </a:xfrm>
            </p:grpSpPr>
            <p:sp>
              <p:nvSpPr>
                <p:cNvPr id="140" name="TextBox 140"/>
                <p:cNvSpPr txBox="1"/>
                <p:nvPr/>
              </p:nvSpPr>
              <p:spPr>
                <a:xfrm>
                  <a:off x="5948425" y="3460488"/>
                  <a:ext cx="609185" cy="227600"/>
                </a:xfrm>
                <a:prstGeom prst="rect">
                  <a:avLst/>
                </a:prstGeom>
                <a:noFill/>
                <a:ln>
                  <a:noFill/>
                </a:ln>
              </p:spPr>
              <p:txBody>
                <a:bodyPr wrap="none" lIns="0" tIns="0" rIns="0" bIns="0" anchor="t" anchorCtr="0">
                  <a:spAutoFit/>
                </a:bodyPr>
                <a:lstStyle/>
                <a:p>
                  <a:pPr algn="l"/>
                  <a:r>
                    <a:rPr lang="zh-CN" sz="1120" dirty="0">
                      <a:solidFill>
                        <a:srgbClr val="666666"/>
                      </a:solidFill>
                      <a:latin typeface="Arial" panose="020B0604020202090204"/>
                      <a:ea typeface="微软雅黑"/>
                      <a:cs typeface="Arial" panose="020B0604020202090204"/>
                    </a:rPr>
                    <a:t>聚集度:</a:t>
                  </a:r>
                  <a:endParaRPr lang="zh-CN" sz="1120" dirty="0">
                    <a:solidFill>
                      <a:srgbClr val="666666"/>
                    </a:solidFill>
                    <a:latin typeface="Arial" panose="020B0604020202090204"/>
                    <a:ea typeface="微软雅黑"/>
                    <a:cs typeface="Arial" panose="020B0604020202090204"/>
                  </a:endParaRPr>
                </a:p>
              </p:txBody>
            </p:sp>
            <p:sp>
              <p:nvSpPr>
                <p:cNvPr id="141" name="Rectangle 141"/>
                <p:cNvSpPr/>
                <p:nvPr/>
              </p:nvSpPr>
              <p:spPr>
                <a:xfrm>
                  <a:off x="6475352" y="3454956"/>
                  <a:ext cx="273441" cy="189667"/>
                </a:xfrm>
                <a:custGeom>
                  <a:avLst/>
                  <a:gdLst/>
                  <a:ahLst/>
                  <a:cxnLst/>
                  <a:rect l="l" t="t" r="r" b="b"/>
                  <a:pathLst>
                    <a:path w="273441" h="189667">
                      <a:moveTo>
                        <a:pt x="22787" y="0"/>
                      </a:moveTo>
                      <a:lnTo>
                        <a:pt x="250654" y="0"/>
                      </a:lnTo>
                      <a:cubicBezTo>
                        <a:pt x="263239" y="0"/>
                        <a:pt x="273441" y="14153"/>
                        <a:pt x="273441" y="31611"/>
                      </a:cubicBezTo>
                      <a:lnTo>
                        <a:pt x="273441" y="158056"/>
                      </a:lnTo>
                      <a:cubicBezTo>
                        <a:pt x="273441" y="175514"/>
                        <a:pt x="263239" y="189667"/>
                        <a:pt x="250654" y="189667"/>
                      </a:cubicBezTo>
                      <a:lnTo>
                        <a:pt x="22787" y="189667"/>
                      </a:lnTo>
                      <a:cubicBezTo>
                        <a:pt x="10202" y="189667"/>
                        <a:pt x="0" y="175514"/>
                        <a:pt x="0" y="158056"/>
                      </a:cubicBezTo>
                      <a:lnTo>
                        <a:pt x="0" y="31611"/>
                      </a:lnTo>
                      <a:cubicBezTo>
                        <a:pt x="0" y="14153"/>
                        <a:pt x="10202" y="0"/>
                        <a:pt x="22787" y="0"/>
                      </a:cubicBezTo>
                      <a:close/>
                    </a:path>
                  </a:pathLst>
                </a:custGeom>
                <a:solidFill>
                  <a:srgbClr val="0070F3"/>
                </a:solidFill>
                <a:ln>
                  <a:noFill/>
                </a:ln>
              </p:spPr>
            </p:sp>
            <p:sp>
              <p:nvSpPr>
                <p:cNvPr id="142" name="TextBox 142"/>
                <p:cNvSpPr txBox="1"/>
                <p:nvPr/>
              </p:nvSpPr>
              <p:spPr>
                <a:xfrm>
                  <a:off x="6781721" y="3473922"/>
                  <a:ext cx="170700" cy="202311"/>
                </a:xfrm>
                <a:prstGeom prst="rect">
                  <a:avLst/>
                </a:prstGeom>
                <a:noFill/>
                <a:ln>
                  <a:noFill/>
                </a:ln>
              </p:spPr>
              <p:txBody>
                <a:bodyPr wrap="none" lIns="0" tIns="0" rIns="0" bIns="0" anchor="t" anchorCtr="0">
                  <a:spAutoFit/>
                </a:bodyPr>
                <a:lstStyle/>
                <a:p>
                  <a:pPr algn="l"/>
                  <a:r>
                    <a:rPr lang="zh-CN" sz="995" dirty="0">
                      <a:solidFill>
                        <a:srgbClr val="666666"/>
                      </a:solidFill>
                      <a:latin typeface="Arial" panose="020B0604020202090204"/>
                      <a:ea typeface="微软雅黑"/>
                      <a:cs typeface="Arial" panose="020B0604020202090204"/>
                    </a:rPr>
                    <a:t>高</a:t>
                  </a:r>
                  <a:endParaRPr lang="zh-CN" sz="995" dirty="0">
                    <a:solidFill>
                      <a:srgbClr val="666666"/>
                    </a:solidFill>
                    <a:latin typeface="Arial" panose="020B0604020202090204"/>
                    <a:ea typeface="微软雅黑"/>
                    <a:cs typeface="Arial" panose="020B0604020202090204"/>
                  </a:endParaRPr>
                </a:p>
              </p:txBody>
            </p:sp>
            <p:sp>
              <p:nvSpPr>
                <p:cNvPr id="143" name="Rectangle 143"/>
                <p:cNvSpPr/>
                <p:nvPr/>
              </p:nvSpPr>
              <p:spPr>
                <a:xfrm>
                  <a:off x="7045020" y="3454956"/>
                  <a:ext cx="273441" cy="189667"/>
                </a:xfrm>
                <a:custGeom>
                  <a:avLst/>
                  <a:gdLst/>
                  <a:ahLst/>
                  <a:cxnLst/>
                  <a:rect l="l" t="t" r="r" b="b"/>
                  <a:pathLst>
                    <a:path w="273441" h="189667">
                      <a:moveTo>
                        <a:pt x="22787" y="0"/>
                      </a:moveTo>
                      <a:lnTo>
                        <a:pt x="250654" y="0"/>
                      </a:lnTo>
                      <a:cubicBezTo>
                        <a:pt x="263239" y="0"/>
                        <a:pt x="273441" y="14153"/>
                        <a:pt x="273441" y="31611"/>
                      </a:cubicBezTo>
                      <a:lnTo>
                        <a:pt x="273441" y="158056"/>
                      </a:lnTo>
                      <a:cubicBezTo>
                        <a:pt x="273441" y="175514"/>
                        <a:pt x="263239" y="189667"/>
                        <a:pt x="250654" y="189667"/>
                      </a:cubicBezTo>
                      <a:lnTo>
                        <a:pt x="22787" y="189667"/>
                      </a:lnTo>
                      <a:cubicBezTo>
                        <a:pt x="10202" y="189667"/>
                        <a:pt x="0" y="175514"/>
                        <a:pt x="0" y="158056"/>
                      </a:cubicBezTo>
                      <a:lnTo>
                        <a:pt x="0" y="31611"/>
                      </a:lnTo>
                      <a:cubicBezTo>
                        <a:pt x="0" y="14153"/>
                        <a:pt x="10202" y="0"/>
                        <a:pt x="22787" y="0"/>
                      </a:cubicBezTo>
                      <a:close/>
                    </a:path>
                  </a:pathLst>
                </a:custGeom>
                <a:solidFill>
                  <a:srgbClr val="D4AF37"/>
                </a:solidFill>
                <a:ln>
                  <a:noFill/>
                </a:ln>
              </p:spPr>
            </p:sp>
            <p:sp>
              <p:nvSpPr>
                <p:cNvPr id="144" name="TextBox 144"/>
                <p:cNvSpPr txBox="1"/>
                <p:nvPr/>
              </p:nvSpPr>
              <p:spPr>
                <a:xfrm>
                  <a:off x="7351390" y="3473922"/>
                  <a:ext cx="170700" cy="202311"/>
                </a:xfrm>
                <a:prstGeom prst="rect">
                  <a:avLst/>
                </a:prstGeom>
                <a:noFill/>
                <a:ln>
                  <a:noFill/>
                </a:ln>
              </p:spPr>
              <p:txBody>
                <a:bodyPr wrap="none" lIns="0" tIns="0" rIns="0" bIns="0" anchor="t" anchorCtr="0">
                  <a:spAutoFit/>
                </a:bodyPr>
                <a:lstStyle/>
                <a:p>
                  <a:pPr algn="l"/>
                  <a:r>
                    <a:rPr lang="zh-CN" sz="995" dirty="0">
                      <a:solidFill>
                        <a:srgbClr val="666666"/>
                      </a:solidFill>
                      <a:latin typeface="Arial" panose="020B0604020202090204"/>
                      <a:ea typeface="微软雅黑"/>
                      <a:cs typeface="Arial" panose="020B0604020202090204"/>
                    </a:rPr>
                    <a:t>中</a:t>
                  </a:r>
                  <a:endParaRPr lang="zh-CN" sz="995" dirty="0">
                    <a:solidFill>
                      <a:srgbClr val="666666"/>
                    </a:solidFill>
                    <a:latin typeface="Arial" panose="020B0604020202090204"/>
                    <a:ea typeface="微软雅黑"/>
                    <a:cs typeface="Arial" panose="020B0604020202090204"/>
                  </a:endParaRPr>
                </a:p>
              </p:txBody>
            </p:sp>
            <p:sp>
              <p:nvSpPr>
                <p:cNvPr id="145" name="Rectangle 145"/>
                <p:cNvSpPr/>
                <p:nvPr/>
              </p:nvSpPr>
              <p:spPr>
                <a:xfrm>
                  <a:off x="7671655" y="3454956"/>
                  <a:ext cx="273441" cy="189667"/>
                </a:xfrm>
                <a:custGeom>
                  <a:avLst/>
                  <a:gdLst/>
                  <a:ahLst/>
                  <a:cxnLst/>
                  <a:rect l="l" t="t" r="r" b="b"/>
                  <a:pathLst>
                    <a:path w="273441" h="189667">
                      <a:moveTo>
                        <a:pt x="22787" y="0"/>
                      </a:moveTo>
                      <a:lnTo>
                        <a:pt x="250654" y="0"/>
                      </a:lnTo>
                      <a:cubicBezTo>
                        <a:pt x="263239" y="0"/>
                        <a:pt x="273441" y="14153"/>
                        <a:pt x="273441" y="31611"/>
                      </a:cubicBezTo>
                      <a:lnTo>
                        <a:pt x="273441" y="158056"/>
                      </a:lnTo>
                      <a:cubicBezTo>
                        <a:pt x="273441" y="175514"/>
                        <a:pt x="263239" y="189667"/>
                        <a:pt x="250654" y="189667"/>
                      </a:cubicBezTo>
                      <a:lnTo>
                        <a:pt x="22787" y="189667"/>
                      </a:lnTo>
                      <a:cubicBezTo>
                        <a:pt x="10202" y="189667"/>
                        <a:pt x="0" y="175514"/>
                        <a:pt x="0" y="158056"/>
                      </a:cubicBezTo>
                      <a:lnTo>
                        <a:pt x="0" y="31611"/>
                      </a:lnTo>
                      <a:cubicBezTo>
                        <a:pt x="0" y="14153"/>
                        <a:pt x="10202" y="0"/>
                        <a:pt x="22787" y="0"/>
                      </a:cubicBezTo>
                      <a:close/>
                    </a:path>
                  </a:pathLst>
                </a:custGeom>
                <a:solidFill>
                  <a:srgbClr val="F0F7FF"/>
                </a:solidFill>
                <a:ln w="9525">
                  <a:solidFill>
                    <a:srgbClr val="0070F3"/>
                  </a:solidFill>
                  <a:custDash>
                    <a:ds d="200000" sp="100000"/>
                  </a:custDash>
                </a:ln>
              </p:spPr>
            </p:sp>
            <p:sp>
              <p:nvSpPr>
                <p:cNvPr id="146" name="TextBox 146"/>
                <p:cNvSpPr txBox="1"/>
                <p:nvPr/>
              </p:nvSpPr>
              <p:spPr>
                <a:xfrm>
                  <a:off x="7978025" y="3473922"/>
                  <a:ext cx="316111" cy="202311"/>
                </a:xfrm>
                <a:prstGeom prst="rect">
                  <a:avLst/>
                </a:prstGeom>
                <a:noFill/>
                <a:ln>
                  <a:noFill/>
                </a:ln>
              </p:spPr>
              <p:txBody>
                <a:bodyPr wrap="none" lIns="0" tIns="0" rIns="0" bIns="0" anchor="t" anchorCtr="0">
                  <a:spAutoFit/>
                </a:bodyPr>
                <a:lstStyle/>
                <a:p>
                  <a:pPr algn="l"/>
                  <a:r>
                    <a:rPr lang="zh-CN" sz="995" dirty="0">
                      <a:solidFill>
                        <a:srgbClr val="666666"/>
                      </a:solidFill>
                      <a:latin typeface="Arial" panose="020B0604020202090204"/>
                      <a:ea typeface="微软雅黑"/>
                      <a:cs typeface="Arial" panose="020B0604020202090204"/>
                    </a:rPr>
                    <a:t>新兴</a:t>
                  </a:r>
                  <a:endParaRPr lang="zh-CN" sz="995" dirty="0">
                    <a:solidFill>
                      <a:srgbClr val="666666"/>
                    </a:solidFill>
                    <a:latin typeface="Arial" panose="020B0604020202090204"/>
                    <a:ea typeface="微软雅黑"/>
                    <a:cs typeface="Arial" panose="020B0604020202090204"/>
                  </a:endParaRPr>
                </a:p>
              </p:txBody>
            </p:sp>
            <p:sp>
              <p:nvSpPr>
                <p:cNvPr id="147" name="Line 147"/>
                <p:cNvSpPr/>
                <p:nvPr/>
              </p:nvSpPr>
              <p:spPr>
                <a:xfrm>
                  <a:off x="8810992" y="3549789"/>
                  <a:ext cx="341801" cy="9525"/>
                </a:xfrm>
                <a:custGeom>
                  <a:avLst/>
                  <a:gdLst/>
                  <a:ahLst/>
                  <a:cxnLst/>
                  <a:rect l="l" t="t" r="r" b="b"/>
                  <a:pathLst>
                    <a:path w="341801" h="9525">
                      <a:moveTo>
                        <a:pt x="0" y="0"/>
                      </a:moveTo>
                      <a:lnTo>
                        <a:pt x="341801" y="0"/>
                      </a:lnTo>
                    </a:path>
                  </a:pathLst>
                </a:custGeom>
                <a:noFill/>
                <a:ln w="14288">
                  <a:solidFill>
                    <a:srgbClr val="0070F3"/>
                  </a:solidFill>
                </a:ln>
              </p:spPr>
            </p:sp>
            <p:sp>
              <p:nvSpPr>
                <p:cNvPr id="148" name="TextBox 148"/>
                <p:cNvSpPr txBox="1"/>
                <p:nvPr/>
              </p:nvSpPr>
              <p:spPr>
                <a:xfrm>
                  <a:off x="9197115" y="3473922"/>
                  <a:ext cx="606933" cy="202311"/>
                </a:xfrm>
                <a:prstGeom prst="rect">
                  <a:avLst/>
                </a:prstGeom>
                <a:noFill/>
                <a:ln>
                  <a:noFill/>
                </a:ln>
              </p:spPr>
              <p:txBody>
                <a:bodyPr wrap="none" lIns="0" tIns="0" rIns="0" bIns="0" anchor="t" anchorCtr="0">
                  <a:spAutoFit/>
                </a:bodyPr>
                <a:lstStyle/>
                <a:p>
                  <a:pPr algn="l"/>
                  <a:r>
                    <a:rPr lang="zh-CN" sz="995" dirty="0">
                      <a:solidFill>
                        <a:srgbClr val="666666"/>
                      </a:solidFill>
                      <a:latin typeface="Arial" panose="020B0604020202090204"/>
                      <a:ea typeface="微软雅黑"/>
                      <a:cs typeface="Arial" panose="020B0604020202090204"/>
                    </a:rPr>
                    <a:t>人才流动</a:t>
                  </a:r>
                  <a:endParaRPr lang="zh-CN" sz="995" dirty="0">
                    <a:solidFill>
                      <a:srgbClr val="666666"/>
                    </a:solidFill>
                    <a:latin typeface="Arial" panose="020B0604020202090204"/>
                    <a:ea typeface="微软雅黑"/>
                    <a:cs typeface="Arial" panose="020B0604020202090204"/>
                  </a:endParaRPr>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grpSp>
      <p:grpSp>
        <p:nvGrpSpPr>
          <p:cNvPr id="176" name="Group 176"/>
          <p:cNvGrpSpPr/>
          <p:nvPr/>
        </p:nvGrpSpPr>
        <p:grpSpPr>
          <a:xfrm>
            <a:off x="276225" y="266700"/>
            <a:ext cx="11875103" cy="6791325"/>
            <a:chOff x="276225" y="266700"/>
            <a:chExt cx="11875103" cy="6791325"/>
          </a:xfrm>
        </p:grpSpPr>
        <p:sp>
          <p:nvSpPr>
            <p:cNvPr id="5" name="TextBox 5"/>
            <p:cNvSpPr txBox="1"/>
            <p:nvPr/>
          </p:nvSpPr>
          <p:spPr>
            <a:xfrm>
              <a:off x="276225" y="309562"/>
              <a:ext cx="3800868" cy="457200"/>
            </a:xfrm>
            <a:prstGeom prst="rect">
              <a:avLst/>
            </a:prstGeom>
            <a:noFill/>
            <a:ln>
              <a:noFill/>
            </a:ln>
          </p:spPr>
          <p:txBody>
            <a:bodyPr wrap="none" lIns="0" tIns="0" rIns="0" bIns="0" anchor="t" anchorCtr="0">
              <a:spAutoFit/>
            </a:bodyPr>
            <a:lstStyle/>
            <a:p>
              <a:pPr algn="l"/>
              <a:r>
                <a:rPr lang="zh-CN" sz="2250" b="1" dirty="0">
                  <a:solidFill>
                    <a:srgbClr val="0A0A0A"/>
                  </a:solidFill>
                  <a:latin typeface="Times New Roman" panose="02020503050405090304"/>
                  <a:ea typeface="宋体"/>
                  <a:cs typeface="Times New Roman" panose="02020503050405090304"/>
                </a:rPr>
                <a:t>AI对全球经济的深远影响</a:t>
              </a:r>
              <a:endParaRPr lang="zh-CN" sz="225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292418" y="704374"/>
              <a:ext cx="3477935" cy="198120"/>
            </a:xfrm>
            <a:prstGeom prst="rect">
              <a:avLst/>
            </a:prstGeom>
            <a:noFill/>
            <a:ln>
              <a:noFill/>
            </a:ln>
          </p:spPr>
          <p:txBody>
            <a:bodyPr wrap="none" lIns="0" tIns="0" rIns="0" bIns="0" anchor="t" anchorCtr="0">
              <a:spAutoFit/>
            </a:bodyPr>
            <a:lstStyle/>
            <a:p>
              <a:pPr algn="l"/>
              <a:r>
                <a:rPr lang="zh-CN" sz="975" dirty="0">
                  <a:solidFill>
                    <a:srgbClr val="0A0A0A"/>
                  </a:solidFill>
                  <a:latin typeface="Arial" panose="020B0604020202090204"/>
                  <a:ea typeface="微软雅黑"/>
                  <a:cs typeface="Arial" panose="020B0604020202090204"/>
                </a:rPr>
                <a:t>量化 AI对全球 GDP的贡献预测，展示 AI的经济战略价值</a:t>
              </a:r>
              <a:endParaRPr lang="zh-CN" sz="975" dirty="0">
                <a:solidFill>
                  <a:srgbClr val="0A0A0A"/>
                </a:solidFill>
                <a:latin typeface="Arial" panose="020B0604020202090204"/>
                <a:ea typeface="微软雅黑"/>
                <a:cs typeface="Arial" panose="020B0604020202090204"/>
              </a:endParaRPr>
            </a:p>
          </p:txBody>
        </p:sp>
        <p:sp>
          <p:nvSpPr>
            <p:cNvPr id="7" name="Rectangle 7"/>
            <p:cNvSpPr/>
            <p:nvPr/>
          </p:nvSpPr>
          <p:spPr>
            <a:xfrm>
              <a:off x="10458355" y="266700"/>
              <a:ext cx="1428845" cy="328612"/>
            </a:xfrm>
            <a:prstGeom prst="roundRect">
              <a:avLst>
                <a:gd name="adj" fmla="val 50000"/>
              </a:avLst>
            </a:prstGeom>
            <a:solidFill>
              <a:srgbClr val="0070F3">
                <a:alpha val="12000"/>
              </a:srgbClr>
            </a:solidFill>
            <a:ln>
              <a:noFill/>
            </a:ln>
          </p:spPr>
        </p:sp>
        <p:sp>
          <p:nvSpPr>
            <p:cNvPr id="8" name="Line 8"/>
            <p:cNvSpPr/>
            <p:nvPr/>
          </p:nvSpPr>
          <p:spPr>
            <a:xfrm>
              <a:off x="10458355" y="266700"/>
              <a:ext cx="1428845" cy="9525"/>
            </a:xfrm>
            <a:custGeom>
              <a:avLst/>
              <a:gdLst/>
              <a:ahLst/>
              <a:cxnLst/>
              <a:rect l="l" t="t" r="r" b="b"/>
              <a:pathLst>
                <a:path w="1428845" h="9525">
                  <a:moveTo>
                    <a:pt x="0" y="0"/>
                  </a:moveTo>
                  <a:lnTo>
                    <a:pt x="1428845" y="0"/>
                  </a:lnTo>
                </a:path>
              </a:pathLst>
            </a:custGeom>
            <a:noFill/>
            <a:ln w="9525">
              <a:solidFill>
                <a:srgbClr val="0070F3">
                  <a:alpha val="24000"/>
                </a:srgbClr>
              </a:solidFill>
            </a:ln>
          </p:spPr>
        </p:sp>
        <p:sp>
          <p:nvSpPr>
            <p:cNvPr id="9" name="Line 9"/>
            <p:cNvSpPr/>
            <p:nvPr/>
          </p:nvSpPr>
          <p:spPr>
            <a:xfrm>
              <a:off x="11887200" y="266700"/>
              <a:ext cx="9525" cy="328612"/>
            </a:xfrm>
            <a:custGeom>
              <a:avLst/>
              <a:gdLst/>
              <a:ahLst/>
              <a:cxnLst/>
              <a:rect l="l" t="t" r="r" b="b"/>
              <a:pathLst>
                <a:path w="9525" h="328612">
                  <a:moveTo>
                    <a:pt x="0" y="0"/>
                  </a:moveTo>
                  <a:lnTo>
                    <a:pt x="0" y="328612"/>
                  </a:lnTo>
                </a:path>
              </a:pathLst>
            </a:custGeom>
            <a:noFill/>
            <a:ln w="9525">
              <a:solidFill>
                <a:srgbClr val="0070F3">
                  <a:alpha val="24000"/>
                </a:srgbClr>
              </a:solidFill>
            </a:ln>
          </p:spPr>
        </p:sp>
        <p:sp>
          <p:nvSpPr>
            <p:cNvPr id="10" name="Line 10"/>
            <p:cNvSpPr/>
            <p:nvPr/>
          </p:nvSpPr>
          <p:spPr>
            <a:xfrm>
              <a:off x="10458355" y="595312"/>
              <a:ext cx="1428845" cy="9525"/>
            </a:xfrm>
            <a:custGeom>
              <a:avLst/>
              <a:gdLst/>
              <a:ahLst/>
              <a:cxnLst/>
              <a:rect l="l" t="t" r="r" b="b"/>
              <a:pathLst>
                <a:path w="1428845" h="9525">
                  <a:moveTo>
                    <a:pt x="0" y="0"/>
                  </a:moveTo>
                  <a:lnTo>
                    <a:pt x="1428845" y="0"/>
                  </a:lnTo>
                </a:path>
              </a:pathLst>
            </a:custGeom>
            <a:noFill/>
            <a:ln w="9525">
              <a:solidFill>
                <a:srgbClr val="0070F3">
                  <a:alpha val="24000"/>
                </a:srgbClr>
              </a:solidFill>
            </a:ln>
          </p:spPr>
        </p:sp>
        <p:sp>
          <p:nvSpPr>
            <p:cNvPr id="11" name="Line 11"/>
            <p:cNvSpPr/>
            <p:nvPr/>
          </p:nvSpPr>
          <p:spPr>
            <a:xfrm>
              <a:off x="10458355" y="266700"/>
              <a:ext cx="9525" cy="328612"/>
            </a:xfrm>
            <a:custGeom>
              <a:avLst/>
              <a:gdLst/>
              <a:ahLst/>
              <a:cxnLst/>
              <a:rect l="l" t="t" r="r" b="b"/>
              <a:pathLst>
                <a:path w="9525" h="328612">
                  <a:moveTo>
                    <a:pt x="0" y="0"/>
                  </a:moveTo>
                  <a:lnTo>
                    <a:pt x="0" y="328612"/>
                  </a:lnTo>
                </a:path>
              </a:pathLst>
            </a:custGeom>
            <a:noFill/>
            <a:ln w="9525">
              <a:solidFill>
                <a:srgbClr val="0070F3">
                  <a:alpha val="24000"/>
                </a:srgbClr>
              </a:solidFill>
            </a:ln>
          </p:spPr>
        </p:sp>
        <p:sp>
          <p:nvSpPr>
            <p:cNvPr id="12" name="TextBox 12"/>
            <p:cNvSpPr txBox="1"/>
            <p:nvPr/>
          </p:nvSpPr>
          <p:spPr>
            <a:xfrm>
              <a:off x="10561225" y="360045"/>
              <a:ext cx="1324166"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统一 ROI与回收期口径</a:t>
              </a:r>
              <a:endParaRPr lang="zh-CN" sz="900" dirty="0">
                <a:solidFill>
                  <a:srgbClr val="0070F3"/>
                </a:solidFill>
                <a:latin typeface="Arial" panose="020B0604020202090204"/>
                <a:ea typeface="微软雅黑"/>
                <a:cs typeface="Arial" panose="020B0604020202090204"/>
              </a:endParaRPr>
            </a:p>
          </p:txBody>
        </p:sp>
        <p:sp>
          <p:nvSpPr>
            <p:cNvPr id="13" name="TextBox 13"/>
            <p:cNvSpPr txBox="1"/>
            <p:nvPr/>
          </p:nvSpPr>
          <p:spPr>
            <a:xfrm>
              <a:off x="290512" y="1089088"/>
              <a:ext cx="1063704"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投资回报结论</a:t>
              </a:r>
              <a:endParaRPr lang="zh-CN" sz="1125" b="1" dirty="0">
                <a:solidFill>
                  <a:srgbClr val="0A0A0A"/>
                </a:solidFill>
                <a:latin typeface="Arial" panose="020B0604020202090204"/>
                <a:ea typeface="微软雅黑"/>
                <a:cs typeface="Arial" panose="020B0604020202090204"/>
              </a:endParaRPr>
            </a:p>
          </p:txBody>
        </p:sp>
        <p:sp>
          <p:nvSpPr>
            <p:cNvPr id="14" name="TextBox 14"/>
            <p:cNvSpPr txBox="1"/>
            <p:nvPr/>
          </p:nvSpPr>
          <p:spPr>
            <a:xfrm>
              <a:off x="292418" y="1343406"/>
              <a:ext cx="7742777" cy="198120"/>
            </a:xfrm>
            <a:prstGeom prst="rect">
              <a:avLst/>
            </a:prstGeom>
            <a:noFill/>
            <a:ln>
              <a:noFill/>
            </a:ln>
          </p:spPr>
          <p:txBody>
            <a:bodyPr wrap="none" lIns="0" tIns="0" rIns="0" bIns="0" anchor="t" anchorCtr="0">
              <a:spAutoFit/>
            </a:bodyPr>
            <a:lstStyle/>
            <a:p>
              <a:pPr algn="l"/>
              <a:r>
                <a:rPr lang="zh-CN" sz="975" dirty="0">
                  <a:solidFill>
                    <a:srgbClr val="0A0A0A"/>
                  </a:solidFill>
                  <a:latin typeface="Arial" panose="020B0604020202090204"/>
                  <a:ea typeface="微软雅黑"/>
                  <a:cs typeface="Arial" panose="020B0604020202090204"/>
                </a:rPr>
                <a:t>在统一业务量口径下， AI客服改造的一次性投入为 900万元，首年综合回报 900万元，可在第 12个月收回投资；随着模型优</a:t>
              </a:r>
              <a:endParaRPr lang="zh-CN" sz="975" dirty="0">
                <a:solidFill>
                  <a:srgbClr val="0A0A0A"/>
                </a:solidFill>
                <a:latin typeface="Arial" panose="020B0604020202090204"/>
                <a:ea typeface="微软雅黑"/>
                <a:cs typeface="Arial" panose="020B0604020202090204"/>
              </a:endParaRPr>
            </a:p>
          </p:txBody>
        </p:sp>
        <p:sp>
          <p:nvSpPr>
            <p:cNvPr id="15" name="TextBox 15"/>
            <p:cNvSpPr txBox="1"/>
            <p:nvPr/>
          </p:nvSpPr>
          <p:spPr>
            <a:xfrm>
              <a:off x="292418" y="1553908"/>
              <a:ext cx="4688324" cy="198120"/>
            </a:xfrm>
            <a:prstGeom prst="rect">
              <a:avLst/>
            </a:prstGeom>
            <a:noFill/>
            <a:ln>
              <a:noFill/>
            </a:ln>
          </p:spPr>
          <p:txBody>
            <a:bodyPr wrap="none" lIns="0" tIns="0" rIns="0" bIns="0" anchor="t" anchorCtr="0">
              <a:spAutoFit/>
            </a:bodyPr>
            <a:lstStyle/>
            <a:p>
              <a:pPr algn="l"/>
              <a:r>
                <a:rPr lang="zh-CN" sz="975" dirty="0">
                  <a:solidFill>
                    <a:srgbClr val="0A0A0A"/>
                  </a:solidFill>
                  <a:latin typeface="Arial" panose="020B0604020202090204"/>
                  <a:ea typeface="微软雅黑"/>
                  <a:cs typeface="Arial" panose="020B0604020202090204"/>
                </a:rPr>
                <a:t>化与业务转化提升， 3年累计回报提升至 2880万元，对应累计 ROI 320%。</a:t>
              </a:r>
              <a:endParaRPr lang="zh-CN" sz="975" dirty="0">
                <a:solidFill>
                  <a:srgbClr val="0A0A0A"/>
                </a:solidFill>
                <a:latin typeface="Arial" panose="020B0604020202090204"/>
                <a:ea typeface="微软雅黑"/>
                <a:cs typeface="Arial" panose="020B0604020202090204"/>
              </a:endParaRPr>
            </a:p>
          </p:txBody>
        </p:sp>
        <p:sp>
          <p:nvSpPr>
            <p:cNvPr id="16" name="Rectangle 16"/>
            <p:cNvSpPr/>
            <p:nvPr/>
          </p:nvSpPr>
          <p:spPr>
            <a:xfrm>
              <a:off x="9175432" y="1067657"/>
              <a:ext cx="2711768" cy="366712"/>
            </a:xfrm>
            <a:prstGeom prst="roundRect">
              <a:avLst>
                <a:gd name="adj" fmla="val 50000"/>
              </a:avLst>
            </a:prstGeom>
            <a:solidFill>
              <a:srgbClr val="0070F3">
                <a:alpha val="12000"/>
              </a:srgbClr>
            </a:solidFill>
            <a:ln>
              <a:noFill/>
            </a:ln>
          </p:spPr>
        </p:sp>
        <p:sp>
          <p:nvSpPr>
            <p:cNvPr id="17" name="Line 17"/>
            <p:cNvSpPr/>
            <p:nvPr/>
          </p:nvSpPr>
          <p:spPr>
            <a:xfrm>
              <a:off x="9175432" y="1067657"/>
              <a:ext cx="2711768" cy="9525"/>
            </a:xfrm>
            <a:custGeom>
              <a:avLst/>
              <a:gdLst/>
              <a:ahLst/>
              <a:cxnLst/>
              <a:rect l="l" t="t" r="r" b="b"/>
              <a:pathLst>
                <a:path w="2711768" h="9525">
                  <a:moveTo>
                    <a:pt x="0" y="0"/>
                  </a:moveTo>
                  <a:lnTo>
                    <a:pt x="2711768" y="0"/>
                  </a:lnTo>
                </a:path>
              </a:pathLst>
            </a:custGeom>
            <a:noFill/>
            <a:ln w="9525">
              <a:solidFill>
                <a:srgbClr val="0070F3">
                  <a:alpha val="25000"/>
                </a:srgbClr>
              </a:solidFill>
            </a:ln>
          </p:spPr>
        </p:sp>
        <p:sp>
          <p:nvSpPr>
            <p:cNvPr id="18" name="Line 18"/>
            <p:cNvSpPr/>
            <p:nvPr/>
          </p:nvSpPr>
          <p:spPr>
            <a:xfrm>
              <a:off x="11887200" y="1067657"/>
              <a:ext cx="9525" cy="366712"/>
            </a:xfrm>
            <a:custGeom>
              <a:avLst/>
              <a:gdLst/>
              <a:ahLst/>
              <a:cxnLst/>
              <a:rect l="l" t="t" r="r" b="b"/>
              <a:pathLst>
                <a:path w="9525" h="366712">
                  <a:moveTo>
                    <a:pt x="0" y="0"/>
                  </a:moveTo>
                  <a:lnTo>
                    <a:pt x="0" y="366712"/>
                  </a:lnTo>
                </a:path>
              </a:pathLst>
            </a:custGeom>
            <a:noFill/>
            <a:ln w="9525">
              <a:solidFill>
                <a:srgbClr val="0070F3">
                  <a:alpha val="25000"/>
                </a:srgbClr>
              </a:solidFill>
            </a:ln>
          </p:spPr>
        </p:sp>
        <p:sp>
          <p:nvSpPr>
            <p:cNvPr id="19" name="Line 19"/>
            <p:cNvSpPr/>
            <p:nvPr/>
          </p:nvSpPr>
          <p:spPr>
            <a:xfrm>
              <a:off x="9175432" y="1434370"/>
              <a:ext cx="2711768" cy="9525"/>
            </a:xfrm>
            <a:custGeom>
              <a:avLst/>
              <a:gdLst/>
              <a:ahLst/>
              <a:cxnLst/>
              <a:rect l="l" t="t" r="r" b="b"/>
              <a:pathLst>
                <a:path w="2711768" h="9525">
                  <a:moveTo>
                    <a:pt x="0" y="0"/>
                  </a:moveTo>
                  <a:lnTo>
                    <a:pt x="2711768" y="0"/>
                  </a:lnTo>
                </a:path>
              </a:pathLst>
            </a:custGeom>
            <a:noFill/>
            <a:ln w="9525">
              <a:solidFill>
                <a:srgbClr val="0070F3">
                  <a:alpha val="25000"/>
                </a:srgbClr>
              </a:solidFill>
            </a:ln>
          </p:spPr>
        </p:sp>
        <p:sp>
          <p:nvSpPr>
            <p:cNvPr id="20" name="Line 20"/>
            <p:cNvSpPr/>
            <p:nvPr/>
          </p:nvSpPr>
          <p:spPr>
            <a:xfrm>
              <a:off x="9175432" y="1067657"/>
              <a:ext cx="9525" cy="366712"/>
            </a:xfrm>
            <a:custGeom>
              <a:avLst/>
              <a:gdLst/>
              <a:ahLst/>
              <a:cxnLst/>
              <a:rect l="l" t="t" r="r" b="b"/>
              <a:pathLst>
                <a:path w="9525" h="366712">
                  <a:moveTo>
                    <a:pt x="0" y="0"/>
                  </a:moveTo>
                  <a:lnTo>
                    <a:pt x="0" y="366712"/>
                  </a:lnTo>
                </a:path>
              </a:pathLst>
            </a:custGeom>
            <a:noFill/>
            <a:ln w="9525">
              <a:solidFill>
                <a:srgbClr val="0070F3">
                  <a:alpha val="25000"/>
                </a:srgbClr>
              </a:solidFill>
            </a:ln>
          </p:spPr>
        </p:sp>
        <p:sp>
          <p:nvSpPr>
            <p:cNvPr id="21" name="TextBox 21"/>
            <p:cNvSpPr txBox="1"/>
            <p:nvPr/>
          </p:nvSpPr>
          <p:spPr>
            <a:xfrm>
              <a:off x="9297352" y="1180052"/>
              <a:ext cx="2743771"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基于年业务量 100万次咨询、统一业务口径测算</a:t>
              </a:r>
              <a:endParaRPr lang="zh-CN" sz="900" dirty="0">
                <a:solidFill>
                  <a:srgbClr val="0070F3"/>
                </a:solidFill>
                <a:latin typeface="Arial" panose="020B0604020202090204"/>
                <a:ea typeface="微软雅黑"/>
                <a:cs typeface="Arial" panose="020B0604020202090204"/>
              </a:endParaRPr>
            </a:p>
          </p:txBody>
        </p:sp>
        <p:sp>
          <p:nvSpPr>
            <p:cNvPr id="22" name="Rectangle 22"/>
            <p:cNvSpPr/>
            <p:nvPr/>
          </p:nvSpPr>
          <p:spPr>
            <a:xfrm>
              <a:off x="304800" y="1898142"/>
              <a:ext cx="3784568" cy="1143000"/>
            </a:xfrm>
            <a:prstGeom prst="roundRect">
              <a:avLst>
                <a:gd name="adj" fmla="val 13333"/>
              </a:avLst>
            </a:prstGeom>
            <a:solidFill>
              <a:srgbClr val="FFFFFF">
                <a:alpha val="72000"/>
              </a:srgbClr>
            </a:solidFill>
            <a:ln>
              <a:noFill/>
            </a:ln>
          </p:spPr>
        </p:sp>
        <p:sp>
          <p:nvSpPr>
            <p:cNvPr id="23" name="Line 23"/>
            <p:cNvSpPr/>
            <p:nvPr/>
          </p:nvSpPr>
          <p:spPr>
            <a:xfrm>
              <a:off x="304800" y="1898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24" name="Line 24"/>
            <p:cNvSpPr/>
            <p:nvPr/>
          </p:nvSpPr>
          <p:spPr>
            <a:xfrm>
              <a:off x="4089368"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25" name="Line 25"/>
            <p:cNvSpPr/>
            <p:nvPr/>
          </p:nvSpPr>
          <p:spPr>
            <a:xfrm>
              <a:off x="304800" y="3041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26" name="Line 26"/>
            <p:cNvSpPr/>
            <p:nvPr/>
          </p:nvSpPr>
          <p:spPr>
            <a:xfrm>
              <a:off x="304800"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27" name="TextBox 27"/>
            <p:cNvSpPr txBox="1"/>
            <p:nvPr/>
          </p:nvSpPr>
          <p:spPr>
            <a:xfrm>
              <a:off x="474345" y="2077212"/>
              <a:ext cx="68008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投资回收期</a:t>
              </a:r>
              <a:endParaRPr lang="zh-CN" sz="900" dirty="0">
                <a:solidFill>
                  <a:srgbClr val="94A3B8"/>
                </a:solidFill>
                <a:latin typeface="Arial" panose="020B0604020202090204"/>
                <a:ea typeface="微软雅黑"/>
                <a:cs typeface="Arial" panose="020B0604020202090204"/>
              </a:endParaRPr>
            </a:p>
          </p:txBody>
        </p:sp>
        <p:sp>
          <p:nvSpPr>
            <p:cNvPr id="28" name="TextBox 28"/>
            <p:cNvSpPr txBox="1"/>
            <p:nvPr/>
          </p:nvSpPr>
          <p:spPr>
            <a:xfrm>
              <a:off x="459105" y="2333434"/>
              <a:ext cx="971155"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Arial" panose="020B0604020202090204"/>
                  <a:ea typeface="微软雅黑"/>
                  <a:cs typeface="Arial" panose="020B0604020202090204"/>
                </a:rPr>
                <a:t>12个月</a:t>
              </a:r>
              <a:endParaRPr lang="zh-CN" sz="2100" b="1" dirty="0">
                <a:solidFill>
                  <a:srgbClr val="0A0A0A"/>
                </a:solidFill>
                <a:latin typeface="Arial" panose="020B0604020202090204"/>
                <a:ea typeface="微软雅黑"/>
                <a:cs typeface="Arial" panose="020B0604020202090204"/>
              </a:endParaRPr>
            </a:p>
          </p:txBody>
        </p:sp>
        <p:sp>
          <p:nvSpPr>
            <p:cNvPr id="29" name="TextBox 29"/>
            <p:cNvSpPr txBox="1"/>
            <p:nvPr/>
          </p:nvSpPr>
          <p:spPr>
            <a:xfrm>
              <a:off x="474345" y="2739200"/>
              <a:ext cx="1534477"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月均综合回报约 75.0万元</a:t>
              </a:r>
              <a:endParaRPr lang="zh-CN" sz="900" dirty="0">
                <a:solidFill>
                  <a:srgbClr val="0070F3"/>
                </a:solidFill>
                <a:latin typeface="Arial" panose="020B0604020202090204"/>
                <a:ea typeface="微软雅黑"/>
                <a:cs typeface="Arial" panose="020B0604020202090204"/>
              </a:endParaRPr>
            </a:p>
          </p:txBody>
        </p:sp>
        <p:sp>
          <p:nvSpPr>
            <p:cNvPr id="30" name="Rectangle 30"/>
            <p:cNvSpPr/>
            <p:nvPr/>
          </p:nvSpPr>
          <p:spPr>
            <a:xfrm>
              <a:off x="4203668" y="1898142"/>
              <a:ext cx="3784663" cy="1143000"/>
            </a:xfrm>
            <a:prstGeom prst="roundRect">
              <a:avLst>
                <a:gd name="adj" fmla="val 13333"/>
              </a:avLst>
            </a:prstGeom>
            <a:solidFill>
              <a:srgbClr val="FFFFFF">
                <a:alpha val="72000"/>
              </a:srgbClr>
            </a:solidFill>
            <a:ln>
              <a:noFill/>
            </a:ln>
          </p:spPr>
        </p:sp>
        <p:sp>
          <p:nvSpPr>
            <p:cNvPr id="31" name="Line 31"/>
            <p:cNvSpPr/>
            <p:nvPr/>
          </p:nvSpPr>
          <p:spPr>
            <a:xfrm>
              <a:off x="4203668" y="1898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32" name="Line 32"/>
            <p:cNvSpPr/>
            <p:nvPr/>
          </p:nvSpPr>
          <p:spPr>
            <a:xfrm>
              <a:off x="7988236"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33" name="Line 33"/>
            <p:cNvSpPr/>
            <p:nvPr/>
          </p:nvSpPr>
          <p:spPr>
            <a:xfrm>
              <a:off x="4203668" y="3041142"/>
              <a:ext cx="3784568" cy="9525"/>
            </a:xfrm>
            <a:custGeom>
              <a:avLst/>
              <a:gdLst/>
              <a:ahLst/>
              <a:cxnLst/>
              <a:rect l="l" t="t" r="r" b="b"/>
              <a:pathLst>
                <a:path w="3784568" h="9525">
                  <a:moveTo>
                    <a:pt x="0" y="0"/>
                  </a:moveTo>
                  <a:lnTo>
                    <a:pt x="3784568" y="0"/>
                  </a:lnTo>
                </a:path>
              </a:pathLst>
            </a:custGeom>
            <a:noFill/>
            <a:ln w="9525">
              <a:solidFill>
                <a:srgbClr val="0070F3">
                  <a:alpha val="16000"/>
                </a:srgbClr>
              </a:solidFill>
            </a:ln>
          </p:spPr>
        </p:sp>
        <p:sp>
          <p:nvSpPr>
            <p:cNvPr id="34" name="Line 34"/>
            <p:cNvSpPr/>
            <p:nvPr/>
          </p:nvSpPr>
          <p:spPr>
            <a:xfrm>
              <a:off x="4203668"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35" name="TextBox 35"/>
            <p:cNvSpPr txBox="1"/>
            <p:nvPr/>
          </p:nvSpPr>
          <p:spPr>
            <a:xfrm>
              <a:off x="4373213" y="2077212"/>
              <a:ext cx="81153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首年综合回报</a:t>
              </a:r>
              <a:endParaRPr lang="zh-CN" sz="900" dirty="0">
                <a:solidFill>
                  <a:srgbClr val="94A3B8"/>
                </a:solidFill>
                <a:latin typeface="Arial" panose="020B0604020202090204"/>
                <a:ea typeface="微软雅黑"/>
                <a:cs typeface="Arial" panose="020B0604020202090204"/>
              </a:endParaRPr>
            </a:p>
          </p:txBody>
        </p:sp>
        <p:sp>
          <p:nvSpPr>
            <p:cNvPr id="36" name="TextBox 36"/>
            <p:cNvSpPr txBox="1"/>
            <p:nvPr/>
          </p:nvSpPr>
          <p:spPr>
            <a:xfrm>
              <a:off x="4357973" y="2333434"/>
              <a:ext cx="1228787"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Arial" panose="020B0604020202090204"/>
                  <a:ea typeface="微软雅黑"/>
                  <a:cs typeface="Arial" panose="020B0604020202090204"/>
                </a:rPr>
                <a:t>900万元</a:t>
              </a:r>
              <a:endParaRPr lang="zh-CN" sz="2100" b="1" dirty="0">
                <a:solidFill>
                  <a:srgbClr val="0A0A0A"/>
                </a:solidFill>
                <a:latin typeface="Arial" panose="020B0604020202090204"/>
                <a:ea typeface="微软雅黑"/>
                <a:cs typeface="Arial" panose="020B0604020202090204"/>
              </a:endParaRPr>
            </a:p>
          </p:txBody>
        </p:sp>
        <p:sp>
          <p:nvSpPr>
            <p:cNvPr id="37" name="TextBox 37"/>
            <p:cNvSpPr txBox="1"/>
            <p:nvPr/>
          </p:nvSpPr>
          <p:spPr>
            <a:xfrm>
              <a:off x="4373213" y="2739200"/>
              <a:ext cx="1928812"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成本节省 720万元 +增收 180万元</a:t>
              </a:r>
              <a:endParaRPr lang="zh-CN" sz="900" dirty="0">
                <a:solidFill>
                  <a:srgbClr val="0070F3"/>
                </a:solidFill>
                <a:latin typeface="Arial" panose="020B0604020202090204"/>
                <a:ea typeface="微软雅黑"/>
                <a:cs typeface="Arial" panose="020B0604020202090204"/>
              </a:endParaRPr>
            </a:p>
          </p:txBody>
        </p:sp>
        <p:sp>
          <p:nvSpPr>
            <p:cNvPr id="38" name="Rectangle 38"/>
            <p:cNvSpPr/>
            <p:nvPr/>
          </p:nvSpPr>
          <p:spPr>
            <a:xfrm>
              <a:off x="8102536" y="1898142"/>
              <a:ext cx="3784663" cy="1143000"/>
            </a:xfrm>
            <a:prstGeom prst="roundRect">
              <a:avLst>
                <a:gd name="adj" fmla="val 13333"/>
              </a:avLst>
            </a:prstGeom>
            <a:solidFill>
              <a:srgbClr val="FFFFFF">
                <a:alpha val="72000"/>
              </a:srgbClr>
            </a:solidFill>
            <a:ln>
              <a:noFill/>
            </a:ln>
          </p:spPr>
        </p:sp>
        <p:sp>
          <p:nvSpPr>
            <p:cNvPr id="39" name="Line 39"/>
            <p:cNvSpPr/>
            <p:nvPr/>
          </p:nvSpPr>
          <p:spPr>
            <a:xfrm>
              <a:off x="8102536" y="1898142"/>
              <a:ext cx="3784664" cy="9525"/>
            </a:xfrm>
            <a:custGeom>
              <a:avLst/>
              <a:gdLst/>
              <a:ahLst/>
              <a:cxnLst/>
              <a:rect l="l" t="t" r="r" b="b"/>
              <a:pathLst>
                <a:path w="3784664" h="9525">
                  <a:moveTo>
                    <a:pt x="0" y="0"/>
                  </a:moveTo>
                  <a:lnTo>
                    <a:pt x="3784664" y="0"/>
                  </a:lnTo>
                </a:path>
              </a:pathLst>
            </a:custGeom>
            <a:noFill/>
            <a:ln w="9525">
              <a:solidFill>
                <a:srgbClr val="0070F3">
                  <a:alpha val="16000"/>
                </a:srgbClr>
              </a:solidFill>
            </a:ln>
          </p:spPr>
        </p:sp>
        <p:sp>
          <p:nvSpPr>
            <p:cNvPr id="40" name="Line 40"/>
            <p:cNvSpPr/>
            <p:nvPr/>
          </p:nvSpPr>
          <p:spPr>
            <a:xfrm>
              <a:off x="11887200"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41" name="Line 41"/>
            <p:cNvSpPr/>
            <p:nvPr/>
          </p:nvSpPr>
          <p:spPr>
            <a:xfrm>
              <a:off x="8102536" y="3041142"/>
              <a:ext cx="3784664" cy="9525"/>
            </a:xfrm>
            <a:custGeom>
              <a:avLst/>
              <a:gdLst/>
              <a:ahLst/>
              <a:cxnLst/>
              <a:rect l="l" t="t" r="r" b="b"/>
              <a:pathLst>
                <a:path w="3784664" h="9525">
                  <a:moveTo>
                    <a:pt x="0" y="0"/>
                  </a:moveTo>
                  <a:lnTo>
                    <a:pt x="3784664" y="0"/>
                  </a:lnTo>
                </a:path>
              </a:pathLst>
            </a:custGeom>
            <a:noFill/>
            <a:ln w="9525">
              <a:solidFill>
                <a:srgbClr val="0070F3">
                  <a:alpha val="16000"/>
                </a:srgbClr>
              </a:solidFill>
            </a:ln>
          </p:spPr>
        </p:sp>
        <p:sp>
          <p:nvSpPr>
            <p:cNvPr id="42" name="Line 42"/>
            <p:cNvSpPr/>
            <p:nvPr/>
          </p:nvSpPr>
          <p:spPr>
            <a:xfrm>
              <a:off x="8102536" y="1898142"/>
              <a:ext cx="9525" cy="1143000"/>
            </a:xfrm>
            <a:custGeom>
              <a:avLst/>
              <a:gdLst/>
              <a:ahLst/>
              <a:cxnLst/>
              <a:rect l="l" t="t" r="r" b="b"/>
              <a:pathLst>
                <a:path w="9525" h="1143000">
                  <a:moveTo>
                    <a:pt x="0" y="0"/>
                  </a:moveTo>
                  <a:lnTo>
                    <a:pt x="0" y="1143000"/>
                  </a:lnTo>
                </a:path>
              </a:pathLst>
            </a:custGeom>
            <a:noFill/>
            <a:ln w="9525">
              <a:solidFill>
                <a:srgbClr val="0070F3">
                  <a:alpha val="16000"/>
                </a:srgbClr>
              </a:solidFill>
            </a:ln>
          </p:spPr>
        </p:sp>
        <p:sp>
          <p:nvSpPr>
            <p:cNvPr id="43" name="TextBox 43"/>
            <p:cNvSpPr txBox="1"/>
            <p:nvPr/>
          </p:nvSpPr>
          <p:spPr>
            <a:xfrm>
              <a:off x="8272081" y="2077212"/>
              <a:ext cx="73923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3年累计 ROI</a:t>
              </a:r>
              <a:endParaRPr lang="zh-CN" sz="900" dirty="0">
                <a:solidFill>
                  <a:srgbClr val="94A3B8"/>
                </a:solidFill>
                <a:latin typeface="Arial" panose="020B0604020202090204"/>
                <a:ea typeface="微软雅黑"/>
                <a:cs typeface="Arial" panose="020B0604020202090204"/>
              </a:endParaRPr>
            </a:p>
          </p:txBody>
        </p:sp>
        <p:sp>
          <p:nvSpPr>
            <p:cNvPr id="44" name="TextBox 44"/>
            <p:cNvSpPr txBox="1"/>
            <p:nvPr/>
          </p:nvSpPr>
          <p:spPr>
            <a:xfrm>
              <a:off x="8256842" y="2333434"/>
              <a:ext cx="761829" cy="426720"/>
            </a:xfrm>
            <a:prstGeom prst="rect">
              <a:avLst/>
            </a:prstGeom>
            <a:noFill/>
            <a:ln>
              <a:noFill/>
            </a:ln>
          </p:spPr>
          <p:txBody>
            <a:bodyPr wrap="none" lIns="0" tIns="0" rIns="0" bIns="0" anchor="t" anchorCtr="0">
              <a:spAutoFit/>
            </a:bodyPr>
            <a:lstStyle/>
            <a:p>
              <a:pPr algn="l"/>
              <a:r>
                <a:rPr lang="zh-CN" sz="2100" b="1" dirty="0">
                  <a:solidFill>
                    <a:srgbClr val="0A0A0A"/>
                  </a:solidFill>
                  <a:latin typeface="Arial" panose="020B0604020202090204"/>
                  <a:ea typeface="微软雅黑"/>
                  <a:cs typeface="Arial" panose="020B0604020202090204"/>
                </a:rPr>
                <a:t>320%</a:t>
              </a:r>
              <a:endParaRPr lang="zh-CN" sz="2100" b="1" dirty="0">
                <a:solidFill>
                  <a:srgbClr val="0A0A0A"/>
                </a:solidFill>
                <a:latin typeface="Arial" panose="020B0604020202090204"/>
                <a:ea typeface="微软雅黑"/>
                <a:cs typeface="Arial" panose="020B0604020202090204"/>
              </a:endParaRPr>
            </a:p>
          </p:txBody>
        </p:sp>
        <p:sp>
          <p:nvSpPr>
            <p:cNvPr id="45" name="TextBox 45"/>
            <p:cNvSpPr txBox="1"/>
            <p:nvPr/>
          </p:nvSpPr>
          <p:spPr>
            <a:xfrm>
              <a:off x="8272081" y="2677287"/>
              <a:ext cx="2428303"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3年累计回报 2880万元，净增益 1980万元</a:t>
              </a:r>
              <a:endParaRPr lang="zh-CN" sz="900" dirty="0">
                <a:solidFill>
                  <a:srgbClr val="0070F3"/>
                </a:solidFill>
                <a:latin typeface="Arial" panose="020B0604020202090204"/>
                <a:ea typeface="微软雅黑"/>
                <a:cs typeface="Arial" panose="020B0604020202090204"/>
              </a:endParaRPr>
            </a:p>
          </p:txBody>
        </p:sp>
        <p:sp>
          <p:nvSpPr>
            <p:cNvPr id="46" name="Rectangle 46"/>
            <p:cNvSpPr/>
            <p:nvPr/>
          </p:nvSpPr>
          <p:spPr>
            <a:xfrm>
              <a:off x="304800" y="3193542"/>
              <a:ext cx="11582400" cy="430530"/>
            </a:xfrm>
            <a:prstGeom prst="roundRect">
              <a:avLst>
                <a:gd name="adj" fmla="val 30973"/>
              </a:avLst>
            </a:prstGeom>
            <a:solidFill>
              <a:srgbClr val="FFFFFF">
                <a:alpha val="80000"/>
              </a:srgbClr>
            </a:solidFill>
            <a:ln>
              <a:noFill/>
            </a:ln>
          </p:spPr>
        </p:sp>
        <p:sp>
          <p:nvSpPr>
            <p:cNvPr id="47" name="Line 47"/>
            <p:cNvSpPr/>
            <p:nvPr/>
          </p:nvSpPr>
          <p:spPr>
            <a:xfrm>
              <a:off x="304800" y="3193542"/>
              <a:ext cx="11582400" cy="9525"/>
            </a:xfrm>
            <a:custGeom>
              <a:avLst/>
              <a:gdLst/>
              <a:ahLst/>
              <a:cxnLst/>
              <a:rect l="l" t="t" r="r" b="b"/>
              <a:pathLst>
                <a:path w="11582400" h="9525">
                  <a:moveTo>
                    <a:pt x="0" y="0"/>
                  </a:moveTo>
                  <a:lnTo>
                    <a:pt x="11582400" y="0"/>
                  </a:lnTo>
                </a:path>
              </a:pathLst>
            </a:custGeom>
            <a:noFill/>
            <a:ln w="9525">
              <a:solidFill>
                <a:srgbClr val="94A3B8">
                  <a:alpha val="16000"/>
                </a:srgbClr>
              </a:solidFill>
            </a:ln>
          </p:spPr>
        </p:sp>
        <p:sp>
          <p:nvSpPr>
            <p:cNvPr id="48" name="Line 48"/>
            <p:cNvSpPr/>
            <p:nvPr/>
          </p:nvSpPr>
          <p:spPr>
            <a:xfrm>
              <a:off x="11887200" y="3193542"/>
              <a:ext cx="9525" cy="430530"/>
            </a:xfrm>
            <a:custGeom>
              <a:avLst/>
              <a:gdLst/>
              <a:ahLst/>
              <a:cxnLst/>
              <a:rect l="l" t="t" r="r" b="b"/>
              <a:pathLst>
                <a:path w="9525" h="430530">
                  <a:moveTo>
                    <a:pt x="0" y="0"/>
                  </a:moveTo>
                  <a:lnTo>
                    <a:pt x="0" y="430530"/>
                  </a:lnTo>
                </a:path>
              </a:pathLst>
            </a:custGeom>
            <a:noFill/>
            <a:ln w="9525">
              <a:solidFill>
                <a:srgbClr val="94A3B8">
                  <a:alpha val="16000"/>
                </a:srgbClr>
              </a:solidFill>
            </a:ln>
          </p:spPr>
        </p:sp>
        <p:sp>
          <p:nvSpPr>
            <p:cNvPr id="49" name="Line 49"/>
            <p:cNvSpPr/>
            <p:nvPr/>
          </p:nvSpPr>
          <p:spPr>
            <a:xfrm>
              <a:off x="304800" y="3624072"/>
              <a:ext cx="11582400" cy="9525"/>
            </a:xfrm>
            <a:custGeom>
              <a:avLst/>
              <a:gdLst/>
              <a:ahLst/>
              <a:cxnLst/>
              <a:rect l="l" t="t" r="r" b="b"/>
              <a:pathLst>
                <a:path w="11582400" h="9525">
                  <a:moveTo>
                    <a:pt x="0" y="0"/>
                  </a:moveTo>
                  <a:lnTo>
                    <a:pt x="11582400" y="0"/>
                  </a:lnTo>
                </a:path>
              </a:pathLst>
            </a:custGeom>
            <a:noFill/>
            <a:ln w="9525">
              <a:solidFill>
                <a:srgbClr val="94A3B8">
                  <a:alpha val="16000"/>
                </a:srgbClr>
              </a:solidFill>
            </a:ln>
          </p:spPr>
        </p:sp>
        <p:sp>
          <p:nvSpPr>
            <p:cNvPr id="50" name="Line 50"/>
            <p:cNvSpPr/>
            <p:nvPr/>
          </p:nvSpPr>
          <p:spPr>
            <a:xfrm>
              <a:off x="304800" y="3193542"/>
              <a:ext cx="9525" cy="430530"/>
            </a:xfrm>
            <a:custGeom>
              <a:avLst/>
              <a:gdLst/>
              <a:ahLst/>
              <a:cxnLst/>
              <a:rect l="l" t="t" r="r" b="b"/>
              <a:pathLst>
                <a:path w="9525" h="430530">
                  <a:moveTo>
                    <a:pt x="0" y="0"/>
                  </a:moveTo>
                  <a:lnTo>
                    <a:pt x="0" y="430530"/>
                  </a:lnTo>
                </a:path>
              </a:pathLst>
            </a:custGeom>
            <a:noFill/>
            <a:ln w="9525">
              <a:solidFill>
                <a:srgbClr val="94A3B8">
                  <a:alpha val="16000"/>
                </a:srgbClr>
              </a:solidFill>
            </a:ln>
          </p:spPr>
        </p:sp>
        <p:sp>
          <p:nvSpPr>
            <p:cNvPr id="51" name="TextBox 51"/>
            <p:cNvSpPr txBox="1"/>
            <p:nvPr/>
          </p:nvSpPr>
          <p:spPr>
            <a:xfrm>
              <a:off x="436245" y="3334512"/>
              <a:ext cx="574929" cy="182880"/>
            </a:xfrm>
            <a:prstGeom prst="rect">
              <a:avLst/>
            </a:prstGeom>
            <a:noFill/>
            <a:ln>
              <a:noFill/>
            </a:ln>
          </p:spPr>
          <p:txBody>
            <a:bodyPr wrap="none" lIns="0" tIns="0" rIns="0" bIns="0" anchor="t" anchorCtr="0">
              <a:spAutoFit/>
            </a:bodyPr>
            <a:lstStyle/>
            <a:p>
              <a:pPr algn="l"/>
              <a:r>
                <a:rPr lang="zh-CN" sz="900" b="1" dirty="0">
                  <a:solidFill>
                    <a:srgbClr val="0A0A0A"/>
                  </a:solidFill>
                  <a:latin typeface="Arial" panose="020B0604020202090204"/>
                  <a:ea typeface="微软雅黑"/>
                  <a:cs typeface="Arial" panose="020B0604020202090204"/>
                </a:rPr>
                <a:t>关键假设</a:t>
              </a:r>
              <a:endParaRPr lang="zh-CN" sz="900" b="1" dirty="0">
                <a:solidFill>
                  <a:srgbClr val="0A0A0A"/>
                </a:solidFill>
                <a:latin typeface="Arial" panose="020B0604020202090204"/>
                <a:ea typeface="微软雅黑"/>
                <a:cs typeface="Arial" panose="020B0604020202090204"/>
              </a:endParaRPr>
            </a:p>
          </p:txBody>
        </p:sp>
        <p:sp>
          <p:nvSpPr>
            <p:cNvPr id="52" name="TextBox 52"/>
            <p:cNvSpPr txBox="1"/>
            <p:nvPr/>
          </p:nvSpPr>
          <p:spPr>
            <a:xfrm>
              <a:off x="988695" y="3334512"/>
              <a:ext cx="1462183"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一次性建设投入 900万元</a:t>
              </a:r>
              <a:endParaRPr lang="zh-CN" sz="900" dirty="0">
                <a:solidFill>
                  <a:srgbClr val="0A0A0A"/>
                </a:solidFill>
                <a:latin typeface="Arial" panose="020B0604020202090204"/>
                <a:ea typeface="微软雅黑"/>
                <a:cs typeface="Arial" panose="020B0604020202090204"/>
              </a:endParaRPr>
            </a:p>
          </p:txBody>
        </p:sp>
        <p:sp>
          <p:nvSpPr>
            <p:cNvPr id="53" name="TextBox 53"/>
            <p:cNvSpPr txBox="1"/>
            <p:nvPr/>
          </p:nvSpPr>
          <p:spPr>
            <a:xfrm>
              <a:off x="2366962" y="3334512"/>
              <a:ext cx="1330738"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首年成本节省 720万元</a:t>
              </a:r>
              <a:endParaRPr lang="zh-CN" sz="900" dirty="0">
                <a:solidFill>
                  <a:srgbClr val="0A0A0A"/>
                </a:solidFill>
                <a:latin typeface="Arial" panose="020B0604020202090204"/>
                <a:ea typeface="微软雅黑"/>
                <a:cs typeface="Arial" panose="020B0604020202090204"/>
              </a:endParaRPr>
            </a:p>
          </p:txBody>
        </p:sp>
        <p:sp>
          <p:nvSpPr>
            <p:cNvPr id="54" name="TextBox 54"/>
            <p:cNvSpPr txBox="1"/>
            <p:nvPr/>
          </p:nvSpPr>
          <p:spPr>
            <a:xfrm>
              <a:off x="3630835" y="3334512"/>
              <a:ext cx="1692211"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首年增收与留存收益 180万元</a:t>
              </a:r>
              <a:endParaRPr lang="zh-CN" sz="900" dirty="0">
                <a:solidFill>
                  <a:srgbClr val="0A0A0A"/>
                </a:solidFill>
                <a:latin typeface="Arial" panose="020B0604020202090204"/>
                <a:ea typeface="微软雅黑"/>
                <a:cs typeface="Arial" panose="020B0604020202090204"/>
              </a:endParaRPr>
            </a:p>
          </p:txBody>
        </p:sp>
        <p:sp>
          <p:nvSpPr>
            <p:cNvPr id="55" name="TextBox 55"/>
            <p:cNvSpPr txBox="1"/>
            <p:nvPr/>
          </p:nvSpPr>
          <p:spPr>
            <a:xfrm>
              <a:off x="5237702" y="3334512"/>
              <a:ext cx="2586037"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3年累计 ROI= 3年累计回报 /初始投入× 100%</a:t>
              </a:r>
              <a:endParaRPr lang="zh-CN" sz="900" dirty="0">
                <a:solidFill>
                  <a:srgbClr val="0A0A0A"/>
                </a:solidFill>
                <a:latin typeface="Arial" panose="020B0604020202090204"/>
                <a:ea typeface="微软雅黑"/>
                <a:cs typeface="Arial" panose="020B0604020202090204"/>
              </a:endParaRPr>
            </a:p>
          </p:txBody>
        </p:sp>
        <p:sp>
          <p:nvSpPr>
            <p:cNvPr id="56" name="TextBox 56"/>
            <p:cNvSpPr txBox="1"/>
            <p:nvPr/>
          </p:nvSpPr>
          <p:spPr>
            <a:xfrm>
              <a:off x="7778306" y="3334512"/>
              <a:ext cx="3427285"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全部页面采用相同口径，避免 ROI、回收期与回报口径冲突</a:t>
              </a:r>
              <a:endParaRPr lang="zh-CN" sz="900" dirty="0">
                <a:solidFill>
                  <a:srgbClr val="0A0A0A"/>
                </a:solidFill>
                <a:latin typeface="Arial" panose="020B0604020202090204"/>
                <a:ea typeface="微软雅黑"/>
                <a:cs typeface="Arial" panose="020B0604020202090204"/>
              </a:endParaRPr>
            </a:p>
          </p:txBody>
        </p:sp>
        <p:sp>
          <p:nvSpPr>
            <p:cNvPr id="57" name="Rectangle 57"/>
            <p:cNvSpPr/>
            <p:nvPr/>
          </p:nvSpPr>
          <p:spPr>
            <a:xfrm>
              <a:off x="304800" y="3986022"/>
              <a:ext cx="5715000" cy="2871978"/>
            </a:xfrm>
            <a:prstGeom prst="roundRect">
              <a:avLst>
                <a:gd name="adj" fmla="val 5970"/>
              </a:avLst>
            </a:prstGeom>
            <a:solidFill>
              <a:srgbClr val="FFFFFF">
                <a:alpha val="78000"/>
              </a:srgbClr>
            </a:solidFill>
            <a:ln>
              <a:noFill/>
            </a:ln>
          </p:spPr>
        </p:sp>
        <p:sp>
          <p:nvSpPr>
            <p:cNvPr id="58" name="Line 58"/>
            <p:cNvSpPr/>
            <p:nvPr/>
          </p:nvSpPr>
          <p:spPr>
            <a:xfrm>
              <a:off x="304800" y="3986022"/>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59" name="Line 59"/>
            <p:cNvSpPr/>
            <p:nvPr/>
          </p:nvSpPr>
          <p:spPr>
            <a:xfrm>
              <a:off x="60198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60" name="Line 60"/>
            <p:cNvSpPr/>
            <p:nvPr/>
          </p:nvSpPr>
          <p:spPr>
            <a:xfrm>
              <a:off x="304800" y="6858000"/>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61" name="Line 61"/>
            <p:cNvSpPr/>
            <p:nvPr/>
          </p:nvSpPr>
          <p:spPr>
            <a:xfrm>
              <a:off x="3048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62" name="TextBox 62"/>
            <p:cNvSpPr txBox="1"/>
            <p:nvPr/>
          </p:nvSpPr>
          <p:spPr>
            <a:xfrm>
              <a:off x="490538" y="4188428"/>
              <a:ext cx="1598521"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AI预计贡献超过 15.7</a:t>
              </a:r>
              <a:endParaRPr lang="zh-CN" sz="1125" b="1" dirty="0">
                <a:solidFill>
                  <a:srgbClr val="0A0A0A"/>
                </a:solidFill>
                <a:latin typeface="Arial" panose="020B0604020202090204"/>
                <a:ea typeface="微软雅黑"/>
                <a:cs typeface="Arial" panose="020B0604020202090204"/>
              </a:endParaRPr>
            </a:p>
          </p:txBody>
        </p:sp>
        <p:sp>
          <p:nvSpPr>
            <p:cNvPr id="63" name="TextBox 63"/>
            <p:cNvSpPr txBox="1"/>
            <p:nvPr/>
          </p:nvSpPr>
          <p:spPr>
            <a:xfrm>
              <a:off x="490538" y="4367022"/>
              <a:ext cx="1572643"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万亿美元占全球 GDP</a:t>
              </a:r>
              <a:endParaRPr lang="zh-CN" sz="1125" b="1" dirty="0">
                <a:solidFill>
                  <a:srgbClr val="0A0A0A"/>
                </a:solidFill>
                <a:latin typeface="Arial" panose="020B0604020202090204"/>
                <a:ea typeface="微软雅黑"/>
                <a:cs typeface="Arial" panose="020B0604020202090204"/>
              </a:endParaRPr>
            </a:p>
          </p:txBody>
        </p:sp>
        <p:sp>
          <p:nvSpPr>
            <p:cNvPr id="64" name="TextBox 64"/>
            <p:cNvSpPr txBox="1"/>
            <p:nvPr/>
          </p:nvSpPr>
          <p:spPr>
            <a:xfrm>
              <a:off x="490538" y="4545616"/>
              <a:ext cx="1520887"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（来源： McKinsey</a:t>
              </a:r>
              <a:endParaRPr lang="zh-CN" sz="1125" b="1" dirty="0">
                <a:solidFill>
                  <a:srgbClr val="0A0A0A"/>
                </a:solidFill>
                <a:latin typeface="Arial" panose="020B0604020202090204"/>
                <a:ea typeface="微软雅黑"/>
                <a:cs typeface="Arial" panose="020B0604020202090204"/>
              </a:endParaRPr>
            </a:p>
          </p:txBody>
        </p:sp>
        <p:sp>
          <p:nvSpPr>
            <p:cNvPr id="65" name="TextBox 65"/>
            <p:cNvSpPr txBox="1"/>
            <p:nvPr/>
          </p:nvSpPr>
          <p:spPr>
            <a:xfrm>
              <a:off x="490538" y="4724210"/>
              <a:ext cx="744539"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 PwC）</a:t>
              </a:r>
              <a:endParaRPr lang="zh-CN" sz="1125" b="1" dirty="0">
                <a:solidFill>
                  <a:srgbClr val="0A0A0A"/>
                </a:solidFill>
                <a:latin typeface="Arial" panose="020B0604020202090204"/>
                <a:ea typeface="微软雅黑"/>
                <a:cs typeface="Arial" panose="020B0604020202090204"/>
              </a:endParaRPr>
            </a:p>
          </p:txBody>
        </p:sp>
        <p:sp>
          <p:nvSpPr>
            <p:cNvPr id="66" name="TextBox 66"/>
            <p:cNvSpPr txBox="1"/>
            <p:nvPr/>
          </p:nvSpPr>
          <p:spPr>
            <a:xfrm>
              <a:off x="493395" y="5022342"/>
              <a:ext cx="146875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保持同一业务量口径，对</a:t>
              </a:r>
              <a:endParaRPr lang="zh-CN" sz="900" dirty="0">
                <a:solidFill>
                  <a:srgbClr val="94A3B8"/>
                </a:solidFill>
                <a:latin typeface="Arial" panose="020B0604020202090204"/>
                <a:ea typeface="微软雅黑"/>
                <a:cs typeface="Arial" panose="020B0604020202090204"/>
              </a:endParaRPr>
            </a:p>
          </p:txBody>
        </p:sp>
        <p:sp>
          <p:nvSpPr>
            <p:cNvPr id="67" name="TextBox 67"/>
            <p:cNvSpPr txBox="1"/>
            <p:nvPr/>
          </p:nvSpPr>
          <p:spPr>
            <a:xfrm>
              <a:off x="493395" y="5165217"/>
              <a:ext cx="146875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比三类核心成本。年度节</a:t>
              </a:r>
              <a:endParaRPr lang="zh-CN" sz="900" dirty="0">
                <a:solidFill>
                  <a:srgbClr val="94A3B8"/>
                </a:solidFill>
                <a:latin typeface="Arial" panose="020B0604020202090204"/>
                <a:ea typeface="微软雅黑"/>
                <a:cs typeface="Arial" panose="020B0604020202090204"/>
              </a:endParaRPr>
            </a:p>
          </p:txBody>
        </p:sp>
        <p:sp>
          <p:nvSpPr>
            <p:cNvPr id="68" name="TextBox 68"/>
            <p:cNvSpPr txBox="1"/>
            <p:nvPr/>
          </p:nvSpPr>
          <p:spPr>
            <a:xfrm>
              <a:off x="493395" y="5308092"/>
              <a:ext cx="1067848"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省合计 720万元。</a:t>
              </a:r>
              <a:endParaRPr lang="zh-CN" sz="900" dirty="0">
                <a:solidFill>
                  <a:srgbClr val="94A3B8"/>
                </a:solidFill>
                <a:latin typeface="Arial" panose="020B0604020202090204"/>
                <a:ea typeface="微软雅黑"/>
                <a:cs typeface="Arial" panose="020B0604020202090204"/>
              </a:endParaRPr>
            </a:p>
          </p:txBody>
        </p:sp>
        <p:sp>
          <p:nvSpPr>
            <p:cNvPr id="69" name="Rectangle 69"/>
            <p:cNvSpPr/>
            <p:nvPr/>
          </p:nvSpPr>
          <p:spPr>
            <a:xfrm>
              <a:off x="1971008" y="4166997"/>
              <a:ext cx="3848767" cy="271462"/>
            </a:xfrm>
            <a:prstGeom prst="roundRect">
              <a:avLst>
                <a:gd name="adj" fmla="val 50000"/>
              </a:avLst>
            </a:prstGeom>
            <a:solidFill>
              <a:srgbClr val="0070F3">
                <a:alpha val="12000"/>
              </a:srgbClr>
            </a:solidFill>
            <a:ln>
              <a:noFill/>
            </a:ln>
          </p:spPr>
        </p:sp>
        <p:sp>
          <p:nvSpPr>
            <p:cNvPr id="70" name="TextBox 70"/>
            <p:cNvSpPr txBox="1"/>
            <p:nvPr/>
          </p:nvSpPr>
          <p:spPr>
            <a:xfrm>
              <a:off x="2054828" y="4241292"/>
              <a:ext cx="4229100"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节省比例：人工与外包 -71.8% /系统与工具 -31.8% /质检与管理 -50.0%</a:t>
              </a:r>
              <a:endParaRPr lang="zh-CN" sz="900" dirty="0">
                <a:solidFill>
                  <a:srgbClr val="0070F3"/>
                </a:solidFill>
                <a:latin typeface="Arial" panose="020B0604020202090204"/>
                <a:ea typeface="微软雅黑"/>
                <a:cs typeface="Arial" panose="020B0604020202090204"/>
              </a:endParaRPr>
            </a:p>
          </p:txBody>
        </p:sp>
        <p:grpSp>
          <p:nvGrpSpPr>
            <p:cNvPr id="112" name="Group 112"/>
            <p:cNvGrpSpPr/>
            <p:nvPr/>
          </p:nvGrpSpPr>
          <p:grpSpPr>
            <a:xfrm>
              <a:off x="504825" y="5590984"/>
              <a:ext cx="5504077" cy="1267049"/>
              <a:chOff x="504825" y="5590984"/>
              <a:chExt cx="5504077" cy="1267049"/>
            </a:xfrm>
          </p:grpSpPr>
          <p:sp>
            <p:nvSpPr>
              <p:cNvPr id="71" name="Rectangle 71"/>
              <p:cNvSpPr/>
              <p:nvPr/>
            </p:nvSpPr>
            <p:spPr>
              <a:xfrm>
                <a:off x="504825" y="5590984"/>
                <a:ext cx="5314950" cy="1267049"/>
              </a:xfrm>
              <a:prstGeom prst="rect">
                <a:avLst/>
              </a:prstGeom>
              <a:noFill/>
              <a:ln>
                <a:noFill/>
              </a:ln>
            </p:spPr>
          </p:sp>
          <p:grpSp>
            <p:nvGrpSpPr>
              <p:cNvPr id="111" name="Group 111"/>
              <p:cNvGrpSpPr/>
              <p:nvPr/>
            </p:nvGrpSpPr>
            <p:grpSpPr>
              <a:xfrm>
                <a:off x="845213" y="5599756"/>
                <a:ext cx="5163689" cy="1155939"/>
                <a:chOff x="845213" y="5599756"/>
                <a:chExt cx="5163689" cy="1155939"/>
              </a:xfrm>
            </p:grpSpPr>
            <p:sp>
              <p:nvSpPr>
                <p:cNvPr id="72" name="Freeform 72"/>
                <p:cNvSpPr/>
                <p:nvPr/>
              </p:nvSpPr>
              <p:spPr>
                <a:xfrm>
                  <a:off x="1038225" y="6646047"/>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73" name="Freeform 73"/>
                <p:cNvSpPr/>
                <p:nvPr/>
              </p:nvSpPr>
              <p:spPr>
                <a:xfrm>
                  <a:off x="1038225" y="6441369"/>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74" name="Freeform 74"/>
                <p:cNvSpPr/>
                <p:nvPr/>
              </p:nvSpPr>
              <p:spPr>
                <a:xfrm>
                  <a:off x="1038225" y="6236692"/>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75" name="Freeform 75"/>
                <p:cNvSpPr/>
                <p:nvPr/>
              </p:nvSpPr>
              <p:spPr>
                <a:xfrm>
                  <a:off x="1038225" y="6032015"/>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76" name="Freeform 76"/>
                <p:cNvSpPr/>
                <p:nvPr/>
              </p:nvSpPr>
              <p:spPr>
                <a:xfrm>
                  <a:off x="1038225" y="5827338"/>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77" name="TextBox 77"/>
                <p:cNvSpPr txBox="1"/>
                <p:nvPr/>
              </p:nvSpPr>
              <p:spPr>
                <a:xfrm>
                  <a:off x="913006" y="5672855"/>
                  <a:ext cx="250437" cy="93567"/>
                </a:xfrm>
                <a:prstGeom prst="rect">
                  <a:avLst/>
                </a:prstGeom>
                <a:noFill/>
                <a:ln>
                  <a:noFill/>
                </a:ln>
              </p:spPr>
              <p:txBody>
                <a:bodyPr wrap="none" lIns="0" tIns="0" rIns="0" bIns="0" anchor="t" anchorCtr="0">
                  <a:spAutoFit/>
                </a:bodyPr>
                <a:lstStyle/>
                <a:p>
                  <a:pPr algn="ctr"/>
                  <a:r>
                    <a:rPr lang="zh-CN" sz="460" dirty="0">
                      <a:solidFill>
                        <a:srgbClr val="475569"/>
                      </a:solidFill>
                      <a:latin typeface="Segoe UI"/>
                      <a:ea typeface="微软雅黑"/>
                      <a:cs typeface="Segoe UI"/>
                    </a:rPr>
                    <a:t>万元/年</a:t>
                  </a:r>
                  <a:endParaRPr lang="zh-CN" sz="460" dirty="0">
                    <a:solidFill>
                      <a:srgbClr val="475569"/>
                    </a:solidFill>
                    <a:latin typeface="Segoe UI"/>
                    <a:ea typeface="微软雅黑"/>
                    <a:cs typeface="Segoe UI"/>
                  </a:endParaRPr>
                </a:p>
              </p:txBody>
            </p:sp>
            <p:sp>
              <p:nvSpPr>
                <p:cNvPr id="78" name="Freeform 78"/>
                <p:cNvSpPr/>
                <p:nvPr/>
              </p:nvSpPr>
              <p:spPr>
                <a:xfrm>
                  <a:off x="1038225" y="6646047"/>
                  <a:ext cx="4552950" cy="9525"/>
                </a:xfrm>
                <a:custGeom>
                  <a:avLst/>
                  <a:gdLst/>
                  <a:ahLst/>
                  <a:cxnLst/>
                  <a:rect l="l" t="t" r="r" b="b"/>
                  <a:pathLst>
                    <a:path w="4552950" h="9525">
                      <a:moveTo>
                        <a:pt x="0" y="0"/>
                      </a:moveTo>
                      <a:lnTo>
                        <a:pt x="4552950" y="0"/>
                      </a:lnTo>
                    </a:path>
                  </a:pathLst>
                </a:custGeom>
                <a:noFill/>
                <a:ln w="9525" cap="rnd">
                  <a:solidFill>
                    <a:srgbClr val="475569"/>
                  </a:solidFill>
                </a:ln>
              </p:spPr>
            </p:sp>
            <p:sp>
              <p:nvSpPr>
                <p:cNvPr id="79" name="TextBox 79"/>
                <p:cNvSpPr txBox="1"/>
                <p:nvPr/>
              </p:nvSpPr>
              <p:spPr>
                <a:xfrm>
                  <a:off x="5728202" y="6593903"/>
                  <a:ext cx="280700" cy="93567"/>
                </a:xfrm>
                <a:prstGeom prst="rect">
                  <a:avLst/>
                </a:prstGeom>
                <a:noFill/>
                <a:ln>
                  <a:noFill/>
                </a:ln>
              </p:spPr>
              <p:txBody>
                <a:bodyPr wrap="none" lIns="0" tIns="0" rIns="0" bIns="0" anchor="t" anchorCtr="0">
                  <a:spAutoFit/>
                </a:bodyPr>
                <a:lstStyle/>
                <a:p>
                  <a:pPr algn="l"/>
                  <a:r>
                    <a:rPr lang="zh-CN" sz="460" dirty="0">
                      <a:solidFill>
                        <a:srgbClr val="475569"/>
                      </a:solidFill>
                      <a:latin typeface="Segoe UI"/>
                      <a:ea typeface="微软雅黑"/>
                      <a:cs typeface="Segoe UI"/>
                    </a:rPr>
                    <a:t>成本类型</a:t>
                  </a:r>
                  <a:endParaRPr lang="zh-CN" sz="460" dirty="0">
                    <a:solidFill>
                      <a:srgbClr val="475569"/>
                    </a:solidFill>
                    <a:latin typeface="Segoe UI"/>
                    <a:ea typeface="微软雅黑"/>
                    <a:cs typeface="Segoe UI"/>
                  </a:endParaRPr>
                </a:p>
              </p:txBody>
            </p:sp>
            <p:sp>
              <p:nvSpPr>
                <p:cNvPr id="80" name="Freeform 80"/>
                <p:cNvSpPr/>
                <p:nvPr/>
              </p:nvSpPr>
              <p:spPr>
                <a:xfrm>
                  <a:off x="1042988" y="6643610"/>
                  <a:ext cx="9525" cy="24366"/>
                </a:xfrm>
                <a:custGeom>
                  <a:avLst/>
                  <a:gdLst/>
                  <a:ahLst/>
                  <a:cxnLst/>
                  <a:rect l="l" t="t" r="r" b="b"/>
                  <a:pathLst>
                    <a:path w="9525" h="24366">
                      <a:moveTo>
                        <a:pt x="0" y="0"/>
                      </a:moveTo>
                      <a:lnTo>
                        <a:pt x="0" y="24366"/>
                      </a:lnTo>
                    </a:path>
                  </a:pathLst>
                </a:custGeom>
                <a:noFill/>
                <a:ln w="9525">
                  <a:solidFill>
                    <a:srgbClr val="475569"/>
                  </a:solidFill>
                </a:ln>
              </p:spPr>
            </p:sp>
            <p:sp>
              <p:nvSpPr>
                <p:cNvPr id="81" name="Freeform 81"/>
                <p:cNvSpPr/>
                <p:nvPr/>
              </p:nvSpPr>
              <p:spPr>
                <a:xfrm>
                  <a:off x="2557462" y="6643610"/>
                  <a:ext cx="9525" cy="24366"/>
                </a:xfrm>
                <a:custGeom>
                  <a:avLst/>
                  <a:gdLst/>
                  <a:ahLst/>
                  <a:cxnLst/>
                  <a:rect l="l" t="t" r="r" b="b"/>
                  <a:pathLst>
                    <a:path w="9525" h="24366">
                      <a:moveTo>
                        <a:pt x="0" y="0"/>
                      </a:moveTo>
                      <a:lnTo>
                        <a:pt x="0" y="24366"/>
                      </a:lnTo>
                    </a:path>
                  </a:pathLst>
                </a:custGeom>
                <a:noFill/>
                <a:ln w="9525">
                  <a:solidFill>
                    <a:srgbClr val="475569"/>
                  </a:solidFill>
                </a:ln>
              </p:spPr>
            </p:sp>
            <p:sp>
              <p:nvSpPr>
                <p:cNvPr id="82" name="Freeform 82"/>
                <p:cNvSpPr/>
                <p:nvPr/>
              </p:nvSpPr>
              <p:spPr>
                <a:xfrm>
                  <a:off x="4071938" y="6643610"/>
                  <a:ext cx="9525" cy="24366"/>
                </a:xfrm>
                <a:custGeom>
                  <a:avLst/>
                  <a:gdLst/>
                  <a:ahLst/>
                  <a:cxnLst/>
                  <a:rect l="l" t="t" r="r" b="b"/>
                  <a:pathLst>
                    <a:path w="9525" h="24366">
                      <a:moveTo>
                        <a:pt x="0" y="0"/>
                      </a:moveTo>
                      <a:lnTo>
                        <a:pt x="0" y="24366"/>
                      </a:lnTo>
                    </a:path>
                  </a:pathLst>
                </a:custGeom>
                <a:noFill/>
                <a:ln w="9525">
                  <a:solidFill>
                    <a:srgbClr val="475569"/>
                  </a:solidFill>
                </a:ln>
              </p:spPr>
            </p:sp>
            <p:sp>
              <p:nvSpPr>
                <p:cNvPr id="83" name="Freeform 83"/>
                <p:cNvSpPr/>
                <p:nvPr/>
              </p:nvSpPr>
              <p:spPr>
                <a:xfrm>
                  <a:off x="5595938" y="6643610"/>
                  <a:ext cx="9525" cy="24366"/>
                </a:xfrm>
                <a:custGeom>
                  <a:avLst/>
                  <a:gdLst/>
                  <a:ahLst/>
                  <a:cxnLst/>
                  <a:rect l="l" t="t" r="r" b="b"/>
                  <a:pathLst>
                    <a:path w="9525" h="24366">
                      <a:moveTo>
                        <a:pt x="0" y="0"/>
                      </a:moveTo>
                      <a:lnTo>
                        <a:pt x="0" y="24366"/>
                      </a:lnTo>
                    </a:path>
                  </a:pathLst>
                </a:custGeom>
                <a:noFill/>
                <a:ln w="9525">
                  <a:solidFill>
                    <a:srgbClr val="475569"/>
                  </a:solidFill>
                </a:ln>
              </p:spPr>
            </p:sp>
            <p:sp>
              <p:nvSpPr>
                <p:cNvPr id="84" name="TextBox 84"/>
                <p:cNvSpPr txBox="1"/>
                <p:nvPr/>
              </p:nvSpPr>
              <p:spPr>
                <a:xfrm>
                  <a:off x="919189" y="6593903"/>
                  <a:ext cx="48684" cy="93567"/>
                </a:xfrm>
                <a:prstGeom prst="rect">
                  <a:avLst/>
                </a:prstGeom>
                <a:noFill/>
                <a:ln>
                  <a:noFill/>
                </a:ln>
              </p:spPr>
              <p:txBody>
                <a:bodyPr wrap="none" lIns="0" tIns="0" rIns="0" bIns="0" anchor="t" anchorCtr="0">
                  <a:spAutoFit/>
                </a:bodyPr>
                <a:lstStyle/>
                <a:p>
                  <a:pPr algn="r"/>
                  <a:r>
                    <a:rPr lang="zh-CN" sz="460" dirty="0">
                      <a:solidFill>
                        <a:srgbClr val="94A3B8"/>
                      </a:solidFill>
                      <a:latin typeface="Segoe UI"/>
                      <a:ea typeface="微软雅黑"/>
                      <a:cs typeface="Segoe UI"/>
                    </a:rPr>
                    <a:t>0</a:t>
                  </a:r>
                  <a:endParaRPr lang="zh-CN" sz="460" dirty="0">
                    <a:solidFill>
                      <a:srgbClr val="94A3B8"/>
                    </a:solidFill>
                    <a:latin typeface="Segoe UI"/>
                    <a:ea typeface="微软雅黑"/>
                    <a:cs typeface="Segoe UI"/>
                  </a:endParaRPr>
                </a:p>
              </p:txBody>
            </p:sp>
            <p:sp>
              <p:nvSpPr>
                <p:cNvPr id="85" name="TextBox 85"/>
                <p:cNvSpPr txBox="1"/>
                <p:nvPr/>
              </p:nvSpPr>
              <p:spPr>
                <a:xfrm>
                  <a:off x="845213" y="6389226"/>
                  <a:ext cx="122660" cy="93567"/>
                </a:xfrm>
                <a:prstGeom prst="rect">
                  <a:avLst/>
                </a:prstGeom>
                <a:noFill/>
                <a:ln>
                  <a:noFill/>
                </a:ln>
              </p:spPr>
              <p:txBody>
                <a:bodyPr wrap="none" lIns="0" tIns="0" rIns="0" bIns="0" anchor="t" anchorCtr="0">
                  <a:spAutoFit/>
                </a:bodyPr>
                <a:lstStyle/>
                <a:p>
                  <a:pPr algn="r"/>
                  <a:r>
                    <a:rPr lang="zh-CN" sz="460" dirty="0">
                      <a:solidFill>
                        <a:srgbClr val="94A3B8"/>
                      </a:solidFill>
                      <a:latin typeface="Segoe UI"/>
                      <a:ea typeface="微软雅黑"/>
                      <a:cs typeface="Segoe UI"/>
                    </a:rPr>
                    <a:t>200</a:t>
                  </a:r>
                  <a:endParaRPr lang="zh-CN" sz="460" dirty="0">
                    <a:solidFill>
                      <a:srgbClr val="94A3B8"/>
                    </a:solidFill>
                    <a:latin typeface="Segoe UI"/>
                    <a:ea typeface="微软雅黑"/>
                    <a:cs typeface="Segoe UI"/>
                  </a:endParaRPr>
                </a:p>
              </p:txBody>
            </p:sp>
            <p:sp>
              <p:nvSpPr>
                <p:cNvPr id="86" name="TextBox 86"/>
                <p:cNvSpPr txBox="1"/>
                <p:nvPr/>
              </p:nvSpPr>
              <p:spPr>
                <a:xfrm>
                  <a:off x="845213" y="6184548"/>
                  <a:ext cx="122660" cy="93567"/>
                </a:xfrm>
                <a:prstGeom prst="rect">
                  <a:avLst/>
                </a:prstGeom>
                <a:noFill/>
                <a:ln>
                  <a:noFill/>
                </a:ln>
              </p:spPr>
              <p:txBody>
                <a:bodyPr wrap="none" lIns="0" tIns="0" rIns="0" bIns="0" anchor="t" anchorCtr="0">
                  <a:spAutoFit/>
                </a:bodyPr>
                <a:lstStyle/>
                <a:p>
                  <a:pPr algn="r"/>
                  <a:r>
                    <a:rPr lang="zh-CN" sz="460" dirty="0">
                      <a:solidFill>
                        <a:srgbClr val="94A3B8"/>
                      </a:solidFill>
                      <a:latin typeface="Segoe UI"/>
                      <a:ea typeface="微软雅黑"/>
                      <a:cs typeface="Segoe UI"/>
                    </a:rPr>
                    <a:t>400</a:t>
                  </a:r>
                  <a:endParaRPr lang="zh-CN" sz="460" dirty="0">
                    <a:solidFill>
                      <a:srgbClr val="94A3B8"/>
                    </a:solidFill>
                    <a:latin typeface="Segoe UI"/>
                    <a:ea typeface="微软雅黑"/>
                    <a:cs typeface="Segoe UI"/>
                  </a:endParaRPr>
                </a:p>
              </p:txBody>
            </p:sp>
            <p:sp>
              <p:nvSpPr>
                <p:cNvPr id="87" name="TextBox 87"/>
                <p:cNvSpPr txBox="1"/>
                <p:nvPr/>
              </p:nvSpPr>
              <p:spPr>
                <a:xfrm>
                  <a:off x="845213" y="5979871"/>
                  <a:ext cx="122660" cy="93567"/>
                </a:xfrm>
                <a:prstGeom prst="rect">
                  <a:avLst/>
                </a:prstGeom>
                <a:noFill/>
                <a:ln>
                  <a:noFill/>
                </a:ln>
              </p:spPr>
              <p:txBody>
                <a:bodyPr wrap="none" lIns="0" tIns="0" rIns="0" bIns="0" anchor="t" anchorCtr="0">
                  <a:spAutoFit/>
                </a:bodyPr>
                <a:lstStyle/>
                <a:p>
                  <a:pPr algn="r"/>
                  <a:r>
                    <a:rPr lang="zh-CN" sz="460" dirty="0">
                      <a:solidFill>
                        <a:srgbClr val="94A3B8"/>
                      </a:solidFill>
                      <a:latin typeface="Segoe UI"/>
                      <a:ea typeface="微软雅黑"/>
                      <a:cs typeface="Segoe UI"/>
                    </a:rPr>
                    <a:t>600</a:t>
                  </a:r>
                  <a:endParaRPr lang="zh-CN" sz="460" dirty="0">
                    <a:solidFill>
                      <a:srgbClr val="94A3B8"/>
                    </a:solidFill>
                    <a:latin typeface="Segoe UI"/>
                    <a:ea typeface="微软雅黑"/>
                    <a:cs typeface="Segoe UI"/>
                  </a:endParaRPr>
                </a:p>
              </p:txBody>
            </p:sp>
            <p:sp>
              <p:nvSpPr>
                <p:cNvPr id="88" name="TextBox 88"/>
                <p:cNvSpPr txBox="1"/>
                <p:nvPr/>
              </p:nvSpPr>
              <p:spPr>
                <a:xfrm>
                  <a:off x="845213" y="5775194"/>
                  <a:ext cx="122660" cy="93567"/>
                </a:xfrm>
                <a:prstGeom prst="rect">
                  <a:avLst/>
                </a:prstGeom>
                <a:noFill/>
                <a:ln>
                  <a:noFill/>
                </a:ln>
              </p:spPr>
              <p:txBody>
                <a:bodyPr wrap="none" lIns="0" tIns="0" rIns="0" bIns="0" anchor="t" anchorCtr="0">
                  <a:spAutoFit/>
                </a:bodyPr>
                <a:lstStyle/>
                <a:p>
                  <a:pPr algn="r"/>
                  <a:r>
                    <a:rPr lang="zh-CN" sz="460" dirty="0">
                      <a:solidFill>
                        <a:srgbClr val="94A3B8"/>
                      </a:solidFill>
                      <a:latin typeface="Segoe UI"/>
                      <a:ea typeface="微软雅黑"/>
                      <a:cs typeface="Segoe UI"/>
                    </a:rPr>
                    <a:t>800</a:t>
                  </a:r>
                  <a:endParaRPr lang="zh-CN" sz="460" dirty="0">
                    <a:solidFill>
                      <a:srgbClr val="94A3B8"/>
                    </a:solidFill>
                    <a:latin typeface="Segoe UI"/>
                    <a:ea typeface="微软雅黑"/>
                    <a:cs typeface="Segoe UI"/>
                  </a:endParaRPr>
                </a:p>
              </p:txBody>
            </p:sp>
            <p:sp>
              <p:nvSpPr>
                <p:cNvPr id="89" name="TextBox 89"/>
                <p:cNvSpPr txBox="1"/>
                <p:nvPr/>
              </p:nvSpPr>
              <p:spPr>
                <a:xfrm>
                  <a:off x="1623075" y="6662128"/>
                  <a:ext cx="347951" cy="93567"/>
                </a:xfrm>
                <a:prstGeom prst="rect">
                  <a:avLst/>
                </a:prstGeom>
                <a:noFill/>
                <a:ln>
                  <a:noFill/>
                </a:ln>
              </p:spPr>
              <p:txBody>
                <a:bodyPr wrap="none" lIns="0" tIns="0" rIns="0" bIns="0" anchor="t" anchorCtr="0">
                  <a:spAutoFit/>
                </a:bodyPr>
                <a:lstStyle/>
                <a:p>
                  <a:pPr algn="ctr"/>
                  <a:r>
                    <a:rPr lang="zh-CN" sz="460" dirty="0">
                      <a:solidFill>
                        <a:srgbClr val="94A3B8"/>
                      </a:solidFill>
                      <a:latin typeface="Segoe UI"/>
                      <a:ea typeface="微软雅黑"/>
                      <a:cs typeface="Segoe UI"/>
                    </a:rPr>
                    <a:t>人工与外包</a:t>
                  </a:r>
                  <a:endParaRPr lang="zh-CN" sz="460" dirty="0">
                    <a:solidFill>
                      <a:srgbClr val="94A3B8"/>
                    </a:solidFill>
                    <a:latin typeface="Segoe UI"/>
                    <a:ea typeface="微软雅黑"/>
                    <a:cs typeface="Segoe UI"/>
                  </a:endParaRPr>
                </a:p>
              </p:txBody>
            </p:sp>
            <p:sp>
              <p:nvSpPr>
                <p:cNvPr id="90" name="TextBox 90"/>
                <p:cNvSpPr txBox="1"/>
                <p:nvPr/>
              </p:nvSpPr>
              <p:spPr>
                <a:xfrm>
                  <a:off x="3140724" y="6662128"/>
                  <a:ext cx="347951" cy="93567"/>
                </a:xfrm>
                <a:prstGeom prst="rect">
                  <a:avLst/>
                </a:prstGeom>
                <a:noFill/>
                <a:ln>
                  <a:noFill/>
                </a:ln>
              </p:spPr>
              <p:txBody>
                <a:bodyPr wrap="none" lIns="0" tIns="0" rIns="0" bIns="0" anchor="t" anchorCtr="0">
                  <a:spAutoFit/>
                </a:bodyPr>
                <a:lstStyle/>
                <a:p>
                  <a:pPr algn="ctr"/>
                  <a:r>
                    <a:rPr lang="zh-CN" sz="460" dirty="0">
                      <a:solidFill>
                        <a:srgbClr val="94A3B8"/>
                      </a:solidFill>
                      <a:latin typeface="Segoe UI"/>
                      <a:ea typeface="微软雅黑"/>
                      <a:cs typeface="Segoe UI"/>
                    </a:rPr>
                    <a:t>系统与工具</a:t>
                  </a:r>
                  <a:endParaRPr lang="zh-CN" sz="460" dirty="0">
                    <a:solidFill>
                      <a:srgbClr val="94A3B8"/>
                    </a:solidFill>
                    <a:latin typeface="Segoe UI"/>
                    <a:ea typeface="微软雅黑"/>
                    <a:cs typeface="Segoe UI"/>
                  </a:endParaRPr>
                </a:p>
              </p:txBody>
            </p:sp>
            <p:sp>
              <p:nvSpPr>
                <p:cNvPr id="91" name="TextBox 91"/>
                <p:cNvSpPr txBox="1"/>
                <p:nvPr/>
              </p:nvSpPr>
              <p:spPr>
                <a:xfrm>
                  <a:off x="4658374" y="6662128"/>
                  <a:ext cx="347951" cy="93567"/>
                </a:xfrm>
                <a:prstGeom prst="rect">
                  <a:avLst/>
                </a:prstGeom>
                <a:noFill/>
                <a:ln>
                  <a:noFill/>
                </a:ln>
              </p:spPr>
              <p:txBody>
                <a:bodyPr wrap="none" lIns="0" tIns="0" rIns="0" bIns="0" anchor="t" anchorCtr="0">
                  <a:spAutoFit/>
                </a:bodyPr>
                <a:lstStyle/>
                <a:p>
                  <a:pPr algn="ctr"/>
                  <a:r>
                    <a:rPr lang="zh-CN" sz="460" dirty="0">
                      <a:solidFill>
                        <a:srgbClr val="94A3B8"/>
                      </a:solidFill>
                      <a:latin typeface="Segoe UI"/>
                      <a:ea typeface="微软雅黑"/>
                      <a:cs typeface="Segoe UI"/>
                    </a:rPr>
                    <a:t>质检与管理</a:t>
                  </a:r>
                  <a:endParaRPr lang="zh-CN" sz="460" dirty="0">
                    <a:solidFill>
                      <a:srgbClr val="94A3B8"/>
                    </a:solidFill>
                    <a:latin typeface="Segoe UI"/>
                    <a:ea typeface="微软雅黑"/>
                    <a:cs typeface="Segoe UI"/>
                  </a:endParaRPr>
                </a:p>
              </p:txBody>
            </p:sp>
            <p:sp>
              <p:nvSpPr>
                <p:cNvPr id="92" name="Freeform 92"/>
                <p:cNvSpPr/>
                <p:nvPr/>
              </p:nvSpPr>
              <p:spPr>
                <a:xfrm>
                  <a:off x="1503680" y="5845369"/>
                  <a:ext cx="266700" cy="798241"/>
                </a:xfrm>
                <a:custGeom>
                  <a:avLst/>
                  <a:gdLst/>
                  <a:ahLst/>
                  <a:cxnLst/>
                  <a:rect l="l" t="t" r="r" b="b"/>
                  <a:pathLst>
                    <a:path w="266700" h="798241">
                      <a:moveTo>
                        <a:pt x="76200" y="0"/>
                      </a:moveTo>
                      <a:lnTo>
                        <a:pt x="190500" y="0"/>
                      </a:lnTo>
                      <a:cubicBezTo>
                        <a:pt x="210709" y="0"/>
                        <a:pt x="230091" y="4107"/>
                        <a:pt x="244382" y="11419"/>
                      </a:cubicBezTo>
                      <a:cubicBezTo>
                        <a:pt x="258672" y="18730"/>
                        <a:pt x="266700" y="28646"/>
                        <a:pt x="266700" y="38986"/>
                      </a:cubicBezTo>
                      <a:lnTo>
                        <a:pt x="266700" y="798241"/>
                      </a:lnTo>
                      <a:lnTo>
                        <a:pt x="0" y="798241"/>
                      </a:lnTo>
                      <a:lnTo>
                        <a:pt x="0" y="38986"/>
                      </a:lnTo>
                      <a:cubicBezTo>
                        <a:pt x="0" y="17455"/>
                        <a:pt x="34116" y="0"/>
                        <a:pt x="76200" y="0"/>
                      </a:cubicBezTo>
                    </a:path>
                  </a:pathLst>
                </a:custGeom>
                <a:solidFill>
                  <a:srgbClr val="64748B"/>
                </a:solidFill>
                <a:ln>
                  <a:noFill/>
                </a:ln>
              </p:spPr>
            </p:sp>
            <p:sp>
              <p:nvSpPr>
                <p:cNvPr id="93" name="Freeform 93"/>
                <p:cNvSpPr/>
                <p:nvPr/>
              </p:nvSpPr>
              <p:spPr>
                <a:xfrm>
                  <a:off x="3021330" y="6418465"/>
                  <a:ext cx="266700" cy="225145"/>
                </a:xfrm>
                <a:custGeom>
                  <a:avLst/>
                  <a:gdLst/>
                  <a:ahLst/>
                  <a:cxnLst/>
                  <a:rect l="l" t="t" r="r" b="b"/>
                  <a:pathLst>
                    <a:path w="266700" h="225145">
                      <a:moveTo>
                        <a:pt x="76200" y="0"/>
                      </a:moveTo>
                      <a:lnTo>
                        <a:pt x="190500" y="0"/>
                      </a:lnTo>
                      <a:cubicBezTo>
                        <a:pt x="232584" y="0"/>
                        <a:pt x="266700" y="17455"/>
                        <a:pt x="266700" y="38986"/>
                      </a:cubicBezTo>
                      <a:lnTo>
                        <a:pt x="266700" y="225145"/>
                      </a:lnTo>
                      <a:lnTo>
                        <a:pt x="0" y="225145"/>
                      </a:lnTo>
                      <a:lnTo>
                        <a:pt x="0" y="38986"/>
                      </a:lnTo>
                      <a:cubicBezTo>
                        <a:pt x="0" y="17455"/>
                        <a:pt x="34116" y="0"/>
                        <a:pt x="76200" y="0"/>
                      </a:cubicBezTo>
                    </a:path>
                  </a:pathLst>
                </a:custGeom>
                <a:solidFill>
                  <a:srgbClr val="64748B"/>
                </a:solidFill>
                <a:ln>
                  <a:noFill/>
                </a:ln>
              </p:spPr>
            </p:sp>
            <p:sp>
              <p:nvSpPr>
                <p:cNvPr id="94" name="Freeform 94"/>
                <p:cNvSpPr/>
                <p:nvPr/>
              </p:nvSpPr>
              <p:spPr>
                <a:xfrm>
                  <a:off x="4538980" y="6459401"/>
                  <a:ext cx="266700" cy="184209"/>
                </a:xfrm>
                <a:custGeom>
                  <a:avLst/>
                  <a:gdLst/>
                  <a:ahLst/>
                  <a:cxnLst/>
                  <a:rect l="l" t="t" r="r" b="b"/>
                  <a:pathLst>
                    <a:path w="266700" h="184209">
                      <a:moveTo>
                        <a:pt x="76200" y="0"/>
                      </a:moveTo>
                      <a:lnTo>
                        <a:pt x="190500" y="0"/>
                      </a:lnTo>
                      <a:cubicBezTo>
                        <a:pt x="232584" y="0"/>
                        <a:pt x="266700" y="17455"/>
                        <a:pt x="266700" y="38986"/>
                      </a:cubicBezTo>
                      <a:lnTo>
                        <a:pt x="266700" y="184209"/>
                      </a:lnTo>
                      <a:lnTo>
                        <a:pt x="0" y="184209"/>
                      </a:lnTo>
                      <a:lnTo>
                        <a:pt x="0" y="38986"/>
                      </a:lnTo>
                      <a:cubicBezTo>
                        <a:pt x="0" y="17455"/>
                        <a:pt x="34116" y="0"/>
                        <a:pt x="76200" y="0"/>
                      </a:cubicBezTo>
                    </a:path>
                  </a:pathLst>
                </a:custGeom>
                <a:solidFill>
                  <a:srgbClr val="64748B"/>
                </a:solidFill>
                <a:ln>
                  <a:noFill/>
                </a:ln>
              </p:spPr>
            </p:sp>
            <p:sp>
              <p:nvSpPr>
                <p:cNvPr id="95" name="Freeform 95"/>
                <p:cNvSpPr/>
                <p:nvPr/>
              </p:nvSpPr>
              <p:spPr>
                <a:xfrm>
                  <a:off x="1823720" y="6418465"/>
                  <a:ext cx="266700" cy="225145"/>
                </a:xfrm>
                <a:custGeom>
                  <a:avLst/>
                  <a:gdLst/>
                  <a:ahLst/>
                  <a:cxnLst/>
                  <a:rect l="l" t="t" r="r" b="b"/>
                  <a:pathLst>
                    <a:path w="266700" h="225145">
                      <a:moveTo>
                        <a:pt x="76200" y="0"/>
                      </a:moveTo>
                      <a:lnTo>
                        <a:pt x="190500" y="0"/>
                      </a:lnTo>
                      <a:cubicBezTo>
                        <a:pt x="232584" y="0"/>
                        <a:pt x="266700" y="17455"/>
                        <a:pt x="266700" y="38986"/>
                      </a:cubicBezTo>
                      <a:lnTo>
                        <a:pt x="266700" y="225145"/>
                      </a:lnTo>
                      <a:lnTo>
                        <a:pt x="0" y="225145"/>
                      </a:lnTo>
                      <a:lnTo>
                        <a:pt x="0" y="38986"/>
                      </a:lnTo>
                      <a:cubicBezTo>
                        <a:pt x="0" y="17455"/>
                        <a:pt x="34116" y="0"/>
                        <a:pt x="76200" y="0"/>
                      </a:cubicBezTo>
                    </a:path>
                  </a:pathLst>
                </a:custGeom>
                <a:solidFill>
                  <a:srgbClr val="0070F3"/>
                </a:solidFill>
                <a:ln>
                  <a:noFill/>
                </a:ln>
              </p:spPr>
            </p:sp>
            <p:sp>
              <p:nvSpPr>
                <p:cNvPr id="96" name="Freeform 96"/>
                <p:cNvSpPr/>
                <p:nvPr/>
              </p:nvSpPr>
              <p:spPr>
                <a:xfrm>
                  <a:off x="3341370" y="6490102"/>
                  <a:ext cx="266700" cy="153508"/>
                </a:xfrm>
                <a:custGeom>
                  <a:avLst/>
                  <a:gdLst/>
                  <a:ahLst/>
                  <a:cxnLst/>
                  <a:rect l="l" t="t" r="r" b="b"/>
                  <a:pathLst>
                    <a:path w="266700" h="153508">
                      <a:moveTo>
                        <a:pt x="76200" y="0"/>
                      </a:moveTo>
                      <a:lnTo>
                        <a:pt x="190500" y="0"/>
                      </a:lnTo>
                      <a:cubicBezTo>
                        <a:pt x="232584" y="0"/>
                        <a:pt x="266700" y="17455"/>
                        <a:pt x="266700" y="38986"/>
                      </a:cubicBezTo>
                      <a:lnTo>
                        <a:pt x="266700" y="153508"/>
                      </a:lnTo>
                      <a:lnTo>
                        <a:pt x="0" y="153508"/>
                      </a:lnTo>
                      <a:lnTo>
                        <a:pt x="0" y="38986"/>
                      </a:lnTo>
                      <a:cubicBezTo>
                        <a:pt x="0" y="17455"/>
                        <a:pt x="34116" y="0"/>
                        <a:pt x="76200" y="0"/>
                      </a:cubicBezTo>
                    </a:path>
                  </a:pathLst>
                </a:custGeom>
                <a:solidFill>
                  <a:srgbClr val="0070F3"/>
                </a:solidFill>
                <a:ln>
                  <a:noFill/>
                </a:ln>
              </p:spPr>
            </p:sp>
            <p:sp>
              <p:nvSpPr>
                <p:cNvPr id="97" name="Freeform 97"/>
                <p:cNvSpPr/>
                <p:nvPr/>
              </p:nvSpPr>
              <p:spPr>
                <a:xfrm>
                  <a:off x="4859020" y="6551505"/>
                  <a:ext cx="266700" cy="92105"/>
                </a:xfrm>
                <a:custGeom>
                  <a:avLst/>
                  <a:gdLst/>
                  <a:ahLst/>
                  <a:cxnLst/>
                  <a:rect l="l" t="t" r="r" b="b"/>
                  <a:pathLst>
                    <a:path w="266700" h="92105">
                      <a:moveTo>
                        <a:pt x="76200" y="0"/>
                      </a:moveTo>
                      <a:lnTo>
                        <a:pt x="190500" y="0"/>
                      </a:lnTo>
                      <a:cubicBezTo>
                        <a:pt x="232584" y="0"/>
                        <a:pt x="266700" y="17455"/>
                        <a:pt x="266700" y="38986"/>
                      </a:cubicBezTo>
                      <a:lnTo>
                        <a:pt x="266700" y="92105"/>
                      </a:lnTo>
                      <a:lnTo>
                        <a:pt x="0" y="92105"/>
                      </a:lnTo>
                      <a:lnTo>
                        <a:pt x="0" y="38986"/>
                      </a:lnTo>
                      <a:cubicBezTo>
                        <a:pt x="0" y="17455"/>
                        <a:pt x="34116" y="0"/>
                        <a:pt x="76200" y="0"/>
                      </a:cubicBezTo>
                    </a:path>
                  </a:pathLst>
                </a:custGeom>
                <a:solidFill>
                  <a:srgbClr val="0070F3"/>
                </a:solidFill>
                <a:ln>
                  <a:noFill/>
                </a:ln>
              </p:spPr>
            </p:sp>
            <p:sp>
              <p:nvSpPr>
                <p:cNvPr id="98" name="TextBox 98"/>
                <p:cNvSpPr txBox="1"/>
                <p:nvPr/>
              </p:nvSpPr>
              <p:spPr>
                <a:xfrm>
                  <a:off x="1575700" y="5742056"/>
                  <a:ext cx="122660" cy="93567"/>
                </a:xfrm>
                <a:prstGeom prst="rect">
                  <a:avLst/>
                </a:prstGeom>
                <a:noFill/>
                <a:ln>
                  <a:noFill/>
                </a:ln>
              </p:spPr>
              <p:txBody>
                <a:bodyPr wrap="none" lIns="0" tIns="0" rIns="0" bIns="0" anchor="t" anchorCtr="0">
                  <a:spAutoFit/>
                </a:bodyPr>
                <a:lstStyle/>
                <a:p>
                  <a:pPr algn="ctr"/>
                  <a:r>
                    <a:rPr lang="zh-CN" sz="460" dirty="0">
                      <a:solidFill>
                        <a:srgbClr val="0A0A0A"/>
                      </a:solidFill>
                      <a:latin typeface="Segoe UI"/>
                      <a:ea typeface="微软雅黑"/>
                      <a:cs typeface="Segoe UI"/>
                    </a:rPr>
                    <a:t>780</a:t>
                  </a:r>
                  <a:endParaRPr lang="zh-CN" sz="460" dirty="0">
                    <a:solidFill>
                      <a:srgbClr val="0A0A0A"/>
                    </a:solidFill>
                    <a:latin typeface="Segoe UI"/>
                    <a:ea typeface="微软雅黑"/>
                    <a:cs typeface="Segoe UI"/>
                  </a:endParaRPr>
                </a:p>
              </p:txBody>
            </p:sp>
            <p:sp>
              <p:nvSpPr>
                <p:cNvPr id="99" name="TextBox 99"/>
                <p:cNvSpPr txBox="1"/>
                <p:nvPr/>
              </p:nvSpPr>
              <p:spPr>
                <a:xfrm>
                  <a:off x="3093350" y="6315152"/>
                  <a:ext cx="122660" cy="93567"/>
                </a:xfrm>
                <a:prstGeom prst="rect">
                  <a:avLst/>
                </a:prstGeom>
                <a:noFill/>
                <a:ln>
                  <a:noFill/>
                </a:ln>
              </p:spPr>
              <p:txBody>
                <a:bodyPr wrap="none" lIns="0" tIns="0" rIns="0" bIns="0" anchor="t" anchorCtr="0">
                  <a:spAutoFit/>
                </a:bodyPr>
                <a:lstStyle/>
                <a:p>
                  <a:pPr algn="ctr"/>
                  <a:r>
                    <a:rPr lang="zh-CN" sz="460" dirty="0">
                      <a:solidFill>
                        <a:srgbClr val="0A0A0A"/>
                      </a:solidFill>
                      <a:latin typeface="Segoe UI"/>
                      <a:ea typeface="微软雅黑"/>
                      <a:cs typeface="Segoe UI"/>
                    </a:rPr>
                    <a:t>220</a:t>
                  </a:r>
                  <a:endParaRPr lang="zh-CN" sz="460" dirty="0">
                    <a:solidFill>
                      <a:srgbClr val="0A0A0A"/>
                    </a:solidFill>
                    <a:latin typeface="Segoe UI"/>
                    <a:ea typeface="微软雅黑"/>
                    <a:cs typeface="Segoe UI"/>
                  </a:endParaRPr>
                </a:p>
              </p:txBody>
            </p:sp>
            <p:sp>
              <p:nvSpPr>
                <p:cNvPr id="100" name="TextBox 100"/>
                <p:cNvSpPr txBox="1"/>
                <p:nvPr/>
              </p:nvSpPr>
              <p:spPr>
                <a:xfrm>
                  <a:off x="4619406" y="6356087"/>
                  <a:ext cx="105847" cy="93567"/>
                </a:xfrm>
                <a:prstGeom prst="rect">
                  <a:avLst/>
                </a:prstGeom>
                <a:noFill/>
                <a:ln>
                  <a:noFill/>
                </a:ln>
              </p:spPr>
              <p:txBody>
                <a:bodyPr wrap="none" lIns="0" tIns="0" rIns="0" bIns="0" anchor="t" anchorCtr="0">
                  <a:spAutoFit/>
                </a:bodyPr>
                <a:lstStyle/>
                <a:p>
                  <a:pPr algn="ctr"/>
                  <a:r>
                    <a:rPr lang="zh-CN" sz="460" dirty="0">
                      <a:solidFill>
                        <a:srgbClr val="0A0A0A"/>
                      </a:solidFill>
                      <a:latin typeface="Segoe UI"/>
                      <a:ea typeface="微软雅黑"/>
                      <a:cs typeface="Segoe UI"/>
                    </a:rPr>
                    <a:t>180</a:t>
                  </a:r>
                  <a:endParaRPr lang="zh-CN" sz="460" dirty="0">
                    <a:solidFill>
                      <a:srgbClr val="0A0A0A"/>
                    </a:solidFill>
                    <a:latin typeface="Segoe UI"/>
                    <a:ea typeface="微软雅黑"/>
                    <a:cs typeface="Segoe UI"/>
                  </a:endParaRPr>
                </a:p>
              </p:txBody>
            </p:sp>
            <p:sp>
              <p:nvSpPr>
                <p:cNvPr id="101" name="TextBox 101"/>
                <p:cNvSpPr txBox="1"/>
                <p:nvPr/>
              </p:nvSpPr>
              <p:spPr>
                <a:xfrm>
                  <a:off x="1756194" y="6315152"/>
                  <a:ext cx="401752" cy="93567"/>
                </a:xfrm>
                <a:prstGeom prst="rect">
                  <a:avLst/>
                </a:prstGeom>
                <a:noFill/>
                <a:ln>
                  <a:noFill/>
                </a:ln>
              </p:spPr>
              <p:txBody>
                <a:bodyPr wrap="none" lIns="0" tIns="0" rIns="0" bIns="0" anchor="t" anchorCtr="0">
                  <a:spAutoFit/>
                </a:bodyPr>
                <a:lstStyle/>
                <a:p>
                  <a:pPr algn="ctr"/>
                  <a:r>
                    <a:rPr lang="zh-CN" sz="460" dirty="0">
                      <a:solidFill>
                        <a:srgbClr val="0070F3"/>
                      </a:solidFill>
                      <a:latin typeface="Segoe UI"/>
                      <a:ea typeface="微软雅黑"/>
                      <a:cs typeface="Segoe UI"/>
                    </a:rPr>
                    <a:t>220\n↓71.8%</a:t>
                  </a:r>
                  <a:endParaRPr lang="zh-CN" sz="460" dirty="0">
                    <a:solidFill>
                      <a:srgbClr val="0070F3"/>
                    </a:solidFill>
                    <a:latin typeface="Segoe UI"/>
                    <a:ea typeface="微软雅黑"/>
                    <a:cs typeface="Segoe UI"/>
                  </a:endParaRPr>
                </a:p>
              </p:txBody>
            </p:sp>
            <p:sp>
              <p:nvSpPr>
                <p:cNvPr id="102" name="TextBox 102"/>
                <p:cNvSpPr txBox="1"/>
                <p:nvPr/>
              </p:nvSpPr>
              <p:spPr>
                <a:xfrm>
                  <a:off x="3282250" y="6386789"/>
                  <a:ext cx="384939" cy="93567"/>
                </a:xfrm>
                <a:prstGeom prst="rect">
                  <a:avLst/>
                </a:prstGeom>
                <a:noFill/>
                <a:ln>
                  <a:noFill/>
                </a:ln>
              </p:spPr>
              <p:txBody>
                <a:bodyPr wrap="none" lIns="0" tIns="0" rIns="0" bIns="0" anchor="t" anchorCtr="0">
                  <a:spAutoFit/>
                </a:bodyPr>
                <a:lstStyle/>
                <a:p>
                  <a:pPr algn="ctr"/>
                  <a:r>
                    <a:rPr lang="zh-CN" sz="460" dirty="0">
                      <a:solidFill>
                        <a:srgbClr val="0070F3"/>
                      </a:solidFill>
                      <a:latin typeface="Segoe UI"/>
                      <a:ea typeface="微软雅黑"/>
                      <a:cs typeface="Segoe UI"/>
                    </a:rPr>
                    <a:t>150\n↓31.8%</a:t>
                  </a:r>
                  <a:endParaRPr lang="zh-CN" sz="460" dirty="0">
                    <a:solidFill>
                      <a:srgbClr val="0070F3"/>
                    </a:solidFill>
                    <a:latin typeface="Segoe UI"/>
                    <a:ea typeface="微软雅黑"/>
                    <a:cs typeface="Segoe UI"/>
                  </a:endParaRPr>
                </a:p>
              </p:txBody>
            </p:sp>
            <p:sp>
              <p:nvSpPr>
                <p:cNvPr id="103" name="TextBox 103"/>
                <p:cNvSpPr txBox="1"/>
                <p:nvPr/>
              </p:nvSpPr>
              <p:spPr>
                <a:xfrm>
                  <a:off x="4801581" y="6448192"/>
                  <a:ext cx="381577" cy="93567"/>
                </a:xfrm>
                <a:prstGeom prst="rect">
                  <a:avLst/>
                </a:prstGeom>
                <a:noFill/>
                <a:ln>
                  <a:noFill/>
                </a:ln>
              </p:spPr>
              <p:txBody>
                <a:bodyPr wrap="none" lIns="0" tIns="0" rIns="0" bIns="0" anchor="t" anchorCtr="0">
                  <a:spAutoFit/>
                </a:bodyPr>
                <a:lstStyle/>
                <a:p>
                  <a:pPr algn="ctr"/>
                  <a:r>
                    <a:rPr lang="zh-CN" sz="460" dirty="0">
                      <a:solidFill>
                        <a:srgbClr val="0070F3"/>
                      </a:solidFill>
                      <a:latin typeface="Segoe UI"/>
                      <a:ea typeface="微软雅黑"/>
                      <a:cs typeface="Segoe UI"/>
                    </a:rPr>
                    <a:t>90\n↓50.0%</a:t>
                  </a:r>
                  <a:endParaRPr lang="zh-CN" sz="460" dirty="0">
                    <a:solidFill>
                      <a:srgbClr val="0070F3"/>
                    </a:solidFill>
                    <a:latin typeface="Segoe UI"/>
                    <a:ea typeface="微软雅黑"/>
                    <a:cs typeface="Segoe UI"/>
                  </a:endParaRPr>
                </a:p>
              </p:txBody>
            </p:sp>
            <p:sp>
              <p:nvSpPr>
                <p:cNvPr id="104" name="Freeform 104"/>
                <p:cNvSpPr/>
                <p:nvPr/>
              </p:nvSpPr>
              <p:spPr>
                <a:xfrm>
                  <a:off x="2387308" y="5614243"/>
                  <a:ext cx="1549984" cy="116958"/>
                </a:xfrm>
                <a:custGeom>
                  <a:avLst/>
                  <a:gdLst/>
                  <a:ahLst/>
                  <a:cxnLst/>
                  <a:rect l="l" t="t" r="r" b="b"/>
                  <a:pathLst>
                    <a:path w="1549984" h="116958">
                      <a:moveTo>
                        <a:pt x="0" y="0"/>
                      </a:moveTo>
                      <a:lnTo>
                        <a:pt x="1549984" y="0"/>
                      </a:lnTo>
                      <a:lnTo>
                        <a:pt x="1549984" y="116958"/>
                      </a:lnTo>
                      <a:lnTo>
                        <a:pt x="0" y="116958"/>
                      </a:lnTo>
                      <a:close/>
                    </a:path>
                  </a:pathLst>
                </a:custGeom>
                <a:solidFill>
                  <a:srgbClr val="000000">
                    <a:alpha val="0"/>
                  </a:srgbClr>
                </a:solidFill>
                <a:ln w="0">
                  <a:solidFill>
                    <a:srgbClr val="CCCCCC"/>
                  </a:solidFill>
                </a:ln>
              </p:spPr>
            </p:sp>
            <p:sp>
              <p:nvSpPr>
                <p:cNvPr id="105" name="Freeform 105"/>
                <p:cNvSpPr/>
                <p:nvPr/>
              </p:nvSpPr>
              <p:spPr>
                <a:xfrm>
                  <a:off x="2434933" y="5638610"/>
                  <a:ext cx="238125" cy="68226"/>
                </a:xfrm>
                <a:custGeom>
                  <a:avLst/>
                  <a:gdLst/>
                  <a:ahLst/>
                  <a:cxnLst/>
                  <a:rect l="l" t="t" r="r" b="b"/>
                  <a:pathLst>
                    <a:path w="238125" h="68226">
                      <a:moveTo>
                        <a:pt x="33337" y="0"/>
                      </a:moveTo>
                      <a:lnTo>
                        <a:pt x="204787" y="0"/>
                      </a:lnTo>
                      <a:cubicBezTo>
                        <a:pt x="223199" y="0"/>
                        <a:pt x="238125" y="7636"/>
                        <a:pt x="238125" y="17056"/>
                      </a:cubicBezTo>
                      <a:lnTo>
                        <a:pt x="238125" y="51169"/>
                      </a:lnTo>
                      <a:cubicBezTo>
                        <a:pt x="238125" y="60589"/>
                        <a:pt x="223199" y="68226"/>
                        <a:pt x="204787" y="68226"/>
                      </a:cubicBezTo>
                      <a:lnTo>
                        <a:pt x="33337" y="68226"/>
                      </a:lnTo>
                      <a:cubicBezTo>
                        <a:pt x="14926" y="68226"/>
                        <a:pt x="0" y="60589"/>
                        <a:pt x="0" y="51169"/>
                      </a:cubicBezTo>
                      <a:lnTo>
                        <a:pt x="0" y="17056"/>
                      </a:lnTo>
                      <a:cubicBezTo>
                        <a:pt x="0" y="7636"/>
                        <a:pt x="14926" y="0"/>
                        <a:pt x="33337" y="0"/>
                      </a:cubicBezTo>
                    </a:path>
                  </a:pathLst>
                </a:custGeom>
                <a:solidFill>
                  <a:srgbClr val="64748B"/>
                </a:solidFill>
                <a:ln>
                  <a:noFill/>
                </a:ln>
              </p:spPr>
            </p:sp>
            <p:sp>
              <p:nvSpPr>
                <p:cNvPr id="106" name="TextBox 106"/>
                <p:cNvSpPr txBox="1"/>
                <p:nvPr/>
              </p:nvSpPr>
              <p:spPr>
                <a:xfrm>
                  <a:off x="2714835" y="5599756"/>
                  <a:ext cx="280700" cy="93567"/>
                </a:xfrm>
                <a:prstGeom prst="rect">
                  <a:avLst/>
                </a:prstGeom>
                <a:noFill/>
                <a:ln>
                  <a:noFill/>
                </a:ln>
              </p:spPr>
              <p:txBody>
                <a:bodyPr wrap="none" lIns="0" tIns="0" rIns="0" bIns="0" anchor="t" anchorCtr="0">
                  <a:spAutoFit/>
                </a:bodyPr>
                <a:lstStyle/>
                <a:p>
                  <a:pPr algn="l"/>
                  <a:r>
                    <a:rPr lang="zh-CN" sz="460" dirty="0">
                      <a:solidFill>
                        <a:srgbClr val="0A0A0A"/>
                      </a:solidFill>
                      <a:latin typeface="Segoe UI"/>
                      <a:ea typeface="微软雅黑"/>
                      <a:cs typeface="Segoe UI"/>
                    </a:rPr>
                    <a:t>传统方案</a:t>
                  </a:r>
                  <a:endParaRPr lang="zh-CN" sz="460" dirty="0">
                    <a:solidFill>
                      <a:srgbClr val="0A0A0A"/>
                    </a:solidFill>
                    <a:latin typeface="Segoe UI"/>
                    <a:ea typeface="微软雅黑"/>
                    <a:cs typeface="Segoe UI"/>
                  </a:endParaRPr>
                </a:p>
              </p:txBody>
            </p:sp>
            <p:sp>
              <p:nvSpPr>
                <p:cNvPr id="107" name="Freeform 107"/>
                <p:cNvSpPr/>
                <p:nvPr/>
              </p:nvSpPr>
              <p:spPr>
                <a:xfrm>
                  <a:off x="2434933" y="5638610"/>
                  <a:ext cx="742950" cy="68226"/>
                </a:xfrm>
                <a:custGeom>
                  <a:avLst/>
                  <a:gdLst/>
                  <a:ahLst/>
                  <a:cxnLst/>
                  <a:rect l="l" t="t" r="r" b="b"/>
                  <a:pathLst>
                    <a:path w="742950" h="68226">
                      <a:moveTo>
                        <a:pt x="0" y="0"/>
                      </a:moveTo>
                      <a:lnTo>
                        <a:pt x="742950" y="0"/>
                      </a:lnTo>
                      <a:lnTo>
                        <a:pt x="742950" y="68226"/>
                      </a:lnTo>
                      <a:lnTo>
                        <a:pt x="0" y="68226"/>
                      </a:lnTo>
                      <a:close/>
                    </a:path>
                  </a:pathLst>
                </a:custGeom>
                <a:noFill/>
                <a:ln>
                  <a:noFill/>
                </a:ln>
              </p:spPr>
            </p:sp>
            <p:sp>
              <p:nvSpPr>
                <p:cNvPr id="108" name="Freeform 108"/>
                <p:cNvSpPr/>
                <p:nvPr/>
              </p:nvSpPr>
              <p:spPr>
                <a:xfrm>
                  <a:off x="3273133" y="5638610"/>
                  <a:ext cx="238125" cy="68226"/>
                </a:xfrm>
                <a:custGeom>
                  <a:avLst/>
                  <a:gdLst/>
                  <a:ahLst/>
                  <a:cxnLst/>
                  <a:rect l="l" t="t" r="r" b="b"/>
                  <a:pathLst>
                    <a:path w="238125" h="68226">
                      <a:moveTo>
                        <a:pt x="33338" y="0"/>
                      </a:moveTo>
                      <a:lnTo>
                        <a:pt x="204788" y="0"/>
                      </a:lnTo>
                      <a:cubicBezTo>
                        <a:pt x="223199" y="0"/>
                        <a:pt x="238125" y="7636"/>
                        <a:pt x="238125" y="17056"/>
                      </a:cubicBezTo>
                      <a:lnTo>
                        <a:pt x="238125" y="51169"/>
                      </a:lnTo>
                      <a:cubicBezTo>
                        <a:pt x="238125" y="60589"/>
                        <a:pt x="223199" y="68226"/>
                        <a:pt x="204788" y="68226"/>
                      </a:cubicBezTo>
                      <a:lnTo>
                        <a:pt x="33338" y="68226"/>
                      </a:lnTo>
                      <a:cubicBezTo>
                        <a:pt x="14926" y="68226"/>
                        <a:pt x="0" y="60589"/>
                        <a:pt x="0" y="51169"/>
                      </a:cubicBezTo>
                      <a:lnTo>
                        <a:pt x="0" y="17056"/>
                      </a:lnTo>
                      <a:cubicBezTo>
                        <a:pt x="0" y="7636"/>
                        <a:pt x="14926" y="0"/>
                        <a:pt x="33338" y="0"/>
                      </a:cubicBezTo>
                    </a:path>
                  </a:pathLst>
                </a:custGeom>
                <a:solidFill>
                  <a:srgbClr val="0070F3"/>
                </a:solidFill>
                <a:ln>
                  <a:noFill/>
                </a:ln>
              </p:spPr>
            </p:sp>
            <p:sp>
              <p:nvSpPr>
                <p:cNvPr id="109" name="TextBox 109"/>
                <p:cNvSpPr txBox="1"/>
                <p:nvPr/>
              </p:nvSpPr>
              <p:spPr>
                <a:xfrm>
                  <a:off x="3553035" y="5599756"/>
                  <a:ext cx="203361" cy="93567"/>
                </a:xfrm>
                <a:prstGeom prst="rect">
                  <a:avLst/>
                </a:prstGeom>
                <a:noFill/>
                <a:ln>
                  <a:noFill/>
                </a:ln>
              </p:spPr>
              <p:txBody>
                <a:bodyPr wrap="none" lIns="0" tIns="0" rIns="0" bIns="0" anchor="t" anchorCtr="0">
                  <a:spAutoFit/>
                </a:bodyPr>
                <a:lstStyle/>
                <a:p>
                  <a:pPr algn="l"/>
                  <a:r>
                    <a:rPr lang="zh-CN" sz="460" dirty="0">
                      <a:solidFill>
                        <a:srgbClr val="0A0A0A"/>
                      </a:solidFill>
                      <a:latin typeface="Segoe UI"/>
                      <a:ea typeface="微软雅黑"/>
                      <a:cs typeface="Segoe UI"/>
                    </a:rPr>
                    <a:t>AI方案</a:t>
                  </a:r>
                  <a:endParaRPr lang="zh-CN" sz="460" dirty="0">
                    <a:solidFill>
                      <a:srgbClr val="0A0A0A"/>
                    </a:solidFill>
                    <a:latin typeface="Segoe UI"/>
                    <a:ea typeface="微软雅黑"/>
                    <a:cs typeface="Segoe UI"/>
                  </a:endParaRPr>
                </a:p>
              </p:txBody>
            </p:sp>
            <p:sp>
              <p:nvSpPr>
                <p:cNvPr id="110" name="Freeform 110"/>
                <p:cNvSpPr/>
                <p:nvPr/>
              </p:nvSpPr>
              <p:spPr>
                <a:xfrm>
                  <a:off x="3273133" y="5638610"/>
                  <a:ext cx="616534" cy="68226"/>
                </a:xfrm>
                <a:custGeom>
                  <a:avLst/>
                  <a:gdLst/>
                  <a:ahLst/>
                  <a:cxnLst/>
                  <a:rect l="l" t="t" r="r" b="b"/>
                  <a:pathLst>
                    <a:path w="616534" h="68226">
                      <a:moveTo>
                        <a:pt x="0" y="0"/>
                      </a:moveTo>
                      <a:lnTo>
                        <a:pt x="616534" y="0"/>
                      </a:lnTo>
                      <a:lnTo>
                        <a:pt x="616534" y="68226"/>
                      </a:lnTo>
                      <a:lnTo>
                        <a:pt x="0" y="68226"/>
                      </a:lnTo>
                      <a:close/>
                    </a:path>
                  </a:pathLst>
                </a:custGeom>
                <a:noFill/>
                <a:ln>
                  <a:noFill/>
                </a:ln>
              </p:spPr>
            </p:sp>
          </p:grpSp>
        </p:grpSp>
        <p:sp>
          <p:nvSpPr>
            <p:cNvPr id="113" name="TextBox 113"/>
            <p:cNvSpPr txBox="1"/>
            <p:nvPr/>
          </p:nvSpPr>
          <p:spPr>
            <a:xfrm>
              <a:off x="493395" y="6875145"/>
              <a:ext cx="3663887"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AI预计贡献超过 15.7万亿美元占全球 GDP（来源： McKinsey、</a:t>
              </a:r>
              <a:endParaRPr lang="zh-CN" sz="900" dirty="0">
                <a:solidFill>
                  <a:srgbClr val="0A0A0A"/>
                </a:solidFill>
                <a:latin typeface="Arial" panose="020B0604020202090204"/>
                <a:ea typeface="微软雅黑"/>
                <a:cs typeface="Arial" panose="020B0604020202090204"/>
              </a:endParaRPr>
            </a:p>
          </p:txBody>
        </p:sp>
        <p:sp>
          <p:nvSpPr>
            <p:cNvPr id="114" name="TextBox 114"/>
            <p:cNvSpPr txBox="1"/>
            <p:nvPr/>
          </p:nvSpPr>
          <p:spPr>
            <a:xfrm>
              <a:off x="4075271" y="6875145"/>
              <a:ext cx="1711928"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传统方案总成本 1180万元 /年</a:t>
              </a:r>
              <a:endParaRPr lang="zh-CN" sz="900" dirty="0">
                <a:solidFill>
                  <a:srgbClr val="0A0A0A"/>
                </a:solidFill>
                <a:latin typeface="Arial" panose="020B0604020202090204"/>
                <a:ea typeface="微软雅黑"/>
                <a:cs typeface="Arial" panose="020B0604020202090204"/>
              </a:endParaRPr>
            </a:p>
          </p:txBody>
        </p:sp>
        <p:sp>
          <p:nvSpPr>
            <p:cNvPr id="115" name="TextBox 115"/>
            <p:cNvSpPr txBox="1"/>
            <p:nvPr/>
          </p:nvSpPr>
          <p:spPr>
            <a:xfrm>
              <a:off x="493395" y="6875145"/>
              <a:ext cx="1554194"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AI方案总成本 460万元 /年</a:t>
              </a:r>
              <a:endParaRPr lang="zh-CN" sz="900" dirty="0">
                <a:solidFill>
                  <a:srgbClr val="0A0A0A"/>
                </a:solidFill>
                <a:latin typeface="Arial" panose="020B0604020202090204"/>
                <a:ea typeface="微软雅黑"/>
                <a:cs typeface="Arial" panose="020B0604020202090204"/>
              </a:endParaRPr>
            </a:p>
          </p:txBody>
        </p:sp>
        <p:sp>
          <p:nvSpPr>
            <p:cNvPr id="116" name="TextBox 116"/>
            <p:cNvSpPr txBox="1"/>
            <p:nvPr/>
          </p:nvSpPr>
          <p:spPr>
            <a:xfrm>
              <a:off x="1928812" y="6875145"/>
              <a:ext cx="1311021"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成本节省 720万元 /年</a:t>
              </a:r>
              <a:endParaRPr lang="zh-CN" sz="900" dirty="0">
                <a:solidFill>
                  <a:srgbClr val="0A0A0A"/>
                </a:solidFill>
                <a:latin typeface="Arial" panose="020B0604020202090204"/>
                <a:ea typeface="微软雅黑"/>
                <a:cs typeface="Arial" panose="020B0604020202090204"/>
              </a:endParaRPr>
            </a:p>
          </p:txBody>
        </p:sp>
        <p:sp>
          <p:nvSpPr>
            <p:cNvPr id="117" name="Rectangle 117"/>
            <p:cNvSpPr/>
            <p:nvPr/>
          </p:nvSpPr>
          <p:spPr>
            <a:xfrm>
              <a:off x="6172200" y="3986022"/>
              <a:ext cx="5715000" cy="2871978"/>
            </a:xfrm>
            <a:prstGeom prst="roundRect">
              <a:avLst>
                <a:gd name="adj" fmla="val 5970"/>
              </a:avLst>
            </a:prstGeom>
            <a:solidFill>
              <a:srgbClr val="FFFFFF">
                <a:alpha val="78000"/>
              </a:srgbClr>
            </a:solidFill>
            <a:ln>
              <a:noFill/>
            </a:ln>
          </p:spPr>
        </p:sp>
        <p:sp>
          <p:nvSpPr>
            <p:cNvPr id="118" name="Line 118"/>
            <p:cNvSpPr/>
            <p:nvPr/>
          </p:nvSpPr>
          <p:spPr>
            <a:xfrm>
              <a:off x="6172200" y="3986022"/>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119" name="Line 119"/>
            <p:cNvSpPr/>
            <p:nvPr/>
          </p:nvSpPr>
          <p:spPr>
            <a:xfrm>
              <a:off x="118872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120" name="Line 120"/>
            <p:cNvSpPr/>
            <p:nvPr/>
          </p:nvSpPr>
          <p:spPr>
            <a:xfrm>
              <a:off x="6172200" y="6858000"/>
              <a:ext cx="5715000" cy="9525"/>
            </a:xfrm>
            <a:custGeom>
              <a:avLst/>
              <a:gdLst/>
              <a:ahLst/>
              <a:cxnLst/>
              <a:rect l="l" t="t" r="r" b="b"/>
              <a:pathLst>
                <a:path w="5715000" h="9525">
                  <a:moveTo>
                    <a:pt x="0" y="0"/>
                  </a:moveTo>
                  <a:lnTo>
                    <a:pt x="5715000" y="0"/>
                  </a:lnTo>
                </a:path>
              </a:pathLst>
            </a:custGeom>
            <a:noFill/>
            <a:ln w="9525">
              <a:solidFill>
                <a:srgbClr val="0070F3">
                  <a:alpha val="14000"/>
                </a:srgbClr>
              </a:solidFill>
            </a:ln>
          </p:spPr>
        </p:sp>
        <p:sp>
          <p:nvSpPr>
            <p:cNvPr id="121" name="Line 121"/>
            <p:cNvSpPr/>
            <p:nvPr/>
          </p:nvSpPr>
          <p:spPr>
            <a:xfrm>
              <a:off x="6172200" y="3986022"/>
              <a:ext cx="9525" cy="2871978"/>
            </a:xfrm>
            <a:custGeom>
              <a:avLst/>
              <a:gdLst/>
              <a:ahLst/>
              <a:cxnLst/>
              <a:rect l="l" t="t" r="r" b="b"/>
              <a:pathLst>
                <a:path w="9525" h="2871978">
                  <a:moveTo>
                    <a:pt x="0" y="0"/>
                  </a:moveTo>
                  <a:lnTo>
                    <a:pt x="0" y="2871978"/>
                  </a:lnTo>
                </a:path>
              </a:pathLst>
            </a:custGeom>
            <a:noFill/>
            <a:ln w="9525">
              <a:solidFill>
                <a:srgbClr val="0070F3">
                  <a:alpha val="14000"/>
                </a:srgbClr>
              </a:solidFill>
            </a:ln>
          </p:spPr>
        </p:sp>
        <p:sp>
          <p:nvSpPr>
            <p:cNvPr id="122" name="TextBox 122"/>
            <p:cNvSpPr txBox="1"/>
            <p:nvPr/>
          </p:nvSpPr>
          <p:spPr>
            <a:xfrm>
              <a:off x="6357938" y="4188428"/>
              <a:ext cx="1520887"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生成式 AI预计 2030</a:t>
              </a:r>
              <a:endParaRPr lang="zh-CN" sz="1125" b="1" dirty="0">
                <a:solidFill>
                  <a:srgbClr val="0A0A0A"/>
                </a:solidFill>
                <a:latin typeface="Arial" panose="020B0604020202090204"/>
                <a:ea typeface="微软雅黑"/>
                <a:cs typeface="Arial" panose="020B0604020202090204"/>
              </a:endParaRPr>
            </a:p>
          </p:txBody>
        </p:sp>
        <p:sp>
          <p:nvSpPr>
            <p:cNvPr id="123" name="TextBox 123"/>
            <p:cNvSpPr txBox="1"/>
            <p:nvPr/>
          </p:nvSpPr>
          <p:spPr>
            <a:xfrm>
              <a:off x="6357938" y="4367022"/>
              <a:ext cx="1529513"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年每年驱动 1.3万亿</a:t>
              </a:r>
              <a:endParaRPr lang="zh-CN" sz="1125" b="1" dirty="0">
                <a:solidFill>
                  <a:srgbClr val="0A0A0A"/>
                </a:solidFill>
                <a:latin typeface="Arial" panose="020B0604020202090204"/>
                <a:ea typeface="微软雅黑"/>
                <a:cs typeface="Arial" panose="020B0604020202090204"/>
              </a:endParaRPr>
            </a:p>
          </p:txBody>
        </p:sp>
        <p:sp>
          <p:nvSpPr>
            <p:cNvPr id="124" name="TextBox 124"/>
            <p:cNvSpPr txBox="1"/>
            <p:nvPr/>
          </p:nvSpPr>
          <p:spPr>
            <a:xfrm>
              <a:off x="6357938" y="4545616"/>
              <a:ext cx="1063704" cy="228600"/>
            </a:xfrm>
            <a:prstGeom prst="rect">
              <a:avLst/>
            </a:prstGeom>
            <a:noFill/>
            <a:ln>
              <a:noFill/>
            </a:ln>
          </p:spPr>
          <p:txBody>
            <a:bodyPr wrap="none" lIns="0" tIns="0" rIns="0" bIns="0" anchor="t" anchorCtr="0">
              <a:spAutoFit/>
            </a:bodyPr>
            <a:lstStyle/>
            <a:p>
              <a:pPr algn="l"/>
              <a:r>
                <a:rPr lang="zh-CN" sz="1125" b="1" dirty="0">
                  <a:solidFill>
                    <a:srgbClr val="0A0A0A"/>
                  </a:solidFill>
                  <a:latin typeface="Arial" panose="020B0604020202090204"/>
                  <a:ea typeface="微软雅黑"/>
                  <a:cs typeface="Arial" panose="020B0604020202090204"/>
                </a:rPr>
                <a:t>美元经济影响</a:t>
              </a:r>
              <a:endParaRPr lang="zh-CN" sz="1125" b="1" dirty="0">
                <a:solidFill>
                  <a:srgbClr val="0A0A0A"/>
                </a:solidFill>
                <a:latin typeface="Arial" panose="020B0604020202090204"/>
                <a:ea typeface="微软雅黑"/>
                <a:cs typeface="Arial" panose="020B0604020202090204"/>
              </a:endParaRPr>
            </a:p>
          </p:txBody>
        </p:sp>
        <p:sp>
          <p:nvSpPr>
            <p:cNvPr id="125" name="TextBox 125"/>
            <p:cNvSpPr txBox="1"/>
            <p:nvPr/>
          </p:nvSpPr>
          <p:spPr>
            <a:xfrm>
              <a:off x="6360795" y="4822317"/>
              <a:ext cx="146875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保持同一业务量口径，对</a:t>
              </a:r>
              <a:endParaRPr lang="zh-CN" sz="900" dirty="0">
                <a:solidFill>
                  <a:srgbClr val="94A3B8"/>
                </a:solidFill>
                <a:latin typeface="Arial" panose="020B0604020202090204"/>
                <a:ea typeface="微软雅黑"/>
                <a:cs typeface="Arial" panose="020B0604020202090204"/>
              </a:endParaRPr>
            </a:p>
          </p:txBody>
        </p:sp>
        <p:sp>
          <p:nvSpPr>
            <p:cNvPr id="126" name="TextBox 126"/>
            <p:cNvSpPr txBox="1"/>
            <p:nvPr/>
          </p:nvSpPr>
          <p:spPr>
            <a:xfrm>
              <a:off x="6360795" y="4965192"/>
              <a:ext cx="146875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比三类核心成本。年度节</a:t>
              </a:r>
              <a:endParaRPr lang="zh-CN" sz="900" dirty="0">
                <a:solidFill>
                  <a:srgbClr val="94A3B8"/>
                </a:solidFill>
                <a:latin typeface="Arial" panose="020B0604020202090204"/>
                <a:ea typeface="微软雅黑"/>
                <a:cs typeface="Arial" panose="020B0604020202090204"/>
              </a:endParaRPr>
            </a:p>
          </p:txBody>
        </p:sp>
        <p:sp>
          <p:nvSpPr>
            <p:cNvPr id="127" name="TextBox 127"/>
            <p:cNvSpPr txBox="1"/>
            <p:nvPr/>
          </p:nvSpPr>
          <p:spPr>
            <a:xfrm>
              <a:off x="6360795" y="5108067"/>
              <a:ext cx="1067848"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panose="020B0604020202090204"/>
                  <a:ea typeface="微软雅黑"/>
                  <a:cs typeface="Arial" panose="020B0604020202090204"/>
                </a:rPr>
                <a:t>省合计 720万元。</a:t>
              </a:r>
              <a:endParaRPr lang="zh-CN" sz="900" dirty="0">
                <a:solidFill>
                  <a:srgbClr val="94A3B8"/>
                </a:solidFill>
                <a:latin typeface="Arial" panose="020B0604020202090204"/>
                <a:ea typeface="微软雅黑"/>
                <a:cs typeface="Arial" panose="020B0604020202090204"/>
              </a:endParaRPr>
            </a:p>
          </p:txBody>
        </p:sp>
        <p:sp>
          <p:nvSpPr>
            <p:cNvPr id="128" name="Rectangle 128"/>
            <p:cNvSpPr/>
            <p:nvPr/>
          </p:nvSpPr>
          <p:spPr>
            <a:xfrm>
              <a:off x="7838408" y="4166997"/>
              <a:ext cx="3848767" cy="271462"/>
            </a:xfrm>
            <a:prstGeom prst="roundRect">
              <a:avLst>
                <a:gd name="adj" fmla="val 50000"/>
              </a:avLst>
            </a:prstGeom>
            <a:solidFill>
              <a:srgbClr val="0070F3">
                <a:alpha val="12000"/>
              </a:srgbClr>
            </a:solidFill>
            <a:ln>
              <a:noFill/>
            </a:ln>
          </p:spPr>
        </p:sp>
        <p:sp>
          <p:nvSpPr>
            <p:cNvPr id="129" name="TextBox 129"/>
            <p:cNvSpPr txBox="1"/>
            <p:nvPr/>
          </p:nvSpPr>
          <p:spPr>
            <a:xfrm>
              <a:off x="7922228" y="4241292"/>
              <a:ext cx="4229100" cy="182880"/>
            </a:xfrm>
            <a:prstGeom prst="rect">
              <a:avLst/>
            </a:prstGeom>
            <a:noFill/>
            <a:ln>
              <a:noFill/>
            </a:ln>
          </p:spPr>
          <p:txBody>
            <a:bodyPr wrap="none" lIns="0" tIns="0" rIns="0" bIns="0" anchor="t" anchorCtr="0">
              <a:spAutoFit/>
            </a:bodyPr>
            <a:lstStyle/>
            <a:p>
              <a:pPr algn="l"/>
              <a:r>
                <a:rPr lang="zh-CN" sz="900" dirty="0">
                  <a:solidFill>
                    <a:srgbClr val="0070F3"/>
                  </a:solidFill>
                  <a:latin typeface="Arial" panose="020B0604020202090204"/>
                  <a:ea typeface="微软雅黑"/>
                  <a:cs typeface="Arial" panose="020B0604020202090204"/>
                </a:rPr>
                <a:t>节省比例：人工与外包 -71.8% /系统与工具 -31.8% /质检与管理 -50.0%</a:t>
              </a:r>
              <a:endParaRPr lang="zh-CN" sz="900" dirty="0">
                <a:solidFill>
                  <a:srgbClr val="0070F3"/>
                </a:solidFill>
                <a:latin typeface="Arial" panose="020B0604020202090204"/>
                <a:ea typeface="微软雅黑"/>
                <a:cs typeface="Arial" panose="020B0604020202090204"/>
              </a:endParaRPr>
            </a:p>
          </p:txBody>
        </p:sp>
        <p:grpSp>
          <p:nvGrpSpPr>
            <p:cNvPr id="171" name="Group 171"/>
            <p:cNvGrpSpPr/>
            <p:nvPr/>
          </p:nvGrpSpPr>
          <p:grpSpPr>
            <a:xfrm>
              <a:off x="6372225" y="5390960"/>
              <a:ext cx="5547467" cy="1467074"/>
              <a:chOff x="6372225" y="5390960"/>
              <a:chExt cx="5547467" cy="1467074"/>
            </a:xfrm>
          </p:grpSpPr>
          <p:sp>
            <p:nvSpPr>
              <p:cNvPr id="130" name="Rectangle 130"/>
              <p:cNvSpPr/>
              <p:nvPr/>
            </p:nvSpPr>
            <p:spPr>
              <a:xfrm>
                <a:off x="6372225" y="5390960"/>
                <a:ext cx="5314950" cy="1467074"/>
              </a:xfrm>
              <a:prstGeom prst="rect">
                <a:avLst/>
              </a:prstGeom>
              <a:noFill/>
              <a:ln>
                <a:noFill/>
              </a:ln>
            </p:spPr>
          </p:sp>
          <p:grpSp>
            <p:nvGrpSpPr>
              <p:cNvPr id="170" name="Group 170"/>
              <p:cNvGrpSpPr/>
              <p:nvPr/>
            </p:nvGrpSpPr>
            <p:grpSpPr>
              <a:xfrm>
                <a:off x="6694172" y="5401116"/>
                <a:ext cx="5225520" cy="1338423"/>
                <a:chOff x="6694172" y="5401116"/>
                <a:chExt cx="5225520" cy="1338423"/>
              </a:xfrm>
            </p:grpSpPr>
            <p:sp>
              <p:nvSpPr>
                <p:cNvPr id="131" name="Freeform 131"/>
                <p:cNvSpPr/>
                <p:nvPr/>
              </p:nvSpPr>
              <p:spPr>
                <a:xfrm>
                  <a:off x="6905625" y="6612580"/>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32" name="Freeform 132"/>
                <p:cNvSpPr/>
                <p:nvPr/>
              </p:nvSpPr>
              <p:spPr>
                <a:xfrm>
                  <a:off x="6905625" y="6375592"/>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33" name="Freeform 133"/>
                <p:cNvSpPr/>
                <p:nvPr/>
              </p:nvSpPr>
              <p:spPr>
                <a:xfrm>
                  <a:off x="6905625" y="6138603"/>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34" name="Freeform 134"/>
                <p:cNvSpPr/>
                <p:nvPr/>
              </p:nvSpPr>
              <p:spPr>
                <a:xfrm>
                  <a:off x="6905625" y="5901614"/>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35" name="Freeform 135"/>
                <p:cNvSpPr/>
                <p:nvPr/>
              </p:nvSpPr>
              <p:spPr>
                <a:xfrm>
                  <a:off x="6905625" y="5664625"/>
                  <a:ext cx="4552950" cy="9525"/>
                </a:xfrm>
                <a:custGeom>
                  <a:avLst/>
                  <a:gdLst/>
                  <a:ahLst/>
                  <a:cxnLst/>
                  <a:rect l="l" t="t" r="r" b="b"/>
                  <a:pathLst>
                    <a:path w="4552950" h="9525">
                      <a:moveTo>
                        <a:pt x="0" y="0"/>
                      </a:moveTo>
                      <a:lnTo>
                        <a:pt x="4552950" y="0"/>
                      </a:lnTo>
                    </a:path>
                  </a:pathLst>
                </a:custGeom>
                <a:noFill/>
                <a:ln w="9525">
                  <a:solidFill>
                    <a:srgbClr val="94A3B8">
                      <a:alpha val="12000"/>
                    </a:srgbClr>
                  </a:solidFill>
                </a:ln>
              </p:spPr>
            </p:sp>
            <p:sp>
              <p:nvSpPr>
                <p:cNvPr id="136" name="TextBox 136"/>
                <p:cNvSpPr txBox="1"/>
                <p:nvPr/>
              </p:nvSpPr>
              <p:spPr>
                <a:xfrm>
                  <a:off x="6760639" y="5485755"/>
                  <a:ext cx="289973" cy="108338"/>
                </a:xfrm>
                <a:prstGeom prst="rect">
                  <a:avLst/>
                </a:prstGeom>
                <a:noFill/>
                <a:ln>
                  <a:noFill/>
                </a:ln>
              </p:spPr>
              <p:txBody>
                <a:bodyPr wrap="none" lIns="0" tIns="0" rIns="0" bIns="0" anchor="t" anchorCtr="0">
                  <a:spAutoFit/>
                </a:bodyPr>
                <a:lstStyle/>
                <a:p>
                  <a:pPr algn="ctr"/>
                  <a:r>
                    <a:rPr lang="zh-CN" sz="535" dirty="0">
                      <a:solidFill>
                        <a:srgbClr val="475569"/>
                      </a:solidFill>
                      <a:latin typeface="Segoe UI"/>
                      <a:ea typeface="微软雅黑"/>
                      <a:cs typeface="Segoe UI"/>
                    </a:rPr>
                    <a:t>万元/年</a:t>
                  </a:r>
                  <a:endParaRPr lang="zh-CN" sz="535" dirty="0">
                    <a:solidFill>
                      <a:srgbClr val="475569"/>
                    </a:solidFill>
                    <a:latin typeface="Segoe UI"/>
                    <a:ea typeface="微软雅黑"/>
                    <a:cs typeface="Segoe UI"/>
                  </a:endParaRPr>
                </a:p>
              </p:txBody>
            </p:sp>
            <p:sp>
              <p:nvSpPr>
                <p:cNvPr id="137" name="Freeform 137"/>
                <p:cNvSpPr/>
                <p:nvPr/>
              </p:nvSpPr>
              <p:spPr>
                <a:xfrm>
                  <a:off x="6905625" y="6612580"/>
                  <a:ext cx="4552950" cy="9525"/>
                </a:xfrm>
                <a:custGeom>
                  <a:avLst/>
                  <a:gdLst/>
                  <a:ahLst/>
                  <a:cxnLst/>
                  <a:rect l="l" t="t" r="r" b="b"/>
                  <a:pathLst>
                    <a:path w="4552950" h="9525">
                      <a:moveTo>
                        <a:pt x="0" y="0"/>
                      </a:moveTo>
                      <a:lnTo>
                        <a:pt x="4552950" y="0"/>
                      </a:lnTo>
                    </a:path>
                  </a:pathLst>
                </a:custGeom>
                <a:noFill/>
                <a:ln w="9525" cap="rnd">
                  <a:solidFill>
                    <a:srgbClr val="475569"/>
                  </a:solidFill>
                </a:ln>
              </p:spPr>
            </p:sp>
            <p:sp>
              <p:nvSpPr>
                <p:cNvPr id="138" name="TextBox 138"/>
                <p:cNvSpPr txBox="1"/>
                <p:nvPr/>
              </p:nvSpPr>
              <p:spPr>
                <a:xfrm>
                  <a:off x="11594679" y="6552205"/>
                  <a:ext cx="325013" cy="108338"/>
                </a:xfrm>
                <a:prstGeom prst="rect">
                  <a:avLst/>
                </a:prstGeom>
                <a:noFill/>
                <a:ln>
                  <a:noFill/>
                </a:ln>
              </p:spPr>
              <p:txBody>
                <a:bodyPr wrap="none" lIns="0" tIns="0" rIns="0" bIns="0" anchor="t" anchorCtr="0">
                  <a:spAutoFit/>
                </a:bodyPr>
                <a:lstStyle/>
                <a:p>
                  <a:pPr algn="l"/>
                  <a:r>
                    <a:rPr lang="zh-CN" sz="535" dirty="0">
                      <a:solidFill>
                        <a:srgbClr val="475569"/>
                      </a:solidFill>
                      <a:latin typeface="Segoe UI"/>
                      <a:ea typeface="微软雅黑"/>
                      <a:cs typeface="Segoe UI"/>
                    </a:rPr>
                    <a:t>成本类型</a:t>
                  </a:r>
                  <a:endParaRPr lang="zh-CN" sz="535" dirty="0">
                    <a:solidFill>
                      <a:srgbClr val="475569"/>
                    </a:solidFill>
                    <a:latin typeface="Segoe UI"/>
                    <a:ea typeface="微软雅黑"/>
                    <a:cs typeface="Segoe UI"/>
                  </a:endParaRPr>
                </a:p>
              </p:txBody>
            </p:sp>
            <p:sp>
              <p:nvSpPr>
                <p:cNvPr id="139" name="Freeform 139"/>
                <p:cNvSpPr/>
                <p:nvPr/>
              </p:nvSpPr>
              <p:spPr>
                <a:xfrm>
                  <a:off x="6910388"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40" name="Freeform 140"/>
                <p:cNvSpPr/>
                <p:nvPr/>
              </p:nvSpPr>
              <p:spPr>
                <a:xfrm>
                  <a:off x="8424862"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41" name="Freeform 141"/>
                <p:cNvSpPr/>
                <p:nvPr/>
              </p:nvSpPr>
              <p:spPr>
                <a:xfrm>
                  <a:off x="9939338"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42" name="Freeform 142"/>
                <p:cNvSpPr/>
                <p:nvPr/>
              </p:nvSpPr>
              <p:spPr>
                <a:xfrm>
                  <a:off x="11463338" y="6609759"/>
                  <a:ext cx="9525" cy="28213"/>
                </a:xfrm>
                <a:custGeom>
                  <a:avLst/>
                  <a:gdLst/>
                  <a:ahLst/>
                  <a:cxnLst/>
                  <a:rect l="l" t="t" r="r" b="b"/>
                  <a:pathLst>
                    <a:path w="9525" h="28213">
                      <a:moveTo>
                        <a:pt x="0" y="0"/>
                      </a:moveTo>
                      <a:lnTo>
                        <a:pt x="0" y="28213"/>
                      </a:lnTo>
                    </a:path>
                  </a:pathLst>
                </a:custGeom>
                <a:noFill/>
                <a:ln w="9525">
                  <a:solidFill>
                    <a:srgbClr val="475569"/>
                  </a:solidFill>
                </a:ln>
              </p:spPr>
            </p:sp>
            <p:sp>
              <p:nvSpPr>
                <p:cNvPr id="143" name="TextBox 143"/>
                <p:cNvSpPr txBox="1"/>
                <p:nvPr/>
              </p:nvSpPr>
              <p:spPr>
                <a:xfrm>
                  <a:off x="6779827" y="6552205"/>
                  <a:ext cx="56369"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0</a:t>
                  </a:r>
                  <a:endParaRPr lang="zh-CN" sz="535" dirty="0">
                    <a:solidFill>
                      <a:srgbClr val="94A3B8"/>
                    </a:solidFill>
                    <a:latin typeface="Segoe UI"/>
                    <a:ea typeface="微软雅黑"/>
                    <a:cs typeface="Segoe UI"/>
                  </a:endParaRPr>
                </a:p>
              </p:txBody>
            </p:sp>
            <p:sp>
              <p:nvSpPr>
                <p:cNvPr id="144" name="TextBox 144"/>
                <p:cNvSpPr txBox="1"/>
                <p:nvPr/>
              </p:nvSpPr>
              <p:spPr>
                <a:xfrm>
                  <a:off x="6694172" y="6315216"/>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200</a:t>
                  </a:r>
                  <a:endParaRPr lang="zh-CN" sz="535" dirty="0">
                    <a:solidFill>
                      <a:srgbClr val="94A3B8"/>
                    </a:solidFill>
                    <a:latin typeface="Segoe UI"/>
                    <a:ea typeface="微软雅黑"/>
                    <a:cs typeface="Segoe UI"/>
                  </a:endParaRPr>
                </a:p>
              </p:txBody>
            </p:sp>
            <p:sp>
              <p:nvSpPr>
                <p:cNvPr id="145" name="TextBox 145"/>
                <p:cNvSpPr txBox="1"/>
                <p:nvPr/>
              </p:nvSpPr>
              <p:spPr>
                <a:xfrm>
                  <a:off x="6694172" y="6078227"/>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400</a:t>
                  </a:r>
                  <a:endParaRPr lang="zh-CN" sz="535" dirty="0">
                    <a:solidFill>
                      <a:srgbClr val="94A3B8"/>
                    </a:solidFill>
                    <a:latin typeface="Segoe UI"/>
                    <a:ea typeface="微软雅黑"/>
                    <a:cs typeface="Segoe UI"/>
                  </a:endParaRPr>
                </a:p>
              </p:txBody>
            </p:sp>
            <p:sp>
              <p:nvSpPr>
                <p:cNvPr id="146" name="TextBox 146"/>
                <p:cNvSpPr txBox="1"/>
                <p:nvPr/>
              </p:nvSpPr>
              <p:spPr>
                <a:xfrm>
                  <a:off x="6694172" y="5841238"/>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600</a:t>
                  </a:r>
                  <a:endParaRPr lang="zh-CN" sz="535" dirty="0">
                    <a:solidFill>
                      <a:srgbClr val="94A3B8"/>
                    </a:solidFill>
                    <a:latin typeface="Segoe UI"/>
                    <a:ea typeface="微软雅黑"/>
                    <a:cs typeface="Segoe UI"/>
                  </a:endParaRPr>
                </a:p>
              </p:txBody>
            </p:sp>
            <p:sp>
              <p:nvSpPr>
                <p:cNvPr id="147" name="TextBox 147"/>
                <p:cNvSpPr txBox="1"/>
                <p:nvPr/>
              </p:nvSpPr>
              <p:spPr>
                <a:xfrm>
                  <a:off x="6694172" y="5604249"/>
                  <a:ext cx="142024" cy="108338"/>
                </a:xfrm>
                <a:prstGeom prst="rect">
                  <a:avLst/>
                </a:prstGeom>
                <a:noFill/>
                <a:ln>
                  <a:noFill/>
                </a:ln>
              </p:spPr>
              <p:txBody>
                <a:bodyPr wrap="none" lIns="0" tIns="0" rIns="0" bIns="0" anchor="t" anchorCtr="0">
                  <a:spAutoFit/>
                </a:bodyPr>
                <a:lstStyle/>
                <a:p>
                  <a:pPr algn="r"/>
                  <a:r>
                    <a:rPr lang="zh-CN" sz="535" dirty="0">
                      <a:solidFill>
                        <a:srgbClr val="94A3B8"/>
                      </a:solidFill>
                      <a:latin typeface="Segoe UI"/>
                      <a:ea typeface="微软雅黑"/>
                      <a:cs typeface="Segoe UI"/>
                    </a:rPr>
                    <a:t>800</a:t>
                  </a:r>
                  <a:endParaRPr lang="zh-CN" sz="535" dirty="0">
                    <a:solidFill>
                      <a:srgbClr val="94A3B8"/>
                    </a:solidFill>
                    <a:latin typeface="Segoe UI"/>
                    <a:ea typeface="微软雅黑"/>
                    <a:cs typeface="Segoe UI"/>
                  </a:endParaRPr>
                </a:p>
              </p:txBody>
            </p:sp>
            <p:sp>
              <p:nvSpPr>
                <p:cNvPr id="148" name="TextBox 148"/>
                <p:cNvSpPr txBox="1"/>
                <p:nvPr/>
              </p:nvSpPr>
              <p:spPr>
                <a:xfrm>
                  <a:off x="7463010" y="6631201"/>
                  <a:ext cx="402881" cy="108338"/>
                </a:xfrm>
                <a:prstGeom prst="rect">
                  <a:avLst/>
                </a:prstGeom>
                <a:noFill/>
                <a:ln>
                  <a:noFill/>
                </a:ln>
              </p:spPr>
              <p:txBody>
                <a:bodyPr wrap="none" lIns="0" tIns="0" rIns="0" bIns="0" anchor="t" anchorCtr="0">
                  <a:spAutoFit/>
                </a:bodyPr>
                <a:lstStyle/>
                <a:p>
                  <a:pPr algn="ctr"/>
                  <a:r>
                    <a:rPr lang="zh-CN" sz="535" dirty="0">
                      <a:solidFill>
                        <a:srgbClr val="94A3B8"/>
                      </a:solidFill>
                      <a:latin typeface="Segoe UI"/>
                      <a:ea typeface="微软雅黑"/>
                      <a:cs typeface="Segoe UI"/>
                    </a:rPr>
                    <a:t>人工与外包</a:t>
                  </a:r>
                  <a:endParaRPr lang="zh-CN" sz="535" dirty="0">
                    <a:solidFill>
                      <a:srgbClr val="94A3B8"/>
                    </a:solidFill>
                    <a:latin typeface="Segoe UI"/>
                    <a:ea typeface="微软雅黑"/>
                    <a:cs typeface="Segoe UI"/>
                  </a:endParaRPr>
                </a:p>
              </p:txBody>
            </p:sp>
            <p:sp>
              <p:nvSpPr>
                <p:cNvPr id="149" name="TextBox 149"/>
                <p:cNvSpPr txBox="1"/>
                <p:nvPr/>
              </p:nvSpPr>
              <p:spPr>
                <a:xfrm>
                  <a:off x="8980660" y="6631201"/>
                  <a:ext cx="402881" cy="108338"/>
                </a:xfrm>
                <a:prstGeom prst="rect">
                  <a:avLst/>
                </a:prstGeom>
                <a:noFill/>
                <a:ln>
                  <a:noFill/>
                </a:ln>
              </p:spPr>
              <p:txBody>
                <a:bodyPr wrap="none" lIns="0" tIns="0" rIns="0" bIns="0" anchor="t" anchorCtr="0">
                  <a:spAutoFit/>
                </a:bodyPr>
                <a:lstStyle/>
                <a:p>
                  <a:pPr algn="ctr"/>
                  <a:r>
                    <a:rPr lang="zh-CN" sz="535" dirty="0">
                      <a:solidFill>
                        <a:srgbClr val="94A3B8"/>
                      </a:solidFill>
                      <a:latin typeface="Segoe UI"/>
                      <a:ea typeface="微软雅黑"/>
                      <a:cs typeface="Segoe UI"/>
                    </a:rPr>
                    <a:t>系统与工具</a:t>
                  </a:r>
                  <a:endParaRPr lang="zh-CN" sz="535" dirty="0">
                    <a:solidFill>
                      <a:srgbClr val="94A3B8"/>
                    </a:solidFill>
                    <a:latin typeface="Segoe UI"/>
                    <a:ea typeface="微软雅黑"/>
                    <a:cs typeface="Segoe UI"/>
                  </a:endParaRPr>
                </a:p>
              </p:txBody>
            </p:sp>
            <p:sp>
              <p:nvSpPr>
                <p:cNvPr id="150" name="TextBox 150"/>
                <p:cNvSpPr txBox="1"/>
                <p:nvPr/>
              </p:nvSpPr>
              <p:spPr>
                <a:xfrm>
                  <a:off x="10498309" y="6631201"/>
                  <a:ext cx="402881" cy="108338"/>
                </a:xfrm>
                <a:prstGeom prst="rect">
                  <a:avLst/>
                </a:prstGeom>
                <a:noFill/>
                <a:ln>
                  <a:noFill/>
                </a:ln>
              </p:spPr>
              <p:txBody>
                <a:bodyPr wrap="none" lIns="0" tIns="0" rIns="0" bIns="0" anchor="t" anchorCtr="0">
                  <a:spAutoFit/>
                </a:bodyPr>
                <a:lstStyle/>
                <a:p>
                  <a:pPr algn="ctr"/>
                  <a:r>
                    <a:rPr lang="zh-CN" sz="535" dirty="0">
                      <a:solidFill>
                        <a:srgbClr val="94A3B8"/>
                      </a:solidFill>
                      <a:latin typeface="Segoe UI"/>
                      <a:ea typeface="微软雅黑"/>
                      <a:cs typeface="Segoe UI"/>
                    </a:rPr>
                    <a:t>质检与管理</a:t>
                  </a:r>
                  <a:endParaRPr lang="zh-CN" sz="535" dirty="0">
                    <a:solidFill>
                      <a:srgbClr val="94A3B8"/>
                    </a:solidFill>
                    <a:latin typeface="Segoe UI"/>
                    <a:ea typeface="微软雅黑"/>
                    <a:cs typeface="Segoe UI"/>
                  </a:endParaRPr>
                </a:p>
              </p:txBody>
            </p:sp>
            <p:sp>
              <p:nvSpPr>
                <p:cNvPr id="151" name="Freeform 151"/>
                <p:cNvSpPr/>
                <p:nvPr/>
              </p:nvSpPr>
              <p:spPr>
                <a:xfrm>
                  <a:off x="7371080" y="5685503"/>
                  <a:ext cx="266700" cy="924256"/>
                </a:xfrm>
                <a:custGeom>
                  <a:avLst/>
                  <a:gdLst/>
                  <a:ahLst/>
                  <a:cxnLst/>
                  <a:rect l="l" t="t" r="r" b="b"/>
                  <a:pathLst>
                    <a:path w="266700" h="924256">
                      <a:moveTo>
                        <a:pt x="76200" y="0"/>
                      </a:moveTo>
                      <a:lnTo>
                        <a:pt x="190500" y="0"/>
                      </a:lnTo>
                      <a:cubicBezTo>
                        <a:pt x="210709" y="0"/>
                        <a:pt x="230091" y="4756"/>
                        <a:pt x="244382" y="13221"/>
                      </a:cubicBezTo>
                      <a:cubicBezTo>
                        <a:pt x="258672" y="21687"/>
                        <a:pt x="266700" y="33169"/>
                        <a:pt x="266700" y="45141"/>
                      </a:cubicBezTo>
                      <a:lnTo>
                        <a:pt x="266700" y="924256"/>
                      </a:lnTo>
                      <a:lnTo>
                        <a:pt x="0" y="924256"/>
                      </a:lnTo>
                      <a:lnTo>
                        <a:pt x="0" y="45141"/>
                      </a:lnTo>
                      <a:cubicBezTo>
                        <a:pt x="0" y="20210"/>
                        <a:pt x="34116" y="0"/>
                        <a:pt x="76200" y="0"/>
                      </a:cubicBezTo>
                    </a:path>
                  </a:pathLst>
                </a:custGeom>
                <a:solidFill>
                  <a:srgbClr val="64748B"/>
                </a:solidFill>
                <a:ln>
                  <a:noFill/>
                </a:ln>
              </p:spPr>
            </p:sp>
            <p:sp>
              <p:nvSpPr>
                <p:cNvPr id="152" name="Freeform 152"/>
                <p:cNvSpPr/>
                <p:nvPr/>
              </p:nvSpPr>
              <p:spPr>
                <a:xfrm>
                  <a:off x="8888730" y="6349071"/>
                  <a:ext cx="266700" cy="260688"/>
                </a:xfrm>
                <a:custGeom>
                  <a:avLst/>
                  <a:gdLst/>
                  <a:ahLst/>
                  <a:cxnLst/>
                  <a:rect l="l" t="t" r="r" b="b"/>
                  <a:pathLst>
                    <a:path w="266700" h="260688">
                      <a:moveTo>
                        <a:pt x="76200" y="0"/>
                      </a:moveTo>
                      <a:lnTo>
                        <a:pt x="190500" y="0"/>
                      </a:lnTo>
                      <a:cubicBezTo>
                        <a:pt x="232584" y="0"/>
                        <a:pt x="266700" y="20210"/>
                        <a:pt x="266700" y="45141"/>
                      </a:cubicBezTo>
                      <a:lnTo>
                        <a:pt x="266700" y="260688"/>
                      </a:lnTo>
                      <a:lnTo>
                        <a:pt x="0" y="260688"/>
                      </a:lnTo>
                      <a:lnTo>
                        <a:pt x="0" y="45141"/>
                      </a:lnTo>
                      <a:cubicBezTo>
                        <a:pt x="0" y="20210"/>
                        <a:pt x="34116" y="0"/>
                        <a:pt x="76200" y="0"/>
                      </a:cubicBezTo>
                    </a:path>
                  </a:pathLst>
                </a:custGeom>
                <a:solidFill>
                  <a:srgbClr val="64748B"/>
                </a:solidFill>
                <a:ln>
                  <a:noFill/>
                </a:ln>
              </p:spPr>
            </p:sp>
            <p:sp>
              <p:nvSpPr>
                <p:cNvPr id="153" name="Freeform 153"/>
                <p:cNvSpPr/>
                <p:nvPr/>
              </p:nvSpPr>
              <p:spPr>
                <a:xfrm>
                  <a:off x="10406380" y="6396469"/>
                  <a:ext cx="266700" cy="213290"/>
                </a:xfrm>
                <a:custGeom>
                  <a:avLst/>
                  <a:gdLst/>
                  <a:ahLst/>
                  <a:cxnLst/>
                  <a:rect l="l" t="t" r="r" b="b"/>
                  <a:pathLst>
                    <a:path w="266700" h="213290">
                      <a:moveTo>
                        <a:pt x="76200" y="0"/>
                      </a:moveTo>
                      <a:lnTo>
                        <a:pt x="190500" y="0"/>
                      </a:lnTo>
                      <a:cubicBezTo>
                        <a:pt x="232584" y="0"/>
                        <a:pt x="266700" y="20210"/>
                        <a:pt x="266700" y="45141"/>
                      </a:cubicBezTo>
                      <a:lnTo>
                        <a:pt x="266700" y="213290"/>
                      </a:lnTo>
                      <a:lnTo>
                        <a:pt x="0" y="213290"/>
                      </a:lnTo>
                      <a:lnTo>
                        <a:pt x="0" y="45141"/>
                      </a:lnTo>
                      <a:cubicBezTo>
                        <a:pt x="0" y="20210"/>
                        <a:pt x="34116" y="0"/>
                        <a:pt x="76200" y="0"/>
                      </a:cubicBezTo>
                    </a:path>
                  </a:pathLst>
                </a:custGeom>
                <a:solidFill>
                  <a:srgbClr val="64748B"/>
                </a:solidFill>
                <a:ln>
                  <a:noFill/>
                </a:ln>
              </p:spPr>
            </p:sp>
            <p:sp>
              <p:nvSpPr>
                <p:cNvPr id="154" name="Freeform 154"/>
                <p:cNvSpPr/>
                <p:nvPr/>
              </p:nvSpPr>
              <p:spPr>
                <a:xfrm>
                  <a:off x="7691120" y="6349071"/>
                  <a:ext cx="266700" cy="260688"/>
                </a:xfrm>
                <a:custGeom>
                  <a:avLst/>
                  <a:gdLst/>
                  <a:ahLst/>
                  <a:cxnLst/>
                  <a:rect l="l" t="t" r="r" b="b"/>
                  <a:pathLst>
                    <a:path w="266700" h="260688">
                      <a:moveTo>
                        <a:pt x="76200" y="0"/>
                      </a:moveTo>
                      <a:lnTo>
                        <a:pt x="190500" y="0"/>
                      </a:lnTo>
                      <a:cubicBezTo>
                        <a:pt x="232584" y="0"/>
                        <a:pt x="266700" y="20210"/>
                        <a:pt x="266700" y="45141"/>
                      </a:cubicBezTo>
                      <a:lnTo>
                        <a:pt x="266700" y="260688"/>
                      </a:lnTo>
                      <a:lnTo>
                        <a:pt x="0" y="260688"/>
                      </a:lnTo>
                      <a:lnTo>
                        <a:pt x="0" y="45141"/>
                      </a:lnTo>
                      <a:cubicBezTo>
                        <a:pt x="0" y="20210"/>
                        <a:pt x="34116" y="0"/>
                        <a:pt x="76200" y="0"/>
                      </a:cubicBezTo>
                    </a:path>
                  </a:pathLst>
                </a:custGeom>
                <a:solidFill>
                  <a:srgbClr val="0070F3"/>
                </a:solidFill>
                <a:ln>
                  <a:noFill/>
                </a:ln>
              </p:spPr>
            </p:sp>
            <p:sp>
              <p:nvSpPr>
                <p:cNvPr id="155" name="Freeform 155"/>
                <p:cNvSpPr/>
                <p:nvPr/>
              </p:nvSpPr>
              <p:spPr>
                <a:xfrm>
                  <a:off x="9208770" y="6432018"/>
                  <a:ext cx="266700" cy="177742"/>
                </a:xfrm>
                <a:custGeom>
                  <a:avLst/>
                  <a:gdLst/>
                  <a:ahLst/>
                  <a:cxnLst/>
                  <a:rect l="l" t="t" r="r" b="b"/>
                  <a:pathLst>
                    <a:path w="266700" h="177742">
                      <a:moveTo>
                        <a:pt x="76200" y="0"/>
                      </a:moveTo>
                      <a:lnTo>
                        <a:pt x="190500" y="0"/>
                      </a:lnTo>
                      <a:cubicBezTo>
                        <a:pt x="232584" y="0"/>
                        <a:pt x="266700" y="20210"/>
                        <a:pt x="266700" y="45141"/>
                      </a:cubicBezTo>
                      <a:lnTo>
                        <a:pt x="266700" y="177742"/>
                      </a:lnTo>
                      <a:lnTo>
                        <a:pt x="0" y="177742"/>
                      </a:lnTo>
                      <a:lnTo>
                        <a:pt x="0" y="45141"/>
                      </a:lnTo>
                      <a:cubicBezTo>
                        <a:pt x="0" y="20210"/>
                        <a:pt x="34116" y="0"/>
                        <a:pt x="76200" y="0"/>
                      </a:cubicBezTo>
                    </a:path>
                  </a:pathLst>
                </a:custGeom>
                <a:solidFill>
                  <a:srgbClr val="0070F3"/>
                </a:solidFill>
                <a:ln>
                  <a:noFill/>
                </a:ln>
              </p:spPr>
            </p:sp>
            <p:sp>
              <p:nvSpPr>
                <p:cNvPr id="156" name="Freeform 156"/>
                <p:cNvSpPr/>
                <p:nvPr/>
              </p:nvSpPr>
              <p:spPr>
                <a:xfrm>
                  <a:off x="10726420" y="6503114"/>
                  <a:ext cx="266700" cy="106645"/>
                </a:xfrm>
                <a:custGeom>
                  <a:avLst/>
                  <a:gdLst/>
                  <a:ahLst/>
                  <a:cxnLst/>
                  <a:rect l="l" t="t" r="r" b="b"/>
                  <a:pathLst>
                    <a:path w="266700" h="106645">
                      <a:moveTo>
                        <a:pt x="76200" y="0"/>
                      </a:moveTo>
                      <a:lnTo>
                        <a:pt x="190500" y="0"/>
                      </a:lnTo>
                      <a:cubicBezTo>
                        <a:pt x="232584" y="0"/>
                        <a:pt x="266700" y="20210"/>
                        <a:pt x="266700" y="45141"/>
                      </a:cubicBezTo>
                      <a:lnTo>
                        <a:pt x="266700" y="106645"/>
                      </a:lnTo>
                      <a:lnTo>
                        <a:pt x="0" y="106645"/>
                      </a:lnTo>
                      <a:lnTo>
                        <a:pt x="0" y="45141"/>
                      </a:lnTo>
                      <a:cubicBezTo>
                        <a:pt x="0" y="20210"/>
                        <a:pt x="34116" y="0"/>
                        <a:pt x="76200" y="0"/>
                      </a:cubicBezTo>
                    </a:path>
                  </a:pathLst>
                </a:custGeom>
                <a:solidFill>
                  <a:srgbClr val="0070F3"/>
                </a:solidFill>
                <a:ln>
                  <a:noFill/>
                </a:ln>
              </p:spPr>
            </p:sp>
            <p:sp>
              <p:nvSpPr>
                <p:cNvPr id="157" name="TextBox 157"/>
                <p:cNvSpPr txBox="1"/>
                <p:nvPr/>
              </p:nvSpPr>
              <p:spPr>
                <a:xfrm>
                  <a:off x="7433418" y="5565880"/>
                  <a:ext cx="142024" cy="108338"/>
                </a:xfrm>
                <a:prstGeom prst="rect">
                  <a:avLst/>
                </a:prstGeom>
                <a:noFill/>
                <a:ln>
                  <a:noFill/>
                </a:ln>
              </p:spPr>
              <p:txBody>
                <a:bodyPr wrap="none" lIns="0" tIns="0" rIns="0" bIns="0" anchor="t" anchorCtr="0">
                  <a:spAutoFit/>
                </a:bodyPr>
                <a:lstStyle/>
                <a:p>
                  <a:pPr algn="ctr"/>
                  <a:r>
                    <a:rPr lang="zh-CN" sz="535" dirty="0">
                      <a:solidFill>
                        <a:srgbClr val="0A0A0A"/>
                      </a:solidFill>
                      <a:latin typeface="Segoe UI"/>
                      <a:ea typeface="微软雅黑"/>
                      <a:cs typeface="Segoe UI"/>
                    </a:rPr>
                    <a:t>780</a:t>
                  </a:r>
                  <a:endParaRPr lang="zh-CN" sz="535" dirty="0">
                    <a:solidFill>
                      <a:srgbClr val="0A0A0A"/>
                    </a:solidFill>
                    <a:latin typeface="Segoe UI"/>
                    <a:ea typeface="微软雅黑"/>
                    <a:cs typeface="Segoe UI"/>
                  </a:endParaRPr>
                </a:p>
              </p:txBody>
            </p:sp>
            <p:sp>
              <p:nvSpPr>
                <p:cNvPr id="158" name="TextBox 158"/>
                <p:cNvSpPr txBox="1"/>
                <p:nvPr/>
              </p:nvSpPr>
              <p:spPr>
                <a:xfrm>
                  <a:off x="8951068" y="6229449"/>
                  <a:ext cx="142024" cy="108338"/>
                </a:xfrm>
                <a:prstGeom prst="rect">
                  <a:avLst/>
                </a:prstGeom>
                <a:noFill/>
                <a:ln>
                  <a:noFill/>
                </a:ln>
              </p:spPr>
              <p:txBody>
                <a:bodyPr wrap="none" lIns="0" tIns="0" rIns="0" bIns="0" anchor="t" anchorCtr="0">
                  <a:spAutoFit/>
                </a:bodyPr>
                <a:lstStyle/>
                <a:p>
                  <a:pPr algn="ctr"/>
                  <a:r>
                    <a:rPr lang="zh-CN" sz="535" dirty="0">
                      <a:solidFill>
                        <a:srgbClr val="0A0A0A"/>
                      </a:solidFill>
                      <a:latin typeface="Segoe UI"/>
                      <a:ea typeface="微软雅黑"/>
                      <a:cs typeface="Segoe UI"/>
                    </a:rPr>
                    <a:t>220</a:t>
                  </a:r>
                  <a:endParaRPr lang="zh-CN" sz="535" dirty="0">
                    <a:solidFill>
                      <a:srgbClr val="0A0A0A"/>
                    </a:solidFill>
                    <a:latin typeface="Segoe UI"/>
                    <a:ea typeface="微软雅黑"/>
                    <a:cs typeface="Segoe UI"/>
                  </a:endParaRPr>
                </a:p>
              </p:txBody>
            </p:sp>
            <p:sp>
              <p:nvSpPr>
                <p:cNvPr id="159" name="TextBox 159"/>
                <p:cNvSpPr txBox="1"/>
                <p:nvPr/>
              </p:nvSpPr>
              <p:spPr>
                <a:xfrm>
                  <a:off x="10478451" y="6276846"/>
                  <a:ext cx="122557" cy="108338"/>
                </a:xfrm>
                <a:prstGeom prst="rect">
                  <a:avLst/>
                </a:prstGeom>
                <a:noFill/>
                <a:ln>
                  <a:noFill/>
                </a:ln>
              </p:spPr>
              <p:txBody>
                <a:bodyPr wrap="none" lIns="0" tIns="0" rIns="0" bIns="0" anchor="t" anchorCtr="0">
                  <a:spAutoFit/>
                </a:bodyPr>
                <a:lstStyle/>
                <a:p>
                  <a:pPr algn="ctr"/>
                  <a:r>
                    <a:rPr lang="zh-CN" sz="535" dirty="0">
                      <a:solidFill>
                        <a:srgbClr val="0A0A0A"/>
                      </a:solidFill>
                      <a:latin typeface="Segoe UI"/>
                      <a:ea typeface="微软雅黑"/>
                      <a:cs typeface="Segoe UI"/>
                    </a:rPr>
                    <a:t>180</a:t>
                  </a:r>
                  <a:endParaRPr lang="zh-CN" sz="535" dirty="0">
                    <a:solidFill>
                      <a:srgbClr val="0A0A0A"/>
                    </a:solidFill>
                    <a:latin typeface="Segoe UI"/>
                    <a:ea typeface="微软雅黑"/>
                    <a:cs typeface="Segoe UI"/>
                  </a:endParaRPr>
                </a:p>
              </p:txBody>
            </p:sp>
            <p:sp>
              <p:nvSpPr>
                <p:cNvPr id="160" name="TextBox 160"/>
                <p:cNvSpPr txBox="1"/>
                <p:nvPr/>
              </p:nvSpPr>
              <p:spPr>
                <a:xfrm>
                  <a:off x="7591883" y="6229449"/>
                  <a:ext cx="465175" cy="108338"/>
                </a:xfrm>
                <a:prstGeom prst="rect">
                  <a:avLst/>
                </a:prstGeom>
                <a:noFill/>
                <a:ln>
                  <a:noFill/>
                </a:ln>
              </p:spPr>
              <p:txBody>
                <a:bodyPr wrap="none" lIns="0" tIns="0" rIns="0" bIns="0" anchor="t" anchorCtr="0">
                  <a:spAutoFit/>
                </a:bodyPr>
                <a:lstStyle/>
                <a:p>
                  <a:pPr algn="ctr"/>
                  <a:r>
                    <a:rPr lang="zh-CN" sz="535" dirty="0">
                      <a:solidFill>
                        <a:srgbClr val="0070F3"/>
                      </a:solidFill>
                      <a:latin typeface="Segoe UI"/>
                      <a:ea typeface="微软雅黑"/>
                      <a:cs typeface="Segoe UI"/>
                    </a:rPr>
                    <a:t>220\n↓71.8%</a:t>
                  </a:r>
                  <a:endParaRPr lang="zh-CN" sz="535" dirty="0">
                    <a:solidFill>
                      <a:srgbClr val="0070F3"/>
                    </a:solidFill>
                    <a:latin typeface="Segoe UI"/>
                    <a:ea typeface="微软雅黑"/>
                    <a:cs typeface="Segoe UI"/>
                  </a:endParaRPr>
                </a:p>
              </p:txBody>
            </p:sp>
            <p:sp>
              <p:nvSpPr>
                <p:cNvPr id="161" name="TextBox 161"/>
                <p:cNvSpPr txBox="1"/>
                <p:nvPr/>
              </p:nvSpPr>
              <p:spPr>
                <a:xfrm>
                  <a:off x="9119266" y="6312395"/>
                  <a:ext cx="445708" cy="108338"/>
                </a:xfrm>
                <a:prstGeom prst="rect">
                  <a:avLst/>
                </a:prstGeom>
                <a:noFill/>
                <a:ln>
                  <a:noFill/>
                </a:ln>
              </p:spPr>
              <p:txBody>
                <a:bodyPr wrap="none" lIns="0" tIns="0" rIns="0" bIns="0" anchor="t" anchorCtr="0">
                  <a:spAutoFit/>
                </a:bodyPr>
                <a:lstStyle/>
                <a:p>
                  <a:pPr algn="ctr"/>
                  <a:r>
                    <a:rPr lang="zh-CN" sz="535" dirty="0">
                      <a:solidFill>
                        <a:srgbClr val="0070F3"/>
                      </a:solidFill>
                      <a:latin typeface="Segoe UI"/>
                      <a:ea typeface="微软雅黑"/>
                      <a:cs typeface="Segoe UI"/>
                    </a:rPr>
                    <a:t>150\n↓31.8%</a:t>
                  </a:r>
                  <a:endParaRPr lang="zh-CN" sz="535" dirty="0">
                    <a:solidFill>
                      <a:srgbClr val="0070F3"/>
                    </a:solidFill>
                    <a:latin typeface="Segoe UI"/>
                    <a:ea typeface="微软雅黑"/>
                    <a:cs typeface="Segoe UI"/>
                  </a:endParaRPr>
                </a:p>
              </p:txBody>
            </p:sp>
            <p:sp>
              <p:nvSpPr>
                <p:cNvPr id="162" name="TextBox 162"/>
                <p:cNvSpPr txBox="1"/>
                <p:nvPr/>
              </p:nvSpPr>
              <p:spPr>
                <a:xfrm>
                  <a:off x="10638862" y="6383491"/>
                  <a:ext cx="441815" cy="108338"/>
                </a:xfrm>
                <a:prstGeom prst="rect">
                  <a:avLst/>
                </a:prstGeom>
                <a:noFill/>
                <a:ln>
                  <a:noFill/>
                </a:ln>
              </p:spPr>
              <p:txBody>
                <a:bodyPr wrap="none" lIns="0" tIns="0" rIns="0" bIns="0" anchor="t" anchorCtr="0">
                  <a:spAutoFit/>
                </a:bodyPr>
                <a:lstStyle/>
                <a:p>
                  <a:pPr algn="ctr"/>
                  <a:r>
                    <a:rPr lang="zh-CN" sz="535" dirty="0">
                      <a:solidFill>
                        <a:srgbClr val="0070F3"/>
                      </a:solidFill>
                      <a:latin typeface="Segoe UI"/>
                      <a:ea typeface="微软雅黑"/>
                      <a:cs typeface="Segoe UI"/>
                    </a:rPr>
                    <a:t>90\n↓50.0%</a:t>
                  </a:r>
                  <a:endParaRPr lang="zh-CN" sz="535" dirty="0">
                    <a:solidFill>
                      <a:srgbClr val="0070F3"/>
                    </a:solidFill>
                    <a:latin typeface="Segoe UI"/>
                    <a:ea typeface="微软雅黑"/>
                    <a:cs typeface="Segoe UI"/>
                  </a:endParaRPr>
                </a:p>
              </p:txBody>
            </p:sp>
            <p:sp>
              <p:nvSpPr>
                <p:cNvPr id="163" name="Freeform 163"/>
                <p:cNvSpPr/>
                <p:nvPr/>
              </p:nvSpPr>
              <p:spPr>
                <a:xfrm>
                  <a:off x="8254708" y="5410372"/>
                  <a:ext cx="1549984" cy="135422"/>
                </a:xfrm>
                <a:custGeom>
                  <a:avLst/>
                  <a:gdLst/>
                  <a:ahLst/>
                  <a:cxnLst/>
                  <a:rect l="l" t="t" r="r" b="b"/>
                  <a:pathLst>
                    <a:path w="1549984" h="135422">
                      <a:moveTo>
                        <a:pt x="0" y="0"/>
                      </a:moveTo>
                      <a:lnTo>
                        <a:pt x="1549984" y="0"/>
                      </a:lnTo>
                      <a:lnTo>
                        <a:pt x="1549984" y="135422"/>
                      </a:lnTo>
                      <a:lnTo>
                        <a:pt x="0" y="135422"/>
                      </a:lnTo>
                      <a:close/>
                    </a:path>
                  </a:pathLst>
                </a:custGeom>
                <a:solidFill>
                  <a:srgbClr val="000000">
                    <a:alpha val="0"/>
                  </a:srgbClr>
                </a:solidFill>
                <a:ln w="0">
                  <a:solidFill>
                    <a:srgbClr val="CCCCCC"/>
                  </a:solidFill>
                </a:ln>
              </p:spPr>
            </p:sp>
            <p:sp>
              <p:nvSpPr>
                <p:cNvPr id="164" name="Freeform 164"/>
                <p:cNvSpPr/>
                <p:nvPr/>
              </p:nvSpPr>
              <p:spPr>
                <a:xfrm>
                  <a:off x="8302333" y="5438584"/>
                  <a:ext cx="238125" cy="78996"/>
                </a:xfrm>
                <a:custGeom>
                  <a:avLst/>
                  <a:gdLst/>
                  <a:ahLst/>
                  <a:cxnLst/>
                  <a:rect l="l" t="t" r="r" b="b"/>
                  <a:pathLst>
                    <a:path w="238125" h="78996">
                      <a:moveTo>
                        <a:pt x="33338" y="0"/>
                      </a:moveTo>
                      <a:lnTo>
                        <a:pt x="204788" y="0"/>
                      </a:lnTo>
                      <a:cubicBezTo>
                        <a:pt x="223199" y="0"/>
                        <a:pt x="238125" y="8842"/>
                        <a:pt x="238125" y="19749"/>
                      </a:cubicBezTo>
                      <a:lnTo>
                        <a:pt x="238125" y="59247"/>
                      </a:lnTo>
                      <a:cubicBezTo>
                        <a:pt x="238125" y="70154"/>
                        <a:pt x="223199" y="78996"/>
                        <a:pt x="204788" y="78996"/>
                      </a:cubicBezTo>
                      <a:lnTo>
                        <a:pt x="33338" y="78996"/>
                      </a:lnTo>
                      <a:cubicBezTo>
                        <a:pt x="14926" y="78996"/>
                        <a:pt x="0" y="70154"/>
                        <a:pt x="0" y="59247"/>
                      </a:cubicBezTo>
                      <a:lnTo>
                        <a:pt x="0" y="19749"/>
                      </a:lnTo>
                      <a:cubicBezTo>
                        <a:pt x="0" y="8842"/>
                        <a:pt x="14926" y="0"/>
                        <a:pt x="33338" y="0"/>
                      </a:cubicBezTo>
                    </a:path>
                  </a:pathLst>
                </a:custGeom>
                <a:solidFill>
                  <a:srgbClr val="64748B"/>
                </a:solidFill>
                <a:ln>
                  <a:noFill/>
                </a:ln>
              </p:spPr>
            </p:sp>
            <p:sp>
              <p:nvSpPr>
                <p:cNvPr id="165" name="TextBox 165"/>
                <p:cNvSpPr txBox="1"/>
                <p:nvPr/>
              </p:nvSpPr>
              <p:spPr>
                <a:xfrm>
                  <a:off x="8581312" y="5401116"/>
                  <a:ext cx="325013" cy="108338"/>
                </a:xfrm>
                <a:prstGeom prst="rect">
                  <a:avLst/>
                </a:prstGeom>
                <a:noFill/>
                <a:ln>
                  <a:noFill/>
                </a:ln>
              </p:spPr>
              <p:txBody>
                <a:bodyPr wrap="none" lIns="0" tIns="0" rIns="0" bIns="0" anchor="t" anchorCtr="0">
                  <a:spAutoFit/>
                </a:bodyPr>
                <a:lstStyle/>
                <a:p>
                  <a:pPr algn="l"/>
                  <a:r>
                    <a:rPr lang="zh-CN" sz="535" dirty="0">
                      <a:solidFill>
                        <a:srgbClr val="0A0A0A"/>
                      </a:solidFill>
                      <a:latin typeface="Segoe UI"/>
                      <a:ea typeface="微软雅黑"/>
                      <a:cs typeface="Segoe UI"/>
                    </a:rPr>
                    <a:t>传统方案</a:t>
                  </a:r>
                  <a:endParaRPr lang="zh-CN" sz="535" dirty="0">
                    <a:solidFill>
                      <a:srgbClr val="0A0A0A"/>
                    </a:solidFill>
                    <a:latin typeface="Segoe UI"/>
                    <a:ea typeface="微软雅黑"/>
                    <a:cs typeface="Segoe UI"/>
                  </a:endParaRPr>
                </a:p>
              </p:txBody>
            </p:sp>
            <p:sp>
              <p:nvSpPr>
                <p:cNvPr id="166" name="Freeform 166"/>
                <p:cNvSpPr/>
                <p:nvPr/>
              </p:nvSpPr>
              <p:spPr>
                <a:xfrm>
                  <a:off x="8302333" y="5438584"/>
                  <a:ext cx="742950" cy="78996"/>
                </a:xfrm>
                <a:custGeom>
                  <a:avLst/>
                  <a:gdLst/>
                  <a:ahLst/>
                  <a:cxnLst/>
                  <a:rect l="l" t="t" r="r" b="b"/>
                  <a:pathLst>
                    <a:path w="742950" h="78996">
                      <a:moveTo>
                        <a:pt x="0" y="0"/>
                      </a:moveTo>
                      <a:lnTo>
                        <a:pt x="742950" y="0"/>
                      </a:lnTo>
                      <a:lnTo>
                        <a:pt x="742950" y="78996"/>
                      </a:lnTo>
                      <a:lnTo>
                        <a:pt x="0" y="78996"/>
                      </a:lnTo>
                      <a:close/>
                    </a:path>
                  </a:pathLst>
                </a:custGeom>
                <a:noFill/>
                <a:ln>
                  <a:noFill/>
                </a:ln>
              </p:spPr>
            </p:sp>
            <p:sp>
              <p:nvSpPr>
                <p:cNvPr id="167" name="Freeform 167"/>
                <p:cNvSpPr/>
                <p:nvPr/>
              </p:nvSpPr>
              <p:spPr>
                <a:xfrm>
                  <a:off x="9140533" y="5438584"/>
                  <a:ext cx="238125" cy="78996"/>
                </a:xfrm>
                <a:custGeom>
                  <a:avLst/>
                  <a:gdLst/>
                  <a:ahLst/>
                  <a:cxnLst/>
                  <a:rect l="l" t="t" r="r" b="b"/>
                  <a:pathLst>
                    <a:path w="238125" h="78996">
                      <a:moveTo>
                        <a:pt x="33338" y="0"/>
                      </a:moveTo>
                      <a:lnTo>
                        <a:pt x="204788" y="0"/>
                      </a:lnTo>
                      <a:cubicBezTo>
                        <a:pt x="223199" y="0"/>
                        <a:pt x="238125" y="8842"/>
                        <a:pt x="238125" y="19749"/>
                      </a:cubicBezTo>
                      <a:lnTo>
                        <a:pt x="238125" y="59247"/>
                      </a:lnTo>
                      <a:cubicBezTo>
                        <a:pt x="238125" y="70154"/>
                        <a:pt x="223199" y="78996"/>
                        <a:pt x="204788" y="78996"/>
                      </a:cubicBezTo>
                      <a:lnTo>
                        <a:pt x="33338" y="78996"/>
                      </a:lnTo>
                      <a:cubicBezTo>
                        <a:pt x="14926" y="78996"/>
                        <a:pt x="0" y="70154"/>
                        <a:pt x="0" y="59247"/>
                      </a:cubicBezTo>
                      <a:lnTo>
                        <a:pt x="0" y="19749"/>
                      </a:lnTo>
                      <a:cubicBezTo>
                        <a:pt x="0" y="8842"/>
                        <a:pt x="14926" y="0"/>
                        <a:pt x="33338" y="0"/>
                      </a:cubicBezTo>
                    </a:path>
                  </a:pathLst>
                </a:custGeom>
                <a:solidFill>
                  <a:srgbClr val="0070F3"/>
                </a:solidFill>
                <a:ln>
                  <a:noFill/>
                </a:ln>
              </p:spPr>
            </p:sp>
            <p:sp>
              <p:nvSpPr>
                <p:cNvPr id="168" name="TextBox 168"/>
                <p:cNvSpPr txBox="1"/>
                <p:nvPr/>
              </p:nvSpPr>
              <p:spPr>
                <a:xfrm>
                  <a:off x="9419512" y="5401116"/>
                  <a:ext cx="235465" cy="108338"/>
                </a:xfrm>
                <a:prstGeom prst="rect">
                  <a:avLst/>
                </a:prstGeom>
                <a:noFill/>
                <a:ln>
                  <a:noFill/>
                </a:ln>
              </p:spPr>
              <p:txBody>
                <a:bodyPr wrap="none" lIns="0" tIns="0" rIns="0" bIns="0" anchor="t" anchorCtr="0">
                  <a:spAutoFit/>
                </a:bodyPr>
                <a:lstStyle/>
                <a:p>
                  <a:pPr algn="l"/>
                  <a:r>
                    <a:rPr lang="zh-CN" sz="535" dirty="0">
                      <a:solidFill>
                        <a:srgbClr val="0A0A0A"/>
                      </a:solidFill>
                      <a:latin typeface="Segoe UI"/>
                      <a:ea typeface="微软雅黑"/>
                      <a:cs typeface="Segoe UI"/>
                    </a:rPr>
                    <a:t>AI方案</a:t>
                  </a:r>
                  <a:endParaRPr lang="zh-CN" sz="535" dirty="0">
                    <a:solidFill>
                      <a:srgbClr val="0A0A0A"/>
                    </a:solidFill>
                    <a:latin typeface="Segoe UI"/>
                    <a:ea typeface="微软雅黑"/>
                    <a:cs typeface="Segoe UI"/>
                  </a:endParaRPr>
                </a:p>
              </p:txBody>
            </p:sp>
            <p:sp>
              <p:nvSpPr>
                <p:cNvPr id="169" name="Freeform 169"/>
                <p:cNvSpPr/>
                <p:nvPr/>
              </p:nvSpPr>
              <p:spPr>
                <a:xfrm>
                  <a:off x="9140533" y="5438584"/>
                  <a:ext cx="616534" cy="78996"/>
                </a:xfrm>
                <a:custGeom>
                  <a:avLst/>
                  <a:gdLst/>
                  <a:ahLst/>
                  <a:cxnLst/>
                  <a:rect l="l" t="t" r="r" b="b"/>
                  <a:pathLst>
                    <a:path w="616534" h="78996">
                      <a:moveTo>
                        <a:pt x="0" y="0"/>
                      </a:moveTo>
                      <a:lnTo>
                        <a:pt x="616534" y="0"/>
                      </a:lnTo>
                      <a:lnTo>
                        <a:pt x="616534" y="78996"/>
                      </a:lnTo>
                      <a:lnTo>
                        <a:pt x="0" y="78996"/>
                      </a:lnTo>
                      <a:close/>
                    </a:path>
                  </a:pathLst>
                </a:custGeom>
                <a:noFill/>
                <a:ln>
                  <a:noFill/>
                </a:ln>
              </p:spPr>
            </p:sp>
          </p:grpSp>
        </p:grpSp>
        <p:sp>
          <p:nvSpPr>
            <p:cNvPr id="172" name="TextBox 172"/>
            <p:cNvSpPr txBox="1"/>
            <p:nvPr/>
          </p:nvSpPr>
          <p:spPr>
            <a:xfrm>
              <a:off x="6360795" y="6875145"/>
              <a:ext cx="2960656"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生成式 AI预计 2030年每年驱动 1.3万亿美元经济影</a:t>
              </a:r>
              <a:endParaRPr lang="zh-CN" sz="900" dirty="0">
                <a:solidFill>
                  <a:srgbClr val="0A0A0A"/>
                </a:solidFill>
                <a:latin typeface="Arial" panose="020B0604020202090204"/>
                <a:ea typeface="微软雅黑"/>
                <a:cs typeface="Arial" panose="020B0604020202090204"/>
              </a:endParaRPr>
            </a:p>
          </p:txBody>
        </p:sp>
        <p:sp>
          <p:nvSpPr>
            <p:cNvPr id="173" name="TextBox 173"/>
            <p:cNvSpPr txBox="1"/>
            <p:nvPr/>
          </p:nvSpPr>
          <p:spPr>
            <a:xfrm>
              <a:off x="9034653" y="6875145"/>
              <a:ext cx="1711928"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传统方案总成本 1180万元 /年</a:t>
              </a:r>
              <a:endParaRPr lang="zh-CN" sz="900" dirty="0">
                <a:solidFill>
                  <a:srgbClr val="0A0A0A"/>
                </a:solidFill>
                <a:latin typeface="Arial" panose="020B0604020202090204"/>
                <a:ea typeface="微软雅黑"/>
                <a:cs typeface="Arial" panose="020B0604020202090204"/>
              </a:endParaRPr>
            </a:p>
          </p:txBody>
        </p:sp>
        <p:sp>
          <p:nvSpPr>
            <p:cNvPr id="174" name="TextBox 174"/>
            <p:cNvSpPr txBox="1"/>
            <p:nvPr/>
          </p:nvSpPr>
          <p:spPr>
            <a:xfrm>
              <a:off x="6360795" y="6875145"/>
              <a:ext cx="1554194"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AI方案总成本 460万元 /年</a:t>
              </a:r>
              <a:endParaRPr lang="zh-CN" sz="900" dirty="0">
                <a:solidFill>
                  <a:srgbClr val="0A0A0A"/>
                </a:solidFill>
                <a:latin typeface="Arial" panose="020B0604020202090204"/>
                <a:ea typeface="微软雅黑"/>
                <a:cs typeface="Arial" panose="020B0604020202090204"/>
              </a:endParaRPr>
            </a:p>
          </p:txBody>
        </p:sp>
        <p:sp>
          <p:nvSpPr>
            <p:cNvPr id="175" name="TextBox 175"/>
            <p:cNvSpPr txBox="1"/>
            <p:nvPr/>
          </p:nvSpPr>
          <p:spPr>
            <a:xfrm>
              <a:off x="7796212" y="6875145"/>
              <a:ext cx="1311021" cy="182880"/>
            </a:xfrm>
            <a:prstGeom prst="rect">
              <a:avLst/>
            </a:prstGeom>
            <a:noFill/>
            <a:ln>
              <a:noFill/>
            </a:ln>
          </p:spPr>
          <p:txBody>
            <a:bodyPr wrap="none" lIns="0" tIns="0" rIns="0" bIns="0" anchor="t" anchorCtr="0">
              <a:spAutoFit/>
            </a:bodyPr>
            <a:lstStyle/>
            <a:p>
              <a:pPr algn="l"/>
              <a:r>
                <a:rPr lang="zh-CN" sz="900" dirty="0">
                  <a:solidFill>
                    <a:srgbClr val="0A0A0A"/>
                  </a:solidFill>
                  <a:latin typeface="Arial" panose="020B0604020202090204"/>
                  <a:ea typeface="微软雅黑"/>
                  <a:cs typeface="Arial" panose="020B0604020202090204"/>
                </a:rPr>
                <a:t>成本节省 720万元 /年</a:t>
              </a:r>
              <a:endParaRPr lang="zh-CN" sz="900" dirty="0">
                <a:solidFill>
                  <a:srgbClr val="0A0A0A"/>
                </a:solidFill>
                <a:latin typeface="Arial" panose="020B0604020202090204"/>
                <a:ea typeface="微软雅黑"/>
                <a:cs typeface="Arial" panose="020B0604020202090204"/>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487680" y="0"/>
              <a:ext cx="11216545" cy="6858000"/>
            </a:xfrm>
            <a:prstGeom prst="rect">
              <a:avLst/>
            </a:prstGeom>
            <a:solidFill>
              <a:srgbClr val="FFFFFF"/>
            </a:solidFill>
            <a:ln>
              <a:noFill/>
            </a:ln>
          </p:spPr>
        </p:sp>
      </p:grpSp>
      <p:grpSp>
        <p:nvGrpSpPr>
          <p:cNvPr id="147" name="Group 147"/>
          <p:cNvGrpSpPr/>
          <p:nvPr/>
        </p:nvGrpSpPr>
        <p:grpSpPr>
          <a:xfrm>
            <a:off x="709574" y="215798"/>
            <a:ext cx="10831434" cy="5573974"/>
            <a:chOff x="709574" y="215798"/>
            <a:chExt cx="10831434" cy="5573974"/>
          </a:xfrm>
        </p:grpSpPr>
        <p:sp>
          <p:nvSpPr>
            <p:cNvPr id="5" name="TextBox 5"/>
            <p:cNvSpPr txBox="1"/>
            <p:nvPr/>
          </p:nvSpPr>
          <p:spPr>
            <a:xfrm>
              <a:off x="709574" y="215798"/>
              <a:ext cx="7238454" cy="351130"/>
            </a:xfrm>
            <a:prstGeom prst="rect">
              <a:avLst/>
            </a:prstGeom>
            <a:noFill/>
            <a:ln>
              <a:noFill/>
            </a:ln>
          </p:spPr>
          <p:txBody>
            <a:bodyPr wrap="none" lIns="0" tIns="0" rIns="0" bIns="0" anchor="t" anchorCtr="0">
              <a:spAutoFit/>
            </a:bodyPr>
            <a:lstStyle/>
            <a:p>
              <a:pPr algn="l"/>
              <a:r>
                <a:rPr lang="zh-CN" sz="1730" b="1" dirty="0">
                  <a:solidFill>
                    <a:srgbClr val="0A0A0A"/>
                  </a:solidFill>
                  <a:latin typeface="Times New Roman" panose="02020503050405090304"/>
                  <a:ea typeface="宋体"/>
                  <a:cs typeface="Times New Roman" panose="02020503050405090304"/>
                </a:rPr>
                <a:t>企业应把握 AI战略机遇，在技术、人才、治理三维度同步布局</a:t>
              </a:r>
              <a:endParaRPr lang="zh-CN" sz="173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719328" y="500920"/>
              <a:ext cx="4124416" cy="195072"/>
            </a:xfrm>
            <a:prstGeom prst="rect">
              <a:avLst/>
            </a:prstGeom>
            <a:noFill/>
            <a:ln>
              <a:noFill/>
            </a:ln>
          </p:spPr>
          <p:txBody>
            <a:bodyPr wrap="none" lIns="0" tIns="0" rIns="0" bIns="0" anchor="t" anchorCtr="0">
              <a:spAutoFit/>
            </a:bodyPr>
            <a:lstStyle/>
            <a:p>
              <a:pPr algn="l"/>
              <a:r>
                <a:rPr lang="zh-CN" sz="960" b="1" dirty="0">
                  <a:solidFill>
                    <a:srgbClr val="0070F3"/>
                  </a:solidFill>
                  <a:latin typeface="Arial" panose="020B0604020202090204"/>
                  <a:ea typeface="微软雅黑"/>
                  <a:cs typeface="Arial" panose="020B0604020202090204"/>
                </a:rPr>
                <a:t>AI正从辅助工具转向核心基础设施，企业需前瞻性构建竞争壁垒</a:t>
              </a:r>
              <a:endParaRPr lang="zh-CN" sz="960" b="1" dirty="0">
                <a:solidFill>
                  <a:srgbClr val="0070F3"/>
                </a:solidFill>
                <a:latin typeface="Arial" panose="020B0604020202090204"/>
                <a:ea typeface="微软雅黑"/>
                <a:cs typeface="Arial" panose="020B0604020202090204"/>
              </a:endParaRPr>
            </a:p>
          </p:txBody>
        </p:sp>
        <p:sp>
          <p:nvSpPr>
            <p:cNvPr id="7" name="Rectangle 7"/>
            <p:cNvSpPr/>
            <p:nvPr/>
          </p:nvSpPr>
          <p:spPr>
            <a:xfrm>
              <a:off x="731520" y="750760"/>
              <a:ext cx="4601146" cy="1119950"/>
            </a:xfrm>
            <a:prstGeom prst="roundRect">
              <a:avLst>
                <a:gd name="adj" fmla="val 5443"/>
              </a:avLst>
            </a:prstGeom>
            <a:solidFill>
              <a:srgbClr val="F5F5F5"/>
            </a:solidFill>
            <a:ln>
              <a:noFill/>
            </a:ln>
          </p:spPr>
        </p:sp>
        <p:sp>
          <p:nvSpPr>
            <p:cNvPr id="8" name="Line 8"/>
            <p:cNvSpPr/>
            <p:nvPr/>
          </p:nvSpPr>
          <p:spPr>
            <a:xfrm>
              <a:off x="731520" y="750760"/>
              <a:ext cx="9525" cy="1119950"/>
            </a:xfrm>
            <a:custGeom>
              <a:avLst/>
              <a:gdLst/>
              <a:ahLst/>
              <a:cxnLst/>
              <a:rect l="l" t="t" r="r" b="b"/>
              <a:pathLst>
                <a:path w="9525" h="1119950">
                  <a:moveTo>
                    <a:pt x="0" y="0"/>
                  </a:moveTo>
                  <a:lnTo>
                    <a:pt x="0" y="1119950"/>
                  </a:lnTo>
                </a:path>
              </a:pathLst>
            </a:custGeom>
            <a:noFill/>
            <a:ln w="23812">
              <a:solidFill>
                <a:srgbClr val="0070F3"/>
              </a:solidFill>
            </a:ln>
          </p:spPr>
        </p:sp>
        <p:sp>
          <p:nvSpPr>
            <p:cNvPr id="9" name="TextBox 9"/>
            <p:cNvSpPr txBox="1"/>
            <p:nvPr/>
          </p:nvSpPr>
          <p:spPr>
            <a:xfrm>
              <a:off x="841800" y="864660"/>
              <a:ext cx="2055768" cy="175565"/>
            </a:xfrm>
            <a:prstGeom prst="rect">
              <a:avLst/>
            </a:prstGeom>
            <a:noFill/>
            <a:ln>
              <a:noFill/>
            </a:ln>
          </p:spPr>
          <p:txBody>
            <a:bodyPr wrap="none" lIns="0" tIns="0" rIns="0" bIns="0" anchor="t" anchorCtr="0">
              <a:spAutoFit/>
            </a:bodyPr>
            <a:lstStyle/>
            <a:p>
              <a:pPr algn="l"/>
              <a:r>
                <a:rPr lang="zh-CN" sz="865" b="1" dirty="0">
                  <a:solidFill>
                    <a:srgbClr val="0070F3"/>
                  </a:solidFill>
                  <a:latin typeface="Times New Roman" panose="02020503050405090304"/>
                  <a:ea typeface="宋体"/>
                  <a:cs typeface="Times New Roman" panose="02020503050405090304"/>
                </a:rPr>
                <a:t>TREND FORECAST·全球 AI市场演进</a:t>
              </a:r>
              <a:endParaRPr lang="zh-CN" sz="865" b="1" dirty="0">
                <a:solidFill>
                  <a:srgbClr val="0070F3"/>
                </a:solidFill>
                <a:latin typeface="Times New Roman" panose="02020503050405090304"/>
                <a:ea typeface="宋体"/>
                <a:cs typeface="Times New Roman" panose="02020503050405090304"/>
              </a:endParaRPr>
            </a:p>
          </p:txBody>
        </p:sp>
        <p:grpSp>
          <p:nvGrpSpPr>
            <p:cNvPr id="25" name="Group 25"/>
            <p:cNvGrpSpPr/>
            <p:nvPr/>
          </p:nvGrpSpPr>
          <p:grpSpPr>
            <a:xfrm>
              <a:off x="852773" y="1069398"/>
              <a:ext cx="4440826" cy="540744"/>
              <a:chOff x="852773" y="1069398"/>
              <a:chExt cx="4440826" cy="540744"/>
            </a:xfrm>
          </p:grpSpPr>
          <p:sp>
            <p:nvSpPr>
              <p:cNvPr id="10" name="Freeform 10"/>
              <p:cNvSpPr/>
              <p:nvPr/>
            </p:nvSpPr>
            <p:spPr>
              <a:xfrm>
                <a:off x="852773" y="1100746"/>
                <a:ext cx="4382393" cy="509396"/>
              </a:xfrm>
              <a:custGeom>
                <a:avLst/>
                <a:gdLst/>
                <a:ahLst/>
                <a:cxnLst/>
                <a:rect l="l" t="t" r="r" b="b"/>
                <a:pathLst>
                  <a:path w="4382393" h="509396">
                    <a:moveTo>
                      <a:pt x="0" y="470212"/>
                    </a:moveTo>
                    <a:cubicBezTo>
                      <a:pt x="389546" y="444089"/>
                      <a:pt x="779092" y="404905"/>
                      <a:pt x="1168638" y="352659"/>
                    </a:cubicBezTo>
                    <a:cubicBezTo>
                      <a:pt x="1558184" y="300413"/>
                      <a:pt x="1947730" y="248167"/>
                      <a:pt x="2337277" y="195922"/>
                    </a:cubicBezTo>
                    <a:cubicBezTo>
                      <a:pt x="2726823" y="143676"/>
                      <a:pt x="3116369" y="104492"/>
                      <a:pt x="3505915" y="78369"/>
                    </a:cubicBezTo>
                    <a:cubicBezTo>
                      <a:pt x="3895461" y="52246"/>
                      <a:pt x="4187620" y="26123"/>
                      <a:pt x="4382393" y="0"/>
                    </a:cubicBezTo>
                    <a:lnTo>
                      <a:pt x="4382393" y="509396"/>
                    </a:lnTo>
                    <a:lnTo>
                      <a:pt x="0" y="509396"/>
                    </a:lnTo>
                    <a:close/>
                  </a:path>
                </a:pathLst>
              </a:custGeom>
              <a:gradFill>
                <a:gsLst>
                  <a:gs pos="0">
                    <a:srgbClr val="000000">
                      <a:alpha val="30000"/>
                    </a:srgbClr>
                  </a:gs>
                  <a:gs pos="100000">
                    <a:srgbClr val="000000">
                      <a:alpha val="30000"/>
                    </a:srgbClr>
                  </a:gs>
                </a:gsLst>
                <a:lin ang="0" scaled="1"/>
              </a:gradFill>
              <a:ln>
                <a:noFill/>
              </a:ln>
            </p:spPr>
          </p:sp>
          <p:sp>
            <p:nvSpPr>
              <p:cNvPr id="11" name="Freeform 11"/>
              <p:cNvSpPr/>
              <p:nvPr/>
            </p:nvSpPr>
            <p:spPr>
              <a:xfrm>
                <a:off x="852773" y="1100746"/>
                <a:ext cx="4382393" cy="470212"/>
              </a:xfrm>
              <a:custGeom>
                <a:avLst/>
                <a:gdLst/>
                <a:ahLst/>
                <a:cxnLst/>
                <a:rect l="l" t="t" r="r" b="b"/>
                <a:pathLst>
                  <a:path w="4382393" h="470212">
                    <a:moveTo>
                      <a:pt x="0" y="470212"/>
                    </a:moveTo>
                    <a:cubicBezTo>
                      <a:pt x="389546" y="444089"/>
                      <a:pt x="779092" y="404905"/>
                      <a:pt x="1168638" y="352659"/>
                    </a:cubicBezTo>
                    <a:cubicBezTo>
                      <a:pt x="1558184" y="300413"/>
                      <a:pt x="1947730" y="248167"/>
                      <a:pt x="2337277" y="195922"/>
                    </a:cubicBezTo>
                    <a:cubicBezTo>
                      <a:pt x="2726823" y="143676"/>
                      <a:pt x="3116369" y="104492"/>
                      <a:pt x="3505915" y="78369"/>
                    </a:cubicBezTo>
                    <a:cubicBezTo>
                      <a:pt x="3895461" y="52246"/>
                      <a:pt x="4187620" y="26123"/>
                      <a:pt x="4382393" y="0"/>
                    </a:cubicBezTo>
                  </a:path>
                </a:pathLst>
              </a:custGeom>
              <a:noFill/>
              <a:ln w="19050">
                <a:solidFill>
                  <a:srgbClr val="0070F3"/>
                </a:solidFill>
              </a:ln>
            </p:spPr>
          </p:sp>
          <p:sp>
            <p:nvSpPr>
              <p:cNvPr id="12" name="Ellipse 12"/>
              <p:cNvSpPr/>
              <p:nvPr/>
            </p:nvSpPr>
            <p:spPr>
              <a:xfrm>
                <a:off x="1977588" y="1429894"/>
                <a:ext cx="87648" cy="47021"/>
              </a:xfrm>
              <a:prstGeom prst="ellipse">
                <a:avLst/>
              </a:prstGeom>
              <a:solidFill>
                <a:srgbClr val="0070F3"/>
              </a:solidFill>
              <a:ln>
                <a:noFill/>
              </a:ln>
            </p:spPr>
          </p:sp>
          <p:sp>
            <p:nvSpPr>
              <p:cNvPr id="13" name="Ellipse 13"/>
              <p:cNvSpPr/>
              <p:nvPr/>
            </p:nvSpPr>
            <p:spPr>
              <a:xfrm>
                <a:off x="3146226" y="1273157"/>
                <a:ext cx="87648" cy="47021"/>
              </a:xfrm>
              <a:prstGeom prst="ellipse">
                <a:avLst/>
              </a:prstGeom>
              <a:solidFill>
                <a:srgbClr val="0070F3"/>
              </a:solidFill>
              <a:ln>
                <a:noFill/>
              </a:ln>
            </p:spPr>
          </p:sp>
          <p:sp>
            <p:nvSpPr>
              <p:cNvPr id="14" name="Ellipse 14"/>
              <p:cNvSpPr/>
              <p:nvPr/>
            </p:nvSpPr>
            <p:spPr>
              <a:xfrm>
                <a:off x="4314864" y="1155604"/>
                <a:ext cx="87648" cy="47021"/>
              </a:xfrm>
              <a:prstGeom prst="ellipse">
                <a:avLst/>
              </a:prstGeom>
              <a:solidFill>
                <a:srgbClr val="D4AF37"/>
              </a:solidFill>
              <a:ln>
                <a:noFill/>
              </a:ln>
            </p:spPr>
          </p:sp>
          <p:sp>
            <p:nvSpPr>
              <p:cNvPr id="15" name="Ellipse 15"/>
              <p:cNvSpPr/>
              <p:nvPr/>
            </p:nvSpPr>
            <p:spPr>
              <a:xfrm>
                <a:off x="5176735" y="1069398"/>
                <a:ext cx="116864" cy="62695"/>
              </a:xfrm>
              <a:prstGeom prst="ellipse">
                <a:avLst/>
              </a:prstGeom>
              <a:solidFill>
                <a:srgbClr val="D4AF37"/>
              </a:solidFill>
              <a:ln>
                <a:noFill/>
              </a:ln>
            </p:spPr>
          </p:sp>
          <p:sp>
            <p:nvSpPr>
              <p:cNvPr id="16" name="Line 16"/>
              <p:cNvSpPr/>
              <p:nvPr/>
            </p:nvSpPr>
            <p:spPr>
              <a:xfrm>
                <a:off x="2021412" y="1453405"/>
                <a:ext cx="9525" cy="117553"/>
              </a:xfrm>
              <a:custGeom>
                <a:avLst/>
                <a:gdLst/>
                <a:ahLst/>
                <a:cxnLst/>
                <a:rect l="l" t="t" r="r" b="b"/>
                <a:pathLst>
                  <a:path w="9525" h="117553">
                    <a:moveTo>
                      <a:pt x="0" y="0"/>
                    </a:moveTo>
                    <a:lnTo>
                      <a:pt x="0" y="117553"/>
                    </a:lnTo>
                  </a:path>
                </a:pathLst>
              </a:custGeom>
              <a:noFill/>
              <a:ln w="9525">
                <a:solidFill>
                  <a:srgbClr val="0070F3"/>
                </a:solidFill>
                <a:custDash>
                  <a:ds d="300000" sp="200000"/>
                </a:custDash>
              </a:ln>
            </p:spPr>
          </p:sp>
          <p:sp>
            <p:nvSpPr>
              <p:cNvPr id="17" name="Line 17"/>
              <p:cNvSpPr/>
              <p:nvPr/>
            </p:nvSpPr>
            <p:spPr>
              <a:xfrm>
                <a:off x="3190050" y="1296667"/>
                <a:ext cx="9525" cy="274290"/>
              </a:xfrm>
              <a:custGeom>
                <a:avLst/>
                <a:gdLst/>
                <a:ahLst/>
                <a:cxnLst/>
                <a:rect l="l" t="t" r="r" b="b"/>
                <a:pathLst>
                  <a:path w="9525" h="274290">
                    <a:moveTo>
                      <a:pt x="0" y="0"/>
                    </a:moveTo>
                    <a:lnTo>
                      <a:pt x="0" y="274290"/>
                    </a:lnTo>
                  </a:path>
                </a:pathLst>
              </a:custGeom>
              <a:noFill/>
              <a:ln w="9525">
                <a:solidFill>
                  <a:srgbClr val="0070F3"/>
                </a:solidFill>
                <a:custDash>
                  <a:ds d="300000" sp="200000"/>
                </a:custDash>
              </a:ln>
            </p:spPr>
          </p:sp>
          <p:sp>
            <p:nvSpPr>
              <p:cNvPr id="18" name="Line 18"/>
              <p:cNvSpPr/>
              <p:nvPr/>
            </p:nvSpPr>
            <p:spPr>
              <a:xfrm>
                <a:off x="4358688" y="1179114"/>
                <a:ext cx="9525" cy="391843"/>
              </a:xfrm>
              <a:custGeom>
                <a:avLst/>
                <a:gdLst/>
                <a:ahLst/>
                <a:cxnLst/>
                <a:rect l="l" t="t" r="r" b="b"/>
                <a:pathLst>
                  <a:path w="9525" h="391843">
                    <a:moveTo>
                      <a:pt x="0" y="0"/>
                    </a:moveTo>
                    <a:lnTo>
                      <a:pt x="0" y="391843"/>
                    </a:lnTo>
                  </a:path>
                </a:pathLst>
              </a:custGeom>
              <a:noFill/>
              <a:ln w="9525">
                <a:solidFill>
                  <a:srgbClr val="D4AF37"/>
                </a:solidFill>
                <a:custDash>
                  <a:ds d="300000" sp="200000"/>
                </a:custDash>
              </a:ln>
            </p:spPr>
          </p:sp>
          <p:sp>
            <p:nvSpPr>
              <p:cNvPr id="19" name="TextBox 19"/>
              <p:cNvSpPr txBox="1"/>
              <p:nvPr/>
            </p:nvSpPr>
            <p:spPr>
              <a:xfrm>
                <a:off x="1935833" y="1462809"/>
                <a:ext cx="171157" cy="100312"/>
              </a:xfrm>
              <a:prstGeom prst="rect">
                <a:avLst/>
              </a:prstGeom>
              <a:noFill/>
              <a:ln>
                <a:noFill/>
              </a:ln>
            </p:spPr>
            <p:txBody>
              <a:bodyPr wrap="none" lIns="0" tIns="0" rIns="0" bIns="0" anchor="t" anchorCtr="0">
                <a:spAutoFit/>
              </a:bodyPr>
              <a:lstStyle/>
              <a:p>
                <a:pPr algn="ctr"/>
                <a:r>
                  <a:rPr lang="zh-CN" sz="495" dirty="0">
                    <a:solidFill>
                      <a:srgbClr val="0A0A0A"/>
                    </a:solidFill>
                    <a:latin typeface="Arial" panose="020B0604020202090204"/>
                    <a:ea typeface="微软雅黑"/>
                    <a:cs typeface="Arial" panose="020B0604020202090204"/>
                  </a:rPr>
                  <a:t>2024</a:t>
                </a:r>
                <a:endParaRPr lang="zh-CN" sz="495" dirty="0">
                  <a:solidFill>
                    <a:srgbClr val="0A0A0A"/>
                  </a:solidFill>
                  <a:latin typeface="Arial" panose="020B0604020202090204"/>
                  <a:ea typeface="微软雅黑"/>
                  <a:cs typeface="Arial" panose="020B0604020202090204"/>
                </a:endParaRPr>
              </a:p>
            </p:txBody>
          </p:sp>
          <p:sp>
            <p:nvSpPr>
              <p:cNvPr id="20" name="TextBox 20"/>
              <p:cNvSpPr txBox="1"/>
              <p:nvPr/>
            </p:nvSpPr>
            <p:spPr>
              <a:xfrm>
                <a:off x="3104471" y="1306071"/>
                <a:ext cx="171157" cy="100312"/>
              </a:xfrm>
              <a:prstGeom prst="rect">
                <a:avLst/>
              </a:prstGeom>
              <a:noFill/>
              <a:ln>
                <a:noFill/>
              </a:ln>
            </p:spPr>
            <p:txBody>
              <a:bodyPr wrap="none" lIns="0" tIns="0" rIns="0" bIns="0" anchor="t" anchorCtr="0">
                <a:spAutoFit/>
              </a:bodyPr>
              <a:lstStyle/>
              <a:p>
                <a:pPr algn="ctr"/>
                <a:r>
                  <a:rPr lang="zh-CN" sz="495" dirty="0">
                    <a:solidFill>
                      <a:srgbClr val="0A0A0A"/>
                    </a:solidFill>
                    <a:latin typeface="Arial" panose="020B0604020202090204"/>
                    <a:ea typeface="微软雅黑"/>
                    <a:cs typeface="Arial" panose="020B0604020202090204"/>
                  </a:rPr>
                  <a:t>2027</a:t>
                </a:r>
                <a:endParaRPr lang="zh-CN" sz="495" dirty="0">
                  <a:solidFill>
                    <a:srgbClr val="0A0A0A"/>
                  </a:solidFill>
                  <a:latin typeface="Arial" panose="020B0604020202090204"/>
                  <a:ea typeface="微软雅黑"/>
                  <a:cs typeface="Arial" panose="020B0604020202090204"/>
                </a:endParaRPr>
              </a:p>
            </p:txBody>
          </p:sp>
          <p:sp>
            <p:nvSpPr>
              <p:cNvPr id="21" name="TextBox 21"/>
              <p:cNvSpPr txBox="1"/>
              <p:nvPr/>
            </p:nvSpPr>
            <p:spPr>
              <a:xfrm>
                <a:off x="4273109" y="1188518"/>
                <a:ext cx="171157" cy="100312"/>
              </a:xfrm>
              <a:prstGeom prst="rect">
                <a:avLst/>
              </a:prstGeom>
              <a:noFill/>
              <a:ln>
                <a:noFill/>
              </a:ln>
            </p:spPr>
            <p:txBody>
              <a:bodyPr wrap="none" lIns="0" tIns="0" rIns="0" bIns="0" anchor="t" anchorCtr="0">
                <a:spAutoFit/>
              </a:bodyPr>
              <a:lstStyle/>
              <a:p>
                <a:pPr algn="ctr"/>
                <a:r>
                  <a:rPr lang="zh-CN" sz="495" dirty="0">
                    <a:solidFill>
                      <a:srgbClr val="D4AF37"/>
                    </a:solidFill>
                    <a:latin typeface="Arial" panose="020B0604020202090204"/>
                    <a:ea typeface="微软雅黑"/>
                    <a:cs typeface="Arial" panose="020B0604020202090204"/>
                  </a:rPr>
                  <a:t>2030</a:t>
                </a:r>
                <a:endParaRPr lang="zh-CN" sz="495" dirty="0">
                  <a:solidFill>
                    <a:srgbClr val="D4AF37"/>
                  </a:solidFill>
                  <a:latin typeface="Arial" panose="020B0604020202090204"/>
                  <a:ea typeface="微软雅黑"/>
                  <a:cs typeface="Arial" panose="020B0604020202090204"/>
                </a:endParaRPr>
              </a:p>
            </p:txBody>
          </p:sp>
          <p:sp>
            <p:nvSpPr>
              <p:cNvPr id="22" name="TextBox 22"/>
              <p:cNvSpPr txBox="1"/>
              <p:nvPr/>
            </p:nvSpPr>
            <p:spPr>
              <a:xfrm>
                <a:off x="2132790" y="1391101"/>
                <a:ext cx="197078" cy="87773"/>
              </a:xfrm>
              <a:prstGeom prst="rect">
                <a:avLst/>
              </a:prstGeom>
              <a:noFill/>
              <a:ln>
                <a:noFill/>
              </a:ln>
            </p:spPr>
            <p:txBody>
              <a:bodyPr wrap="none" lIns="0" tIns="0" rIns="0" bIns="0" anchor="t" anchorCtr="0">
                <a:spAutoFit/>
              </a:bodyPr>
              <a:lstStyle/>
              <a:p>
                <a:pPr algn="l"/>
                <a:r>
                  <a:rPr lang="zh-CN" sz="430" dirty="0">
                    <a:solidFill>
                      <a:srgbClr val="0A0A0A"/>
                    </a:solidFill>
                    <a:latin typeface="Arial" panose="020B0604020202090204"/>
                    <a:ea typeface="微软雅黑"/>
                    <a:cs typeface="Arial" panose="020B0604020202090204"/>
                  </a:rPr>
                  <a:t>3910亿</a:t>
                </a:r>
                <a:endParaRPr lang="zh-CN" sz="430" dirty="0">
                  <a:solidFill>
                    <a:srgbClr val="0A0A0A"/>
                  </a:solidFill>
                  <a:latin typeface="Arial" panose="020B0604020202090204"/>
                  <a:ea typeface="微软雅黑"/>
                  <a:cs typeface="Arial" panose="020B0604020202090204"/>
                </a:endParaRPr>
              </a:p>
            </p:txBody>
          </p:sp>
          <p:sp>
            <p:nvSpPr>
              <p:cNvPr id="23" name="TextBox 23"/>
              <p:cNvSpPr txBox="1"/>
              <p:nvPr/>
            </p:nvSpPr>
            <p:spPr>
              <a:xfrm>
                <a:off x="3301428" y="1234364"/>
                <a:ext cx="225467" cy="87773"/>
              </a:xfrm>
              <a:prstGeom prst="rect">
                <a:avLst/>
              </a:prstGeom>
              <a:noFill/>
              <a:ln>
                <a:noFill/>
              </a:ln>
            </p:spPr>
            <p:txBody>
              <a:bodyPr wrap="none" lIns="0" tIns="0" rIns="0" bIns="0" anchor="t" anchorCtr="0">
                <a:spAutoFit/>
              </a:bodyPr>
              <a:lstStyle/>
              <a:p>
                <a:pPr algn="l"/>
                <a:r>
                  <a:rPr lang="zh-CN" sz="430" dirty="0">
                    <a:solidFill>
                      <a:srgbClr val="0A0A0A"/>
                    </a:solidFill>
                    <a:latin typeface="Arial" panose="020B0604020202090204"/>
                    <a:ea typeface="微软雅黑"/>
                    <a:cs typeface="Arial" panose="020B0604020202090204"/>
                  </a:rPr>
                  <a:t>1.3万亿</a:t>
                </a:r>
                <a:endParaRPr lang="zh-CN" sz="430" dirty="0">
                  <a:solidFill>
                    <a:srgbClr val="0A0A0A"/>
                  </a:solidFill>
                  <a:latin typeface="Arial" panose="020B0604020202090204"/>
                  <a:ea typeface="微软雅黑"/>
                  <a:cs typeface="Arial" panose="020B0604020202090204"/>
                </a:endParaRPr>
              </a:p>
            </p:txBody>
          </p:sp>
          <p:sp>
            <p:nvSpPr>
              <p:cNvPr id="24" name="TextBox 24"/>
              <p:cNvSpPr txBox="1"/>
              <p:nvPr/>
            </p:nvSpPr>
            <p:spPr>
              <a:xfrm>
                <a:off x="4470066" y="1108974"/>
                <a:ext cx="256064" cy="87773"/>
              </a:xfrm>
              <a:prstGeom prst="rect">
                <a:avLst/>
              </a:prstGeom>
              <a:noFill/>
              <a:ln>
                <a:noFill/>
              </a:ln>
            </p:spPr>
            <p:txBody>
              <a:bodyPr wrap="none" lIns="0" tIns="0" rIns="0" bIns="0" anchor="t" anchorCtr="0">
                <a:spAutoFit/>
              </a:bodyPr>
              <a:lstStyle/>
              <a:p>
                <a:pPr algn="l"/>
                <a:r>
                  <a:rPr lang="zh-CN" sz="430" b="1" dirty="0">
                    <a:solidFill>
                      <a:srgbClr val="D4AF37"/>
                    </a:solidFill>
                    <a:latin typeface="Arial" panose="020B0604020202090204"/>
                    <a:ea typeface="微软雅黑"/>
                    <a:cs typeface="Arial" panose="020B0604020202090204"/>
                  </a:rPr>
                  <a:t>1.81万亿</a:t>
                </a:r>
                <a:endParaRPr lang="zh-CN" sz="430" b="1" dirty="0">
                  <a:solidFill>
                    <a:srgbClr val="D4AF37"/>
                  </a:solidFill>
                  <a:latin typeface="Arial" panose="020B0604020202090204"/>
                  <a:ea typeface="微软雅黑"/>
                  <a:cs typeface="Arial" panose="020B0604020202090204"/>
                </a:endParaRPr>
              </a:p>
            </p:txBody>
          </p:sp>
        </p:grpSp>
        <p:sp>
          <p:nvSpPr>
            <p:cNvPr id="26" name="TextBox 26"/>
            <p:cNvSpPr txBox="1"/>
            <p:nvPr/>
          </p:nvSpPr>
          <p:spPr>
            <a:xfrm>
              <a:off x="844848" y="1670761"/>
              <a:ext cx="494309" cy="126797"/>
            </a:xfrm>
            <a:prstGeom prst="rect">
              <a:avLst/>
            </a:prstGeom>
            <a:noFill/>
            <a:ln>
              <a:noFill/>
            </a:ln>
          </p:spPr>
          <p:txBody>
            <a:bodyPr wrap="none" lIns="0" tIns="0" rIns="0" bIns="0" anchor="t" anchorCtr="0">
              <a:spAutoFit/>
            </a:bodyPr>
            <a:lstStyle/>
            <a:p>
              <a:pPr algn="l"/>
              <a:r>
                <a:rPr lang="zh-CN" sz="625" dirty="0">
                  <a:solidFill>
                    <a:srgbClr val="0A0A0A"/>
                  </a:solidFill>
                  <a:latin typeface="Arial" panose="020B0604020202090204"/>
                  <a:ea typeface="微软雅黑"/>
                  <a:cs typeface="Arial" panose="020B0604020202090204"/>
                </a:rPr>
                <a:t>CAGR 35.9%</a:t>
              </a:r>
              <a:endParaRPr lang="zh-CN" sz="625" dirty="0">
                <a:solidFill>
                  <a:srgbClr val="0A0A0A"/>
                </a:solidFill>
                <a:latin typeface="Arial" panose="020B0604020202090204"/>
                <a:ea typeface="微软雅黑"/>
                <a:cs typeface="Arial" panose="020B0604020202090204"/>
              </a:endParaRPr>
            </a:p>
          </p:txBody>
        </p:sp>
        <p:sp>
          <p:nvSpPr>
            <p:cNvPr id="27" name="TextBox 27"/>
            <p:cNvSpPr txBox="1"/>
            <p:nvPr/>
          </p:nvSpPr>
          <p:spPr>
            <a:xfrm>
              <a:off x="4632750" y="1670761"/>
              <a:ext cx="653796" cy="126797"/>
            </a:xfrm>
            <a:prstGeom prst="rect">
              <a:avLst/>
            </a:prstGeom>
            <a:noFill/>
            <a:ln>
              <a:noFill/>
            </a:ln>
          </p:spPr>
          <p:txBody>
            <a:bodyPr wrap="none" lIns="0" tIns="0" rIns="0" bIns="0" anchor="t" anchorCtr="0">
              <a:spAutoFit/>
            </a:bodyPr>
            <a:lstStyle/>
            <a:p>
              <a:pPr algn="l"/>
              <a:r>
                <a:rPr lang="zh-CN" sz="625" dirty="0">
                  <a:solidFill>
                    <a:srgbClr val="0070F3"/>
                  </a:solidFill>
                  <a:latin typeface="Arial" panose="020B0604020202090204"/>
                  <a:ea typeface="微软雅黑"/>
                  <a:cs typeface="Arial" panose="020B0604020202090204"/>
                </a:rPr>
                <a:t>生成式 AI年增 8</a:t>
              </a:r>
              <a:endParaRPr lang="zh-CN" sz="625" dirty="0">
                <a:solidFill>
                  <a:srgbClr val="0070F3"/>
                </a:solidFill>
                <a:latin typeface="Arial" panose="020B0604020202090204"/>
                <a:ea typeface="微软雅黑"/>
                <a:cs typeface="Arial" panose="020B0604020202090204"/>
              </a:endParaRPr>
            </a:p>
          </p:txBody>
        </p:sp>
        <p:sp>
          <p:nvSpPr>
            <p:cNvPr id="28" name="TextBox 28"/>
            <p:cNvSpPr txBox="1"/>
            <p:nvPr/>
          </p:nvSpPr>
          <p:spPr>
            <a:xfrm>
              <a:off x="4632750" y="1769821"/>
              <a:ext cx="106985" cy="126797"/>
            </a:xfrm>
            <a:prstGeom prst="rect">
              <a:avLst/>
            </a:prstGeom>
            <a:noFill/>
            <a:ln>
              <a:noFill/>
            </a:ln>
          </p:spPr>
          <p:txBody>
            <a:bodyPr wrap="none" lIns="0" tIns="0" rIns="0" bIns="0" anchor="t" anchorCtr="0">
              <a:spAutoFit/>
            </a:bodyPr>
            <a:lstStyle/>
            <a:p>
              <a:pPr algn="l"/>
              <a:r>
                <a:rPr lang="zh-CN" sz="625" dirty="0">
                  <a:solidFill>
                    <a:srgbClr val="0070F3"/>
                  </a:solidFill>
                  <a:latin typeface="Arial" panose="020B0604020202090204"/>
                  <a:ea typeface="微软雅黑"/>
                  <a:cs typeface="Arial" panose="020B0604020202090204"/>
                </a:rPr>
                <a:t>倍</a:t>
              </a:r>
              <a:endParaRPr lang="zh-CN" sz="625" dirty="0">
                <a:solidFill>
                  <a:srgbClr val="0070F3"/>
                </a:solidFill>
                <a:latin typeface="Arial" panose="020B0604020202090204"/>
                <a:ea typeface="微软雅黑"/>
                <a:cs typeface="Arial" panose="020B0604020202090204"/>
              </a:endParaRPr>
            </a:p>
          </p:txBody>
        </p:sp>
        <p:sp>
          <p:nvSpPr>
            <p:cNvPr id="29" name="Rectangle 29"/>
            <p:cNvSpPr/>
            <p:nvPr/>
          </p:nvSpPr>
          <p:spPr>
            <a:xfrm>
              <a:off x="731520" y="1968151"/>
              <a:ext cx="4601146" cy="969074"/>
            </a:xfrm>
            <a:prstGeom prst="roundRect">
              <a:avLst>
                <a:gd name="adj" fmla="val 6291"/>
              </a:avLst>
            </a:prstGeom>
            <a:solidFill>
              <a:srgbClr val="F5F5F5"/>
            </a:solidFill>
            <a:ln>
              <a:noFill/>
            </a:ln>
          </p:spPr>
        </p:sp>
        <p:sp>
          <p:nvSpPr>
            <p:cNvPr id="30" name="Line 30"/>
            <p:cNvSpPr/>
            <p:nvPr/>
          </p:nvSpPr>
          <p:spPr>
            <a:xfrm>
              <a:off x="731520" y="1968151"/>
              <a:ext cx="9525" cy="969169"/>
            </a:xfrm>
            <a:custGeom>
              <a:avLst/>
              <a:gdLst/>
              <a:ahLst/>
              <a:cxnLst/>
              <a:rect l="l" t="t" r="r" b="b"/>
              <a:pathLst>
                <a:path w="9525" h="969169">
                  <a:moveTo>
                    <a:pt x="0" y="0"/>
                  </a:moveTo>
                  <a:lnTo>
                    <a:pt x="0" y="969169"/>
                  </a:lnTo>
                </a:path>
              </a:pathLst>
            </a:custGeom>
            <a:noFill/>
            <a:ln w="23812">
              <a:solidFill>
                <a:srgbClr val="D4AF37"/>
              </a:solidFill>
            </a:ln>
          </p:spPr>
        </p:sp>
        <p:sp>
          <p:nvSpPr>
            <p:cNvPr id="31" name="TextBox 31"/>
            <p:cNvSpPr txBox="1"/>
            <p:nvPr/>
          </p:nvSpPr>
          <p:spPr>
            <a:xfrm>
              <a:off x="841800" y="2082146"/>
              <a:ext cx="2334011" cy="175565"/>
            </a:xfrm>
            <a:prstGeom prst="rect">
              <a:avLst/>
            </a:prstGeom>
            <a:noFill/>
            <a:ln>
              <a:noFill/>
            </a:ln>
          </p:spPr>
          <p:txBody>
            <a:bodyPr wrap="none" lIns="0" tIns="0" rIns="0" bIns="0" anchor="t" anchorCtr="0">
              <a:spAutoFit/>
            </a:bodyPr>
            <a:lstStyle/>
            <a:p>
              <a:pPr algn="l"/>
              <a:r>
                <a:rPr lang="zh-CN" sz="865" b="1" dirty="0">
                  <a:solidFill>
                    <a:srgbClr val="D4AF37"/>
                  </a:solidFill>
                  <a:latin typeface="Times New Roman" panose="02020503050405090304"/>
                  <a:ea typeface="宋体"/>
                  <a:cs typeface="Times New Roman" panose="02020503050405090304"/>
                </a:rPr>
                <a:t>OPPORTUNITY MATRIX·企业 AI采用矩阵</a:t>
              </a:r>
              <a:endParaRPr lang="zh-CN" sz="865" b="1" dirty="0">
                <a:solidFill>
                  <a:srgbClr val="D4AF37"/>
                </a:solidFill>
                <a:latin typeface="Times New Roman" panose="02020503050405090304"/>
                <a:ea typeface="宋体"/>
                <a:cs typeface="Times New Roman" panose="02020503050405090304"/>
              </a:endParaRPr>
            </a:p>
          </p:txBody>
        </p:sp>
        <p:sp>
          <p:nvSpPr>
            <p:cNvPr id="32" name="Rectangle 32"/>
            <p:cNvSpPr/>
            <p:nvPr/>
          </p:nvSpPr>
          <p:spPr>
            <a:xfrm>
              <a:off x="1424464" y="2390013"/>
              <a:ext cx="170593" cy="266890"/>
            </a:xfrm>
            <a:prstGeom prst="roundRect">
              <a:avLst>
                <a:gd name="adj" fmla="val 10720"/>
              </a:avLst>
            </a:prstGeom>
            <a:solidFill>
              <a:srgbClr val="0070F3"/>
            </a:solidFill>
            <a:ln>
              <a:noFill/>
            </a:ln>
          </p:spPr>
        </p:sp>
        <p:sp>
          <p:nvSpPr>
            <p:cNvPr id="33" name="Rectangle 33"/>
            <p:cNvSpPr/>
            <p:nvPr/>
          </p:nvSpPr>
          <p:spPr>
            <a:xfrm>
              <a:off x="1643920" y="2528983"/>
              <a:ext cx="170593" cy="128016"/>
            </a:xfrm>
            <a:prstGeom prst="roundRect">
              <a:avLst>
                <a:gd name="adj" fmla="val 14286"/>
              </a:avLst>
            </a:prstGeom>
            <a:solidFill>
              <a:srgbClr val="0070F3"/>
            </a:solidFill>
            <a:ln>
              <a:noFill/>
            </a:ln>
          </p:spPr>
        </p:sp>
        <p:sp>
          <p:nvSpPr>
            <p:cNvPr id="34" name="Rectangle 34"/>
            <p:cNvSpPr/>
            <p:nvPr/>
          </p:nvSpPr>
          <p:spPr>
            <a:xfrm>
              <a:off x="1863280" y="2503360"/>
              <a:ext cx="170593" cy="153638"/>
            </a:xfrm>
            <a:prstGeom prst="roundRect">
              <a:avLst>
                <a:gd name="adj" fmla="val 11903"/>
              </a:avLst>
            </a:prstGeom>
            <a:solidFill>
              <a:srgbClr val="D4AF37"/>
            </a:solidFill>
            <a:ln>
              <a:noFill/>
            </a:ln>
          </p:spPr>
        </p:sp>
        <p:sp>
          <p:nvSpPr>
            <p:cNvPr id="35" name="TextBox 35"/>
            <p:cNvSpPr txBox="1"/>
            <p:nvPr/>
          </p:nvSpPr>
          <p:spPr>
            <a:xfrm>
              <a:off x="1465726" y="2704452"/>
              <a:ext cx="153436" cy="117043"/>
            </a:xfrm>
            <a:prstGeom prst="rect">
              <a:avLst/>
            </a:prstGeom>
            <a:noFill/>
            <a:ln>
              <a:noFill/>
            </a:ln>
          </p:spPr>
          <p:txBody>
            <a:bodyPr wrap="none" lIns="0" tIns="0" rIns="0" bIns="0" anchor="t" anchorCtr="0">
              <a:spAutoFit/>
            </a:bodyPr>
            <a:lstStyle/>
            <a:p>
              <a:pPr algn="l"/>
              <a:r>
                <a:rPr lang="zh-CN" sz="575" dirty="0">
                  <a:solidFill>
                    <a:srgbClr val="0A0A0A"/>
                  </a:solidFill>
                  <a:latin typeface="Arial" panose="020B0604020202090204"/>
                  <a:ea typeface="微软雅黑"/>
                  <a:cs typeface="Arial" panose="020B0604020202090204"/>
                </a:rPr>
                <a:t>73%</a:t>
              </a:r>
              <a:endParaRPr lang="zh-CN" sz="575" dirty="0">
                <a:solidFill>
                  <a:srgbClr val="0A0A0A"/>
                </a:solidFill>
                <a:latin typeface="Arial" panose="020B0604020202090204"/>
                <a:ea typeface="微软雅黑"/>
                <a:cs typeface="Arial" panose="020B0604020202090204"/>
              </a:endParaRPr>
            </a:p>
          </p:txBody>
        </p:sp>
        <p:sp>
          <p:nvSpPr>
            <p:cNvPr id="36" name="TextBox 36"/>
            <p:cNvSpPr txBox="1"/>
            <p:nvPr/>
          </p:nvSpPr>
          <p:spPr>
            <a:xfrm>
              <a:off x="1648701" y="2704452"/>
              <a:ext cx="153436" cy="117043"/>
            </a:xfrm>
            <a:prstGeom prst="rect">
              <a:avLst/>
            </a:prstGeom>
            <a:noFill/>
            <a:ln>
              <a:noFill/>
            </a:ln>
          </p:spPr>
          <p:txBody>
            <a:bodyPr wrap="none" lIns="0" tIns="0" rIns="0" bIns="0" anchor="t" anchorCtr="0">
              <a:spAutoFit/>
            </a:bodyPr>
            <a:lstStyle/>
            <a:p>
              <a:pPr algn="l"/>
              <a:r>
                <a:rPr lang="zh-CN" sz="575" dirty="0">
                  <a:solidFill>
                    <a:srgbClr val="0A0A0A"/>
                  </a:solidFill>
                  <a:latin typeface="Arial" panose="020B0604020202090204"/>
                  <a:ea typeface="微软雅黑"/>
                  <a:cs typeface="Arial" panose="020B0604020202090204"/>
                </a:rPr>
                <a:t>35%</a:t>
              </a:r>
              <a:endParaRPr lang="zh-CN" sz="575" dirty="0">
                <a:solidFill>
                  <a:srgbClr val="0A0A0A"/>
                </a:solidFill>
                <a:latin typeface="Arial" panose="020B0604020202090204"/>
                <a:ea typeface="微软雅黑"/>
                <a:cs typeface="Arial" panose="020B0604020202090204"/>
              </a:endParaRPr>
            </a:p>
          </p:txBody>
        </p:sp>
        <p:sp>
          <p:nvSpPr>
            <p:cNvPr id="37" name="TextBox 37"/>
            <p:cNvSpPr txBox="1"/>
            <p:nvPr/>
          </p:nvSpPr>
          <p:spPr>
            <a:xfrm>
              <a:off x="1831677" y="2704452"/>
              <a:ext cx="153436" cy="117043"/>
            </a:xfrm>
            <a:prstGeom prst="rect">
              <a:avLst/>
            </a:prstGeom>
            <a:noFill/>
            <a:ln>
              <a:noFill/>
            </a:ln>
          </p:spPr>
          <p:txBody>
            <a:bodyPr wrap="none" lIns="0" tIns="0" rIns="0" bIns="0" anchor="t" anchorCtr="0">
              <a:spAutoFit/>
            </a:bodyPr>
            <a:lstStyle/>
            <a:p>
              <a:pPr algn="l"/>
              <a:r>
                <a:rPr lang="zh-CN" sz="575" dirty="0">
                  <a:solidFill>
                    <a:srgbClr val="0A0A0A"/>
                  </a:solidFill>
                  <a:latin typeface="Arial" panose="020B0604020202090204"/>
                  <a:ea typeface="微软雅黑"/>
                  <a:cs typeface="Arial" panose="020B0604020202090204"/>
                </a:rPr>
                <a:t>42%</a:t>
              </a:r>
              <a:endParaRPr lang="zh-CN" sz="575" dirty="0">
                <a:solidFill>
                  <a:srgbClr val="0A0A0A"/>
                </a:solidFill>
                <a:latin typeface="Arial" panose="020B0604020202090204"/>
                <a:ea typeface="微软雅黑"/>
                <a:cs typeface="Arial" panose="020B0604020202090204"/>
              </a:endParaRPr>
            </a:p>
          </p:txBody>
        </p:sp>
        <p:sp>
          <p:nvSpPr>
            <p:cNvPr id="38" name="Rectangle 38"/>
            <p:cNvSpPr/>
            <p:nvPr/>
          </p:nvSpPr>
          <p:spPr>
            <a:xfrm>
              <a:off x="2666619" y="2291239"/>
              <a:ext cx="2568512" cy="548545"/>
            </a:xfrm>
            <a:prstGeom prst="rect">
              <a:avLst/>
            </a:prstGeom>
            <a:noFill/>
            <a:ln>
              <a:noFill/>
            </a:ln>
          </p:spPr>
        </p:sp>
        <p:sp>
          <p:nvSpPr>
            <p:cNvPr id="39" name="Line 39"/>
            <p:cNvSpPr/>
            <p:nvPr/>
          </p:nvSpPr>
          <p:spPr>
            <a:xfrm>
              <a:off x="2666619" y="2291239"/>
              <a:ext cx="9525" cy="548545"/>
            </a:xfrm>
            <a:custGeom>
              <a:avLst/>
              <a:gdLst/>
              <a:ahLst/>
              <a:cxnLst/>
              <a:rect l="l" t="t" r="r" b="b"/>
              <a:pathLst>
                <a:path w="9525" h="548545">
                  <a:moveTo>
                    <a:pt x="0" y="0"/>
                  </a:moveTo>
                  <a:lnTo>
                    <a:pt x="0" y="548545"/>
                  </a:lnTo>
                </a:path>
              </a:pathLst>
            </a:custGeom>
            <a:noFill/>
            <a:ln w="4762">
              <a:solidFill>
                <a:srgbClr val="E0E0E0"/>
              </a:solidFill>
            </a:ln>
          </p:spPr>
        </p:sp>
        <p:sp>
          <p:nvSpPr>
            <p:cNvPr id="40" name="TextBox 40"/>
            <p:cNvSpPr txBox="1"/>
            <p:nvPr/>
          </p:nvSpPr>
          <p:spPr>
            <a:xfrm>
              <a:off x="2736609" y="2303126"/>
              <a:ext cx="836066" cy="126797"/>
            </a:xfrm>
            <a:prstGeom prst="rect">
              <a:avLst/>
            </a:prstGeom>
            <a:noFill/>
            <a:ln>
              <a:noFill/>
            </a:ln>
          </p:spPr>
          <p:txBody>
            <a:bodyPr wrap="none" lIns="0" tIns="0" rIns="0" bIns="0" anchor="t" anchorCtr="0">
              <a:spAutoFit/>
            </a:bodyPr>
            <a:lstStyle/>
            <a:p>
              <a:pPr algn="l"/>
              <a:r>
                <a:rPr lang="zh-CN" sz="625" dirty="0">
                  <a:solidFill>
                    <a:srgbClr val="0A0A0A"/>
                  </a:solidFill>
                  <a:latin typeface="Arial" panose="020B0604020202090204"/>
                  <a:ea typeface="微软雅黑"/>
                  <a:cs typeface="Arial" panose="020B0604020202090204"/>
                </a:rPr>
                <a:t>成熟企业生产率提升</a:t>
              </a:r>
              <a:endParaRPr lang="zh-CN" sz="625" dirty="0">
                <a:solidFill>
                  <a:srgbClr val="0A0A0A"/>
                </a:solidFill>
                <a:latin typeface="Arial" panose="020B0604020202090204"/>
                <a:ea typeface="微软雅黑"/>
                <a:cs typeface="Arial" panose="020B0604020202090204"/>
              </a:endParaRPr>
            </a:p>
          </p:txBody>
        </p:sp>
        <p:sp>
          <p:nvSpPr>
            <p:cNvPr id="41" name="TextBox 41"/>
            <p:cNvSpPr txBox="1"/>
            <p:nvPr/>
          </p:nvSpPr>
          <p:spPr>
            <a:xfrm>
              <a:off x="2736609" y="2450573"/>
              <a:ext cx="1004667" cy="126797"/>
            </a:xfrm>
            <a:prstGeom prst="rect">
              <a:avLst/>
            </a:prstGeom>
            <a:noFill/>
            <a:ln>
              <a:noFill/>
            </a:ln>
          </p:spPr>
          <p:txBody>
            <a:bodyPr wrap="none" lIns="0" tIns="0" rIns="0" bIns="0" anchor="t" anchorCtr="0">
              <a:spAutoFit/>
            </a:bodyPr>
            <a:lstStyle/>
            <a:p>
              <a:pPr algn="l"/>
              <a:r>
                <a:rPr lang="zh-CN" sz="625" dirty="0">
                  <a:solidFill>
                    <a:srgbClr val="0A0A0A"/>
                  </a:solidFill>
                  <a:latin typeface="Arial" panose="020B0604020202090204"/>
                  <a:ea typeface="微软雅黑"/>
                  <a:cs typeface="Arial" panose="020B0604020202090204"/>
                </a:rPr>
                <a:t>仅 13%企业无 AI采用计划</a:t>
              </a:r>
              <a:endParaRPr lang="zh-CN" sz="625" dirty="0">
                <a:solidFill>
                  <a:srgbClr val="0A0A0A"/>
                </a:solidFill>
                <a:latin typeface="Arial" panose="020B0604020202090204"/>
                <a:ea typeface="微软雅黑"/>
                <a:cs typeface="Arial" panose="020B0604020202090204"/>
              </a:endParaRPr>
            </a:p>
          </p:txBody>
        </p:sp>
        <p:sp>
          <p:nvSpPr>
            <p:cNvPr id="42" name="TextBox 42"/>
            <p:cNvSpPr txBox="1"/>
            <p:nvPr/>
          </p:nvSpPr>
          <p:spPr>
            <a:xfrm>
              <a:off x="2736609" y="2598115"/>
              <a:ext cx="676580" cy="126797"/>
            </a:xfrm>
            <a:prstGeom prst="rect">
              <a:avLst/>
            </a:prstGeom>
            <a:noFill/>
            <a:ln>
              <a:noFill/>
            </a:ln>
          </p:spPr>
          <p:txBody>
            <a:bodyPr wrap="none" lIns="0" tIns="0" rIns="0" bIns="0" anchor="t" anchorCtr="0">
              <a:spAutoFit/>
            </a:bodyPr>
            <a:lstStyle/>
            <a:p>
              <a:pPr algn="l"/>
              <a:r>
                <a:rPr lang="zh-CN" sz="625" dirty="0">
                  <a:solidFill>
                    <a:srgbClr val="0A0A0A"/>
                  </a:solidFill>
                  <a:latin typeface="Arial" panose="020B0604020202090204"/>
                  <a:ea typeface="微软雅黑"/>
                  <a:cs typeface="Arial" panose="020B0604020202090204"/>
                </a:rPr>
                <a:t>AI初创占 VC投资</a:t>
              </a:r>
              <a:endParaRPr lang="zh-CN" sz="625" dirty="0">
                <a:solidFill>
                  <a:srgbClr val="0A0A0A"/>
                </a:solidFill>
                <a:latin typeface="Arial" panose="020B0604020202090204"/>
                <a:ea typeface="微软雅黑"/>
                <a:cs typeface="Arial" panose="020B0604020202090204"/>
              </a:endParaRPr>
            </a:p>
          </p:txBody>
        </p:sp>
        <p:sp>
          <p:nvSpPr>
            <p:cNvPr id="43" name="Rectangle 43"/>
            <p:cNvSpPr/>
            <p:nvPr/>
          </p:nvSpPr>
          <p:spPr>
            <a:xfrm>
              <a:off x="731520" y="3034760"/>
              <a:ext cx="4601146" cy="835533"/>
            </a:xfrm>
            <a:prstGeom prst="roundRect">
              <a:avLst>
                <a:gd name="adj" fmla="val 7296"/>
              </a:avLst>
            </a:prstGeom>
            <a:solidFill>
              <a:srgbClr val="F5F5F5"/>
            </a:solidFill>
            <a:ln>
              <a:noFill/>
            </a:ln>
          </p:spPr>
        </p:sp>
        <p:sp>
          <p:nvSpPr>
            <p:cNvPr id="44" name="Line 44"/>
            <p:cNvSpPr/>
            <p:nvPr/>
          </p:nvSpPr>
          <p:spPr>
            <a:xfrm>
              <a:off x="731520" y="3034760"/>
              <a:ext cx="9525" cy="835533"/>
            </a:xfrm>
            <a:custGeom>
              <a:avLst/>
              <a:gdLst/>
              <a:ahLst/>
              <a:cxnLst/>
              <a:rect l="l" t="t" r="r" b="b"/>
              <a:pathLst>
                <a:path w="9525" h="835533">
                  <a:moveTo>
                    <a:pt x="0" y="0"/>
                  </a:moveTo>
                  <a:lnTo>
                    <a:pt x="0" y="835533"/>
                  </a:lnTo>
                </a:path>
              </a:pathLst>
            </a:custGeom>
            <a:noFill/>
            <a:ln w="23812">
              <a:solidFill>
                <a:srgbClr val="0A0A0A"/>
              </a:solidFill>
            </a:ln>
          </p:spPr>
        </p:sp>
        <p:sp>
          <p:nvSpPr>
            <p:cNvPr id="45" name="TextBox 45"/>
            <p:cNvSpPr txBox="1"/>
            <p:nvPr/>
          </p:nvSpPr>
          <p:spPr>
            <a:xfrm>
              <a:off x="841800" y="3148660"/>
              <a:ext cx="1717902" cy="175565"/>
            </a:xfrm>
            <a:prstGeom prst="rect">
              <a:avLst/>
            </a:prstGeom>
            <a:noFill/>
            <a:ln>
              <a:noFill/>
            </a:ln>
          </p:spPr>
          <p:txBody>
            <a:bodyPr wrap="none" lIns="0" tIns="0" rIns="0" bIns="0" anchor="t" anchorCtr="0">
              <a:spAutoFit/>
            </a:bodyPr>
            <a:lstStyle/>
            <a:p>
              <a:pPr algn="l"/>
              <a:r>
                <a:rPr lang="zh-CN" sz="865" b="1" dirty="0">
                  <a:solidFill>
                    <a:srgbClr val="0A0A0A"/>
                  </a:solidFill>
                  <a:latin typeface="Times New Roman" panose="02020503050405090304"/>
                  <a:ea typeface="宋体"/>
                  <a:cs typeface="Times New Roman" panose="02020503050405090304"/>
                </a:rPr>
                <a:t>ACTION ITEMS·战略行动建议</a:t>
              </a:r>
              <a:endParaRPr lang="zh-CN" sz="865" b="1" dirty="0">
                <a:solidFill>
                  <a:srgbClr val="0A0A0A"/>
                </a:solidFill>
                <a:latin typeface="Times New Roman" panose="02020503050405090304"/>
                <a:ea typeface="宋体"/>
                <a:cs typeface="Times New Roman" panose="02020503050405090304"/>
              </a:endParaRPr>
            </a:p>
          </p:txBody>
        </p:sp>
        <p:sp>
          <p:nvSpPr>
            <p:cNvPr id="46" name="Rectangle 46"/>
            <p:cNvSpPr/>
            <p:nvPr/>
          </p:nvSpPr>
          <p:spPr>
            <a:xfrm>
              <a:off x="852773" y="3345561"/>
              <a:ext cx="1420178" cy="427196"/>
            </a:xfrm>
            <a:prstGeom prst="roundRect">
              <a:avLst>
                <a:gd name="adj" fmla="val 11416"/>
              </a:avLst>
            </a:prstGeom>
            <a:solidFill>
              <a:srgbClr val="FFFFFF"/>
            </a:solidFill>
            <a:ln>
              <a:noFill/>
            </a:ln>
          </p:spPr>
        </p:sp>
        <p:sp>
          <p:nvSpPr>
            <p:cNvPr id="47" name="Line 47"/>
            <p:cNvSpPr/>
            <p:nvPr/>
          </p:nvSpPr>
          <p:spPr>
            <a:xfrm>
              <a:off x="852773" y="3345561"/>
              <a:ext cx="1420178" cy="9525"/>
            </a:xfrm>
            <a:custGeom>
              <a:avLst/>
              <a:gdLst/>
              <a:ahLst/>
              <a:cxnLst/>
              <a:rect l="l" t="t" r="r" b="b"/>
              <a:pathLst>
                <a:path w="1420178" h="9525">
                  <a:moveTo>
                    <a:pt x="0" y="0"/>
                  </a:moveTo>
                  <a:lnTo>
                    <a:pt x="1420178" y="0"/>
                  </a:lnTo>
                </a:path>
              </a:pathLst>
            </a:custGeom>
            <a:noFill/>
            <a:ln w="4762">
              <a:solidFill>
                <a:srgbClr val="E0E0E0"/>
              </a:solidFill>
            </a:ln>
          </p:spPr>
        </p:sp>
        <p:sp>
          <p:nvSpPr>
            <p:cNvPr id="48" name="Line 48"/>
            <p:cNvSpPr/>
            <p:nvPr/>
          </p:nvSpPr>
          <p:spPr>
            <a:xfrm>
              <a:off x="2272951" y="3345561"/>
              <a:ext cx="9525" cy="427196"/>
            </a:xfrm>
            <a:custGeom>
              <a:avLst/>
              <a:gdLst/>
              <a:ahLst/>
              <a:cxnLst/>
              <a:rect l="l" t="t" r="r" b="b"/>
              <a:pathLst>
                <a:path w="9525" h="427196">
                  <a:moveTo>
                    <a:pt x="0" y="0"/>
                  </a:moveTo>
                  <a:lnTo>
                    <a:pt x="0" y="427196"/>
                  </a:lnTo>
                </a:path>
              </a:pathLst>
            </a:custGeom>
            <a:noFill/>
            <a:ln w="4762">
              <a:solidFill>
                <a:srgbClr val="E0E0E0"/>
              </a:solidFill>
            </a:ln>
          </p:spPr>
        </p:sp>
        <p:sp>
          <p:nvSpPr>
            <p:cNvPr id="49" name="Line 49"/>
            <p:cNvSpPr/>
            <p:nvPr/>
          </p:nvSpPr>
          <p:spPr>
            <a:xfrm>
              <a:off x="852773" y="3772757"/>
              <a:ext cx="1420178" cy="9525"/>
            </a:xfrm>
            <a:custGeom>
              <a:avLst/>
              <a:gdLst/>
              <a:ahLst/>
              <a:cxnLst/>
              <a:rect l="l" t="t" r="r" b="b"/>
              <a:pathLst>
                <a:path w="1420178" h="9525">
                  <a:moveTo>
                    <a:pt x="0" y="0"/>
                  </a:moveTo>
                  <a:lnTo>
                    <a:pt x="1420178" y="0"/>
                  </a:lnTo>
                </a:path>
              </a:pathLst>
            </a:custGeom>
            <a:noFill/>
            <a:ln w="4762">
              <a:solidFill>
                <a:srgbClr val="E0E0E0"/>
              </a:solidFill>
            </a:ln>
          </p:spPr>
        </p:sp>
        <p:sp>
          <p:nvSpPr>
            <p:cNvPr id="50" name="Line 50"/>
            <p:cNvSpPr/>
            <p:nvPr/>
          </p:nvSpPr>
          <p:spPr>
            <a:xfrm>
              <a:off x="852773" y="3345561"/>
              <a:ext cx="9525" cy="427196"/>
            </a:xfrm>
            <a:custGeom>
              <a:avLst/>
              <a:gdLst/>
              <a:ahLst/>
              <a:cxnLst/>
              <a:rect l="l" t="t" r="r" b="b"/>
              <a:pathLst>
                <a:path w="9525" h="427196">
                  <a:moveTo>
                    <a:pt x="0" y="0"/>
                  </a:moveTo>
                  <a:lnTo>
                    <a:pt x="0" y="427196"/>
                  </a:lnTo>
                </a:path>
              </a:pathLst>
            </a:custGeom>
            <a:noFill/>
            <a:ln w="4762">
              <a:solidFill>
                <a:srgbClr val="E0E0E0"/>
              </a:solidFill>
            </a:ln>
          </p:spPr>
        </p:sp>
        <p:sp>
          <p:nvSpPr>
            <p:cNvPr id="51" name="TextBox 51"/>
            <p:cNvSpPr txBox="1"/>
            <p:nvPr/>
          </p:nvSpPr>
          <p:spPr>
            <a:xfrm>
              <a:off x="1403452" y="3429572"/>
              <a:ext cx="318821" cy="195072"/>
            </a:xfrm>
            <a:prstGeom prst="rect">
              <a:avLst/>
            </a:prstGeom>
            <a:noFill/>
            <a:ln>
              <a:noFill/>
            </a:ln>
          </p:spPr>
          <p:txBody>
            <a:bodyPr wrap="none" lIns="0" tIns="0" rIns="0" bIns="0" anchor="t" anchorCtr="0">
              <a:spAutoFit/>
            </a:bodyPr>
            <a:lstStyle/>
            <a:p>
              <a:pPr algn="ctr"/>
              <a:r>
                <a:rPr lang="zh-CN" sz="960" b="1" dirty="0">
                  <a:solidFill>
                    <a:srgbClr val="0070F3"/>
                  </a:solidFill>
                  <a:latin typeface="Times New Roman" panose="02020503050405090304"/>
                  <a:ea typeface="宋体"/>
                  <a:cs typeface="Times New Roman" panose="02020503050405090304"/>
                </a:rPr>
                <a:t>技术</a:t>
              </a:r>
              <a:endParaRPr lang="zh-CN" sz="960" b="1" dirty="0">
                <a:solidFill>
                  <a:srgbClr val="0070F3"/>
                </a:solidFill>
                <a:latin typeface="Times New Roman" panose="02020503050405090304"/>
                <a:ea typeface="宋体"/>
                <a:cs typeface="Times New Roman" panose="02020503050405090304"/>
              </a:endParaRPr>
            </a:p>
          </p:txBody>
        </p:sp>
        <p:sp>
          <p:nvSpPr>
            <p:cNvPr id="52" name="TextBox 52"/>
            <p:cNvSpPr txBox="1"/>
            <p:nvPr/>
          </p:nvSpPr>
          <p:spPr>
            <a:xfrm>
              <a:off x="1219048" y="3618090"/>
              <a:ext cx="687629" cy="117043"/>
            </a:xfrm>
            <a:prstGeom prst="rect">
              <a:avLst/>
            </a:prstGeom>
            <a:noFill/>
            <a:ln>
              <a:noFill/>
            </a:ln>
          </p:spPr>
          <p:txBody>
            <a:bodyPr wrap="none" lIns="0" tIns="0" rIns="0" bIns="0" anchor="t" anchorCtr="0">
              <a:spAutoFit/>
            </a:bodyPr>
            <a:lstStyle/>
            <a:p>
              <a:pPr algn="ctr"/>
              <a:r>
                <a:rPr lang="zh-CN" sz="575" dirty="0">
                  <a:solidFill>
                    <a:srgbClr val="0A0A0A"/>
                  </a:solidFill>
                  <a:latin typeface="Arial" panose="020B0604020202090204"/>
                  <a:ea typeface="微软雅黑"/>
                  <a:cs typeface="Arial" panose="020B0604020202090204"/>
                </a:rPr>
                <a:t>加速基础设施投资</a:t>
              </a:r>
              <a:endParaRPr lang="zh-CN" sz="575" dirty="0">
                <a:solidFill>
                  <a:srgbClr val="0A0A0A"/>
                </a:solidFill>
                <a:latin typeface="Arial" panose="020B0604020202090204"/>
                <a:ea typeface="微软雅黑"/>
                <a:cs typeface="Arial" panose="020B0604020202090204"/>
              </a:endParaRPr>
            </a:p>
          </p:txBody>
        </p:sp>
        <p:sp>
          <p:nvSpPr>
            <p:cNvPr id="53" name="Rectangle 53"/>
            <p:cNvSpPr/>
            <p:nvPr/>
          </p:nvSpPr>
          <p:spPr>
            <a:xfrm>
              <a:off x="2333911" y="3345561"/>
              <a:ext cx="1420178" cy="427196"/>
            </a:xfrm>
            <a:prstGeom prst="roundRect">
              <a:avLst>
                <a:gd name="adj" fmla="val 11416"/>
              </a:avLst>
            </a:prstGeom>
            <a:solidFill>
              <a:srgbClr val="FFFFFF"/>
            </a:solidFill>
            <a:ln>
              <a:noFill/>
            </a:ln>
          </p:spPr>
        </p:sp>
        <p:sp>
          <p:nvSpPr>
            <p:cNvPr id="54" name="Line 54"/>
            <p:cNvSpPr/>
            <p:nvPr/>
          </p:nvSpPr>
          <p:spPr>
            <a:xfrm>
              <a:off x="2333911" y="3345561"/>
              <a:ext cx="1420178" cy="9525"/>
            </a:xfrm>
            <a:custGeom>
              <a:avLst/>
              <a:gdLst/>
              <a:ahLst/>
              <a:cxnLst/>
              <a:rect l="l" t="t" r="r" b="b"/>
              <a:pathLst>
                <a:path w="1420178" h="9525">
                  <a:moveTo>
                    <a:pt x="0" y="0"/>
                  </a:moveTo>
                  <a:lnTo>
                    <a:pt x="1420178" y="0"/>
                  </a:lnTo>
                </a:path>
              </a:pathLst>
            </a:custGeom>
            <a:noFill/>
            <a:ln w="4762">
              <a:solidFill>
                <a:srgbClr val="E0E0E0"/>
              </a:solidFill>
            </a:ln>
          </p:spPr>
        </p:sp>
        <p:sp>
          <p:nvSpPr>
            <p:cNvPr id="55" name="Line 55"/>
            <p:cNvSpPr/>
            <p:nvPr/>
          </p:nvSpPr>
          <p:spPr>
            <a:xfrm>
              <a:off x="3754088" y="3345561"/>
              <a:ext cx="9525" cy="427196"/>
            </a:xfrm>
            <a:custGeom>
              <a:avLst/>
              <a:gdLst/>
              <a:ahLst/>
              <a:cxnLst/>
              <a:rect l="l" t="t" r="r" b="b"/>
              <a:pathLst>
                <a:path w="9525" h="427196">
                  <a:moveTo>
                    <a:pt x="0" y="0"/>
                  </a:moveTo>
                  <a:lnTo>
                    <a:pt x="0" y="427196"/>
                  </a:lnTo>
                </a:path>
              </a:pathLst>
            </a:custGeom>
            <a:noFill/>
            <a:ln w="4762">
              <a:solidFill>
                <a:srgbClr val="E0E0E0"/>
              </a:solidFill>
            </a:ln>
          </p:spPr>
        </p:sp>
        <p:sp>
          <p:nvSpPr>
            <p:cNvPr id="56" name="Line 56"/>
            <p:cNvSpPr/>
            <p:nvPr/>
          </p:nvSpPr>
          <p:spPr>
            <a:xfrm>
              <a:off x="2333911" y="3772757"/>
              <a:ext cx="1420178" cy="9525"/>
            </a:xfrm>
            <a:custGeom>
              <a:avLst/>
              <a:gdLst/>
              <a:ahLst/>
              <a:cxnLst/>
              <a:rect l="l" t="t" r="r" b="b"/>
              <a:pathLst>
                <a:path w="1420178" h="9525">
                  <a:moveTo>
                    <a:pt x="0" y="0"/>
                  </a:moveTo>
                  <a:lnTo>
                    <a:pt x="1420178" y="0"/>
                  </a:lnTo>
                </a:path>
              </a:pathLst>
            </a:custGeom>
            <a:noFill/>
            <a:ln w="4762">
              <a:solidFill>
                <a:srgbClr val="E0E0E0"/>
              </a:solidFill>
            </a:ln>
          </p:spPr>
        </p:sp>
        <p:sp>
          <p:nvSpPr>
            <p:cNvPr id="57" name="Line 57"/>
            <p:cNvSpPr/>
            <p:nvPr/>
          </p:nvSpPr>
          <p:spPr>
            <a:xfrm>
              <a:off x="2333911" y="3345561"/>
              <a:ext cx="9525" cy="427196"/>
            </a:xfrm>
            <a:custGeom>
              <a:avLst/>
              <a:gdLst/>
              <a:ahLst/>
              <a:cxnLst/>
              <a:rect l="l" t="t" r="r" b="b"/>
              <a:pathLst>
                <a:path w="9525" h="427196">
                  <a:moveTo>
                    <a:pt x="0" y="0"/>
                  </a:moveTo>
                  <a:lnTo>
                    <a:pt x="0" y="427196"/>
                  </a:lnTo>
                </a:path>
              </a:pathLst>
            </a:custGeom>
            <a:noFill/>
            <a:ln w="4762">
              <a:solidFill>
                <a:srgbClr val="E0E0E0"/>
              </a:solidFill>
            </a:ln>
          </p:spPr>
        </p:sp>
        <p:sp>
          <p:nvSpPr>
            <p:cNvPr id="58" name="TextBox 58"/>
            <p:cNvSpPr txBox="1"/>
            <p:nvPr/>
          </p:nvSpPr>
          <p:spPr>
            <a:xfrm>
              <a:off x="2884589" y="3429572"/>
              <a:ext cx="318821" cy="195072"/>
            </a:xfrm>
            <a:prstGeom prst="rect">
              <a:avLst/>
            </a:prstGeom>
            <a:noFill/>
            <a:ln>
              <a:noFill/>
            </a:ln>
          </p:spPr>
          <p:txBody>
            <a:bodyPr wrap="none" lIns="0" tIns="0" rIns="0" bIns="0" anchor="t" anchorCtr="0">
              <a:spAutoFit/>
            </a:bodyPr>
            <a:lstStyle/>
            <a:p>
              <a:pPr algn="ctr"/>
              <a:r>
                <a:rPr lang="zh-CN" sz="960" b="1" dirty="0">
                  <a:solidFill>
                    <a:srgbClr val="0070F3"/>
                  </a:solidFill>
                  <a:latin typeface="Times New Roman" panose="02020503050405090304"/>
                  <a:ea typeface="宋体"/>
                  <a:cs typeface="Times New Roman" panose="02020503050405090304"/>
                </a:rPr>
                <a:t>人才</a:t>
              </a:r>
              <a:endParaRPr lang="zh-CN" sz="960" b="1" dirty="0">
                <a:solidFill>
                  <a:srgbClr val="0070F3"/>
                </a:solidFill>
                <a:latin typeface="Times New Roman" panose="02020503050405090304"/>
                <a:ea typeface="宋体"/>
                <a:cs typeface="Times New Roman" panose="02020503050405090304"/>
              </a:endParaRPr>
            </a:p>
          </p:txBody>
        </p:sp>
        <p:sp>
          <p:nvSpPr>
            <p:cNvPr id="59" name="TextBox 59"/>
            <p:cNvSpPr txBox="1"/>
            <p:nvPr/>
          </p:nvSpPr>
          <p:spPr>
            <a:xfrm>
              <a:off x="2735938" y="3618090"/>
              <a:ext cx="616123" cy="117043"/>
            </a:xfrm>
            <a:prstGeom prst="rect">
              <a:avLst/>
            </a:prstGeom>
            <a:noFill/>
            <a:ln>
              <a:noFill/>
            </a:ln>
          </p:spPr>
          <p:txBody>
            <a:bodyPr wrap="none" lIns="0" tIns="0" rIns="0" bIns="0" anchor="t" anchorCtr="0">
              <a:spAutoFit/>
            </a:bodyPr>
            <a:lstStyle/>
            <a:p>
              <a:pPr algn="ctr"/>
              <a:r>
                <a:rPr lang="zh-CN" sz="575" dirty="0">
                  <a:solidFill>
                    <a:srgbClr val="0A0A0A"/>
                  </a:solidFill>
                  <a:latin typeface="Arial" panose="020B0604020202090204"/>
                  <a:ea typeface="微软雅黑"/>
                  <a:cs typeface="Arial" panose="020B0604020202090204"/>
                </a:rPr>
                <a:t>建立 AI卓越中心</a:t>
              </a:r>
              <a:endParaRPr lang="zh-CN" sz="575" dirty="0">
                <a:solidFill>
                  <a:srgbClr val="0A0A0A"/>
                </a:solidFill>
                <a:latin typeface="Arial" panose="020B0604020202090204"/>
                <a:ea typeface="微软雅黑"/>
                <a:cs typeface="Arial" panose="020B0604020202090204"/>
              </a:endParaRPr>
            </a:p>
          </p:txBody>
        </p:sp>
        <p:sp>
          <p:nvSpPr>
            <p:cNvPr id="60" name="Rectangle 60"/>
            <p:cNvSpPr/>
            <p:nvPr/>
          </p:nvSpPr>
          <p:spPr>
            <a:xfrm>
              <a:off x="3815048" y="3345561"/>
              <a:ext cx="1420178" cy="427196"/>
            </a:xfrm>
            <a:prstGeom prst="roundRect">
              <a:avLst>
                <a:gd name="adj" fmla="val 11416"/>
              </a:avLst>
            </a:prstGeom>
            <a:solidFill>
              <a:srgbClr val="FFFFFF"/>
            </a:solidFill>
            <a:ln>
              <a:noFill/>
            </a:ln>
          </p:spPr>
        </p:sp>
        <p:sp>
          <p:nvSpPr>
            <p:cNvPr id="61" name="Line 61"/>
            <p:cNvSpPr/>
            <p:nvPr/>
          </p:nvSpPr>
          <p:spPr>
            <a:xfrm>
              <a:off x="3815048" y="3345561"/>
              <a:ext cx="1420178" cy="9525"/>
            </a:xfrm>
            <a:custGeom>
              <a:avLst/>
              <a:gdLst/>
              <a:ahLst/>
              <a:cxnLst/>
              <a:rect l="l" t="t" r="r" b="b"/>
              <a:pathLst>
                <a:path w="1420178" h="9525">
                  <a:moveTo>
                    <a:pt x="0" y="0"/>
                  </a:moveTo>
                  <a:lnTo>
                    <a:pt x="1420178" y="0"/>
                  </a:lnTo>
                </a:path>
              </a:pathLst>
            </a:custGeom>
            <a:noFill/>
            <a:ln w="4762">
              <a:solidFill>
                <a:srgbClr val="E0E0E0"/>
              </a:solidFill>
            </a:ln>
          </p:spPr>
        </p:sp>
        <p:sp>
          <p:nvSpPr>
            <p:cNvPr id="62" name="Line 62"/>
            <p:cNvSpPr/>
            <p:nvPr/>
          </p:nvSpPr>
          <p:spPr>
            <a:xfrm>
              <a:off x="5235226" y="3345561"/>
              <a:ext cx="9525" cy="427196"/>
            </a:xfrm>
            <a:custGeom>
              <a:avLst/>
              <a:gdLst/>
              <a:ahLst/>
              <a:cxnLst/>
              <a:rect l="l" t="t" r="r" b="b"/>
              <a:pathLst>
                <a:path w="9525" h="427196">
                  <a:moveTo>
                    <a:pt x="0" y="0"/>
                  </a:moveTo>
                  <a:lnTo>
                    <a:pt x="0" y="427196"/>
                  </a:lnTo>
                </a:path>
              </a:pathLst>
            </a:custGeom>
            <a:noFill/>
            <a:ln w="4762">
              <a:solidFill>
                <a:srgbClr val="E0E0E0"/>
              </a:solidFill>
            </a:ln>
          </p:spPr>
        </p:sp>
        <p:sp>
          <p:nvSpPr>
            <p:cNvPr id="63" name="Line 63"/>
            <p:cNvSpPr/>
            <p:nvPr/>
          </p:nvSpPr>
          <p:spPr>
            <a:xfrm>
              <a:off x="3815048" y="3772757"/>
              <a:ext cx="1420178" cy="9525"/>
            </a:xfrm>
            <a:custGeom>
              <a:avLst/>
              <a:gdLst/>
              <a:ahLst/>
              <a:cxnLst/>
              <a:rect l="l" t="t" r="r" b="b"/>
              <a:pathLst>
                <a:path w="1420178" h="9525">
                  <a:moveTo>
                    <a:pt x="0" y="0"/>
                  </a:moveTo>
                  <a:lnTo>
                    <a:pt x="1420178" y="0"/>
                  </a:lnTo>
                </a:path>
              </a:pathLst>
            </a:custGeom>
            <a:noFill/>
            <a:ln w="4762">
              <a:solidFill>
                <a:srgbClr val="E0E0E0"/>
              </a:solidFill>
            </a:ln>
          </p:spPr>
        </p:sp>
        <p:sp>
          <p:nvSpPr>
            <p:cNvPr id="64" name="Line 64"/>
            <p:cNvSpPr/>
            <p:nvPr/>
          </p:nvSpPr>
          <p:spPr>
            <a:xfrm>
              <a:off x="3815048" y="3345561"/>
              <a:ext cx="9525" cy="427196"/>
            </a:xfrm>
            <a:custGeom>
              <a:avLst/>
              <a:gdLst/>
              <a:ahLst/>
              <a:cxnLst/>
              <a:rect l="l" t="t" r="r" b="b"/>
              <a:pathLst>
                <a:path w="9525" h="427196">
                  <a:moveTo>
                    <a:pt x="0" y="0"/>
                  </a:moveTo>
                  <a:lnTo>
                    <a:pt x="0" y="427196"/>
                  </a:lnTo>
                </a:path>
              </a:pathLst>
            </a:custGeom>
            <a:noFill/>
            <a:ln w="4762">
              <a:solidFill>
                <a:srgbClr val="E0E0E0"/>
              </a:solidFill>
            </a:ln>
          </p:spPr>
        </p:sp>
        <p:sp>
          <p:nvSpPr>
            <p:cNvPr id="65" name="TextBox 65"/>
            <p:cNvSpPr txBox="1"/>
            <p:nvPr/>
          </p:nvSpPr>
          <p:spPr>
            <a:xfrm>
              <a:off x="4365727" y="3429572"/>
              <a:ext cx="318821" cy="195072"/>
            </a:xfrm>
            <a:prstGeom prst="rect">
              <a:avLst/>
            </a:prstGeom>
            <a:noFill/>
            <a:ln>
              <a:noFill/>
            </a:ln>
          </p:spPr>
          <p:txBody>
            <a:bodyPr wrap="none" lIns="0" tIns="0" rIns="0" bIns="0" anchor="t" anchorCtr="0">
              <a:spAutoFit/>
            </a:bodyPr>
            <a:lstStyle/>
            <a:p>
              <a:pPr algn="ctr"/>
              <a:r>
                <a:rPr lang="zh-CN" sz="960" b="1" dirty="0">
                  <a:solidFill>
                    <a:srgbClr val="0070F3"/>
                  </a:solidFill>
                  <a:latin typeface="Times New Roman" panose="02020503050405090304"/>
                  <a:ea typeface="宋体"/>
                  <a:cs typeface="Times New Roman" panose="02020503050405090304"/>
                </a:rPr>
                <a:t>治理</a:t>
              </a:r>
              <a:endParaRPr lang="zh-CN" sz="960" b="1" dirty="0">
                <a:solidFill>
                  <a:srgbClr val="0070F3"/>
                </a:solidFill>
                <a:latin typeface="Times New Roman" panose="02020503050405090304"/>
                <a:ea typeface="宋体"/>
                <a:cs typeface="Times New Roman" panose="02020503050405090304"/>
              </a:endParaRPr>
            </a:p>
          </p:txBody>
        </p:sp>
        <p:sp>
          <p:nvSpPr>
            <p:cNvPr id="66" name="TextBox 66"/>
            <p:cNvSpPr txBox="1"/>
            <p:nvPr/>
          </p:nvSpPr>
          <p:spPr>
            <a:xfrm>
              <a:off x="4181323" y="3618090"/>
              <a:ext cx="687629" cy="117043"/>
            </a:xfrm>
            <a:prstGeom prst="rect">
              <a:avLst/>
            </a:prstGeom>
            <a:noFill/>
            <a:ln>
              <a:noFill/>
            </a:ln>
          </p:spPr>
          <p:txBody>
            <a:bodyPr wrap="none" lIns="0" tIns="0" rIns="0" bIns="0" anchor="t" anchorCtr="0">
              <a:spAutoFit/>
            </a:bodyPr>
            <a:lstStyle/>
            <a:p>
              <a:pPr algn="ctr"/>
              <a:r>
                <a:rPr lang="zh-CN" sz="575" dirty="0">
                  <a:solidFill>
                    <a:srgbClr val="0A0A0A"/>
                  </a:solidFill>
                  <a:latin typeface="Arial" panose="020B0604020202090204"/>
                  <a:ea typeface="微软雅黑"/>
                  <a:cs typeface="Arial" panose="020B0604020202090204"/>
                </a:rPr>
                <a:t>完善伦理合规框架</a:t>
              </a:r>
              <a:endParaRPr lang="zh-CN" sz="575" dirty="0">
                <a:solidFill>
                  <a:srgbClr val="0A0A0A"/>
                </a:solidFill>
                <a:latin typeface="Arial" panose="020B0604020202090204"/>
                <a:ea typeface="微软雅黑"/>
                <a:cs typeface="Arial" panose="020B0604020202090204"/>
              </a:endParaRPr>
            </a:p>
          </p:txBody>
        </p:sp>
        <p:grpSp>
          <p:nvGrpSpPr>
            <p:cNvPr id="116" name="Group 116"/>
            <p:cNvGrpSpPr/>
            <p:nvPr/>
          </p:nvGrpSpPr>
          <p:grpSpPr>
            <a:xfrm>
              <a:off x="5478970" y="750760"/>
              <a:ext cx="5981552" cy="4225155"/>
              <a:chOff x="5478970" y="750760"/>
              <a:chExt cx="5981552" cy="4225155"/>
            </a:xfrm>
          </p:grpSpPr>
          <p:sp>
            <p:nvSpPr>
              <p:cNvPr id="67" name="Rectangle 67"/>
              <p:cNvSpPr/>
              <p:nvPr/>
            </p:nvSpPr>
            <p:spPr>
              <a:xfrm>
                <a:off x="5478970" y="750760"/>
                <a:ext cx="5981552" cy="4225155"/>
              </a:xfrm>
              <a:prstGeom prst="rect">
                <a:avLst/>
              </a:prstGeom>
              <a:solidFill>
                <a:srgbClr val="FFFFFF"/>
              </a:solidFill>
              <a:ln>
                <a:noFill/>
              </a:ln>
            </p:spPr>
          </p:sp>
          <p:sp>
            <p:nvSpPr>
              <p:cNvPr id="68" name="Line 68"/>
              <p:cNvSpPr/>
              <p:nvPr/>
            </p:nvSpPr>
            <p:spPr>
              <a:xfrm>
                <a:off x="5837864" y="4251603"/>
                <a:ext cx="5263766" cy="9525"/>
              </a:xfrm>
              <a:custGeom>
                <a:avLst/>
                <a:gdLst/>
                <a:ahLst/>
                <a:cxnLst/>
                <a:rect l="l" t="t" r="r" b="b"/>
                <a:pathLst>
                  <a:path w="5263766" h="9525">
                    <a:moveTo>
                      <a:pt x="0" y="0"/>
                    </a:moveTo>
                    <a:lnTo>
                      <a:pt x="5263766" y="0"/>
                    </a:lnTo>
                  </a:path>
                </a:pathLst>
              </a:custGeom>
              <a:noFill/>
              <a:ln w="19050">
                <a:solidFill>
                  <a:srgbClr val="D4AF37"/>
                </a:solidFill>
              </a:ln>
            </p:spPr>
          </p:sp>
          <p:sp>
            <p:nvSpPr>
              <p:cNvPr id="69" name="Ellipse 69"/>
              <p:cNvSpPr/>
              <p:nvPr/>
            </p:nvSpPr>
            <p:spPr>
              <a:xfrm>
                <a:off x="6376203" y="4191244"/>
                <a:ext cx="119631" cy="120719"/>
              </a:xfrm>
              <a:prstGeom prst="ellipse">
                <a:avLst/>
              </a:prstGeom>
              <a:solidFill>
                <a:srgbClr val="0070F3"/>
              </a:solidFill>
              <a:ln>
                <a:noFill/>
              </a:ln>
            </p:spPr>
          </p:sp>
          <p:sp>
            <p:nvSpPr>
              <p:cNvPr id="70" name="TextBox 70"/>
              <p:cNvSpPr txBox="1"/>
              <p:nvPr/>
            </p:nvSpPr>
            <p:spPr>
              <a:xfrm>
                <a:off x="6304194" y="4350592"/>
                <a:ext cx="263650" cy="154520"/>
              </a:xfrm>
              <a:prstGeom prst="rect">
                <a:avLst/>
              </a:prstGeom>
              <a:noFill/>
              <a:ln>
                <a:noFill/>
              </a:ln>
            </p:spPr>
            <p:txBody>
              <a:bodyPr wrap="none" lIns="0" tIns="0" rIns="0" bIns="0" anchor="t" anchorCtr="0">
                <a:spAutoFit/>
              </a:bodyPr>
              <a:lstStyle/>
              <a:p>
                <a:pPr algn="ctr"/>
                <a:r>
                  <a:rPr lang="zh-CN" sz="760" dirty="0">
                    <a:solidFill>
                      <a:srgbClr val="0A0A0A"/>
                    </a:solidFill>
                    <a:latin typeface="Arial" panose="020B0604020202090204"/>
                    <a:ea typeface="微软雅黑"/>
                    <a:cs typeface="Arial" panose="020B0604020202090204"/>
                  </a:rPr>
                  <a:t>2025</a:t>
                </a:r>
                <a:endParaRPr lang="zh-CN" sz="760" dirty="0">
                  <a:solidFill>
                    <a:srgbClr val="0A0A0A"/>
                  </a:solidFill>
                  <a:latin typeface="Arial" panose="020B0604020202090204"/>
                  <a:ea typeface="微软雅黑"/>
                  <a:cs typeface="Arial" panose="020B0604020202090204"/>
                </a:endParaRPr>
              </a:p>
            </p:txBody>
          </p:sp>
          <p:sp>
            <p:nvSpPr>
              <p:cNvPr id="71" name="Ellipse 71"/>
              <p:cNvSpPr/>
              <p:nvPr/>
            </p:nvSpPr>
            <p:spPr>
              <a:xfrm>
                <a:off x="7452883" y="4191244"/>
                <a:ext cx="119631" cy="120719"/>
              </a:xfrm>
              <a:prstGeom prst="ellipse">
                <a:avLst/>
              </a:prstGeom>
              <a:solidFill>
                <a:srgbClr val="0070F3"/>
              </a:solidFill>
              <a:ln>
                <a:noFill/>
              </a:ln>
            </p:spPr>
          </p:sp>
          <p:sp>
            <p:nvSpPr>
              <p:cNvPr id="72" name="TextBox 72"/>
              <p:cNvSpPr txBox="1"/>
              <p:nvPr/>
            </p:nvSpPr>
            <p:spPr>
              <a:xfrm>
                <a:off x="7380873" y="4350592"/>
                <a:ext cx="263650" cy="154520"/>
              </a:xfrm>
              <a:prstGeom prst="rect">
                <a:avLst/>
              </a:prstGeom>
              <a:noFill/>
              <a:ln>
                <a:noFill/>
              </a:ln>
            </p:spPr>
            <p:txBody>
              <a:bodyPr wrap="none" lIns="0" tIns="0" rIns="0" bIns="0" anchor="t" anchorCtr="0">
                <a:spAutoFit/>
              </a:bodyPr>
              <a:lstStyle/>
              <a:p>
                <a:pPr algn="ctr"/>
                <a:r>
                  <a:rPr lang="zh-CN" sz="760" dirty="0">
                    <a:solidFill>
                      <a:srgbClr val="0A0A0A"/>
                    </a:solidFill>
                    <a:latin typeface="Arial" panose="020B0604020202090204"/>
                    <a:ea typeface="微软雅黑"/>
                    <a:cs typeface="Arial" panose="020B0604020202090204"/>
                  </a:rPr>
                  <a:t>2026</a:t>
                </a:r>
                <a:endParaRPr lang="zh-CN" sz="760" dirty="0">
                  <a:solidFill>
                    <a:srgbClr val="0A0A0A"/>
                  </a:solidFill>
                  <a:latin typeface="Arial" panose="020B0604020202090204"/>
                  <a:ea typeface="微软雅黑"/>
                  <a:cs typeface="Arial" panose="020B0604020202090204"/>
                </a:endParaRPr>
              </a:p>
            </p:txBody>
          </p:sp>
          <p:sp>
            <p:nvSpPr>
              <p:cNvPr id="73" name="Ellipse 73"/>
              <p:cNvSpPr/>
              <p:nvPr/>
            </p:nvSpPr>
            <p:spPr>
              <a:xfrm>
                <a:off x="8529562" y="4191244"/>
                <a:ext cx="119631" cy="120719"/>
              </a:xfrm>
              <a:prstGeom prst="ellipse">
                <a:avLst/>
              </a:prstGeom>
              <a:solidFill>
                <a:srgbClr val="0070F3"/>
              </a:solidFill>
              <a:ln>
                <a:noFill/>
              </a:ln>
            </p:spPr>
          </p:sp>
          <p:sp>
            <p:nvSpPr>
              <p:cNvPr id="74" name="TextBox 74"/>
              <p:cNvSpPr txBox="1"/>
              <p:nvPr/>
            </p:nvSpPr>
            <p:spPr>
              <a:xfrm>
                <a:off x="8457553" y="4350592"/>
                <a:ext cx="263650" cy="154520"/>
              </a:xfrm>
              <a:prstGeom prst="rect">
                <a:avLst/>
              </a:prstGeom>
              <a:noFill/>
              <a:ln>
                <a:noFill/>
              </a:ln>
            </p:spPr>
            <p:txBody>
              <a:bodyPr wrap="none" lIns="0" tIns="0" rIns="0" bIns="0" anchor="t" anchorCtr="0">
                <a:spAutoFit/>
              </a:bodyPr>
              <a:lstStyle/>
              <a:p>
                <a:pPr algn="ctr"/>
                <a:r>
                  <a:rPr lang="zh-CN" sz="760" dirty="0">
                    <a:solidFill>
                      <a:srgbClr val="0A0A0A"/>
                    </a:solidFill>
                    <a:latin typeface="Arial" panose="020B0604020202090204"/>
                    <a:ea typeface="微软雅黑"/>
                    <a:cs typeface="Arial" panose="020B0604020202090204"/>
                  </a:rPr>
                  <a:t>2027</a:t>
                </a:r>
                <a:endParaRPr lang="zh-CN" sz="760" dirty="0">
                  <a:solidFill>
                    <a:srgbClr val="0A0A0A"/>
                  </a:solidFill>
                  <a:latin typeface="Arial" panose="020B0604020202090204"/>
                  <a:ea typeface="微软雅黑"/>
                  <a:cs typeface="Arial" panose="020B0604020202090204"/>
                </a:endParaRPr>
              </a:p>
            </p:txBody>
          </p:sp>
          <p:sp>
            <p:nvSpPr>
              <p:cNvPr id="75" name="Ellipse 75"/>
              <p:cNvSpPr/>
              <p:nvPr/>
            </p:nvSpPr>
            <p:spPr>
              <a:xfrm>
                <a:off x="9606242" y="4191244"/>
                <a:ext cx="119631" cy="120719"/>
              </a:xfrm>
              <a:prstGeom prst="ellipse">
                <a:avLst/>
              </a:prstGeom>
              <a:solidFill>
                <a:srgbClr val="0070F3"/>
              </a:solidFill>
              <a:ln>
                <a:noFill/>
              </a:ln>
            </p:spPr>
          </p:sp>
          <p:sp>
            <p:nvSpPr>
              <p:cNvPr id="76" name="TextBox 76"/>
              <p:cNvSpPr txBox="1"/>
              <p:nvPr/>
            </p:nvSpPr>
            <p:spPr>
              <a:xfrm>
                <a:off x="9534232" y="4350592"/>
                <a:ext cx="263650" cy="154520"/>
              </a:xfrm>
              <a:prstGeom prst="rect">
                <a:avLst/>
              </a:prstGeom>
              <a:noFill/>
              <a:ln>
                <a:noFill/>
              </a:ln>
            </p:spPr>
            <p:txBody>
              <a:bodyPr wrap="none" lIns="0" tIns="0" rIns="0" bIns="0" anchor="t" anchorCtr="0">
                <a:spAutoFit/>
              </a:bodyPr>
              <a:lstStyle/>
              <a:p>
                <a:pPr algn="ctr"/>
                <a:r>
                  <a:rPr lang="zh-CN" sz="760" dirty="0">
                    <a:solidFill>
                      <a:srgbClr val="0A0A0A"/>
                    </a:solidFill>
                    <a:latin typeface="Arial" panose="020B0604020202090204"/>
                    <a:ea typeface="微软雅黑"/>
                    <a:cs typeface="Arial" panose="020B0604020202090204"/>
                  </a:rPr>
                  <a:t>2028</a:t>
                </a:r>
                <a:endParaRPr lang="zh-CN" sz="760" dirty="0">
                  <a:solidFill>
                    <a:srgbClr val="0A0A0A"/>
                  </a:solidFill>
                  <a:latin typeface="Arial" panose="020B0604020202090204"/>
                  <a:ea typeface="微软雅黑"/>
                  <a:cs typeface="Arial" panose="020B0604020202090204"/>
                </a:endParaRPr>
              </a:p>
            </p:txBody>
          </p:sp>
          <p:sp>
            <p:nvSpPr>
              <p:cNvPr id="77" name="Ellipse 77"/>
              <p:cNvSpPr/>
              <p:nvPr/>
            </p:nvSpPr>
            <p:spPr>
              <a:xfrm>
                <a:off x="10443659" y="4191244"/>
                <a:ext cx="119631" cy="120719"/>
              </a:xfrm>
              <a:prstGeom prst="ellipse">
                <a:avLst/>
              </a:prstGeom>
              <a:solidFill>
                <a:srgbClr val="D4AF37"/>
              </a:solidFill>
              <a:ln>
                <a:noFill/>
              </a:ln>
            </p:spPr>
          </p:sp>
          <p:sp>
            <p:nvSpPr>
              <p:cNvPr id="78" name="TextBox 78"/>
              <p:cNvSpPr txBox="1"/>
              <p:nvPr/>
            </p:nvSpPr>
            <p:spPr>
              <a:xfrm>
                <a:off x="10371650" y="4350592"/>
                <a:ext cx="263650" cy="154520"/>
              </a:xfrm>
              <a:prstGeom prst="rect">
                <a:avLst/>
              </a:prstGeom>
              <a:noFill/>
              <a:ln>
                <a:noFill/>
              </a:ln>
            </p:spPr>
            <p:txBody>
              <a:bodyPr wrap="none" lIns="0" tIns="0" rIns="0" bIns="0" anchor="t" anchorCtr="0">
                <a:spAutoFit/>
              </a:bodyPr>
              <a:lstStyle/>
              <a:p>
                <a:pPr algn="ctr"/>
                <a:r>
                  <a:rPr lang="zh-CN" sz="760" dirty="0">
                    <a:solidFill>
                      <a:srgbClr val="D4AF37"/>
                    </a:solidFill>
                    <a:latin typeface="Arial" panose="020B0604020202090204"/>
                    <a:ea typeface="微软雅黑"/>
                    <a:cs typeface="Arial" panose="020B0604020202090204"/>
                  </a:rPr>
                  <a:t>2030</a:t>
                </a:r>
                <a:endParaRPr lang="zh-CN" sz="760" dirty="0">
                  <a:solidFill>
                    <a:srgbClr val="D4AF37"/>
                  </a:solidFill>
                  <a:latin typeface="Arial" panose="020B0604020202090204"/>
                  <a:ea typeface="微软雅黑"/>
                  <a:cs typeface="Arial" panose="020B0604020202090204"/>
                </a:endParaRPr>
              </a:p>
            </p:txBody>
          </p:sp>
          <p:sp>
            <p:nvSpPr>
              <p:cNvPr id="79" name="Rectangle 79"/>
              <p:cNvSpPr/>
              <p:nvPr/>
            </p:nvSpPr>
            <p:spPr>
              <a:xfrm>
                <a:off x="6136941" y="931839"/>
                <a:ext cx="1076679" cy="217294"/>
              </a:xfrm>
              <a:prstGeom prst="roundRect">
                <a:avLst>
                  <a:gd name="adj" fmla="val 16517"/>
                </a:avLst>
              </a:prstGeom>
              <a:solidFill>
                <a:srgbClr val="0070F3"/>
              </a:solidFill>
              <a:ln>
                <a:noFill/>
              </a:ln>
            </p:spPr>
          </p:sp>
          <p:sp>
            <p:nvSpPr>
              <p:cNvPr id="80" name="TextBox 80"/>
              <p:cNvSpPr txBox="1"/>
              <p:nvPr/>
            </p:nvSpPr>
            <p:spPr>
              <a:xfrm>
                <a:off x="6375295" y="1004873"/>
                <a:ext cx="599972" cy="135205"/>
              </a:xfrm>
              <a:prstGeom prst="rect">
                <a:avLst/>
              </a:prstGeom>
              <a:noFill/>
              <a:ln>
                <a:noFill/>
              </a:ln>
            </p:spPr>
            <p:txBody>
              <a:bodyPr wrap="none" lIns="0" tIns="0" rIns="0" bIns="0" anchor="t" anchorCtr="0">
                <a:spAutoFit/>
              </a:bodyPr>
              <a:lstStyle/>
              <a:p>
                <a:pPr algn="ctr"/>
                <a:r>
                  <a:rPr lang="zh-CN" sz="665" dirty="0">
                    <a:solidFill>
                      <a:srgbClr val="FFFFFF"/>
                    </a:solidFill>
                    <a:latin typeface="Arial" panose="020B0604020202090204"/>
                    <a:ea typeface="微软雅黑"/>
                    <a:cs typeface="Arial" panose="020B0604020202090204"/>
                  </a:rPr>
                  <a:t>企业辅助工具</a:t>
                </a:r>
                <a:endParaRPr lang="zh-CN" sz="665" dirty="0">
                  <a:solidFill>
                    <a:srgbClr val="FFFFFF"/>
                  </a:solidFill>
                  <a:latin typeface="Arial" panose="020B0604020202090204"/>
                  <a:ea typeface="微软雅黑"/>
                  <a:cs typeface="Arial" panose="020B0604020202090204"/>
                </a:endParaRPr>
              </a:p>
            </p:txBody>
          </p:sp>
          <p:sp>
            <p:nvSpPr>
              <p:cNvPr id="81" name="Rectangle 81"/>
              <p:cNvSpPr/>
              <p:nvPr/>
            </p:nvSpPr>
            <p:spPr>
              <a:xfrm>
                <a:off x="7751960" y="931839"/>
                <a:ext cx="1076679" cy="217294"/>
              </a:xfrm>
              <a:prstGeom prst="roundRect">
                <a:avLst>
                  <a:gd name="adj" fmla="val 16517"/>
                </a:avLst>
              </a:prstGeom>
              <a:solidFill>
                <a:srgbClr val="0099CC"/>
              </a:solidFill>
              <a:ln>
                <a:noFill/>
              </a:ln>
            </p:spPr>
          </p:sp>
          <p:sp>
            <p:nvSpPr>
              <p:cNvPr id="82" name="TextBox 82"/>
              <p:cNvSpPr txBox="1"/>
              <p:nvPr/>
            </p:nvSpPr>
            <p:spPr>
              <a:xfrm>
                <a:off x="8087493" y="1004873"/>
                <a:ext cx="405615" cy="135205"/>
              </a:xfrm>
              <a:prstGeom prst="rect">
                <a:avLst/>
              </a:prstGeom>
              <a:noFill/>
              <a:ln>
                <a:noFill/>
              </a:ln>
            </p:spPr>
            <p:txBody>
              <a:bodyPr wrap="none" lIns="0" tIns="0" rIns="0" bIns="0" anchor="t" anchorCtr="0">
                <a:spAutoFit/>
              </a:bodyPr>
              <a:lstStyle/>
              <a:p>
                <a:pPr algn="ctr"/>
                <a:r>
                  <a:rPr lang="zh-CN" sz="665" dirty="0">
                    <a:solidFill>
                      <a:srgbClr val="FFFFFF"/>
                    </a:solidFill>
                    <a:latin typeface="Arial" panose="020B0604020202090204"/>
                    <a:ea typeface="微软雅黑"/>
                    <a:cs typeface="Arial" panose="020B0604020202090204"/>
                  </a:rPr>
                  <a:t>深度整合</a:t>
                </a:r>
                <a:endParaRPr lang="zh-CN" sz="665" dirty="0">
                  <a:solidFill>
                    <a:srgbClr val="FFFFFF"/>
                  </a:solidFill>
                  <a:latin typeface="Arial" panose="020B0604020202090204"/>
                  <a:ea typeface="微软雅黑"/>
                  <a:cs typeface="Arial" panose="020B0604020202090204"/>
                </a:endParaRPr>
              </a:p>
            </p:txBody>
          </p:sp>
          <p:sp>
            <p:nvSpPr>
              <p:cNvPr id="83" name="Rectangle 83"/>
              <p:cNvSpPr/>
              <p:nvPr/>
            </p:nvSpPr>
            <p:spPr>
              <a:xfrm>
                <a:off x="9426795" y="931839"/>
                <a:ext cx="1076679" cy="217294"/>
              </a:xfrm>
              <a:prstGeom prst="roundRect">
                <a:avLst>
                  <a:gd name="adj" fmla="val 16517"/>
                </a:avLst>
              </a:prstGeom>
              <a:solidFill>
                <a:srgbClr val="0066AA"/>
              </a:solidFill>
              <a:ln>
                <a:noFill/>
              </a:ln>
            </p:spPr>
          </p:sp>
          <p:sp>
            <p:nvSpPr>
              <p:cNvPr id="84" name="TextBox 84"/>
              <p:cNvSpPr txBox="1"/>
              <p:nvPr/>
            </p:nvSpPr>
            <p:spPr>
              <a:xfrm>
                <a:off x="9665149" y="1004873"/>
                <a:ext cx="599972" cy="135205"/>
              </a:xfrm>
              <a:prstGeom prst="rect">
                <a:avLst/>
              </a:prstGeom>
              <a:noFill/>
              <a:ln>
                <a:noFill/>
              </a:ln>
            </p:spPr>
            <p:txBody>
              <a:bodyPr wrap="none" lIns="0" tIns="0" rIns="0" bIns="0" anchor="t" anchorCtr="0">
                <a:spAutoFit/>
              </a:bodyPr>
              <a:lstStyle/>
              <a:p>
                <a:pPr algn="ctr"/>
                <a:r>
                  <a:rPr lang="zh-CN" sz="665" dirty="0">
                    <a:solidFill>
                      <a:srgbClr val="FFFFFF"/>
                    </a:solidFill>
                    <a:latin typeface="Arial" panose="020B0604020202090204"/>
                    <a:ea typeface="微软雅黑"/>
                    <a:cs typeface="Arial" panose="020B0604020202090204"/>
                  </a:rPr>
                  <a:t>核心基础设施</a:t>
                </a:r>
                <a:endParaRPr lang="zh-CN" sz="665" dirty="0">
                  <a:solidFill>
                    <a:srgbClr val="FFFFFF"/>
                  </a:solidFill>
                  <a:latin typeface="Arial" panose="020B0604020202090204"/>
                  <a:ea typeface="微软雅黑"/>
                  <a:cs typeface="Arial" panose="020B0604020202090204"/>
                </a:endParaRPr>
              </a:p>
            </p:txBody>
          </p:sp>
          <p:sp>
            <p:nvSpPr>
              <p:cNvPr id="85" name="Freeform 85"/>
              <p:cNvSpPr/>
              <p:nvPr/>
            </p:nvSpPr>
            <p:spPr>
              <a:xfrm>
                <a:off x="6436019" y="1354354"/>
                <a:ext cx="4067456" cy="2354015"/>
              </a:xfrm>
              <a:custGeom>
                <a:avLst/>
                <a:gdLst/>
                <a:ahLst/>
                <a:cxnLst/>
                <a:rect l="l" t="t" r="r" b="b"/>
                <a:pathLst>
                  <a:path w="4067456" h="2354015">
                    <a:moveTo>
                      <a:pt x="0" y="2354015"/>
                    </a:moveTo>
                    <a:cubicBezTo>
                      <a:pt x="358893" y="2233296"/>
                      <a:pt x="717786" y="1991859"/>
                      <a:pt x="1076679" y="1750421"/>
                    </a:cubicBezTo>
                    <a:cubicBezTo>
                      <a:pt x="1435573" y="1508984"/>
                      <a:pt x="1794466" y="1207187"/>
                      <a:pt x="2153359" y="905390"/>
                    </a:cubicBezTo>
                    <a:cubicBezTo>
                      <a:pt x="2512252" y="603594"/>
                      <a:pt x="2871145" y="482875"/>
                      <a:pt x="4067456" y="0"/>
                    </a:cubicBezTo>
                  </a:path>
                </a:pathLst>
              </a:custGeom>
              <a:noFill/>
              <a:ln w="19050" cap="rnd">
                <a:solidFill>
                  <a:srgbClr val="D4AF37"/>
                </a:solidFill>
              </a:ln>
            </p:spPr>
          </p:sp>
          <p:sp>
            <p:nvSpPr>
              <p:cNvPr id="86" name="TextBox 86"/>
              <p:cNvSpPr txBox="1"/>
              <p:nvPr/>
            </p:nvSpPr>
            <p:spPr>
              <a:xfrm>
                <a:off x="6427569" y="3817619"/>
                <a:ext cx="357026" cy="135205"/>
              </a:xfrm>
              <a:prstGeom prst="rect">
                <a:avLst/>
              </a:prstGeom>
              <a:noFill/>
              <a:ln>
                <a:noFill/>
              </a:ln>
            </p:spPr>
            <p:txBody>
              <a:bodyPr wrap="none" lIns="0" tIns="0" rIns="0" bIns="0" anchor="t" anchorCtr="0">
                <a:spAutoFit/>
              </a:bodyPr>
              <a:lstStyle/>
              <a:p>
                <a:pPr algn="l"/>
                <a:r>
                  <a:rPr lang="zh-CN" sz="665" dirty="0">
                    <a:solidFill>
                      <a:srgbClr val="0A0A0A"/>
                    </a:solidFill>
                    <a:latin typeface="Arial" panose="020B0604020202090204"/>
                    <a:ea typeface="微软雅黑"/>
                    <a:cs typeface="Arial" panose="020B0604020202090204"/>
                  </a:rPr>
                  <a:t>3,910亿</a:t>
                </a:r>
                <a:endParaRPr lang="zh-CN" sz="665" dirty="0">
                  <a:solidFill>
                    <a:srgbClr val="0A0A0A"/>
                  </a:solidFill>
                  <a:latin typeface="Arial" panose="020B0604020202090204"/>
                  <a:ea typeface="微软雅黑"/>
                  <a:cs typeface="Arial" panose="020B0604020202090204"/>
                </a:endParaRPr>
              </a:p>
            </p:txBody>
          </p:sp>
          <p:sp>
            <p:nvSpPr>
              <p:cNvPr id="87" name="TextBox 87"/>
              <p:cNvSpPr txBox="1"/>
              <p:nvPr/>
            </p:nvSpPr>
            <p:spPr>
              <a:xfrm>
                <a:off x="7504248" y="3214026"/>
                <a:ext cx="381320" cy="135205"/>
              </a:xfrm>
              <a:prstGeom prst="rect">
                <a:avLst/>
              </a:prstGeom>
              <a:noFill/>
              <a:ln>
                <a:noFill/>
              </a:ln>
            </p:spPr>
            <p:txBody>
              <a:bodyPr wrap="none" lIns="0" tIns="0" rIns="0" bIns="0" anchor="t" anchorCtr="0">
                <a:spAutoFit/>
              </a:bodyPr>
              <a:lstStyle/>
              <a:p>
                <a:pPr algn="l"/>
                <a:r>
                  <a:rPr lang="zh-CN" sz="665" dirty="0">
                    <a:solidFill>
                      <a:srgbClr val="0A0A0A"/>
                    </a:solidFill>
                    <a:latin typeface="Arial" panose="020B0604020202090204"/>
                    <a:ea typeface="微软雅黑"/>
                    <a:cs typeface="Arial" panose="020B0604020202090204"/>
                  </a:rPr>
                  <a:t>6,000亿</a:t>
                </a:r>
                <a:endParaRPr lang="zh-CN" sz="665" dirty="0">
                  <a:solidFill>
                    <a:srgbClr val="0A0A0A"/>
                  </a:solidFill>
                  <a:latin typeface="Arial" panose="020B0604020202090204"/>
                  <a:ea typeface="微软雅黑"/>
                  <a:cs typeface="Arial" panose="020B0604020202090204"/>
                </a:endParaRPr>
              </a:p>
            </p:txBody>
          </p:sp>
          <p:sp>
            <p:nvSpPr>
              <p:cNvPr id="88" name="TextBox 88"/>
              <p:cNvSpPr txBox="1"/>
              <p:nvPr/>
            </p:nvSpPr>
            <p:spPr>
              <a:xfrm>
                <a:off x="8580927" y="2368995"/>
                <a:ext cx="323013" cy="135205"/>
              </a:xfrm>
              <a:prstGeom prst="rect">
                <a:avLst/>
              </a:prstGeom>
              <a:noFill/>
              <a:ln>
                <a:noFill/>
              </a:ln>
            </p:spPr>
            <p:txBody>
              <a:bodyPr wrap="none" lIns="0" tIns="0" rIns="0" bIns="0" anchor="t" anchorCtr="0">
                <a:spAutoFit/>
              </a:bodyPr>
              <a:lstStyle/>
              <a:p>
                <a:pPr algn="l"/>
                <a:r>
                  <a:rPr lang="zh-CN" sz="665" dirty="0">
                    <a:solidFill>
                      <a:srgbClr val="0A0A0A"/>
                    </a:solidFill>
                    <a:latin typeface="Arial" panose="020B0604020202090204"/>
                    <a:ea typeface="微软雅黑"/>
                    <a:cs typeface="Arial" panose="020B0604020202090204"/>
                  </a:rPr>
                  <a:t>1.1万亿</a:t>
                </a:r>
                <a:endParaRPr lang="zh-CN" sz="665" dirty="0">
                  <a:solidFill>
                    <a:srgbClr val="0A0A0A"/>
                  </a:solidFill>
                  <a:latin typeface="Arial" panose="020B0604020202090204"/>
                  <a:ea typeface="微软雅黑"/>
                  <a:cs typeface="Arial" panose="020B0604020202090204"/>
                </a:endParaRPr>
              </a:p>
            </p:txBody>
          </p:sp>
          <p:sp>
            <p:nvSpPr>
              <p:cNvPr id="89" name="TextBox 89"/>
              <p:cNvSpPr txBox="1"/>
              <p:nvPr/>
            </p:nvSpPr>
            <p:spPr>
              <a:xfrm>
                <a:off x="10493817" y="1151547"/>
                <a:ext cx="450788" cy="154520"/>
              </a:xfrm>
              <a:prstGeom prst="rect">
                <a:avLst/>
              </a:prstGeom>
              <a:noFill/>
              <a:ln>
                <a:noFill/>
              </a:ln>
            </p:spPr>
            <p:txBody>
              <a:bodyPr wrap="none" lIns="0" tIns="0" rIns="0" bIns="0" anchor="t" anchorCtr="0">
                <a:spAutoFit/>
              </a:bodyPr>
              <a:lstStyle/>
              <a:p>
                <a:pPr algn="l"/>
                <a:r>
                  <a:rPr lang="zh-CN" sz="760" b="1" dirty="0">
                    <a:solidFill>
                      <a:srgbClr val="D4AF37"/>
                    </a:solidFill>
                    <a:latin typeface="Arial" panose="020B0604020202090204"/>
                    <a:ea typeface="微软雅黑"/>
                    <a:cs typeface="Arial" panose="020B0604020202090204"/>
                  </a:rPr>
                  <a:t>1.81万亿</a:t>
                </a:r>
                <a:endParaRPr lang="zh-CN" sz="760" b="1" dirty="0">
                  <a:solidFill>
                    <a:srgbClr val="D4AF37"/>
                  </a:solidFill>
                  <a:latin typeface="Arial" panose="020B0604020202090204"/>
                  <a:ea typeface="微软雅黑"/>
                  <a:cs typeface="Arial" panose="020B0604020202090204"/>
                </a:endParaRPr>
              </a:p>
            </p:txBody>
          </p:sp>
          <p:sp>
            <p:nvSpPr>
              <p:cNvPr id="90" name="Ellipse 90"/>
              <p:cNvSpPr/>
              <p:nvPr/>
            </p:nvSpPr>
            <p:spPr>
              <a:xfrm>
                <a:off x="6364240" y="3575578"/>
                <a:ext cx="143557" cy="144862"/>
              </a:xfrm>
              <a:prstGeom prst="ellipse">
                <a:avLst/>
              </a:prstGeom>
              <a:solidFill>
                <a:srgbClr val="0070F3"/>
              </a:solidFill>
              <a:ln>
                <a:noFill/>
              </a:ln>
            </p:spPr>
          </p:sp>
          <p:sp>
            <p:nvSpPr>
              <p:cNvPr id="91" name="TextBox 91"/>
              <p:cNvSpPr txBox="1"/>
              <p:nvPr/>
            </p:nvSpPr>
            <p:spPr>
              <a:xfrm>
                <a:off x="6412992" y="3612397"/>
                <a:ext cx="46054" cy="135205"/>
              </a:xfrm>
              <a:prstGeom prst="rect">
                <a:avLst/>
              </a:prstGeom>
              <a:noFill/>
              <a:ln>
                <a:noFill/>
              </a:ln>
            </p:spPr>
            <p:txBody>
              <a:bodyPr wrap="none" lIns="0" tIns="0" rIns="0" bIns="0" anchor="t" anchorCtr="0">
                <a:spAutoFit/>
              </a:bodyPr>
              <a:lstStyle/>
              <a:p>
                <a:pPr algn="ctr"/>
                <a:r>
                  <a:rPr lang="zh-CN" sz="665" dirty="0">
                    <a:solidFill>
                      <a:srgbClr val="FFFFFF"/>
                    </a:solidFill>
                    <a:latin typeface="Arial" panose="020B0604020202090204"/>
                    <a:ea typeface="微软雅黑"/>
                    <a:cs typeface="Arial" panose="020B0604020202090204"/>
                  </a:rPr>
                  <a:t>1</a:t>
                </a:r>
                <a:endParaRPr lang="zh-CN" sz="665" dirty="0">
                  <a:solidFill>
                    <a:srgbClr val="FFFFFF"/>
                  </a:solidFill>
                  <a:latin typeface="Arial" panose="020B0604020202090204"/>
                  <a:ea typeface="微软雅黑"/>
                  <a:cs typeface="Arial" panose="020B0604020202090204"/>
                </a:endParaRPr>
              </a:p>
            </p:txBody>
          </p:sp>
          <p:sp>
            <p:nvSpPr>
              <p:cNvPr id="92" name="Rectangle 92"/>
              <p:cNvSpPr/>
              <p:nvPr/>
            </p:nvSpPr>
            <p:spPr>
              <a:xfrm>
                <a:off x="5897679" y="3466931"/>
                <a:ext cx="1076679" cy="362156"/>
              </a:xfrm>
              <a:prstGeom prst="roundRect">
                <a:avLst>
                  <a:gd name="adj" fmla="val 13213"/>
                </a:avLst>
              </a:prstGeom>
              <a:solidFill>
                <a:srgbClr val="F5F5F5"/>
              </a:solidFill>
              <a:ln w="9525">
                <a:solidFill>
                  <a:srgbClr val="0070F3"/>
                </a:solidFill>
              </a:ln>
            </p:spPr>
          </p:sp>
          <p:sp>
            <p:nvSpPr>
              <p:cNvPr id="93" name="TextBox 93"/>
              <p:cNvSpPr txBox="1"/>
              <p:nvPr/>
            </p:nvSpPr>
            <p:spPr>
              <a:xfrm>
                <a:off x="6137240" y="3562299"/>
                <a:ext cx="597558" cy="115890"/>
              </a:xfrm>
              <a:prstGeom prst="rect">
                <a:avLst/>
              </a:prstGeom>
              <a:noFill/>
              <a:ln>
                <a:noFill/>
              </a:ln>
            </p:spPr>
            <p:txBody>
              <a:bodyPr wrap="none" lIns="0" tIns="0" rIns="0" bIns="0" anchor="t" anchorCtr="0">
                <a:spAutoFit/>
              </a:bodyPr>
              <a:lstStyle/>
              <a:p>
                <a:pPr algn="ctr"/>
                <a:r>
                  <a:rPr lang="zh-CN" sz="570" dirty="0">
                    <a:solidFill>
                      <a:srgbClr val="0A0A0A"/>
                    </a:solidFill>
                    <a:latin typeface="微软雅黑"/>
                    <a:ea typeface="微软雅黑"/>
                    <a:cs typeface="微软雅黑"/>
                  </a:rPr>
                  <a:t>大语言模型成熟</a:t>
                </a:r>
                <a:endParaRPr lang="zh-CN" sz="570" dirty="0">
                  <a:solidFill>
                    <a:srgbClr val="0A0A0A"/>
                  </a:solidFill>
                  <a:latin typeface="微软雅黑"/>
                  <a:ea typeface="微软雅黑"/>
                  <a:cs typeface="微软雅黑"/>
                </a:endParaRPr>
              </a:p>
            </p:txBody>
          </p:sp>
          <p:sp>
            <p:nvSpPr>
              <p:cNvPr id="94" name="TextBox 94"/>
              <p:cNvSpPr txBox="1"/>
              <p:nvPr/>
            </p:nvSpPr>
            <p:spPr>
              <a:xfrm>
                <a:off x="6151817" y="3707162"/>
                <a:ext cx="568404" cy="115890"/>
              </a:xfrm>
              <a:prstGeom prst="rect">
                <a:avLst/>
              </a:prstGeom>
              <a:noFill/>
              <a:ln>
                <a:noFill/>
              </a:ln>
            </p:spPr>
            <p:txBody>
              <a:bodyPr wrap="none" lIns="0" tIns="0" rIns="0" bIns="0" anchor="t" anchorCtr="0">
                <a:spAutoFit/>
              </a:bodyPr>
              <a:lstStyle/>
              <a:p>
                <a:pPr algn="ctr"/>
                <a:r>
                  <a:rPr lang="zh-CN" sz="570" dirty="0">
                    <a:solidFill>
                      <a:srgbClr val="555555"/>
                    </a:solidFill>
                    <a:latin typeface="微软雅黑"/>
                    <a:ea typeface="微软雅黑"/>
                    <a:cs typeface="微软雅黑"/>
                  </a:rPr>
                  <a:t>企业采用率73%</a:t>
                </a:r>
                <a:endParaRPr lang="zh-CN" sz="570" dirty="0">
                  <a:solidFill>
                    <a:srgbClr val="555555"/>
                  </a:solidFill>
                  <a:latin typeface="微软雅黑"/>
                  <a:ea typeface="微软雅黑"/>
                  <a:cs typeface="微软雅黑"/>
                </a:endParaRPr>
              </a:p>
            </p:txBody>
          </p:sp>
          <p:sp>
            <p:nvSpPr>
              <p:cNvPr id="95" name="Ellipse 95"/>
              <p:cNvSpPr/>
              <p:nvPr/>
            </p:nvSpPr>
            <p:spPr>
              <a:xfrm>
                <a:off x="7440920" y="2971985"/>
                <a:ext cx="143557" cy="144862"/>
              </a:xfrm>
              <a:prstGeom prst="ellipse">
                <a:avLst/>
              </a:prstGeom>
              <a:solidFill>
                <a:srgbClr val="0099CC"/>
              </a:solidFill>
              <a:ln>
                <a:noFill/>
              </a:ln>
            </p:spPr>
          </p:sp>
          <p:sp>
            <p:nvSpPr>
              <p:cNvPr id="96" name="TextBox 96"/>
              <p:cNvSpPr txBox="1"/>
              <p:nvPr/>
            </p:nvSpPr>
            <p:spPr>
              <a:xfrm>
                <a:off x="7477524" y="3008804"/>
                <a:ext cx="70349" cy="135205"/>
              </a:xfrm>
              <a:prstGeom prst="rect">
                <a:avLst/>
              </a:prstGeom>
              <a:noFill/>
              <a:ln>
                <a:noFill/>
              </a:ln>
            </p:spPr>
            <p:txBody>
              <a:bodyPr wrap="none" lIns="0" tIns="0" rIns="0" bIns="0" anchor="t" anchorCtr="0">
                <a:spAutoFit/>
              </a:bodyPr>
              <a:lstStyle/>
              <a:p>
                <a:pPr algn="ctr"/>
                <a:r>
                  <a:rPr lang="zh-CN" sz="665" dirty="0">
                    <a:solidFill>
                      <a:srgbClr val="FFFFFF"/>
                    </a:solidFill>
                    <a:latin typeface="Arial" panose="020B0604020202090204"/>
                    <a:ea typeface="微软雅黑"/>
                    <a:cs typeface="Arial" panose="020B0604020202090204"/>
                  </a:rPr>
                  <a:t>2</a:t>
                </a:r>
                <a:endParaRPr lang="zh-CN" sz="665" dirty="0">
                  <a:solidFill>
                    <a:srgbClr val="FFFFFF"/>
                  </a:solidFill>
                  <a:latin typeface="Arial" panose="020B0604020202090204"/>
                  <a:ea typeface="微软雅黑"/>
                  <a:cs typeface="Arial" panose="020B0604020202090204"/>
                </a:endParaRPr>
              </a:p>
            </p:txBody>
          </p:sp>
          <p:sp>
            <p:nvSpPr>
              <p:cNvPr id="97" name="Rectangle 97"/>
              <p:cNvSpPr/>
              <p:nvPr/>
            </p:nvSpPr>
            <p:spPr>
              <a:xfrm>
                <a:off x="6974359" y="2863338"/>
                <a:ext cx="1076679" cy="362156"/>
              </a:xfrm>
              <a:prstGeom prst="roundRect">
                <a:avLst>
                  <a:gd name="adj" fmla="val 13213"/>
                </a:avLst>
              </a:prstGeom>
              <a:solidFill>
                <a:srgbClr val="F5F5F5"/>
              </a:solidFill>
              <a:ln w="9525">
                <a:solidFill>
                  <a:srgbClr val="0099CC"/>
                </a:solidFill>
              </a:ln>
            </p:spPr>
          </p:sp>
          <p:sp>
            <p:nvSpPr>
              <p:cNvPr id="98" name="TextBox 98"/>
              <p:cNvSpPr txBox="1"/>
              <p:nvPr/>
            </p:nvSpPr>
            <p:spPr>
              <a:xfrm>
                <a:off x="7261815" y="2958706"/>
                <a:ext cx="501767" cy="115890"/>
              </a:xfrm>
              <a:prstGeom prst="rect">
                <a:avLst/>
              </a:prstGeom>
              <a:noFill/>
              <a:ln>
                <a:noFill/>
              </a:ln>
            </p:spPr>
            <p:txBody>
              <a:bodyPr wrap="none" lIns="0" tIns="0" rIns="0" bIns="0" anchor="t" anchorCtr="0">
                <a:spAutoFit/>
              </a:bodyPr>
              <a:lstStyle/>
              <a:p>
                <a:pPr algn="ctr"/>
                <a:r>
                  <a:rPr lang="zh-CN" sz="570" dirty="0">
                    <a:solidFill>
                      <a:srgbClr val="0A0A0A"/>
                    </a:solidFill>
                    <a:latin typeface="微软雅黑"/>
                    <a:ea typeface="微软雅黑"/>
                    <a:cs typeface="微软雅黑"/>
                  </a:rPr>
                  <a:t>多模态AI融合</a:t>
                </a:r>
                <a:endParaRPr lang="zh-CN" sz="570" dirty="0">
                  <a:solidFill>
                    <a:srgbClr val="0A0A0A"/>
                  </a:solidFill>
                  <a:latin typeface="微软雅黑"/>
                  <a:ea typeface="微软雅黑"/>
                  <a:cs typeface="微软雅黑"/>
                </a:endParaRPr>
              </a:p>
            </p:txBody>
          </p:sp>
          <p:sp>
            <p:nvSpPr>
              <p:cNvPr id="99" name="TextBox 99"/>
              <p:cNvSpPr txBox="1"/>
              <p:nvPr/>
            </p:nvSpPr>
            <p:spPr>
              <a:xfrm>
                <a:off x="7211837" y="3103568"/>
                <a:ext cx="601722" cy="115890"/>
              </a:xfrm>
              <a:prstGeom prst="rect">
                <a:avLst/>
              </a:prstGeom>
              <a:noFill/>
              <a:ln>
                <a:noFill/>
              </a:ln>
            </p:spPr>
            <p:txBody>
              <a:bodyPr wrap="none" lIns="0" tIns="0" rIns="0" bIns="0" anchor="t" anchorCtr="0">
                <a:spAutoFit/>
              </a:bodyPr>
              <a:lstStyle/>
              <a:p>
                <a:pPr algn="ctr"/>
                <a:r>
                  <a:rPr lang="zh-CN" sz="570" dirty="0">
                    <a:solidFill>
                      <a:srgbClr val="555555"/>
                    </a:solidFill>
                    <a:latin typeface="微软雅黑"/>
                    <a:ea typeface="微软雅黑"/>
                    <a:cs typeface="微软雅黑"/>
                  </a:rPr>
                  <a:t>投资1,070亿/年</a:t>
                </a:r>
                <a:endParaRPr lang="zh-CN" sz="570" dirty="0">
                  <a:solidFill>
                    <a:srgbClr val="555555"/>
                  </a:solidFill>
                  <a:latin typeface="微软雅黑"/>
                  <a:ea typeface="微软雅黑"/>
                  <a:cs typeface="微软雅黑"/>
                </a:endParaRPr>
              </a:p>
            </p:txBody>
          </p:sp>
          <p:sp>
            <p:nvSpPr>
              <p:cNvPr id="100" name="Ellipse 100"/>
              <p:cNvSpPr/>
              <p:nvPr/>
            </p:nvSpPr>
            <p:spPr>
              <a:xfrm>
                <a:off x="8517599" y="2126954"/>
                <a:ext cx="143557" cy="144862"/>
              </a:xfrm>
              <a:prstGeom prst="ellipse">
                <a:avLst/>
              </a:prstGeom>
              <a:solidFill>
                <a:srgbClr val="0066AA"/>
              </a:solidFill>
              <a:ln>
                <a:noFill/>
              </a:ln>
            </p:spPr>
          </p:sp>
          <p:sp>
            <p:nvSpPr>
              <p:cNvPr id="101" name="TextBox 101"/>
              <p:cNvSpPr txBox="1"/>
              <p:nvPr/>
            </p:nvSpPr>
            <p:spPr>
              <a:xfrm>
                <a:off x="8554203" y="2163773"/>
                <a:ext cx="70349" cy="135205"/>
              </a:xfrm>
              <a:prstGeom prst="rect">
                <a:avLst/>
              </a:prstGeom>
              <a:noFill/>
              <a:ln>
                <a:noFill/>
              </a:ln>
            </p:spPr>
            <p:txBody>
              <a:bodyPr wrap="none" lIns="0" tIns="0" rIns="0" bIns="0" anchor="t" anchorCtr="0">
                <a:spAutoFit/>
              </a:bodyPr>
              <a:lstStyle/>
              <a:p>
                <a:pPr algn="ctr"/>
                <a:r>
                  <a:rPr lang="zh-CN" sz="665" dirty="0">
                    <a:solidFill>
                      <a:srgbClr val="FFFFFF"/>
                    </a:solidFill>
                    <a:latin typeface="Arial" panose="020B0604020202090204"/>
                    <a:ea typeface="微软雅黑"/>
                    <a:cs typeface="Arial" panose="020B0604020202090204"/>
                  </a:rPr>
                  <a:t>3</a:t>
                </a:r>
                <a:endParaRPr lang="zh-CN" sz="665" dirty="0">
                  <a:solidFill>
                    <a:srgbClr val="FFFFFF"/>
                  </a:solidFill>
                  <a:latin typeface="Arial" panose="020B0604020202090204"/>
                  <a:ea typeface="微软雅黑"/>
                  <a:cs typeface="Arial" panose="020B0604020202090204"/>
                </a:endParaRPr>
              </a:p>
            </p:txBody>
          </p:sp>
          <p:sp>
            <p:nvSpPr>
              <p:cNvPr id="102" name="Rectangle 102"/>
              <p:cNvSpPr/>
              <p:nvPr/>
            </p:nvSpPr>
            <p:spPr>
              <a:xfrm>
                <a:off x="8051038" y="2018307"/>
                <a:ext cx="1076679" cy="362156"/>
              </a:xfrm>
              <a:prstGeom prst="roundRect">
                <a:avLst>
                  <a:gd name="adj" fmla="val 13213"/>
                </a:avLst>
              </a:prstGeom>
              <a:solidFill>
                <a:srgbClr val="F5F5F5"/>
              </a:solidFill>
              <a:ln w="9525">
                <a:solidFill>
                  <a:srgbClr val="0066AA"/>
                </a:solidFill>
              </a:ln>
            </p:spPr>
          </p:sp>
          <p:sp>
            <p:nvSpPr>
              <p:cNvPr id="103" name="TextBox 103"/>
              <p:cNvSpPr txBox="1"/>
              <p:nvPr/>
            </p:nvSpPr>
            <p:spPr>
              <a:xfrm>
                <a:off x="8357236" y="2113675"/>
                <a:ext cx="464284" cy="115890"/>
              </a:xfrm>
              <a:prstGeom prst="rect">
                <a:avLst/>
              </a:prstGeom>
              <a:noFill/>
              <a:ln>
                <a:noFill/>
              </a:ln>
            </p:spPr>
            <p:txBody>
              <a:bodyPr wrap="none" lIns="0" tIns="0" rIns="0" bIns="0" anchor="t" anchorCtr="0">
                <a:spAutoFit/>
              </a:bodyPr>
              <a:lstStyle/>
              <a:p>
                <a:pPr algn="ctr"/>
                <a:r>
                  <a:rPr lang="zh-CN" sz="570" dirty="0">
                    <a:solidFill>
                      <a:srgbClr val="0A0A0A"/>
                    </a:solidFill>
                    <a:latin typeface="微软雅黑"/>
                    <a:ea typeface="微软雅黑"/>
                    <a:cs typeface="微软雅黑"/>
                  </a:rPr>
                  <a:t>AGI原型出现</a:t>
                </a:r>
                <a:endParaRPr lang="zh-CN" sz="570" dirty="0">
                  <a:solidFill>
                    <a:srgbClr val="0A0A0A"/>
                  </a:solidFill>
                  <a:latin typeface="微软雅黑"/>
                  <a:ea typeface="微软雅黑"/>
                  <a:cs typeface="微软雅黑"/>
                </a:endParaRPr>
              </a:p>
            </p:txBody>
          </p:sp>
          <p:sp>
            <p:nvSpPr>
              <p:cNvPr id="104" name="TextBox 104"/>
              <p:cNvSpPr txBox="1"/>
              <p:nvPr/>
            </p:nvSpPr>
            <p:spPr>
              <a:xfrm>
                <a:off x="8315588" y="2258537"/>
                <a:ext cx="547580" cy="115890"/>
              </a:xfrm>
              <a:prstGeom prst="rect">
                <a:avLst/>
              </a:prstGeom>
              <a:noFill/>
              <a:ln>
                <a:noFill/>
              </a:ln>
            </p:spPr>
            <p:txBody>
              <a:bodyPr wrap="none" lIns="0" tIns="0" rIns="0" bIns="0" anchor="t" anchorCtr="0">
                <a:spAutoFit/>
              </a:bodyPr>
              <a:lstStyle/>
              <a:p>
                <a:pPr algn="ctr"/>
                <a:r>
                  <a:rPr lang="zh-CN" sz="570" dirty="0">
                    <a:solidFill>
                      <a:srgbClr val="555555"/>
                    </a:solidFill>
                    <a:latin typeface="微软雅黑"/>
                    <a:ea typeface="微软雅黑"/>
                    <a:cs typeface="微软雅黑"/>
                  </a:rPr>
                  <a:t>年影响1.3万亿</a:t>
                </a:r>
                <a:endParaRPr lang="zh-CN" sz="570" dirty="0">
                  <a:solidFill>
                    <a:srgbClr val="555555"/>
                  </a:solidFill>
                  <a:latin typeface="微软雅黑"/>
                  <a:ea typeface="微软雅黑"/>
                  <a:cs typeface="微软雅黑"/>
                </a:endParaRPr>
              </a:p>
            </p:txBody>
          </p:sp>
          <p:sp>
            <p:nvSpPr>
              <p:cNvPr id="105" name="Ellipse 105"/>
              <p:cNvSpPr/>
              <p:nvPr/>
            </p:nvSpPr>
            <p:spPr>
              <a:xfrm>
                <a:off x="10407770" y="1318138"/>
                <a:ext cx="191410" cy="193150"/>
              </a:xfrm>
              <a:prstGeom prst="ellipse">
                <a:avLst/>
              </a:prstGeom>
              <a:solidFill>
                <a:srgbClr val="D4AF37"/>
              </a:solidFill>
              <a:ln>
                <a:noFill/>
              </a:ln>
            </p:spPr>
          </p:sp>
          <p:sp>
            <p:nvSpPr>
              <p:cNvPr id="106" name="TextBox 106"/>
              <p:cNvSpPr txBox="1"/>
              <p:nvPr/>
            </p:nvSpPr>
            <p:spPr>
              <a:xfrm>
                <a:off x="10480447" y="1379101"/>
                <a:ext cx="46054" cy="135205"/>
              </a:xfrm>
              <a:prstGeom prst="rect">
                <a:avLst/>
              </a:prstGeom>
              <a:noFill/>
              <a:ln>
                <a:noFill/>
              </a:ln>
            </p:spPr>
            <p:txBody>
              <a:bodyPr wrap="none" lIns="0" tIns="0" rIns="0" bIns="0" anchor="t" anchorCtr="0">
                <a:spAutoFit/>
              </a:bodyPr>
              <a:lstStyle/>
              <a:p>
                <a:pPr algn="ctr"/>
                <a:r>
                  <a:rPr lang="zh-CN" sz="665" dirty="0">
                    <a:solidFill>
                      <a:srgbClr val="FFFFFF"/>
                    </a:solidFill>
                    <a:latin typeface="Arial" panose="020B0604020202090204"/>
                    <a:ea typeface="微软雅黑"/>
                    <a:cs typeface="Arial" panose="020B0604020202090204"/>
                  </a:rPr>
                  <a:t>!</a:t>
                </a:r>
                <a:endParaRPr lang="zh-CN" sz="665" dirty="0">
                  <a:solidFill>
                    <a:srgbClr val="FFFFFF"/>
                  </a:solidFill>
                  <a:latin typeface="Arial" panose="020B0604020202090204"/>
                  <a:ea typeface="微软雅黑"/>
                  <a:cs typeface="Arial" panose="020B0604020202090204"/>
                </a:endParaRPr>
              </a:p>
            </p:txBody>
          </p:sp>
          <p:sp>
            <p:nvSpPr>
              <p:cNvPr id="107" name="Rectangle 107"/>
              <p:cNvSpPr/>
              <p:nvPr/>
            </p:nvSpPr>
            <p:spPr>
              <a:xfrm>
                <a:off x="9666057" y="1233635"/>
                <a:ext cx="1674835" cy="301797"/>
              </a:xfrm>
              <a:prstGeom prst="roundRect">
                <a:avLst>
                  <a:gd name="adj" fmla="val 15856"/>
                </a:avLst>
              </a:prstGeom>
              <a:solidFill>
                <a:srgbClr val="0A0A0A"/>
              </a:solidFill>
              <a:ln>
                <a:noFill/>
              </a:ln>
            </p:spPr>
          </p:sp>
          <p:sp>
            <p:nvSpPr>
              <p:cNvPr id="108" name="TextBox 108"/>
              <p:cNvSpPr txBox="1"/>
              <p:nvPr/>
            </p:nvSpPr>
            <p:spPr>
              <a:xfrm>
                <a:off x="10007795" y="1318742"/>
                <a:ext cx="991359" cy="135205"/>
              </a:xfrm>
              <a:prstGeom prst="rect">
                <a:avLst/>
              </a:prstGeom>
              <a:noFill/>
              <a:ln>
                <a:noFill/>
              </a:ln>
            </p:spPr>
            <p:txBody>
              <a:bodyPr wrap="none" lIns="0" tIns="0" rIns="0" bIns="0" anchor="t" anchorCtr="0">
                <a:spAutoFit/>
              </a:bodyPr>
              <a:lstStyle/>
              <a:p>
                <a:pPr algn="ctr"/>
                <a:r>
                  <a:rPr lang="zh-CN" sz="665" b="1" dirty="0">
                    <a:solidFill>
                      <a:srgbClr val="FFFFFF"/>
                    </a:solidFill>
                    <a:latin typeface="微软雅黑"/>
                    <a:ea typeface="微软雅黑"/>
                    <a:cs typeface="微软雅黑"/>
                  </a:rPr>
                  <a:t>AI市场达1.81万亿美元</a:t>
                </a:r>
                <a:endParaRPr lang="zh-CN" sz="665" b="1" dirty="0">
                  <a:solidFill>
                    <a:srgbClr val="FFFFFF"/>
                  </a:solidFill>
                  <a:latin typeface="微软雅黑"/>
                  <a:ea typeface="微软雅黑"/>
                  <a:cs typeface="微软雅黑"/>
                </a:endParaRPr>
              </a:p>
            </p:txBody>
          </p:sp>
          <p:grpSp>
            <p:nvGrpSpPr>
              <p:cNvPr id="115" name="Group 115"/>
              <p:cNvGrpSpPr/>
              <p:nvPr/>
            </p:nvGrpSpPr>
            <p:grpSpPr>
              <a:xfrm>
                <a:off x="5764720" y="3798760"/>
                <a:ext cx="1728593" cy="162971"/>
                <a:chOff x="5764720" y="3798760"/>
                <a:chExt cx="1728593" cy="162971"/>
              </a:xfrm>
            </p:grpSpPr>
            <p:sp>
              <p:nvSpPr>
                <p:cNvPr id="109" name="Rectangle 109"/>
                <p:cNvSpPr/>
                <p:nvPr/>
              </p:nvSpPr>
              <p:spPr>
                <a:xfrm>
                  <a:off x="5764720" y="3798760"/>
                  <a:ext cx="119631" cy="120719"/>
                </a:xfrm>
                <a:prstGeom prst="roundRect">
                  <a:avLst>
                    <a:gd name="adj" fmla="val 20000"/>
                  </a:avLst>
                </a:prstGeom>
                <a:solidFill>
                  <a:srgbClr val="0070F3"/>
                </a:solidFill>
                <a:ln>
                  <a:noFill/>
                </a:ln>
              </p:spPr>
            </p:sp>
            <p:sp>
              <p:nvSpPr>
                <p:cNvPr id="110" name="TextBox 110"/>
                <p:cNvSpPr txBox="1"/>
                <p:nvPr/>
              </p:nvSpPr>
              <p:spPr>
                <a:xfrm>
                  <a:off x="5924961" y="3845841"/>
                  <a:ext cx="347670" cy="115890"/>
                </a:xfrm>
                <a:prstGeom prst="rect">
                  <a:avLst/>
                </a:prstGeom>
                <a:noFill/>
                <a:ln>
                  <a:noFill/>
                </a:ln>
              </p:spPr>
              <p:txBody>
                <a:bodyPr wrap="none" lIns="0" tIns="0" rIns="0" bIns="0" anchor="t" anchorCtr="0">
                  <a:spAutoFit/>
                </a:bodyPr>
                <a:lstStyle/>
                <a:p>
                  <a:pPr algn="l"/>
                  <a:r>
                    <a:rPr lang="zh-CN" sz="570" dirty="0">
                      <a:solidFill>
                        <a:srgbClr val="333333"/>
                      </a:solidFill>
                      <a:latin typeface="Arial" panose="020B0604020202090204"/>
                      <a:ea typeface="微软雅黑"/>
                      <a:cs typeface="Arial" panose="020B0604020202090204"/>
                    </a:rPr>
                    <a:t>技术阶段</a:t>
                  </a:r>
                  <a:endParaRPr lang="zh-CN" sz="570" dirty="0">
                    <a:solidFill>
                      <a:srgbClr val="333333"/>
                    </a:solidFill>
                    <a:latin typeface="Arial" panose="020B0604020202090204"/>
                    <a:ea typeface="微软雅黑"/>
                    <a:cs typeface="Arial" panose="020B0604020202090204"/>
                  </a:endParaRPr>
                </a:p>
              </p:txBody>
            </p:sp>
            <p:sp>
              <p:nvSpPr>
                <p:cNvPr id="111" name="Rectangle 111"/>
                <p:cNvSpPr/>
                <p:nvPr/>
              </p:nvSpPr>
              <p:spPr>
                <a:xfrm>
                  <a:off x="6422691" y="3798760"/>
                  <a:ext cx="119631" cy="120719"/>
                </a:xfrm>
                <a:prstGeom prst="roundRect">
                  <a:avLst>
                    <a:gd name="adj" fmla="val 20000"/>
                  </a:avLst>
                </a:prstGeom>
                <a:solidFill>
                  <a:srgbClr val="D4AF37"/>
                </a:solidFill>
                <a:ln>
                  <a:noFill/>
                </a:ln>
              </p:spPr>
            </p:sp>
            <p:sp>
              <p:nvSpPr>
                <p:cNvPr id="112" name="TextBox 112"/>
                <p:cNvSpPr txBox="1"/>
                <p:nvPr/>
              </p:nvSpPr>
              <p:spPr>
                <a:xfrm>
                  <a:off x="6582932" y="3845841"/>
                  <a:ext cx="347670" cy="115890"/>
                </a:xfrm>
                <a:prstGeom prst="rect">
                  <a:avLst/>
                </a:prstGeom>
                <a:noFill/>
                <a:ln>
                  <a:noFill/>
                </a:ln>
              </p:spPr>
              <p:txBody>
                <a:bodyPr wrap="none" lIns="0" tIns="0" rIns="0" bIns="0" anchor="t" anchorCtr="0">
                  <a:spAutoFit/>
                </a:bodyPr>
                <a:lstStyle/>
                <a:p>
                  <a:pPr algn="l"/>
                  <a:r>
                    <a:rPr lang="zh-CN" sz="570" dirty="0">
                      <a:solidFill>
                        <a:srgbClr val="333333"/>
                      </a:solidFill>
                      <a:latin typeface="Arial" panose="020B0604020202090204"/>
                      <a:ea typeface="微软雅黑"/>
                      <a:cs typeface="Arial" panose="020B0604020202090204"/>
                    </a:rPr>
                    <a:t>市场趋势</a:t>
                  </a:r>
                  <a:endParaRPr lang="zh-CN" sz="570" dirty="0">
                    <a:solidFill>
                      <a:srgbClr val="333333"/>
                    </a:solidFill>
                    <a:latin typeface="Arial" panose="020B0604020202090204"/>
                    <a:ea typeface="微软雅黑"/>
                    <a:cs typeface="Arial" panose="020B0604020202090204"/>
                  </a:endParaRPr>
                </a:p>
              </p:txBody>
            </p:sp>
            <p:sp>
              <p:nvSpPr>
                <p:cNvPr id="113" name="Ellipse 113"/>
                <p:cNvSpPr/>
                <p:nvPr/>
              </p:nvSpPr>
              <p:spPr>
                <a:xfrm>
                  <a:off x="7092625" y="3810832"/>
                  <a:ext cx="95705" cy="96575"/>
                </a:xfrm>
                <a:prstGeom prst="ellipse">
                  <a:avLst/>
                </a:prstGeom>
                <a:solidFill>
                  <a:srgbClr val="0070F3"/>
                </a:solidFill>
                <a:ln>
                  <a:noFill/>
                </a:ln>
              </p:spPr>
            </p:sp>
            <p:sp>
              <p:nvSpPr>
                <p:cNvPr id="114" name="TextBox 114"/>
                <p:cNvSpPr txBox="1"/>
                <p:nvPr/>
              </p:nvSpPr>
              <p:spPr>
                <a:xfrm>
                  <a:off x="7228939" y="3845841"/>
                  <a:ext cx="264374" cy="115890"/>
                </a:xfrm>
                <a:prstGeom prst="rect">
                  <a:avLst/>
                </a:prstGeom>
                <a:noFill/>
                <a:ln>
                  <a:noFill/>
                </a:ln>
              </p:spPr>
              <p:txBody>
                <a:bodyPr wrap="none" lIns="0" tIns="0" rIns="0" bIns="0" anchor="t" anchorCtr="0">
                  <a:spAutoFit/>
                </a:bodyPr>
                <a:lstStyle/>
                <a:p>
                  <a:pPr algn="l"/>
                  <a:r>
                    <a:rPr lang="zh-CN" sz="570" dirty="0">
                      <a:solidFill>
                        <a:srgbClr val="333333"/>
                      </a:solidFill>
                      <a:latin typeface="Arial" panose="020B0604020202090204"/>
                      <a:ea typeface="微软雅黑"/>
                      <a:cs typeface="Arial" panose="020B0604020202090204"/>
                    </a:rPr>
                    <a:t>里程碑</a:t>
                  </a:r>
                  <a:endParaRPr lang="zh-CN" sz="570" dirty="0">
                    <a:solidFill>
                      <a:srgbClr val="333333"/>
                    </a:solidFill>
                    <a:latin typeface="Arial" panose="020B0604020202090204"/>
                    <a:ea typeface="微软雅黑"/>
                    <a:cs typeface="Arial" panose="020B0604020202090204"/>
                  </a:endParaRPr>
                </a:p>
              </p:txBody>
            </p:sp>
          </p:grpSp>
        </p:grpSp>
        <p:sp>
          <p:nvSpPr>
            <p:cNvPr id="117" name="Rectangle 117"/>
            <p:cNvSpPr/>
            <p:nvPr/>
          </p:nvSpPr>
          <p:spPr>
            <a:xfrm>
              <a:off x="731520" y="5049107"/>
              <a:ext cx="1727168" cy="412814"/>
            </a:xfrm>
            <a:prstGeom prst="roundRect">
              <a:avLst>
                <a:gd name="adj" fmla="val 11814"/>
              </a:avLst>
            </a:prstGeom>
            <a:solidFill>
              <a:srgbClr val="F8F8F8"/>
            </a:solidFill>
            <a:ln>
              <a:noFill/>
            </a:ln>
          </p:spPr>
        </p:sp>
        <p:sp>
          <p:nvSpPr>
            <p:cNvPr id="118" name="Line 118"/>
            <p:cNvSpPr/>
            <p:nvPr/>
          </p:nvSpPr>
          <p:spPr>
            <a:xfrm>
              <a:off x="731520" y="5049107"/>
              <a:ext cx="1727168" cy="9525"/>
            </a:xfrm>
            <a:custGeom>
              <a:avLst/>
              <a:gdLst/>
              <a:ahLst/>
              <a:cxnLst/>
              <a:rect l="l" t="t" r="r" b="b"/>
              <a:pathLst>
                <a:path w="1727168" h="9525">
                  <a:moveTo>
                    <a:pt x="0" y="0"/>
                  </a:moveTo>
                  <a:lnTo>
                    <a:pt x="1727168" y="0"/>
                  </a:lnTo>
                </a:path>
              </a:pathLst>
            </a:custGeom>
            <a:noFill/>
            <a:ln w="14288">
              <a:solidFill>
                <a:srgbClr val="0070F3"/>
              </a:solidFill>
            </a:ln>
          </p:spPr>
        </p:sp>
        <p:sp>
          <p:nvSpPr>
            <p:cNvPr id="119" name="TextBox 119"/>
            <p:cNvSpPr txBox="1"/>
            <p:nvPr/>
          </p:nvSpPr>
          <p:spPr>
            <a:xfrm>
              <a:off x="795528" y="5150263"/>
              <a:ext cx="680771" cy="146304"/>
            </a:xfrm>
            <a:prstGeom prst="rect">
              <a:avLst/>
            </a:prstGeom>
            <a:noFill/>
            <a:ln>
              <a:noFill/>
            </a:ln>
          </p:spPr>
          <p:txBody>
            <a:bodyPr wrap="none" lIns="0" tIns="0" rIns="0" bIns="0" anchor="t" anchorCtr="0">
              <a:spAutoFit/>
            </a:bodyPr>
            <a:lstStyle/>
            <a:p>
              <a:pPr algn="l"/>
              <a:r>
                <a:rPr lang="zh-CN" sz="720" b="1" dirty="0">
                  <a:solidFill>
                    <a:srgbClr val="0070F3"/>
                  </a:solidFill>
                  <a:latin typeface="Times New Roman" panose="02020503050405090304"/>
                  <a:ea typeface="宋体"/>
                  <a:cs typeface="Times New Roman" panose="02020503050405090304"/>
                </a:rPr>
                <a:t>市场规模爆发</a:t>
              </a:r>
              <a:endParaRPr lang="zh-CN" sz="720" b="1" dirty="0">
                <a:solidFill>
                  <a:srgbClr val="0070F3"/>
                </a:solidFill>
                <a:latin typeface="Times New Roman" panose="02020503050405090304"/>
                <a:ea typeface="宋体"/>
                <a:cs typeface="Times New Roman" panose="02020503050405090304"/>
              </a:endParaRPr>
            </a:p>
          </p:txBody>
        </p:sp>
        <p:sp>
          <p:nvSpPr>
            <p:cNvPr id="120" name="TextBox 120"/>
            <p:cNvSpPr txBox="1"/>
            <p:nvPr/>
          </p:nvSpPr>
          <p:spPr>
            <a:xfrm>
              <a:off x="797966" y="5311673"/>
              <a:ext cx="1717639" cy="107290"/>
            </a:xfrm>
            <a:prstGeom prst="rect">
              <a:avLst/>
            </a:prstGeom>
            <a:noFill/>
            <a:ln>
              <a:noFill/>
            </a:ln>
          </p:spPr>
          <p:txBody>
            <a:bodyPr wrap="none" lIns="0" tIns="0" rIns="0" bIns="0" anchor="t" anchorCtr="0">
              <a:spAutoFit/>
            </a:bodyPr>
            <a:lstStyle/>
            <a:p>
              <a:pPr algn="l"/>
              <a:r>
                <a:rPr lang="zh-CN" sz="530" dirty="0">
                  <a:solidFill>
                    <a:srgbClr val="0A0A0A"/>
                  </a:solidFill>
                  <a:latin typeface="Arial" panose="020B0604020202090204"/>
                  <a:ea typeface="微软雅黑"/>
                  <a:cs typeface="Arial" panose="020B0604020202090204"/>
                </a:rPr>
                <a:t>2025年全球 AI市场 3910亿美元， 2030年突破 1.81</a:t>
              </a:r>
              <a:endParaRPr lang="zh-CN" sz="530" dirty="0">
                <a:solidFill>
                  <a:srgbClr val="0A0A0A"/>
                </a:solidFill>
                <a:latin typeface="Arial" panose="020B0604020202090204"/>
                <a:ea typeface="微软雅黑"/>
                <a:cs typeface="Arial" panose="020B0604020202090204"/>
              </a:endParaRPr>
            </a:p>
          </p:txBody>
        </p:sp>
        <p:sp>
          <p:nvSpPr>
            <p:cNvPr id="121" name="TextBox 121"/>
            <p:cNvSpPr txBox="1"/>
            <p:nvPr/>
          </p:nvSpPr>
          <p:spPr>
            <a:xfrm>
              <a:off x="797966" y="5398827"/>
              <a:ext cx="167640" cy="107290"/>
            </a:xfrm>
            <a:prstGeom prst="rect">
              <a:avLst/>
            </a:prstGeom>
            <a:noFill/>
            <a:ln>
              <a:noFill/>
            </a:ln>
          </p:spPr>
          <p:txBody>
            <a:bodyPr wrap="none" lIns="0" tIns="0" rIns="0" bIns="0" anchor="t" anchorCtr="0">
              <a:spAutoFit/>
            </a:bodyPr>
            <a:lstStyle/>
            <a:p>
              <a:pPr algn="l"/>
              <a:r>
                <a:rPr lang="zh-CN" sz="530" dirty="0">
                  <a:solidFill>
                    <a:srgbClr val="0A0A0A"/>
                  </a:solidFill>
                  <a:latin typeface="Arial" panose="020B0604020202090204"/>
                  <a:ea typeface="微软雅黑"/>
                  <a:cs typeface="Arial" panose="020B0604020202090204"/>
                </a:rPr>
                <a:t>万亿</a:t>
              </a:r>
              <a:endParaRPr lang="zh-CN" sz="530" dirty="0">
                <a:solidFill>
                  <a:srgbClr val="0A0A0A"/>
                </a:solidFill>
                <a:latin typeface="Arial" panose="020B0604020202090204"/>
                <a:ea typeface="微软雅黑"/>
                <a:cs typeface="Arial" panose="020B0604020202090204"/>
              </a:endParaRPr>
            </a:p>
          </p:txBody>
        </p:sp>
        <p:sp>
          <p:nvSpPr>
            <p:cNvPr id="122" name="Rectangle 122"/>
            <p:cNvSpPr/>
            <p:nvPr/>
          </p:nvSpPr>
          <p:spPr>
            <a:xfrm>
              <a:off x="2531745" y="5049107"/>
              <a:ext cx="1727264" cy="412814"/>
            </a:xfrm>
            <a:prstGeom prst="roundRect">
              <a:avLst>
                <a:gd name="adj" fmla="val 11814"/>
              </a:avLst>
            </a:prstGeom>
            <a:solidFill>
              <a:srgbClr val="F8F8F8"/>
            </a:solidFill>
            <a:ln>
              <a:noFill/>
            </a:ln>
          </p:spPr>
        </p:sp>
        <p:sp>
          <p:nvSpPr>
            <p:cNvPr id="123" name="Line 123"/>
            <p:cNvSpPr/>
            <p:nvPr/>
          </p:nvSpPr>
          <p:spPr>
            <a:xfrm>
              <a:off x="2531745" y="5049107"/>
              <a:ext cx="1727263" cy="9525"/>
            </a:xfrm>
            <a:custGeom>
              <a:avLst/>
              <a:gdLst/>
              <a:ahLst/>
              <a:cxnLst/>
              <a:rect l="l" t="t" r="r" b="b"/>
              <a:pathLst>
                <a:path w="1727263" h="9525">
                  <a:moveTo>
                    <a:pt x="0" y="0"/>
                  </a:moveTo>
                  <a:lnTo>
                    <a:pt x="1727263" y="0"/>
                  </a:lnTo>
                </a:path>
              </a:pathLst>
            </a:custGeom>
            <a:noFill/>
            <a:ln w="14288">
              <a:solidFill>
                <a:srgbClr val="0070F3"/>
              </a:solidFill>
            </a:ln>
          </p:spPr>
        </p:sp>
        <p:sp>
          <p:nvSpPr>
            <p:cNvPr id="124" name="TextBox 124"/>
            <p:cNvSpPr txBox="1"/>
            <p:nvPr/>
          </p:nvSpPr>
          <p:spPr>
            <a:xfrm>
              <a:off x="2595753" y="5150263"/>
              <a:ext cx="680771" cy="146304"/>
            </a:xfrm>
            <a:prstGeom prst="rect">
              <a:avLst/>
            </a:prstGeom>
            <a:noFill/>
            <a:ln>
              <a:noFill/>
            </a:ln>
          </p:spPr>
          <p:txBody>
            <a:bodyPr wrap="none" lIns="0" tIns="0" rIns="0" bIns="0" anchor="t" anchorCtr="0">
              <a:spAutoFit/>
            </a:bodyPr>
            <a:lstStyle/>
            <a:p>
              <a:pPr algn="l"/>
              <a:r>
                <a:rPr lang="zh-CN" sz="720" b="1" dirty="0">
                  <a:solidFill>
                    <a:srgbClr val="0070F3"/>
                  </a:solidFill>
                  <a:latin typeface="Times New Roman" panose="02020503050405090304"/>
                  <a:ea typeface="宋体"/>
                  <a:cs typeface="Times New Roman" panose="02020503050405090304"/>
                </a:rPr>
                <a:t>企业采纳加速</a:t>
              </a:r>
              <a:endParaRPr lang="zh-CN" sz="720" b="1" dirty="0">
                <a:solidFill>
                  <a:srgbClr val="0070F3"/>
                </a:solidFill>
                <a:latin typeface="Times New Roman" panose="02020503050405090304"/>
                <a:ea typeface="宋体"/>
                <a:cs typeface="Times New Roman" panose="02020503050405090304"/>
              </a:endParaRPr>
            </a:p>
          </p:txBody>
        </p:sp>
        <p:sp>
          <p:nvSpPr>
            <p:cNvPr id="125" name="TextBox 125"/>
            <p:cNvSpPr txBox="1"/>
            <p:nvPr/>
          </p:nvSpPr>
          <p:spPr>
            <a:xfrm>
              <a:off x="2598191" y="5311673"/>
              <a:ext cx="1644381" cy="107290"/>
            </a:xfrm>
            <a:prstGeom prst="rect">
              <a:avLst/>
            </a:prstGeom>
            <a:noFill/>
            <a:ln>
              <a:noFill/>
            </a:ln>
          </p:spPr>
          <p:txBody>
            <a:bodyPr wrap="none" lIns="0" tIns="0" rIns="0" bIns="0" anchor="t" anchorCtr="0">
              <a:spAutoFit/>
            </a:bodyPr>
            <a:lstStyle/>
            <a:p>
              <a:pPr algn="l"/>
              <a:r>
                <a:rPr lang="zh-CN" sz="530" dirty="0">
                  <a:solidFill>
                    <a:srgbClr val="0A0A0A"/>
                  </a:solidFill>
                  <a:latin typeface="Arial" panose="020B0604020202090204"/>
                  <a:ea typeface="微软雅黑"/>
                  <a:cs typeface="Arial" panose="020B0604020202090204"/>
                </a:rPr>
                <a:t>73%企业已使用 AI，成熟企业生产率提升 15-30%</a:t>
              </a:r>
              <a:endParaRPr lang="zh-CN" sz="530" dirty="0">
                <a:solidFill>
                  <a:srgbClr val="0A0A0A"/>
                </a:solidFill>
                <a:latin typeface="Arial" panose="020B0604020202090204"/>
                <a:ea typeface="微软雅黑"/>
                <a:cs typeface="Arial" panose="020B0604020202090204"/>
              </a:endParaRPr>
            </a:p>
          </p:txBody>
        </p:sp>
        <p:sp>
          <p:nvSpPr>
            <p:cNvPr id="126" name="Rectangle 126"/>
            <p:cNvSpPr/>
            <p:nvPr/>
          </p:nvSpPr>
          <p:spPr>
            <a:xfrm>
              <a:off x="4332160" y="5049107"/>
              <a:ext cx="1727264" cy="412814"/>
            </a:xfrm>
            <a:prstGeom prst="roundRect">
              <a:avLst>
                <a:gd name="adj" fmla="val 11814"/>
              </a:avLst>
            </a:prstGeom>
            <a:solidFill>
              <a:srgbClr val="F8F8F8"/>
            </a:solidFill>
            <a:ln>
              <a:noFill/>
            </a:ln>
          </p:spPr>
        </p:sp>
        <p:sp>
          <p:nvSpPr>
            <p:cNvPr id="127" name="Line 127"/>
            <p:cNvSpPr/>
            <p:nvPr/>
          </p:nvSpPr>
          <p:spPr>
            <a:xfrm>
              <a:off x="4332160" y="5049107"/>
              <a:ext cx="1727263" cy="9525"/>
            </a:xfrm>
            <a:custGeom>
              <a:avLst/>
              <a:gdLst/>
              <a:ahLst/>
              <a:cxnLst/>
              <a:rect l="l" t="t" r="r" b="b"/>
              <a:pathLst>
                <a:path w="1727263" h="9525">
                  <a:moveTo>
                    <a:pt x="0" y="0"/>
                  </a:moveTo>
                  <a:lnTo>
                    <a:pt x="1727263" y="0"/>
                  </a:lnTo>
                </a:path>
              </a:pathLst>
            </a:custGeom>
            <a:noFill/>
            <a:ln w="14288">
              <a:solidFill>
                <a:srgbClr val="D4AF37"/>
              </a:solidFill>
            </a:ln>
          </p:spPr>
        </p:sp>
        <p:sp>
          <p:nvSpPr>
            <p:cNvPr id="128" name="TextBox 128"/>
            <p:cNvSpPr txBox="1"/>
            <p:nvPr/>
          </p:nvSpPr>
          <p:spPr>
            <a:xfrm>
              <a:off x="4396168" y="5150263"/>
              <a:ext cx="697333" cy="146304"/>
            </a:xfrm>
            <a:prstGeom prst="rect">
              <a:avLst/>
            </a:prstGeom>
            <a:noFill/>
            <a:ln>
              <a:noFill/>
            </a:ln>
          </p:spPr>
          <p:txBody>
            <a:bodyPr wrap="none" lIns="0" tIns="0" rIns="0" bIns="0" anchor="t" anchorCtr="0">
              <a:spAutoFit/>
            </a:bodyPr>
            <a:lstStyle/>
            <a:p>
              <a:pPr algn="l"/>
              <a:r>
                <a:rPr lang="zh-CN" sz="720" b="1" dirty="0">
                  <a:solidFill>
                    <a:srgbClr val="D4AF37"/>
                  </a:solidFill>
                  <a:latin typeface="Times New Roman" panose="02020503050405090304"/>
                  <a:ea typeface="宋体"/>
                  <a:cs typeface="Times New Roman" panose="02020503050405090304"/>
                </a:rPr>
                <a:t>生成式 AI领跑</a:t>
              </a:r>
              <a:endParaRPr lang="zh-CN" sz="720" b="1" dirty="0">
                <a:solidFill>
                  <a:srgbClr val="D4AF37"/>
                </a:solidFill>
                <a:latin typeface="Times New Roman" panose="02020503050405090304"/>
                <a:ea typeface="宋体"/>
                <a:cs typeface="Times New Roman" panose="02020503050405090304"/>
              </a:endParaRPr>
            </a:p>
          </p:txBody>
        </p:sp>
        <p:sp>
          <p:nvSpPr>
            <p:cNvPr id="129" name="TextBox 129"/>
            <p:cNvSpPr txBox="1"/>
            <p:nvPr/>
          </p:nvSpPr>
          <p:spPr>
            <a:xfrm>
              <a:off x="4398607" y="5311673"/>
              <a:ext cx="1686794" cy="107290"/>
            </a:xfrm>
            <a:prstGeom prst="rect">
              <a:avLst/>
            </a:prstGeom>
            <a:noFill/>
            <a:ln>
              <a:noFill/>
            </a:ln>
          </p:spPr>
          <p:txBody>
            <a:bodyPr wrap="none" lIns="0" tIns="0" rIns="0" bIns="0" anchor="t" anchorCtr="0">
              <a:spAutoFit/>
            </a:bodyPr>
            <a:lstStyle/>
            <a:p>
              <a:pPr algn="l"/>
              <a:r>
                <a:rPr lang="zh-CN" sz="530" dirty="0">
                  <a:solidFill>
                    <a:srgbClr val="0A0A0A"/>
                  </a:solidFill>
                  <a:latin typeface="Arial" panose="020B0604020202090204"/>
                  <a:ea typeface="微软雅黑"/>
                  <a:cs typeface="Arial" panose="020B0604020202090204"/>
                </a:rPr>
                <a:t>生成式 AI投资同比增长 8倍，预计年驱动 1.3万亿</a:t>
              </a:r>
              <a:endParaRPr lang="zh-CN" sz="530" dirty="0">
                <a:solidFill>
                  <a:srgbClr val="0A0A0A"/>
                </a:solidFill>
                <a:latin typeface="Arial" panose="020B0604020202090204"/>
                <a:ea typeface="微软雅黑"/>
                <a:cs typeface="Arial" panose="020B0604020202090204"/>
              </a:endParaRPr>
            </a:p>
          </p:txBody>
        </p:sp>
        <p:sp>
          <p:nvSpPr>
            <p:cNvPr id="130" name="Rectangle 130"/>
            <p:cNvSpPr/>
            <p:nvPr/>
          </p:nvSpPr>
          <p:spPr>
            <a:xfrm>
              <a:off x="6132576" y="5049107"/>
              <a:ext cx="1727264" cy="412814"/>
            </a:xfrm>
            <a:prstGeom prst="roundRect">
              <a:avLst>
                <a:gd name="adj" fmla="val 11814"/>
              </a:avLst>
            </a:prstGeom>
            <a:solidFill>
              <a:srgbClr val="F8F8F8"/>
            </a:solidFill>
            <a:ln>
              <a:noFill/>
            </a:ln>
          </p:spPr>
        </p:sp>
        <p:sp>
          <p:nvSpPr>
            <p:cNvPr id="131" name="Line 131"/>
            <p:cNvSpPr/>
            <p:nvPr/>
          </p:nvSpPr>
          <p:spPr>
            <a:xfrm>
              <a:off x="6132576" y="5049107"/>
              <a:ext cx="1727168" cy="9525"/>
            </a:xfrm>
            <a:custGeom>
              <a:avLst/>
              <a:gdLst/>
              <a:ahLst/>
              <a:cxnLst/>
              <a:rect l="l" t="t" r="r" b="b"/>
              <a:pathLst>
                <a:path w="1727168" h="9525">
                  <a:moveTo>
                    <a:pt x="0" y="0"/>
                  </a:moveTo>
                  <a:lnTo>
                    <a:pt x="1727168" y="0"/>
                  </a:lnTo>
                </a:path>
              </a:pathLst>
            </a:custGeom>
            <a:noFill/>
            <a:ln w="14288">
              <a:solidFill>
                <a:srgbClr val="D4AF37"/>
              </a:solidFill>
            </a:ln>
          </p:spPr>
        </p:sp>
        <p:sp>
          <p:nvSpPr>
            <p:cNvPr id="132" name="TextBox 132"/>
            <p:cNvSpPr txBox="1"/>
            <p:nvPr/>
          </p:nvSpPr>
          <p:spPr>
            <a:xfrm>
              <a:off x="6196584" y="5150263"/>
              <a:ext cx="680771" cy="146304"/>
            </a:xfrm>
            <a:prstGeom prst="rect">
              <a:avLst/>
            </a:prstGeom>
            <a:noFill/>
            <a:ln>
              <a:noFill/>
            </a:ln>
          </p:spPr>
          <p:txBody>
            <a:bodyPr wrap="none" lIns="0" tIns="0" rIns="0" bIns="0" anchor="t" anchorCtr="0">
              <a:spAutoFit/>
            </a:bodyPr>
            <a:lstStyle/>
            <a:p>
              <a:pPr algn="l"/>
              <a:r>
                <a:rPr lang="zh-CN" sz="720" b="1" dirty="0">
                  <a:solidFill>
                    <a:srgbClr val="D4AF37"/>
                  </a:solidFill>
                  <a:latin typeface="Times New Roman" panose="02020503050405090304"/>
                  <a:ea typeface="宋体"/>
                  <a:cs typeface="Times New Roman" panose="02020503050405090304"/>
                </a:rPr>
                <a:t>资本持续涌入</a:t>
              </a:r>
              <a:endParaRPr lang="zh-CN" sz="720" b="1" dirty="0">
                <a:solidFill>
                  <a:srgbClr val="D4AF37"/>
                </a:solidFill>
                <a:latin typeface="Times New Roman" panose="02020503050405090304"/>
                <a:ea typeface="宋体"/>
                <a:cs typeface="Times New Roman" panose="02020503050405090304"/>
              </a:endParaRPr>
            </a:p>
          </p:txBody>
        </p:sp>
        <p:sp>
          <p:nvSpPr>
            <p:cNvPr id="133" name="TextBox 133"/>
            <p:cNvSpPr txBox="1"/>
            <p:nvPr/>
          </p:nvSpPr>
          <p:spPr>
            <a:xfrm>
              <a:off x="6199022" y="5311673"/>
              <a:ext cx="1636669" cy="107290"/>
            </a:xfrm>
            <a:prstGeom prst="rect">
              <a:avLst/>
            </a:prstGeom>
            <a:noFill/>
            <a:ln>
              <a:noFill/>
            </a:ln>
          </p:spPr>
          <p:txBody>
            <a:bodyPr wrap="none" lIns="0" tIns="0" rIns="0" bIns="0" anchor="t" anchorCtr="0">
              <a:spAutoFit/>
            </a:bodyPr>
            <a:lstStyle/>
            <a:p>
              <a:pPr algn="l"/>
              <a:r>
                <a:rPr lang="zh-CN" sz="530" dirty="0">
                  <a:solidFill>
                    <a:srgbClr val="0A0A0A"/>
                  </a:solidFill>
                  <a:latin typeface="Arial" panose="020B0604020202090204"/>
                  <a:ea typeface="微软雅黑"/>
                  <a:cs typeface="Arial" panose="020B0604020202090204"/>
                </a:rPr>
                <a:t>AI投资 1070亿美元(同比 +28%)，占 VC投资 26%</a:t>
              </a:r>
              <a:endParaRPr lang="zh-CN" sz="530" dirty="0">
                <a:solidFill>
                  <a:srgbClr val="0A0A0A"/>
                </a:solidFill>
                <a:latin typeface="Arial" panose="020B0604020202090204"/>
                <a:ea typeface="微软雅黑"/>
                <a:cs typeface="Arial" panose="020B0604020202090204"/>
              </a:endParaRPr>
            </a:p>
          </p:txBody>
        </p:sp>
        <p:sp>
          <p:nvSpPr>
            <p:cNvPr id="134" name="Rectangle 134"/>
            <p:cNvSpPr/>
            <p:nvPr/>
          </p:nvSpPr>
          <p:spPr>
            <a:xfrm>
              <a:off x="7932896" y="5049107"/>
              <a:ext cx="1727264" cy="412814"/>
            </a:xfrm>
            <a:prstGeom prst="roundRect">
              <a:avLst>
                <a:gd name="adj" fmla="val 11814"/>
              </a:avLst>
            </a:prstGeom>
            <a:solidFill>
              <a:srgbClr val="F8F8F8"/>
            </a:solidFill>
            <a:ln>
              <a:noFill/>
            </a:ln>
          </p:spPr>
        </p:sp>
        <p:sp>
          <p:nvSpPr>
            <p:cNvPr id="135" name="Line 135"/>
            <p:cNvSpPr/>
            <p:nvPr/>
          </p:nvSpPr>
          <p:spPr>
            <a:xfrm>
              <a:off x="7932896" y="5049107"/>
              <a:ext cx="1727264" cy="9525"/>
            </a:xfrm>
            <a:custGeom>
              <a:avLst/>
              <a:gdLst/>
              <a:ahLst/>
              <a:cxnLst/>
              <a:rect l="l" t="t" r="r" b="b"/>
              <a:pathLst>
                <a:path w="1727264" h="9525">
                  <a:moveTo>
                    <a:pt x="0" y="0"/>
                  </a:moveTo>
                  <a:lnTo>
                    <a:pt x="1727264" y="0"/>
                  </a:lnTo>
                </a:path>
              </a:pathLst>
            </a:custGeom>
            <a:noFill/>
            <a:ln w="14288">
              <a:solidFill>
                <a:srgbClr val="0A0A0A"/>
              </a:solidFill>
            </a:ln>
          </p:spPr>
        </p:sp>
        <p:sp>
          <p:nvSpPr>
            <p:cNvPr id="136" name="TextBox 136"/>
            <p:cNvSpPr txBox="1"/>
            <p:nvPr/>
          </p:nvSpPr>
          <p:spPr>
            <a:xfrm>
              <a:off x="7996904" y="5150263"/>
              <a:ext cx="680771" cy="146304"/>
            </a:xfrm>
            <a:prstGeom prst="rect">
              <a:avLst/>
            </a:prstGeom>
            <a:noFill/>
            <a:ln>
              <a:noFill/>
            </a:ln>
          </p:spPr>
          <p:txBody>
            <a:bodyPr wrap="none" lIns="0" tIns="0" rIns="0" bIns="0" anchor="t" anchorCtr="0">
              <a:spAutoFit/>
            </a:bodyPr>
            <a:lstStyle/>
            <a:p>
              <a:pPr algn="l"/>
              <a:r>
                <a:rPr lang="zh-CN" sz="720" b="1" dirty="0">
                  <a:solidFill>
                    <a:srgbClr val="0A0A0A"/>
                  </a:solidFill>
                  <a:latin typeface="Times New Roman" panose="02020503050405090304"/>
                  <a:ea typeface="宋体"/>
                  <a:cs typeface="Times New Roman" panose="02020503050405090304"/>
                </a:rPr>
                <a:t>战略窗口收窄</a:t>
              </a:r>
              <a:endParaRPr lang="zh-CN" sz="720" b="1" dirty="0">
                <a:solidFill>
                  <a:srgbClr val="0A0A0A"/>
                </a:solidFill>
                <a:latin typeface="Times New Roman" panose="02020503050405090304"/>
                <a:ea typeface="宋体"/>
                <a:cs typeface="Times New Roman" panose="02020503050405090304"/>
              </a:endParaRPr>
            </a:p>
          </p:txBody>
        </p:sp>
        <p:sp>
          <p:nvSpPr>
            <p:cNvPr id="137" name="TextBox 137"/>
            <p:cNvSpPr txBox="1"/>
            <p:nvPr/>
          </p:nvSpPr>
          <p:spPr>
            <a:xfrm>
              <a:off x="7999343" y="5311673"/>
              <a:ext cx="1698361" cy="107290"/>
            </a:xfrm>
            <a:prstGeom prst="rect">
              <a:avLst/>
            </a:prstGeom>
            <a:noFill/>
            <a:ln>
              <a:noFill/>
            </a:ln>
          </p:spPr>
          <p:txBody>
            <a:bodyPr wrap="none" lIns="0" tIns="0" rIns="0" bIns="0" anchor="t" anchorCtr="0">
              <a:spAutoFit/>
            </a:bodyPr>
            <a:lstStyle/>
            <a:p>
              <a:pPr algn="l"/>
              <a:r>
                <a:rPr lang="zh-CN" sz="530" dirty="0">
                  <a:solidFill>
                    <a:srgbClr val="0A0A0A"/>
                  </a:solidFill>
                  <a:latin typeface="Arial" panose="020B0604020202090204"/>
                  <a:ea typeface="微软雅黑"/>
                  <a:cs typeface="Arial" panose="020B0604020202090204"/>
                </a:rPr>
                <a:t>仅 13%企业无 AI采用计划，未布局将面临竞争劣势</a:t>
              </a:r>
              <a:endParaRPr lang="zh-CN" sz="530" dirty="0">
                <a:solidFill>
                  <a:srgbClr val="0A0A0A"/>
                </a:solidFill>
                <a:latin typeface="Arial" panose="020B0604020202090204"/>
                <a:ea typeface="微软雅黑"/>
                <a:cs typeface="Arial" panose="020B0604020202090204"/>
              </a:endParaRPr>
            </a:p>
          </p:txBody>
        </p:sp>
        <p:sp>
          <p:nvSpPr>
            <p:cNvPr id="138" name="Rectangle 138"/>
            <p:cNvSpPr/>
            <p:nvPr/>
          </p:nvSpPr>
          <p:spPr>
            <a:xfrm>
              <a:off x="9733312" y="5049107"/>
              <a:ext cx="1727264" cy="412814"/>
            </a:xfrm>
            <a:prstGeom prst="roundRect">
              <a:avLst>
                <a:gd name="adj" fmla="val 11814"/>
              </a:avLst>
            </a:prstGeom>
            <a:solidFill>
              <a:srgbClr val="F8F8F8"/>
            </a:solidFill>
            <a:ln>
              <a:noFill/>
            </a:ln>
          </p:spPr>
        </p:sp>
        <p:sp>
          <p:nvSpPr>
            <p:cNvPr id="139" name="Line 139"/>
            <p:cNvSpPr/>
            <p:nvPr/>
          </p:nvSpPr>
          <p:spPr>
            <a:xfrm>
              <a:off x="9733312" y="5049107"/>
              <a:ext cx="1727168" cy="9525"/>
            </a:xfrm>
            <a:custGeom>
              <a:avLst/>
              <a:gdLst/>
              <a:ahLst/>
              <a:cxnLst/>
              <a:rect l="l" t="t" r="r" b="b"/>
              <a:pathLst>
                <a:path w="1727168" h="9525">
                  <a:moveTo>
                    <a:pt x="0" y="0"/>
                  </a:moveTo>
                  <a:lnTo>
                    <a:pt x="1727168" y="0"/>
                  </a:lnTo>
                </a:path>
              </a:pathLst>
            </a:custGeom>
            <a:noFill/>
            <a:ln w="14288">
              <a:solidFill>
                <a:srgbClr val="0A0A0A"/>
              </a:solidFill>
            </a:ln>
          </p:spPr>
        </p:sp>
        <p:sp>
          <p:nvSpPr>
            <p:cNvPr id="140" name="TextBox 140"/>
            <p:cNvSpPr txBox="1"/>
            <p:nvPr/>
          </p:nvSpPr>
          <p:spPr>
            <a:xfrm>
              <a:off x="9797320" y="5150263"/>
              <a:ext cx="680771" cy="146304"/>
            </a:xfrm>
            <a:prstGeom prst="rect">
              <a:avLst/>
            </a:prstGeom>
            <a:noFill/>
            <a:ln>
              <a:noFill/>
            </a:ln>
          </p:spPr>
          <p:txBody>
            <a:bodyPr wrap="none" lIns="0" tIns="0" rIns="0" bIns="0" anchor="t" anchorCtr="0">
              <a:spAutoFit/>
            </a:bodyPr>
            <a:lstStyle/>
            <a:p>
              <a:pPr algn="l"/>
              <a:r>
                <a:rPr lang="zh-CN" sz="720" b="1" dirty="0">
                  <a:solidFill>
                    <a:srgbClr val="0A0A0A"/>
                  </a:solidFill>
                  <a:latin typeface="Times New Roman" panose="02020503050405090304"/>
                  <a:ea typeface="宋体"/>
                  <a:cs typeface="Times New Roman" panose="02020503050405090304"/>
                </a:rPr>
                <a:t>全局协同制胜</a:t>
              </a:r>
              <a:endParaRPr lang="zh-CN" sz="720" b="1" dirty="0">
                <a:solidFill>
                  <a:srgbClr val="0A0A0A"/>
                </a:solidFill>
                <a:latin typeface="Times New Roman" panose="02020503050405090304"/>
                <a:ea typeface="宋体"/>
                <a:cs typeface="Times New Roman" panose="02020503050405090304"/>
              </a:endParaRPr>
            </a:p>
          </p:txBody>
        </p:sp>
        <p:sp>
          <p:nvSpPr>
            <p:cNvPr id="141" name="TextBox 141"/>
            <p:cNvSpPr txBox="1"/>
            <p:nvPr/>
          </p:nvSpPr>
          <p:spPr>
            <a:xfrm>
              <a:off x="9799758" y="5311673"/>
              <a:ext cx="1632814" cy="107290"/>
            </a:xfrm>
            <a:prstGeom prst="rect">
              <a:avLst/>
            </a:prstGeom>
            <a:noFill/>
            <a:ln>
              <a:noFill/>
            </a:ln>
          </p:spPr>
          <p:txBody>
            <a:bodyPr wrap="none" lIns="0" tIns="0" rIns="0" bIns="0" anchor="t" anchorCtr="0">
              <a:spAutoFit/>
            </a:bodyPr>
            <a:lstStyle/>
            <a:p>
              <a:pPr algn="l"/>
              <a:r>
                <a:rPr lang="zh-CN" sz="530" dirty="0">
                  <a:solidFill>
                    <a:srgbClr val="0A0A0A"/>
                  </a:solidFill>
                  <a:latin typeface="Arial" panose="020B0604020202090204"/>
                  <a:ea typeface="微软雅黑"/>
                  <a:cs typeface="Arial" panose="020B0604020202090204"/>
                </a:rPr>
                <a:t>技术、人才、治理三维度同步推进构建竞争优势</a:t>
              </a:r>
              <a:endParaRPr lang="zh-CN" sz="530" dirty="0">
                <a:solidFill>
                  <a:srgbClr val="0A0A0A"/>
                </a:solidFill>
                <a:latin typeface="Arial" panose="020B0604020202090204"/>
                <a:ea typeface="微软雅黑"/>
                <a:cs typeface="Arial" panose="020B0604020202090204"/>
              </a:endParaRPr>
            </a:p>
          </p:txBody>
        </p:sp>
        <p:sp>
          <p:nvSpPr>
            <p:cNvPr id="142" name="Rectangle 142"/>
            <p:cNvSpPr/>
            <p:nvPr/>
          </p:nvSpPr>
          <p:spPr>
            <a:xfrm>
              <a:off x="731520" y="5522881"/>
              <a:ext cx="10729055" cy="160972"/>
            </a:xfrm>
            <a:prstGeom prst="rect">
              <a:avLst/>
            </a:prstGeom>
            <a:noFill/>
            <a:ln>
              <a:noFill/>
            </a:ln>
          </p:spPr>
        </p:sp>
        <p:sp>
          <p:nvSpPr>
            <p:cNvPr id="143" name="Line 143"/>
            <p:cNvSpPr/>
            <p:nvPr/>
          </p:nvSpPr>
          <p:spPr>
            <a:xfrm>
              <a:off x="731520" y="5522881"/>
              <a:ext cx="10728960" cy="9525"/>
            </a:xfrm>
            <a:custGeom>
              <a:avLst/>
              <a:gdLst/>
              <a:ahLst/>
              <a:cxnLst/>
              <a:rect l="l" t="t" r="r" b="b"/>
              <a:pathLst>
                <a:path w="10728960" h="9525">
                  <a:moveTo>
                    <a:pt x="0" y="0"/>
                  </a:moveTo>
                  <a:lnTo>
                    <a:pt x="10728960" y="0"/>
                  </a:lnTo>
                </a:path>
              </a:pathLst>
            </a:custGeom>
            <a:noFill/>
            <a:ln w="4762">
              <a:solidFill>
                <a:srgbClr val="E0E0E0"/>
              </a:solidFill>
            </a:ln>
          </p:spPr>
        </p:sp>
        <p:sp>
          <p:nvSpPr>
            <p:cNvPr id="144" name="TextBox 144"/>
            <p:cNvSpPr txBox="1"/>
            <p:nvPr/>
          </p:nvSpPr>
          <p:spPr>
            <a:xfrm>
              <a:off x="724814" y="5598662"/>
              <a:ext cx="2334555" cy="107290"/>
            </a:xfrm>
            <a:prstGeom prst="rect">
              <a:avLst/>
            </a:prstGeom>
            <a:noFill/>
            <a:ln>
              <a:noFill/>
            </a:ln>
          </p:spPr>
          <p:txBody>
            <a:bodyPr wrap="none" lIns="0" tIns="0" rIns="0" bIns="0" anchor="t" anchorCtr="0">
              <a:spAutoFit/>
            </a:bodyPr>
            <a:lstStyle/>
            <a:p>
              <a:pPr algn="l"/>
              <a:r>
                <a:rPr lang="zh-CN" sz="530" dirty="0">
                  <a:solidFill>
                    <a:srgbClr val="888888"/>
                  </a:solidFill>
                  <a:latin typeface="Arial" panose="020B0604020202090204"/>
                  <a:ea typeface="微软雅黑"/>
                  <a:cs typeface="Arial" panose="020B0604020202090204"/>
                </a:rPr>
                <a:t>数据来源 : McKinsey, PwC, Stanford HAI, Tech Nation(对话分析</a:t>
              </a:r>
              <a:endParaRPr lang="zh-CN" sz="530" dirty="0">
                <a:solidFill>
                  <a:srgbClr val="888888"/>
                </a:solidFill>
                <a:latin typeface="Arial" panose="020B0604020202090204"/>
                <a:ea typeface="微软雅黑"/>
                <a:cs typeface="Arial" panose="020B0604020202090204"/>
              </a:endParaRPr>
            </a:p>
          </p:txBody>
        </p:sp>
        <p:sp>
          <p:nvSpPr>
            <p:cNvPr id="145" name="TextBox 145"/>
            <p:cNvSpPr txBox="1"/>
            <p:nvPr/>
          </p:nvSpPr>
          <p:spPr>
            <a:xfrm>
              <a:off x="724814" y="5682482"/>
              <a:ext cx="55824" cy="107290"/>
            </a:xfrm>
            <a:prstGeom prst="rect">
              <a:avLst/>
            </a:prstGeom>
            <a:noFill/>
            <a:ln>
              <a:noFill/>
            </a:ln>
          </p:spPr>
          <p:txBody>
            <a:bodyPr wrap="none" lIns="0" tIns="0" rIns="0" bIns="0" anchor="t" anchorCtr="0">
              <a:spAutoFit/>
            </a:bodyPr>
            <a:lstStyle/>
            <a:p>
              <a:pPr algn="l"/>
              <a:r>
                <a:rPr lang="zh-CN" sz="530" dirty="0">
                  <a:solidFill>
                    <a:srgbClr val="888888"/>
                  </a:solidFill>
                  <a:latin typeface="Arial" panose="020B0604020202090204"/>
                  <a:ea typeface="微软雅黑"/>
                  <a:cs typeface="Arial" panose="020B0604020202090204"/>
                </a:rPr>
                <a:t>)</a:t>
              </a:r>
              <a:endParaRPr lang="zh-CN" sz="530" dirty="0">
                <a:solidFill>
                  <a:srgbClr val="888888"/>
                </a:solidFill>
                <a:latin typeface="Arial" panose="020B0604020202090204"/>
                <a:ea typeface="微软雅黑"/>
                <a:cs typeface="Arial" panose="020B0604020202090204"/>
              </a:endParaRPr>
            </a:p>
          </p:txBody>
        </p:sp>
        <p:sp>
          <p:nvSpPr>
            <p:cNvPr id="146" name="TextBox 146"/>
            <p:cNvSpPr txBox="1"/>
            <p:nvPr/>
          </p:nvSpPr>
          <p:spPr>
            <a:xfrm>
              <a:off x="10764164" y="5598662"/>
              <a:ext cx="776844" cy="107290"/>
            </a:xfrm>
            <a:prstGeom prst="rect">
              <a:avLst/>
            </a:prstGeom>
            <a:noFill/>
            <a:ln>
              <a:noFill/>
            </a:ln>
          </p:spPr>
          <p:txBody>
            <a:bodyPr wrap="none" lIns="0" tIns="0" rIns="0" bIns="0" anchor="t" anchorCtr="0">
              <a:spAutoFit/>
            </a:bodyPr>
            <a:lstStyle/>
            <a:p>
              <a:pPr algn="l"/>
              <a:r>
                <a:rPr lang="zh-CN" sz="530" dirty="0">
                  <a:solidFill>
                    <a:srgbClr val="0070F3"/>
                  </a:solidFill>
                  <a:latin typeface="Arial" panose="020B0604020202090204"/>
                  <a:ea typeface="微软雅黑"/>
                  <a:cs typeface="Arial" panose="020B0604020202090204"/>
                </a:rPr>
                <a:t>16:9· Roadmap· 2024</a:t>
              </a:r>
              <a:endParaRPr lang="zh-CN" sz="530" dirty="0">
                <a:solidFill>
                  <a:srgbClr val="0070F3"/>
                </a:solidFill>
                <a:latin typeface="Arial" panose="020B0604020202090204"/>
                <a:ea typeface="微软雅黑"/>
                <a:cs typeface="Arial" panose="020B0604020202090204"/>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1341120" y="0"/>
              <a:ext cx="9509760" cy="6858000"/>
            </a:xfrm>
            <a:prstGeom prst="rect">
              <a:avLst/>
            </a:prstGeom>
            <a:solidFill>
              <a:srgbClr val="FFFFFF"/>
            </a:solidFill>
            <a:ln>
              <a:noFill/>
            </a:ln>
          </p:spPr>
        </p:sp>
      </p:grpSp>
      <p:grpSp>
        <p:nvGrpSpPr>
          <p:cNvPr id="112" name="Group 112"/>
          <p:cNvGrpSpPr/>
          <p:nvPr/>
        </p:nvGrpSpPr>
        <p:grpSpPr>
          <a:xfrm>
            <a:off x="1584960" y="300990"/>
            <a:ext cx="9199244" cy="4379024"/>
            <a:chOff x="1584960" y="300990"/>
            <a:chExt cx="9199244" cy="4379024"/>
          </a:xfrm>
        </p:grpSpPr>
        <p:sp>
          <p:nvSpPr>
            <p:cNvPr id="5" name="TextBox 5"/>
            <p:cNvSpPr txBox="1"/>
            <p:nvPr/>
          </p:nvSpPr>
          <p:spPr>
            <a:xfrm>
              <a:off x="1584960" y="300990"/>
              <a:ext cx="8050721" cy="365760"/>
            </a:xfrm>
            <a:prstGeom prst="rect">
              <a:avLst/>
            </a:prstGeom>
            <a:noFill/>
            <a:ln>
              <a:noFill/>
            </a:ln>
          </p:spPr>
          <p:txBody>
            <a:bodyPr wrap="none" lIns="0" tIns="0" rIns="0" bIns="0" anchor="t" anchorCtr="0">
              <a:spAutoFit/>
            </a:bodyPr>
            <a:lstStyle/>
            <a:p>
              <a:pPr algn="l"/>
              <a:r>
                <a:rPr lang="zh-CN" sz="1800" b="1" dirty="0">
                  <a:solidFill>
                    <a:srgbClr val="0A0A0A"/>
                  </a:solidFill>
                  <a:latin typeface="Times New Roman" panose="02020503050405090304"/>
                  <a:ea typeface="宋体"/>
                  <a:cs typeface="Times New Roman" panose="02020503050405090304"/>
                </a:rPr>
                <a:t>AI已过观望期，进入规模化落地临界点，建议立即启动 AI战略布局</a:t>
              </a:r>
              <a:endParaRPr lang="zh-CN" sz="1800" b="1" dirty="0">
                <a:solidFill>
                  <a:srgbClr val="0A0A0A"/>
                </a:solidFill>
                <a:latin typeface="Times New Roman" panose="02020503050405090304"/>
                <a:ea typeface="宋体"/>
                <a:cs typeface="Times New Roman" panose="02020503050405090304"/>
              </a:endParaRPr>
            </a:p>
          </p:txBody>
        </p:sp>
        <p:sp>
          <p:nvSpPr>
            <p:cNvPr id="6" name="TextBox 6"/>
            <p:cNvSpPr txBox="1"/>
            <p:nvPr/>
          </p:nvSpPr>
          <p:spPr>
            <a:xfrm>
              <a:off x="1597343" y="617696"/>
              <a:ext cx="2575369" cy="167640"/>
            </a:xfrm>
            <a:prstGeom prst="rect">
              <a:avLst/>
            </a:prstGeom>
            <a:noFill/>
            <a:ln>
              <a:noFill/>
            </a:ln>
          </p:spPr>
          <p:txBody>
            <a:bodyPr wrap="none" lIns="0" tIns="0" rIns="0" bIns="0" anchor="t" anchorCtr="0">
              <a:spAutoFit/>
            </a:bodyPr>
            <a:lstStyle/>
            <a:p>
              <a:pPr algn="l"/>
              <a:r>
                <a:rPr lang="zh-CN" sz="825" dirty="0">
                  <a:solidFill>
                    <a:srgbClr val="666666"/>
                  </a:solidFill>
                  <a:latin typeface="Arial" panose="020B0604020202090204"/>
                  <a:ea typeface="微软雅黑"/>
                  <a:cs typeface="Arial" panose="020B0604020202090204"/>
                </a:rPr>
                <a:t>基于 2024年 AI发展现状综合分析·对话分析结论</a:t>
              </a:r>
              <a:endParaRPr lang="zh-CN" sz="825" dirty="0">
                <a:solidFill>
                  <a:srgbClr val="666666"/>
                </a:solidFill>
                <a:latin typeface="Arial" panose="020B0604020202090204"/>
                <a:ea typeface="微软雅黑"/>
                <a:cs typeface="Arial" panose="020B0604020202090204"/>
              </a:endParaRPr>
            </a:p>
          </p:txBody>
        </p:sp>
        <p:sp>
          <p:nvSpPr>
            <p:cNvPr id="7" name="Rectangle 7"/>
            <p:cNvSpPr/>
            <p:nvPr/>
          </p:nvSpPr>
          <p:spPr>
            <a:xfrm>
              <a:off x="1607820" y="862870"/>
              <a:ext cx="533400" cy="28575"/>
            </a:xfrm>
            <a:prstGeom prst="rect">
              <a:avLst/>
            </a:prstGeom>
            <a:solidFill>
              <a:srgbClr val="0070F3"/>
            </a:solidFill>
            <a:ln>
              <a:noFill/>
            </a:ln>
          </p:spPr>
        </p:sp>
        <p:sp>
          <p:nvSpPr>
            <p:cNvPr id="8" name="Rectangle 8"/>
            <p:cNvSpPr/>
            <p:nvPr/>
          </p:nvSpPr>
          <p:spPr>
            <a:xfrm>
              <a:off x="1653826" y="1089946"/>
              <a:ext cx="2811113" cy="987076"/>
            </a:xfrm>
            <a:prstGeom prst="roundRect">
              <a:avLst>
                <a:gd name="adj" fmla="val 3860"/>
              </a:avLst>
            </a:prstGeom>
            <a:solidFill>
              <a:srgbClr val="000000">
                <a:alpha val="4000"/>
              </a:srgbClr>
            </a:solidFill>
            <a:ln>
              <a:noFill/>
            </a:ln>
          </p:spPr>
        </p:sp>
        <p:sp>
          <p:nvSpPr>
            <p:cNvPr id="9" name="Line 9"/>
            <p:cNvSpPr/>
            <p:nvPr/>
          </p:nvSpPr>
          <p:spPr>
            <a:xfrm>
              <a:off x="1653826" y="1089946"/>
              <a:ext cx="2811113" cy="9525"/>
            </a:xfrm>
            <a:custGeom>
              <a:avLst/>
              <a:gdLst/>
              <a:ahLst/>
              <a:cxnLst/>
              <a:rect l="l" t="t" r="r" b="b"/>
              <a:pathLst>
                <a:path w="2811113" h="9525">
                  <a:moveTo>
                    <a:pt x="0" y="0"/>
                  </a:moveTo>
                  <a:lnTo>
                    <a:pt x="2811113" y="0"/>
                  </a:lnTo>
                </a:path>
              </a:pathLst>
            </a:custGeom>
            <a:noFill/>
            <a:ln w="9525">
              <a:solidFill>
                <a:srgbClr val="E0E0E0"/>
              </a:solidFill>
            </a:ln>
          </p:spPr>
        </p:sp>
        <p:sp>
          <p:nvSpPr>
            <p:cNvPr id="10" name="Line 10"/>
            <p:cNvSpPr/>
            <p:nvPr/>
          </p:nvSpPr>
          <p:spPr>
            <a:xfrm>
              <a:off x="4464939" y="1089946"/>
              <a:ext cx="9525" cy="986980"/>
            </a:xfrm>
            <a:custGeom>
              <a:avLst/>
              <a:gdLst/>
              <a:ahLst/>
              <a:cxnLst/>
              <a:rect l="l" t="t" r="r" b="b"/>
              <a:pathLst>
                <a:path w="9525" h="986980">
                  <a:moveTo>
                    <a:pt x="0" y="0"/>
                  </a:moveTo>
                  <a:lnTo>
                    <a:pt x="0" y="986980"/>
                  </a:lnTo>
                </a:path>
              </a:pathLst>
            </a:custGeom>
            <a:noFill/>
            <a:ln w="9525">
              <a:solidFill>
                <a:srgbClr val="E0E0E0"/>
              </a:solidFill>
            </a:ln>
          </p:spPr>
        </p:sp>
        <p:sp>
          <p:nvSpPr>
            <p:cNvPr id="11" name="Line 11"/>
            <p:cNvSpPr/>
            <p:nvPr/>
          </p:nvSpPr>
          <p:spPr>
            <a:xfrm>
              <a:off x="1653826" y="2076926"/>
              <a:ext cx="2811113" cy="9525"/>
            </a:xfrm>
            <a:custGeom>
              <a:avLst/>
              <a:gdLst/>
              <a:ahLst/>
              <a:cxnLst/>
              <a:rect l="l" t="t" r="r" b="b"/>
              <a:pathLst>
                <a:path w="2811113" h="9525">
                  <a:moveTo>
                    <a:pt x="0" y="0"/>
                  </a:moveTo>
                  <a:lnTo>
                    <a:pt x="2811113" y="0"/>
                  </a:lnTo>
                </a:path>
              </a:pathLst>
            </a:custGeom>
            <a:noFill/>
            <a:ln w="9525">
              <a:solidFill>
                <a:srgbClr val="E0E0E0"/>
              </a:solidFill>
            </a:ln>
          </p:spPr>
        </p:sp>
        <p:sp>
          <p:nvSpPr>
            <p:cNvPr id="12" name="Line 12"/>
            <p:cNvSpPr/>
            <p:nvPr/>
          </p:nvSpPr>
          <p:spPr>
            <a:xfrm>
              <a:off x="1653826" y="1089946"/>
              <a:ext cx="9525" cy="986980"/>
            </a:xfrm>
            <a:custGeom>
              <a:avLst/>
              <a:gdLst/>
              <a:ahLst/>
              <a:cxnLst/>
              <a:rect l="l" t="t" r="r" b="b"/>
              <a:pathLst>
                <a:path w="9525" h="986980">
                  <a:moveTo>
                    <a:pt x="0" y="0"/>
                  </a:moveTo>
                  <a:lnTo>
                    <a:pt x="0" y="986980"/>
                  </a:lnTo>
                </a:path>
              </a:pathLst>
            </a:custGeom>
            <a:noFill/>
            <a:ln w="9525">
              <a:solidFill>
                <a:srgbClr val="E0E0E0"/>
              </a:solidFill>
            </a:ln>
          </p:spPr>
        </p:sp>
        <p:sp>
          <p:nvSpPr>
            <p:cNvPr id="13" name="TextBox 13"/>
            <p:cNvSpPr txBox="1"/>
            <p:nvPr/>
          </p:nvSpPr>
          <p:spPr>
            <a:xfrm>
              <a:off x="1727835" y="1194816"/>
              <a:ext cx="921877" cy="198120"/>
            </a:xfrm>
            <a:prstGeom prst="rect">
              <a:avLst/>
            </a:prstGeom>
            <a:noFill/>
            <a:ln>
              <a:noFill/>
            </a:ln>
          </p:spPr>
          <p:txBody>
            <a:bodyPr wrap="none" lIns="0" tIns="0" rIns="0" bIns="0" anchor="t" anchorCtr="0">
              <a:spAutoFit/>
            </a:bodyPr>
            <a:lstStyle/>
            <a:p>
              <a:pPr algn="l"/>
              <a:r>
                <a:rPr lang="zh-CN" sz="975" b="1" dirty="0">
                  <a:solidFill>
                    <a:srgbClr val="0070F3"/>
                  </a:solidFill>
                  <a:latin typeface="Times New Roman" panose="02020503050405090304"/>
                  <a:ea typeface="宋体"/>
                  <a:cs typeface="Times New Roman" panose="02020503050405090304"/>
                </a:rPr>
                <a:t>市场规模爆发</a:t>
              </a:r>
              <a:endParaRPr lang="zh-CN" sz="975" b="1" dirty="0">
                <a:solidFill>
                  <a:srgbClr val="0070F3"/>
                </a:solidFill>
                <a:latin typeface="Times New Roman" panose="02020503050405090304"/>
                <a:ea typeface="宋体"/>
                <a:cs typeface="Times New Roman" panose="02020503050405090304"/>
              </a:endParaRPr>
            </a:p>
          </p:txBody>
        </p:sp>
        <p:sp>
          <p:nvSpPr>
            <p:cNvPr id="14" name="TextBox 14"/>
            <p:cNvSpPr txBox="1"/>
            <p:nvPr/>
          </p:nvSpPr>
          <p:spPr>
            <a:xfrm>
              <a:off x="1729740" y="1425321"/>
              <a:ext cx="2942868" cy="167640"/>
            </a:xfrm>
            <a:prstGeom prst="rect">
              <a:avLst/>
            </a:prstGeom>
            <a:noFill/>
            <a:ln>
              <a:noFill/>
            </a:ln>
          </p:spPr>
          <p:txBody>
            <a:bodyPr wrap="none" lIns="0" tIns="0" rIns="0" bIns="0" anchor="t" anchorCtr="0">
              <a:spAutoFit/>
            </a:bodyPr>
            <a:lstStyle/>
            <a:p>
              <a:pPr algn="l"/>
              <a:r>
                <a:rPr lang="zh-CN" sz="825" dirty="0">
                  <a:solidFill>
                    <a:srgbClr val="4A4A4A"/>
                  </a:solidFill>
                  <a:latin typeface="Arial" panose="020B0604020202090204"/>
                  <a:ea typeface="微软雅黑"/>
                  <a:cs typeface="Arial" panose="020B0604020202090204"/>
                </a:rPr>
                <a:t>全球 AI市场年复合增长率超 40%，企业级 AI应用部署需</a:t>
              </a:r>
              <a:endParaRPr lang="zh-CN" sz="825" dirty="0">
                <a:solidFill>
                  <a:srgbClr val="4A4A4A"/>
                </a:solidFill>
                <a:latin typeface="Arial" panose="020B0604020202090204"/>
                <a:ea typeface="微软雅黑"/>
                <a:cs typeface="Arial" panose="020B0604020202090204"/>
              </a:endParaRPr>
            </a:p>
          </p:txBody>
        </p:sp>
        <p:sp>
          <p:nvSpPr>
            <p:cNvPr id="15" name="TextBox 15"/>
            <p:cNvSpPr txBox="1"/>
            <p:nvPr/>
          </p:nvSpPr>
          <p:spPr>
            <a:xfrm>
              <a:off x="1729740" y="1582484"/>
              <a:ext cx="1587341" cy="167640"/>
            </a:xfrm>
            <a:prstGeom prst="rect">
              <a:avLst/>
            </a:prstGeom>
            <a:noFill/>
            <a:ln>
              <a:noFill/>
            </a:ln>
          </p:spPr>
          <p:txBody>
            <a:bodyPr wrap="none" lIns="0" tIns="0" rIns="0" bIns="0" anchor="t" anchorCtr="0">
              <a:spAutoFit/>
            </a:bodyPr>
            <a:lstStyle/>
            <a:p>
              <a:pPr algn="l"/>
              <a:r>
                <a:rPr lang="zh-CN" sz="825" dirty="0">
                  <a:solidFill>
                    <a:srgbClr val="4A4A4A"/>
                  </a:solidFill>
                  <a:latin typeface="Arial" panose="020B0604020202090204"/>
                  <a:ea typeface="微软雅黑"/>
                  <a:cs typeface="Arial" panose="020B0604020202090204"/>
                </a:rPr>
                <a:t>求激增，市场窗口期正在收窄</a:t>
              </a:r>
              <a:endParaRPr lang="zh-CN" sz="825" dirty="0">
                <a:solidFill>
                  <a:srgbClr val="4A4A4A"/>
                </a:solidFill>
                <a:latin typeface="Arial" panose="020B0604020202090204"/>
                <a:ea typeface="微软雅黑"/>
                <a:cs typeface="Arial" panose="020B0604020202090204"/>
              </a:endParaRPr>
            </a:p>
          </p:txBody>
        </p:sp>
        <p:sp>
          <p:nvSpPr>
            <p:cNvPr id="16" name="Rectangle 16"/>
            <p:cNvSpPr/>
            <p:nvPr/>
          </p:nvSpPr>
          <p:spPr>
            <a:xfrm>
              <a:off x="1740218" y="1800130"/>
              <a:ext cx="514350" cy="190500"/>
            </a:xfrm>
            <a:prstGeom prst="roundRect">
              <a:avLst>
                <a:gd name="adj" fmla="val 10000"/>
              </a:avLst>
            </a:prstGeom>
            <a:solidFill>
              <a:srgbClr val="F0F4FF"/>
            </a:solidFill>
            <a:ln>
              <a:noFill/>
            </a:ln>
          </p:spPr>
        </p:sp>
        <p:sp>
          <p:nvSpPr>
            <p:cNvPr id="17" name="Line 17"/>
            <p:cNvSpPr/>
            <p:nvPr/>
          </p:nvSpPr>
          <p:spPr>
            <a:xfrm>
              <a:off x="1740218" y="1800130"/>
              <a:ext cx="514350" cy="9525"/>
            </a:xfrm>
            <a:custGeom>
              <a:avLst/>
              <a:gdLst/>
              <a:ahLst/>
              <a:cxnLst/>
              <a:rect l="l" t="t" r="r" b="b"/>
              <a:pathLst>
                <a:path w="514350" h="9525">
                  <a:moveTo>
                    <a:pt x="0" y="0"/>
                  </a:moveTo>
                  <a:lnTo>
                    <a:pt x="514350" y="0"/>
                  </a:lnTo>
                </a:path>
              </a:pathLst>
            </a:custGeom>
            <a:noFill/>
            <a:ln w="9525">
              <a:solidFill>
                <a:srgbClr val="000000">
                  <a:alpha val="20000"/>
                </a:srgbClr>
              </a:solidFill>
            </a:ln>
          </p:spPr>
        </p:sp>
        <p:sp>
          <p:nvSpPr>
            <p:cNvPr id="18" name="Line 18"/>
            <p:cNvSpPr/>
            <p:nvPr/>
          </p:nvSpPr>
          <p:spPr>
            <a:xfrm>
              <a:off x="2254568"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19" name="Line 19"/>
            <p:cNvSpPr/>
            <p:nvPr/>
          </p:nvSpPr>
          <p:spPr>
            <a:xfrm>
              <a:off x="1740218" y="1990630"/>
              <a:ext cx="514350" cy="9525"/>
            </a:xfrm>
            <a:custGeom>
              <a:avLst/>
              <a:gdLst/>
              <a:ahLst/>
              <a:cxnLst/>
              <a:rect l="l" t="t" r="r" b="b"/>
              <a:pathLst>
                <a:path w="514350" h="9525">
                  <a:moveTo>
                    <a:pt x="0" y="0"/>
                  </a:moveTo>
                  <a:lnTo>
                    <a:pt x="514350" y="0"/>
                  </a:lnTo>
                </a:path>
              </a:pathLst>
            </a:custGeom>
            <a:noFill/>
            <a:ln w="9525">
              <a:solidFill>
                <a:srgbClr val="000000">
                  <a:alpha val="20000"/>
                </a:srgbClr>
              </a:solidFill>
            </a:ln>
          </p:spPr>
        </p:sp>
        <p:sp>
          <p:nvSpPr>
            <p:cNvPr id="20" name="Line 20"/>
            <p:cNvSpPr/>
            <p:nvPr/>
          </p:nvSpPr>
          <p:spPr>
            <a:xfrm>
              <a:off x="1740218"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21" name="TextBox 21"/>
            <p:cNvSpPr txBox="1"/>
            <p:nvPr/>
          </p:nvSpPr>
          <p:spPr>
            <a:xfrm>
              <a:off x="1787842" y="1833467"/>
              <a:ext cx="479108" cy="152400"/>
            </a:xfrm>
            <a:prstGeom prst="rect">
              <a:avLst/>
            </a:prstGeom>
            <a:noFill/>
            <a:ln>
              <a:noFill/>
            </a:ln>
          </p:spPr>
          <p:txBody>
            <a:bodyPr wrap="none" lIns="0" tIns="0" rIns="0" bIns="0" anchor="t" anchorCtr="0">
              <a:spAutoFit/>
            </a:bodyPr>
            <a:lstStyle/>
            <a:p>
              <a:pPr algn="l"/>
              <a:r>
                <a:rPr lang="zh-CN" sz="750" b="1" dirty="0">
                  <a:solidFill>
                    <a:srgbClr val="0070F3"/>
                  </a:solidFill>
                  <a:latin typeface="Arial" panose="020B0604020202090204"/>
                  <a:ea typeface="微软雅黑"/>
                  <a:cs typeface="Arial" panose="020B0604020202090204"/>
                </a:rPr>
                <a:t>市场爆发</a:t>
              </a:r>
              <a:endParaRPr lang="zh-CN" sz="750" b="1" dirty="0">
                <a:solidFill>
                  <a:srgbClr val="0070F3"/>
                </a:solidFill>
                <a:latin typeface="Arial" panose="020B0604020202090204"/>
                <a:ea typeface="微软雅黑"/>
                <a:cs typeface="Arial" panose="020B0604020202090204"/>
              </a:endParaRPr>
            </a:p>
          </p:txBody>
        </p:sp>
        <p:sp>
          <p:nvSpPr>
            <p:cNvPr id="22" name="Rectangle 22"/>
            <p:cNvSpPr/>
            <p:nvPr/>
          </p:nvSpPr>
          <p:spPr>
            <a:xfrm>
              <a:off x="2330768" y="1800130"/>
              <a:ext cx="419100" cy="190500"/>
            </a:xfrm>
            <a:prstGeom prst="roundRect">
              <a:avLst>
                <a:gd name="adj" fmla="val 10000"/>
              </a:avLst>
            </a:prstGeom>
            <a:solidFill>
              <a:srgbClr val="F0F4FF"/>
            </a:solidFill>
            <a:ln>
              <a:noFill/>
            </a:ln>
          </p:spPr>
        </p:sp>
        <p:sp>
          <p:nvSpPr>
            <p:cNvPr id="23" name="Line 23"/>
            <p:cNvSpPr/>
            <p:nvPr/>
          </p:nvSpPr>
          <p:spPr>
            <a:xfrm>
              <a:off x="2330768" y="1800130"/>
              <a:ext cx="419100" cy="9525"/>
            </a:xfrm>
            <a:custGeom>
              <a:avLst/>
              <a:gdLst/>
              <a:ahLst/>
              <a:cxnLst/>
              <a:rect l="l" t="t" r="r" b="b"/>
              <a:pathLst>
                <a:path w="419100" h="9525">
                  <a:moveTo>
                    <a:pt x="0" y="0"/>
                  </a:moveTo>
                  <a:lnTo>
                    <a:pt x="419100" y="0"/>
                  </a:lnTo>
                </a:path>
              </a:pathLst>
            </a:custGeom>
            <a:noFill/>
            <a:ln w="9525">
              <a:solidFill>
                <a:srgbClr val="000000">
                  <a:alpha val="20000"/>
                </a:srgbClr>
              </a:solidFill>
            </a:ln>
          </p:spPr>
        </p:sp>
        <p:sp>
          <p:nvSpPr>
            <p:cNvPr id="24" name="Line 24"/>
            <p:cNvSpPr/>
            <p:nvPr/>
          </p:nvSpPr>
          <p:spPr>
            <a:xfrm>
              <a:off x="2749868"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25" name="Line 25"/>
            <p:cNvSpPr/>
            <p:nvPr/>
          </p:nvSpPr>
          <p:spPr>
            <a:xfrm>
              <a:off x="2330768" y="1990630"/>
              <a:ext cx="419100" cy="9525"/>
            </a:xfrm>
            <a:custGeom>
              <a:avLst/>
              <a:gdLst/>
              <a:ahLst/>
              <a:cxnLst/>
              <a:rect l="l" t="t" r="r" b="b"/>
              <a:pathLst>
                <a:path w="419100" h="9525">
                  <a:moveTo>
                    <a:pt x="0" y="0"/>
                  </a:moveTo>
                  <a:lnTo>
                    <a:pt x="419100" y="0"/>
                  </a:lnTo>
                </a:path>
              </a:pathLst>
            </a:custGeom>
            <a:noFill/>
            <a:ln w="9525">
              <a:solidFill>
                <a:srgbClr val="000000">
                  <a:alpha val="20000"/>
                </a:srgbClr>
              </a:solidFill>
            </a:ln>
          </p:spPr>
        </p:sp>
        <p:sp>
          <p:nvSpPr>
            <p:cNvPr id="26" name="Line 26"/>
            <p:cNvSpPr/>
            <p:nvPr/>
          </p:nvSpPr>
          <p:spPr>
            <a:xfrm>
              <a:off x="2330768"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27" name="TextBox 27"/>
            <p:cNvSpPr txBox="1"/>
            <p:nvPr/>
          </p:nvSpPr>
          <p:spPr>
            <a:xfrm>
              <a:off x="2378392" y="1833467"/>
              <a:ext cx="364093" cy="152400"/>
            </a:xfrm>
            <a:prstGeom prst="rect">
              <a:avLst/>
            </a:prstGeom>
            <a:noFill/>
            <a:ln>
              <a:noFill/>
            </a:ln>
          </p:spPr>
          <p:txBody>
            <a:bodyPr wrap="none" lIns="0" tIns="0" rIns="0" bIns="0" anchor="t" anchorCtr="0">
              <a:spAutoFit/>
            </a:bodyPr>
            <a:lstStyle/>
            <a:p>
              <a:pPr algn="l"/>
              <a:r>
                <a:rPr lang="zh-CN" sz="750" b="1" dirty="0">
                  <a:solidFill>
                    <a:srgbClr val="0070F3"/>
                  </a:solidFill>
                  <a:latin typeface="Arial" panose="020B0604020202090204"/>
                  <a:ea typeface="微软雅黑"/>
                  <a:cs typeface="Arial" panose="020B0604020202090204"/>
                </a:rPr>
                <a:t>临界点</a:t>
              </a:r>
              <a:endParaRPr lang="zh-CN" sz="750" b="1" dirty="0">
                <a:solidFill>
                  <a:srgbClr val="0070F3"/>
                </a:solidFill>
                <a:latin typeface="Arial" panose="020B0604020202090204"/>
                <a:ea typeface="微软雅黑"/>
                <a:cs typeface="Arial" panose="020B0604020202090204"/>
              </a:endParaRPr>
            </a:p>
          </p:txBody>
        </p:sp>
        <p:sp>
          <p:nvSpPr>
            <p:cNvPr id="28" name="Rectangle 28"/>
            <p:cNvSpPr/>
            <p:nvPr/>
          </p:nvSpPr>
          <p:spPr>
            <a:xfrm>
              <a:off x="4690396" y="1089946"/>
              <a:ext cx="2811113" cy="987076"/>
            </a:xfrm>
            <a:prstGeom prst="roundRect">
              <a:avLst>
                <a:gd name="adj" fmla="val 3860"/>
              </a:avLst>
            </a:prstGeom>
            <a:solidFill>
              <a:srgbClr val="000000">
                <a:alpha val="4000"/>
              </a:srgbClr>
            </a:solidFill>
            <a:ln>
              <a:noFill/>
            </a:ln>
          </p:spPr>
        </p:sp>
        <p:sp>
          <p:nvSpPr>
            <p:cNvPr id="29" name="Line 29"/>
            <p:cNvSpPr/>
            <p:nvPr/>
          </p:nvSpPr>
          <p:spPr>
            <a:xfrm>
              <a:off x="4690396" y="1089946"/>
              <a:ext cx="2811018" cy="9525"/>
            </a:xfrm>
            <a:custGeom>
              <a:avLst/>
              <a:gdLst/>
              <a:ahLst/>
              <a:cxnLst/>
              <a:rect l="l" t="t" r="r" b="b"/>
              <a:pathLst>
                <a:path w="2811018" h="9525">
                  <a:moveTo>
                    <a:pt x="0" y="0"/>
                  </a:moveTo>
                  <a:lnTo>
                    <a:pt x="2811018" y="0"/>
                  </a:lnTo>
                </a:path>
              </a:pathLst>
            </a:custGeom>
            <a:noFill/>
            <a:ln w="9525">
              <a:solidFill>
                <a:srgbClr val="E0E0E0"/>
              </a:solidFill>
            </a:ln>
          </p:spPr>
        </p:sp>
        <p:sp>
          <p:nvSpPr>
            <p:cNvPr id="30" name="Line 30"/>
            <p:cNvSpPr/>
            <p:nvPr/>
          </p:nvSpPr>
          <p:spPr>
            <a:xfrm>
              <a:off x="7501414" y="1089946"/>
              <a:ext cx="9525" cy="986980"/>
            </a:xfrm>
            <a:custGeom>
              <a:avLst/>
              <a:gdLst/>
              <a:ahLst/>
              <a:cxnLst/>
              <a:rect l="l" t="t" r="r" b="b"/>
              <a:pathLst>
                <a:path w="9525" h="986980">
                  <a:moveTo>
                    <a:pt x="0" y="0"/>
                  </a:moveTo>
                  <a:lnTo>
                    <a:pt x="0" y="986980"/>
                  </a:lnTo>
                </a:path>
              </a:pathLst>
            </a:custGeom>
            <a:noFill/>
            <a:ln w="9525">
              <a:solidFill>
                <a:srgbClr val="E0E0E0"/>
              </a:solidFill>
            </a:ln>
          </p:spPr>
        </p:sp>
        <p:sp>
          <p:nvSpPr>
            <p:cNvPr id="31" name="Line 31"/>
            <p:cNvSpPr/>
            <p:nvPr/>
          </p:nvSpPr>
          <p:spPr>
            <a:xfrm>
              <a:off x="4690396" y="2076926"/>
              <a:ext cx="2811018" cy="9525"/>
            </a:xfrm>
            <a:custGeom>
              <a:avLst/>
              <a:gdLst/>
              <a:ahLst/>
              <a:cxnLst/>
              <a:rect l="l" t="t" r="r" b="b"/>
              <a:pathLst>
                <a:path w="2811018" h="9525">
                  <a:moveTo>
                    <a:pt x="0" y="0"/>
                  </a:moveTo>
                  <a:lnTo>
                    <a:pt x="2811018" y="0"/>
                  </a:lnTo>
                </a:path>
              </a:pathLst>
            </a:custGeom>
            <a:noFill/>
            <a:ln w="9525">
              <a:solidFill>
                <a:srgbClr val="E0E0E0"/>
              </a:solidFill>
            </a:ln>
          </p:spPr>
        </p:sp>
        <p:sp>
          <p:nvSpPr>
            <p:cNvPr id="32" name="Line 32"/>
            <p:cNvSpPr/>
            <p:nvPr/>
          </p:nvSpPr>
          <p:spPr>
            <a:xfrm>
              <a:off x="4690396" y="1089946"/>
              <a:ext cx="9525" cy="986980"/>
            </a:xfrm>
            <a:custGeom>
              <a:avLst/>
              <a:gdLst/>
              <a:ahLst/>
              <a:cxnLst/>
              <a:rect l="l" t="t" r="r" b="b"/>
              <a:pathLst>
                <a:path w="9525" h="986980">
                  <a:moveTo>
                    <a:pt x="0" y="0"/>
                  </a:moveTo>
                  <a:lnTo>
                    <a:pt x="0" y="986980"/>
                  </a:lnTo>
                </a:path>
              </a:pathLst>
            </a:custGeom>
            <a:noFill/>
            <a:ln w="9525">
              <a:solidFill>
                <a:srgbClr val="E0E0E0"/>
              </a:solidFill>
            </a:ln>
          </p:spPr>
        </p:sp>
        <p:sp>
          <p:nvSpPr>
            <p:cNvPr id="33" name="TextBox 33"/>
            <p:cNvSpPr txBox="1"/>
            <p:nvPr/>
          </p:nvSpPr>
          <p:spPr>
            <a:xfrm>
              <a:off x="4764310" y="1194816"/>
              <a:ext cx="1071396" cy="198120"/>
            </a:xfrm>
            <a:prstGeom prst="rect">
              <a:avLst/>
            </a:prstGeom>
            <a:noFill/>
            <a:ln>
              <a:noFill/>
            </a:ln>
          </p:spPr>
          <p:txBody>
            <a:bodyPr wrap="none" lIns="0" tIns="0" rIns="0" bIns="0" anchor="t" anchorCtr="0">
              <a:spAutoFit/>
            </a:bodyPr>
            <a:lstStyle/>
            <a:p>
              <a:pPr algn="l"/>
              <a:r>
                <a:rPr lang="zh-CN" sz="975" b="1" dirty="0">
                  <a:solidFill>
                    <a:srgbClr val="0070F3"/>
                  </a:solidFill>
                  <a:latin typeface="Times New Roman" panose="02020503050405090304"/>
                  <a:ea typeface="宋体"/>
                  <a:cs typeface="Times New Roman" panose="02020503050405090304"/>
                </a:rPr>
                <a:t>技术成熟度跃升</a:t>
              </a:r>
              <a:endParaRPr lang="zh-CN" sz="975" b="1" dirty="0">
                <a:solidFill>
                  <a:srgbClr val="0070F3"/>
                </a:solidFill>
                <a:latin typeface="Times New Roman" panose="02020503050405090304"/>
                <a:ea typeface="宋体"/>
                <a:cs typeface="Times New Roman" panose="02020503050405090304"/>
              </a:endParaRPr>
            </a:p>
          </p:txBody>
        </p:sp>
        <p:sp>
          <p:nvSpPr>
            <p:cNvPr id="34" name="TextBox 34"/>
            <p:cNvSpPr txBox="1"/>
            <p:nvPr/>
          </p:nvSpPr>
          <p:spPr>
            <a:xfrm>
              <a:off x="4766215" y="1425321"/>
              <a:ext cx="2930819" cy="167640"/>
            </a:xfrm>
            <a:prstGeom prst="rect">
              <a:avLst/>
            </a:prstGeom>
            <a:noFill/>
            <a:ln>
              <a:noFill/>
            </a:ln>
          </p:spPr>
          <p:txBody>
            <a:bodyPr wrap="none" lIns="0" tIns="0" rIns="0" bIns="0" anchor="t" anchorCtr="0">
              <a:spAutoFit/>
            </a:bodyPr>
            <a:lstStyle/>
            <a:p>
              <a:pPr algn="l"/>
              <a:r>
                <a:rPr lang="zh-CN" sz="825" dirty="0">
                  <a:solidFill>
                    <a:srgbClr val="4A4A4A"/>
                  </a:solidFill>
                  <a:latin typeface="Arial" panose="020B0604020202090204"/>
                  <a:ea typeface="微软雅黑"/>
                  <a:cs typeface="Arial" panose="020B0604020202090204"/>
                </a:rPr>
                <a:t>大语言模型能力持续突破，多模态 AI走向成熟，企业可</a:t>
              </a:r>
              <a:endParaRPr lang="zh-CN" sz="825" dirty="0">
                <a:solidFill>
                  <a:srgbClr val="4A4A4A"/>
                </a:solidFill>
                <a:latin typeface="Arial" panose="020B0604020202090204"/>
                <a:ea typeface="微软雅黑"/>
                <a:cs typeface="Arial" panose="020B0604020202090204"/>
              </a:endParaRPr>
            </a:p>
          </p:txBody>
        </p:sp>
        <p:sp>
          <p:nvSpPr>
            <p:cNvPr id="35" name="TextBox 35"/>
            <p:cNvSpPr txBox="1"/>
            <p:nvPr/>
          </p:nvSpPr>
          <p:spPr>
            <a:xfrm>
              <a:off x="4766215" y="1582484"/>
              <a:ext cx="1484924" cy="167640"/>
            </a:xfrm>
            <a:prstGeom prst="rect">
              <a:avLst/>
            </a:prstGeom>
            <a:noFill/>
            <a:ln>
              <a:noFill/>
            </a:ln>
          </p:spPr>
          <p:txBody>
            <a:bodyPr wrap="none" lIns="0" tIns="0" rIns="0" bIns="0" anchor="t" anchorCtr="0">
              <a:spAutoFit/>
            </a:bodyPr>
            <a:lstStyle/>
            <a:p>
              <a:pPr algn="l"/>
              <a:r>
                <a:rPr lang="zh-CN" sz="825" dirty="0">
                  <a:solidFill>
                    <a:srgbClr val="4A4A4A"/>
                  </a:solidFill>
                  <a:latin typeface="Arial" panose="020B0604020202090204"/>
                  <a:ea typeface="微软雅黑"/>
                  <a:cs typeface="Arial" panose="020B0604020202090204"/>
                </a:rPr>
                <a:t>获得生产级 AI基础设施支撑</a:t>
              </a:r>
              <a:endParaRPr lang="zh-CN" sz="825" dirty="0">
                <a:solidFill>
                  <a:srgbClr val="4A4A4A"/>
                </a:solidFill>
                <a:latin typeface="Arial" panose="020B0604020202090204"/>
                <a:ea typeface="微软雅黑"/>
                <a:cs typeface="Arial" panose="020B0604020202090204"/>
              </a:endParaRPr>
            </a:p>
          </p:txBody>
        </p:sp>
        <p:sp>
          <p:nvSpPr>
            <p:cNvPr id="36" name="Rectangle 36"/>
            <p:cNvSpPr/>
            <p:nvPr/>
          </p:nvSpPr>
          <p:spPr>
            <a:xfrm>
              <a:off x="4776692" y="1800130"/>
              <a:ext cx="519589" cy="190500"/>
            </a:xfrm>
            <a:prstGeom prst="roundRect">
              <a:avLst>
                <a:gd name="adj" fmla="val 10000"/>
              </a:avLst>
            </a:prstGeom>
            <a:solidFill>
              <a:srgbClr val="F0F4FF"/>
            </a:solidFill>
            <a:ln>
              <a:noFill/>
            </a:ln>
          </p:spPr>
        </p:sp>
        <p:sp>
          <p:nvSpPr>
            <p:cNvPr id="37" name="Line 37"/>
            <p:cNvSpPr/>
            <p:nvPr/>
          </p:nvSpPr>
          <p:spPr>
            <a:xfrm>
              <a:off x="4776692" y="1800130"/>
              <a:ext cx="519589" cy="9525"/>
            </a:xfrm>
            <a:custGeom>
              <a:avLst/>
              <a:gdLst/>
              <a:ahLst/>
              <a:cxnLst/>
              <a:rect l="l" t="t" r="r" b="b"/>
              <a:pathLst>
                <a:path w="519589" h="9525">
                  <a:moveTo>
                    <a:pt x="0" y="0"/>
                  </a:moveTo>
                  <a:lnTo>
                    <a:pt x="519589" y="0"/>
                  </a:lnTo>
                </a:path>
              </a:pathLst>
            </a:custGeom>
            <a:noFill/>
            <a:ln w="9525">
              <a:solidFill>
                <a:srgbClr val="000000">
                  <a:alpha val="20000"/>
                </a:srgbClr>
              </a:solidFill>
            </a:ln>
          </p:spPr>
        </p:sp>
        <p:sp>
          <p:nvSpPr>
            <p:cNvPr id="38" name="Line 38"/>
            <p:cNvSpPr/>
            <p:nvPr/>
          </p:nvSpPr>
          <p:spPr>
            <a:xfrm>
              <a:off x="5296281"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39" name="Line 39"/>
            <p:cNvSpPr/>
            <p:nvPr/>
          </p:nvSpPr>
          <p:spPr>
            <a:xfrm>
              <a:off x="4776692" y="1990630"/>
              <a:ext cx="519589" cy="9525"/>
            </a:xfrm>
            <a:custGeom>
              <a:avLst/>
              <a:gdLst/>
              <a:ahLst/>
              <a:cxnLst/>
              <a:rect l="l" t="t" r="r" b="b"/>
              <a:pathLst>
                <a:path w="519589" h="9525">
                  <a:moveTo>
                    <a:pt x="0" y="0"/>
                  </a:moveTo>
                  <a:lnTo>
                    <a:pt x="519589" y="0"/>
                  </a:lnTo>
                </a:path>
              </a:pathLst>
            </a:custGeom>
            <a:noFill/>
            <a:ln w="9525">
              <a:solidFill>
                <a:srgbClr val="000000">
                  <a:alpha val="20000"/>
                </a:srgbClr>
              </a:solidFill>
            </a:ln>
          </p:spPr>
        </p:sp>
        <p:sp>
          <p:nvSpPr>
            <p:cNvPr id="40" name="Line 40"/>
            <p:cNvSpPr/>
            <p:nvPr/>
          </p:nvSpPr>
          <p:spPr>
            <a:xfrm>
              <a:off x="4776692"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41" name="TextBox 41"/>
            <p:cNvSpPr txBox="1"/>
            <p:nvPr/>
          </p:nvSpPr>
          <p:spPr>
            <a:xfrm>
              <a:off x="4824317" y="1833467"/>
              <a:ext cx="461855" cy="152400"/>
            </a:xfrm>
            <a:prstGeom prst="rect">
              <a:avLst/>
            </a:prstGeom>
            <a:noFill/>
            <a:ln>
              <a:noFill/>
            </a:ln>
          </p:spPr>
          <p:txBody>
            <a:bodyPr wrap="none" lIns="0" tIns="0" rIns="0" bIns="0" anchor="t" anchorCtr="0">
              <a:spAutoFit/>
            </a:bodyPr>
            <a:lstStyle/>
            <a:p>
              <a:pPr algn="l"/>
              <a:r>
                <a:rPr lang="zh-CN" sz="750" b="1" dirty="0">
                  <a:solidFill>
                    <a:srgbClr val="0070F3"/>
                  </a:solidFill>
                  <a:latin typeface="Arial" panose="020B0604020202090204"/>
                  <a:ea typeface="微软雅黑"/>
                  <a:cs typeface="Arial" panose="020B0604020202090204"/>
                </a:rPr>
                <a:t>LLM成熟</a:t>
              </a:r>
              <a:endParaRPr lang="zh-CN" sz="750" b="1" dirty="0">
                <a:solidFill>
                  <a:srgbClr val="0070F3"/>
                </a:solidFill>
                <a:latin typeface="Arial" panose="020B0604020202090204"/>
                <a:ea typeface="微软雅黑"/>
                <a:cs typeface="Arial" panose="020B0604020202090204"/>
              </a:endParaRPr>
            </a:p>
          </p:txBody>
        </p:sp>
        <p:sp>
          <p:nvSpPr>
            <p:cNvPr id="42" name="Rectangle 42"/>
            <p:cNvSpPr/>
            <p:nvPr/>
          </p:nvSpPr>
          <p:spPr>
            <a:xfrm>
              <a:off x="5372481" y="1800130"/>
              <a:ext cx="419100" cy="190500"/>
            </a:xfrm>
            <a:prstGeom prst="roundRect">
              <a:avLst>
                <a:gd name="adj" fmla="val 10000"/>
              </a:avLst>
            </a:prstGeom>
            <a:solidFill>
              <a:srgbClr val="F0F4FF"/>
            </a:solidFill>
            <a:ln>
              <a:noFill/>
            </a:ln>
          </p:spPr>
        </p:sp>
        <p:sp>
          <p:nvSpPr>
            <p:cNvPr id="43" name="Line 43"/>
            <p:cNvSpPr/>
            <p:nvPr/>
          </p:nvSpPr>
          <p:spPr>
            <a:xfrm>
              <a:off x="5372481" y="1800130"/>
              <a:ext cx="419100" cy="9525"/>
            </a:xfrm>
            <a:custGeom>
              <a:avLst/>
              <a:gdLst/>
              <a:ahLst/>
              <a:cxnLst/>
              <a:rect l="l" t="t" r="r" b="b"/>
              <a:pathLst>
                <a:path w="419100" h="9525">
                  <a:moveTo>
                    <a:pt x="0" y="0"/>
                  </a:moveTo>
                  <a:lnTo>
                    <a:pt x="419100" y="0"/>
                  </a:lnTo>
                </a:path>
              </a:pathLst>
            </a:custGeom>
            <a:noFill/>
            <a:ln w="9525">
              <a:solidFill>
                <a:srgbClr val="000000">
                  <a:alpha val="20000"/>
                </a:srgbClr>
              </a:solidFill>
            </a:ln>
          </p:spPr>
        </p:sp>
        <p:sp>
          <p:nvSpPr>
            <p:cNvPr id="44" name="Line 44"/>
            <p:cNvSpPr/>
            <p:nvPr/>
          </p:nvSpPr>
          <p:spPr>
            <a:xfrm>
              <a:off x="5791581"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45" name="Line 45"/>
            <p:cNvSpPr/>
            <p:nvPr/>
          </p:nvSpPr>
          <p:spPr>
            <a:xfrm>
              <a:off x="5372481" y="1990630"/>
              <a:ext cx="419100" cy="9525"/>
            </a:xfrm>
            <a:custGeom>
              <a:avLst/>
              <a:gdLst/>
              <a:ahLst/>
              <a:cxnLst/>
              <a:rect l="l" t="t" r="r" b="b"/>
              <a:pathLst>
                <a:path w="419100" h="9525">
                  <a:moveTo>
                    <a:pt x="0" y="0"/>
                  </a:moveTo>
                  <a:lnTo>
                    <a:pt x="419100" y="0"/>
                  </a:lnTo>
                </a:path>
              </a:pathLst>
            </a:custGeom>
            <a:noFill/>
            <a:ln w="9525">
              <a:solidFill>
                <a:srgbClr val="000000">
                  <a:alpha val="20000"/>
                </a:srgbClr>
              </a:solidFill>
            </a:ln>
          </p:spPr>
        </p:sp>
        <p:sp>
          <p:nvSpPr>
            <p:cNvPr id="46" name="Line 46"/>
            <p:cNvSpPr/>
            <p:nvPr/>
          </p:nvSpPr>
          <p:spPr>
            <a:xfrm>
              <a:off x="5372481"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47" name="TextBox 47"/>
            <p:cNvSpPr txBox="1"/>
            <p:nvPr/>
          </p:nvSpPr>
          <p:spPr>
            <a:xfrm>
              <a:off x="5420106" y="1833467"/>
              <a:ext cx="364093" cy="152400"/>
            </a:xfrm>
            <a:prstGeom prst="rect">
              <a:avLst/>
            </a:prstGeom>
            <a:noFill/>
            <a:ln>
              <a:noFill/>
            </a:ln>
          </p:spPr>
          <p:txBody>
            <a:bodyPr wrap="none" lIns="0" tIns="0" rIns="0" bIns="0" anchor="t" anchorCtr="0">
              <a:spAutoFit/>
            </a:bodyPr>
            <a:lstStyle/>
            <a:p>
              <a:pPr algn="l"/>
              <a:r>
                <a:rPr lang="zh-CN" sz="750" b="1" dirty="0">
                  <a:solidFill>
                    <a:srgbClr val="0070F3"/>
                  </a:solidFill>
                  <a:latin typeface="Arial" panose="020B0604020202090204"/>
                  <a:ea typeface="微软雅黑"/>
                  <a:cs typeface="Arial" panose="020B0604020202090204"/>
                </a:rPr>
                <a:t>多模态</a:t>
              </a:r>
              <a:endParaRPr lang="zh-CN" sz="750" b="1" dirty="0">
                <a:solidFill>
                  <a:srgbClr val="0070F3"/>
                </a:solidFill>
                <a:latin typeface="Arial" panose="020B0604020202090204"/>
                <a:ea typeface="微软雅黑"/>
                <a:cs typeface="Arial" panose="020B0604020202090204"/>
              </a:endParaRPr>
            </a:p>
          </p:txBody>
        </p:sp>
        <p:sp>
          <p:nvSpPr>
            <p:cNvPr id="48" name="Rectangle 48"/>
            <p:cNvSpPr/>
            <p:nvPr/>
          </p:nvSpPr>
          <p:spPr>
            <a:xfrm>
              <a:off x="7726966" y="1089946"/>
              <a:ext cx="2811113" cy="987076"/>
            </a:xfrm>
            <a:prstGeom prst="roundRect">
              <a:avLst>
                <a:gd name="adj" fmla="val 3860"/>
              </a:avLst>
            </a:prstGeom>
            <a:solidFill>
              <a:srgbClr val="000000">
                <a:alpha val="4000"/>
              </a:srgbClr>
            </a:solidFill>
            <a:ln>
              <a:noFill/>
            </a:ln>
          </p:spPr>
        </p:sp>
        <p:sp>
          <p:nvSpPr>
            <p:cNvPr id="49" name="Line 49"/>
            <p:cNvSpPr/>
            <p:nvPr/>
          </p:nvSpPr>
          <p:spPr>
            <a:xfrm>
              <a:off x="7726966" y="1089946"/>
              <a:ext cx="2811018" cy="9525"/>
            </a:xfrm>
            <a:custGeom>
              <a:avLst/>
              <a:gdLst/>
              <a:ahLst/>
              <a:cxnLst/>
              <a:rect l="l" t="t" r="r" b="b"/>
              <a:pathLst>
                <a:path w="2811018" h="9525">
                  <a:moveTo>
                    <a:pt x="0" y="0"/>
                  </a:moveTo>
                  <a:lnTo>
                    <a:pt x="2811018" y="0"/>
                  </a:lnTo>
                </a:path>
              </a:pathLst>
            </a:custGeom>
            <a:noFill/>
            <a:ln w="9525">
              <a:solidFill>
                <a:srgbClr val="E0E0E0"/>
              </a:solidFill>
            </a:ln>
          </p:spPr>
        </p:sp>
        <p:sp>
          <p:nvSpPr>
            <p:cNvPr id="50" name="Line 50"/>
            <p:cNvSpPr/>
            <p:nvPr/>
          </p:nvSpPr>
          <p:spPr>
            <a:xfrm>
              <a:off x="10537984" y="1089946"/>
              <a:ext cx="9525" cy="986980"/>
            </a:xfrm>
            <a:custGeom>
              <a:avLst/>
              <a:gdLst/>
              <a:ahLst/>
              <a:cxnLst/>
              <a:rect l="l" t="t" r="r" b="b"/>
              <a:pathLst>
                <a:path w="9525" h="986980">
                  <a:moveTo>
                    <a:pt x="0" y="0"/>
                  </a:moveTo>
                  <a:lnTo>
                    <a:pt x="0" y="986980"/>
                  </a:lnTo>
                </a:path>
              </a:pathLst>
            </a:custGeom>
            <a:noFill/>
            <a:ln w="9525">
              <a:solidFill>
                <a:srgbClr val="E0E0E0"/>
              </a:solidFill>
            </a:ln>
          </p:spPr>
        </p:sp>
        <p:sp>
          <p:nvSpPr>
            <p:cNvPr id="51" name="Line 51"/>
            <p:cNvSpPr/>
            <p:nvPr/>
          </p:nvSpPr>
          <p:spPr>
            <a:xfrm>
              <a:off x="7726966" y="2076926"/>
              <a:ext cx="2811018" cy="9525"/>
            </a:xfrm>
            <a:custGeom>
              <a:avLst/>
              <a:gdLst/>
              <a:ahLst/>
              <a:cxnLst/>
              <a:rect l="l" t="t" r="r" b="b"/>
              <a:pathLst>
                <a:path w="2811018" h="9525">
                  <a:moveTo>
                    <a:pt x="0" y="0"/>
                  </a:moveTo>
                  <a:lnTo>
                    <a:pt x="2811018" y="0"/>
                  </a:lnTo>
                </a:path>
              </a:pathLst>
            </a:custGeom>
            <a:noFill/>
            <a:ln w="9525">
              <a:solidFill>
                <a:srgbClr val="E0E0E0"/>
              </a:solidFill>
            </a:ln>
          </p:spPr>
        </p:sp>
        <p:sp>
          <p:nvSpPr>
            <p:cNvPr id="52" name="Line 52"/>
            <p:cNvSpPr/>
            <p:nvPr/>
          </p:nvSpPr>
          <p:spPr>
            <a:xfrm>
              <a:off x="7726966" y="1089946"/>
              <a:ext cx="9525" cy="986980"/>
            </a:xfrm>
            <a:custGeom>
              <a:avLst/>
              <a:gdLst/>
              <a:ahLst/>
              <a:cxnLst/>
              <a:rect l="l" t="t" r="r" b="b"/>
              <a:pathLst>
                <a:path w="9525" h="986980">
                  <a:moveTo>
                    <a:pt x="0" y="0"/>
                  </a:moveTo>
                  <a:lnTo>
                    <a:pt x="0" y="986980"/>
                  </a:lnTo>
                </a:path>
              </a:pathLst>
            </a:custGeom>
            <a:noFill/>
            <a:ln w="9525">
              <a:solidFill>
                <a:srgbClr val="E0E0E0"/>
              </a:solidFill>
            </a:ln>
          </p:spPr>
        </p:sp>
        <p:sp>
          <p:nvSpPr>
            <p:cNvPr id="53" name="TextBox 53"/>
            <p:cNvSpPr txBox="1"/>
            <p:nvPr/>
          </p:nvSpPr>
          <p:spPr>
            <a:xfrm>
              <a:off x="7800880" y="1194816"/>
              <a:ext cx="921877" cy="198120"/>
            </a:xfrm>
            <a:prstGeom prst="rect">
              <a:avLst/>
            </a:prstGeom>
            <a:noFill/>
            <a:ln>
              <a:noFill/>
            </a:ln>
          </p:spPr>
          <p:txBody>
            <a:bodyPr wrap="none" lIns="0" tIns="0" rIns="0" bIns="0" anchor="t" anchorCtr="0">
              <a:spAutoFit/>
            </a:bodyPr>
            <a:lstStyle/>
            <a:p>
              <a:pPr algn="l"/>
              <a:r>
                <a:rPr lang="zh-CN" sz="975" b="1" dirty="0">
                  <a:solidFill>
                    <a:srgbClr val="0070F3"/>
                  </a:solidFill>
                  <a:latin typeface="Times New Roman" panose="02020503050405090304"/>
                  <a:ea typeface="宋体"/>
                  <a:cs typeface="Times New Roman" panose="02020503050405090304"/>
                </a:rPr>
                <a:t>投资回报验证</a:t>
              </a:r>
              <a:endParaRPr lang="zh-CN" sz="975" b="1" dirty="0">
                <a:solidFill>
                  <a:srgbClr val="0070F3"/>
                </a:solidFill>
                <a:latin typeface="Times New Roman" panose="02020503050405090304"/>
                <a:ea typeface="宋体"/>
                <a:cs typeface="Times New Roman" panose="02020503050405090304"/>
              </a:endParaRPr>
            </a:p>
          </p:txBody>
        </p:sp>
        <p:sp>
          <p:nvSpPr>
            <p:cNvPr id="54" name="TextBox 54"/>
            <p:cNvSpPr txBox="1"/>
            <p:nvPr/>
          </p:nvSpPr>
          <p:spPr>
            <a:xfrm>
              <a:off x="7802785" y="1425321"/>
              <a:ext cx="2918770" cy="167640"/>
            </a:xfrm>
            <a:prstGeom prst="rect">
              <a:avLst/>
            </a:prstGeom>
            <a:noFill/>
            <a:ln>
              <a:noFill/>
            </a:ln>
          </p:spPr>
          <p:txBody>
            <a:bodyPr wrap="none" lIns="0" tIns="0" rIns="0" bIns="0" anchor="t" anchorCtr="0">
              <a:spAutoFit/>
            </a:bodyPr>
            <a:lstStyle/>
            <a:p>
              <a:pPr algn="l"/>
              <a:r>
                <a:rPr lang="zh-CN" sz="825" dirty="0">
                  <a:solidFill>
                    <a:srgbClr val="4A4A4A"/>
                  </a:solidFill>
                  <a:latin typeface="Arial" panose="020B0604020202090204"/>
                  <a:ea typeface="微软雅黑"/>
                  <a:cs typeface="Arial" panose="020B0604020202090204"/>
                </a:rPr>
                <a:t>先行企业 AI项目 ROI已获验证，降本增效案例规模化涌</a:t>
              </a:r>
              <a:endParaRPr lang="zh-CN" sz="825" dirty="0">
                <a:solidFill>
                  <a:srgbClr val="4A4A4A"/>
                </a:solidFill>
                <a:latin typeface="Arial" panose="020B0604020202090204"/>
                <a:ea typeface="微软雅黑"/>
                <a:cs typeface="Arial" panose="020B0604020202090204"/>
              </a:endParaRPr>
            </a:p>
          </p:txBody>
        </p:sp>
        <p:sp>
          <p:nvSpPr>
            <p:cNvPr id="55" name="TextBox 55"/>
            <p:cNvSpPr txBox="1"/>
            <p:nvPr/>
          </p:nvSpPr>
          <p:spPr>
            <a:xfrm>
              <a:off x="7802785" y="1582484"/>
              <a:ext cx="1225868" cy="167640"/>
            </a:xfrm>
            <a:prstGeom prst="rect">
              <a:avLst/>
            </a:prstGeom>
            <a:noFill/>
            <a:ln>
              <a:noFill/>
            </a:ln>
          </p:spPr>
          <p:txBody>
            <a:bodyPr wrap="none" lIns="0" tIns="0" rIns="0" bIns="0" anchor="t" anchorCtr="0">
              <a:spAutoFit/>
            </a:bodyPr>
            <a:lstStyle/>
            <a:p>
              <a:pPr algn="l"/>
              <a:r>
                <a:rPr lang="zh-CN" sz="825" dirty="0">
                  <a:solidFill>
                    <a:srgbClr val="4A4A4A"/>
                  </a:solidFill>
                  <a:latin typeface="Arial" panose="020B0604020202090204"/>
                  <a:ea typeface="微软雅黑"/>
                  <a:cs typeface="Arial" panose="020B0604020202090204"/>
                </a:rPr>
                <a:t>现，先发优势正在形成</a:t>
              </a:r>
              <a:endParaRPr lang="zh-CN" sz="825" dirty="0">
                <a:solidFill>
                  <a:srgbClr val="4A4A4A"/>
                </a:solidFill>
                <a:latin typeface="Arial" panose="020B0604020202090204"/>
                <a:ea typeface="微软雅黑"/>
                <a:cs typeface="Arial" panose="020B0604020202090204"/>
              </a:endParaRPr>
            </a:p>
          </p:txBody>
        </p:sp>
        <p:sp>
          <p:nvSpPr>
            <p:cNvPr id="56" name="Rectangle 56"/>
            <p:cNvSpPr/>
            <p:nvPr/>
          </p:nvSpPr>
          <p:spPr>
            <a:xfrm>
              <a:off x="7813262" y="1800130"/>
              <a:ext cx="493204" cy="190500"/>
            </a:xfrm>
            <a:prstGeom prst="roundRect">
              <a:avLst>
                <a:gd name="adj" fmla="val 10000"/>
              </a:avLst>
            </a:prstGeom>
            <a:solidFill>
              <a:srgbClr val="F0F4FF"/>
            </a:solidFill>
            <a:ln>
              <a:noFill/>
            </a:ln>
          </p:spPr>
        </p:sp>
        <p:sp>
          <p:nvSpPr>
            <p:cNvPr id="57" name="Line 57"/>
            <p:cNvSpPr/>
            <p:nvPr/>
          </p:nvSpPr>
          <p:spPr>
            <a:xfrm>
              <a:off x="7813262" y="1800130"/>
              <a:ext cx="493205" cy="9525"/>
            </a:xfrm>
            <a:custGeom>
              <a:avLst/>
              <a:gdLst/>
              <a:ahLst/>
              <a:cxnLst/>
              <a:rect l="l" t="t" r="r" b="b"/>
              <a:pathLst>
                <a:path w="493205" h="9525">
                  <a:moveTo>
                    <a:pt x="0" y="0"/>
                  </a:moveTo>
                  <a:lnTo>
                    <a:pt x="493205" y="0"/>
                  </a:lnTo>
                </a:path>
              </a:pathLst>
            </a:custGeom>
            <a:noFill/>
            <a:ln w="9525">
              <a:solidFill>
                <a:srgbClr val="000000">
                  <a:alpha val="20000"/>
                </a:srgbClr>
              </a:solidFill>
            </a:ln>
          </p:spPr>
        </p:sp>
        <p:sp>
          <p:nvSpPr>
            <p:cNvPr id="58" name="Line 58"/>
            <p:cNvSpPr/>
            <p:nvPr/>
          </p:nvSpPr>
          <p:spPr>
            <a:xfrm>
              <a:off x="8306467"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59" name="Line 59"/>
            <p:cNvSpPr/>
            <p:nvPr/>
          </p:nvSpPr>
          <p:spPr>
            <a:xfrm>
              <a:off x="7813262" y="1990630"/>
              <a:ext cx="493205" cy="9525"/>
            </a:xfrm>
            <a:custGeom>
              <a:avLst/>
              <a:gdLst/>
              <a:ahLst/>
              <a:cxnLst/>
              <a:rect l="l" t="t" r="r" b="b"/>
              <a:pathLst>
                <a:path w="493205" h="9525">
                  <a:moveTo>
                    <a:pt x="0" y="0"/>
                  </a:moveTo>
                  <a:lnTo>
                    <a:pt x="493205" y="0"/>
                  </a:lnTo>
                </a:path>
              </a:pathLst>
            </a:custGeom>
            <a:noFill/>
            <a:ln w="9525">
              <a:solidFill>
                <a:srgbClr val="000000">
                  <a:alpha val="20000"/>
                </a:srgbClr>
              </a:solidFill>
            </a:ln>
          </p:spPr>
        </p:sp>
        <p:sp>
          <p:nvSpPr>
            <p:cNvPr id="60" name="Line 60"/>
            <p:cNvSpPr/>
            <p:nvPr/>
          </p:nvSpPr>
          <p:spPr>
            <a:xfrm>
              <a:off x="7813262"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61" name="TextBox 61"/>
            <p:cNvSpPr txBox="1"/>
            <p:nvPr/>
          </p:nvSpPr>
          <p:spPr>
            <a:xfrm>
              <a:off x="7860887" y="1833467"/>
              <a:ext cx="433102" cy="152400"/>
            </a:xfrm>
            <a:prstGeom prst="rect">
              <a:avLst/>
            </a:prstGeom>
            <a:noFill/>
            <a:ln>
              <a:noFill/>
            </a:ln>
          </p:spPr>
          <p:txBody>
            <a:bodyPr wrap="none" lIns="0" tIns="0" rIns="0" bIns="0" anchor="t" anchorCtr="0">
              <a:spAutoFit/>
            </a:bodyPr>
            <a:lstStyle/>
            <a:p>
              <a:pPr algn="l"/>
              <a:r>
                <a:rPr lang="zh-CN" sz="750" b="1" dirty="0">
                  <a:solidFill>
                    <a:srgbClr val="0070F3"/>
                  </a:solidFill>
                  <a:latin typeface="Arial" panose="020B0604020202090204"/>
                  <a:ea typeface="微软雅黑"/>
                  <a:cs typeface="Arial" panose="020B0604020202090204"/>
                </a:rPr>
                <a:t>ROI验证</a:t>
              </a:r>
              <a:endParaRPr lang="zh-CN" sz="750" b="1" dirty="0">
                <a:solidFill>
                  <a:srgbClr val="0070F3"/>
                </a:solidFill>
                <a:latin typeface="Arial" panose="020B0604020202090204"/>
                <a:ea typeface="微软雅黑"/>
                <a:cs typeface="Arial" panose="020B0604020202090204"/>
              </a:endParaRPr>
            </a:p>
          </p:txBody>
        </p:sp>
        <p:sp>
          <p:nvSpPr>
            <p:cNvPr id="62" name="Rectangle 62"/>
            <p:cNvSpPr/>
            <p:nvPr/>
          </p:nvSpPr>
          <p:spPr>
            <a:xfrm>
              <a:off x="8382667" y="1800130"/>
              <a:ext cx="514350" cy="190500"/>
            </a:xfrm>
            <a:prstGeom prst="roundRect">
              <a:avLst>
                <a:gd name="adj" fmla="val 10000"/>
              </a:avLst>
            </a:prstGeom>
            <a:solidFill>
              <a:srgbClr val="F0F4FF"/>
            </a:solidFill>
            <a:ln>
              <a:noFill/>
            </a:ln>
          </p:spPr>
        </p:sp>
        <p:sp>
          <p:nvSpPr>
            <p:cNvPr id="63" name="Line 63"/>
            <p:cNvSpPr/>
            <p:nvPr/>
          </p:nvSpPr>
          <p:spPr>
            <a:xfrm>
              <a:off x="8382667" y="1800130"/>
              <a:ext cx="514350" cy="9525"/>
            </a:xfrm>
            <a:custGeom>
              <a:avLst/>
              <a:gdLst/>
              <a:ahLst/>
              <a:cxnLst/>
              <a:rect l="l" t="t" r="r" b="b"/>
              <a:pathLst>
                <a:path w="514350" h="9525">
                  <a:moveTo>
                    <a:pt x="0" y="0"/>
                  </a:moveTo>
                  <a:lnTo>
                    <a:pt x="514350" y="0"/>
                  </a:lnTo>
                </a:path>
              </a:pathLst>
            </a:custGeom>
            <a:noFill/>
            <a:ln w="9525">
              <a:solidFill>
                <a:srgbClr val="000000">
                  <a:alpha val="20000"/>
                </a:srgbClr>
              </a:solidFill>
            </a:ln>
          </p:spPr>
        </p:sp>
        <p:sp>
          <p:nvSpPr>
            <p:cNvPr id="64" name="Line 64"/>
            <p:cNvSpPr/>
            <p:nvPr/>
          </p:nvSpPr>
          <p:spPr>
            <a:xfrm>
              <a:off x="8897017"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65" name="Line 65"/>
            <p:cNvSpPr/>
            <p:nvPr/>
          </p:nvSpPr>
          <p:spPr>
            <a:xfrm>
              <a:off x="8382667" y="1990630"/>
              <a:ext cx="514350" cy="9525"/>
            </a:xfrm>
            <a:custGeom>
              <a:avLst/>
              <a:gdLst/>
              <a:ahLst/>
              <a:cxnLst/>
              <a:rect l="l" t="t" r="r" b="b"/>
              <a:pathLst>
                <a:path w="514350" h="9525">
                  <a:moveTo>
                    <a:pt x="0" y="0"/>
                  </a:moveTo>
                  <a:lnTo>
                    <a:pt x="514350" y="0"/>
                  </a:lnTo>
                </a:path>
              </a:pathLst>
            </a:custGeom>
            <a:noFill/>
            <a:ln w="9525">
              <a:solidFill>
                <a:srgbClr val="000000">
                  <a:alpha val="20000"/>
                </a:srgbClr>
              </a:solidFill>
            </a:ln>
          </p:spPr>
        </p:sp>
        <p:sp>
          <p:nvSpPr>
            <p:cNvPr id="66" name="Line 66"/>
            <p:cNvSpPr/>
            <p:nvPr/>
          </p:nvSpPr>
          <p:spPr>
            <a:xfrm>
              <a:off x="8382667" y="1800130"/>
              <a:ext cx="9525" cy="190500"/>
            </a:xfrm>
            <a:custGeom>
              <a:avLst/>
              <a:gdLst/>
              <a:ahLst/>
              <a:cxnLst/>
              <a:rect l="l" t="t" r="r" b="b"/>
              <a:pathLst>
                <a:path w="9525" h="190500">
                  <a:moveTo>
                    <a:pt x="0" y="0"/>
                  </a:moveTo>
                  <a:lnTo>
                    <a:pt x="0" y="190500"/>
                  </a:lnTo>
                </a:path>
              </a:pathLst>
            </a:custGeom>
            <a:noFill/>
            <a:ln w="9525">
              <a:solidFill>
                <a:srgbClr val="000000">
                  <a:alpha val="20000"/>
                </a:srgbClr>
              </a:solidFill>
            </a:ln>
          </p:spPr>
        </p:sp>
        <p:sp>
          <p:nvSpPr>
            <p:cNvPr id="67" name="TextBox 67"/>
            <p:cNvSpPr txBox="1"/>
            <p:nvPr/>
          </p:nvSpPr>
          <p:spPr>
            <a:xfrm>
              <a:off x="8430292" y="1833467"/>
              <a:ext cx="479108" cy="152400"/>
            </a:xfrm>
            <a:prstGeom prst="rect">
              <a:avLst/>
            </a:prstGeom>
            <a:noFill/>
            <a:ln>
              <a:noFill/>
            </a:ln>
          </p:spPr>
          <p:txBody>
            <a:bodyPr wrap="none" lIns="0" tIns="0" rIns="0" bIns="0" anchor="t" anchorCtr="0">
              <a:spAutoFit/>
            </a:bodyPr>
            <a:lstStyle/>
            <a:p>
              <a:pPr algn="l"/>
              <a:r>
                <a:rPr lang="zh-CN" sz="750" b="1" dirty="0">
                  <a:solidFill>
                    <a:srgbClr val="0070F3"/>
                  </a:solidFill>
                  <a:latin typeface="Arial" panose="020B0604020202090204"/>
                  <a:ea typeface="微软雅黑"/>
                  <a:cs typeface="Arial" panose="020B0604020202090204"/>
                </a:rPr>
                <a:t>先发优势</a:t>
              </a:r>
              <a:endParaRPr lang="zh-CN" sz="750" b="1" dirty="0">
                <a:solidFill>
                  <a:srgbClr val="0070F3"/>
                </a:solidFill>
                <a:latin typeface="Arial" panose="020B0604020202090204"/>
                <a:ea typeface="微软雅黑"/>
                <a:cs typeface="Arial" panose="020B0604020202090204"/>
              </a:endParaRPr>
            </a:p>
          </p:txBody>
        </p:sp>
        <p:sp>
          <p:nvSpPr>
            <p:cNvPr id="68" name="Rectangle 68"/>
            <p:cNvSpPr/>
            <p:nvPr/>
          </p:nvSpPr>
          <p:spPr>
            <a:xfrm>
              <a:off x="1607820" y="2256377"/>
              <a:ext cx="5895308" cy="1722120"/>
            </a:xfrm>
            <a:prstGeom prst="roundRect">
              <a:avLst>
                <a:gd name="adj" fmla="val 2212"/>
              </a:avLst>
            </a:prstGeom>
            <a:noFill/>
            <a:ln>
              <a:noFill/>
            </a:ln>
          </p:spPr>
        </p:sp>
        <p:sp>
          <p:nvSpPr>
            <p:cNvPr id="69" name="Line 69"/>
            <p:cNvSpPr/>
            <p:nvPr/>
          </p:nvSpPr>
          <p:spPr>
            <a:xfrm>
              <a:off x="1607820" y="2256377"/>
              <a:ext cx="5895308" cy="9525"/>
            </a:xfrm>
            <a:custGeom>
              <a:avLst/>
              <a:gdLst/>
              <a:ahLst/>
              <a:cxnLst/>
              <a:rect l="l" t="t" r="r" b="b"/>
              <a:pathLst>
                <a:path w="5895308" h="9525">
                  <a:moveTo>
                    <a:pt x="0" y="0"/>
                  </a:moveTo>
                  <a:lnTo>
                    <a:pt x="5895308" y="0"/>
                  </a:lnTo>
                </a:path>
              </a:pathLst>
            </a:custGeom>
            <a:noFill/>
            <a:ln w="9525">
              <a:solidFill>
                <a:srgbClr val="E0E0E0"/>
              </a:solidFill>
            </a:ln>
          </p:spPr>
        </p:sp>
        <p:sp>
          <p:nvSpPr>
            <p:cNvPr id="70" name="Line 70"/>
            <p:cNvSpPr/>
            <p:nvPr/>
          </p:nvSpPr>
          <p:spPr>
            <a:xfrm>
              <a:off x="7503128" y="2256377"/>
              <a:ext cx="9525" cy="1722120"/>
            </a:xfrm>
            <a:custGeom>
              <a:avLst/>
              <a:gdLst/>
              <a:ahLst/>
              <a:cxnLst/>
              <a:rect l="l" t="t" r="r" b="b"/>
              <a:pathLst>
                <a:path w="9525" h="1722120">
                  <a:moveTo>
                    <a:pt x="0" y="0"/>
                  </a:moveTo>
                  <a:lnTo>
                    <a:pt x="0" y="1722120"/>
                  </a:lnTo>
                </a:path>
              </a:pathLst>
            </a:custGeom>
            <a:noFill/>
            <a:ln w="9525">
              <a:solidFill>
                <a:srgbClr val="E0E0E0"/>
              </a:solidFill>
            </a:ln>
          </p:spPr>
        </p:sp>
        <p:sp>
          <p:nvSpPr>
            <p:cNvPr id="71" name="Line 71"/>
            <p:cNvSpPr/>
            <p:nvPr/>
          </p:nvSpPr>
          <p:spPr>
            <a:xfrm>
              <a:off x="1607820" y="3978497"/>
              <a:ext cx="5895308" cy="9525"/>
            </a:xfrm>
            <a:custGeom>
              <a:avLst/>
              <a:gdLst/>
              <a:ahLst/>
              <a:cxnLst/>
              <a:rect l="l" t="t" r="r" b="b"/>
              <a:pathLst>
                <a:path w="5895308" h="9525">
                  <a:moveTo>
                    <a:pt x="0" y="0"/>
                  </a:moveTo>
                  <a:lnTo>
                    <a:pt x="5895308" y="0"/>
                  </a:lnTo>
                </a:path>
              </a:pathLst>
            </a:custGeom>
            <a:noFill/>
            <a:ln w="9525">
              <a:solidFill>
                <a:srgbClr val="E0E0E0"/>
              </a:solidFill>
            </a:ln>
          </p:spPr>
        </p:sp>
        <p:sp>
          <p:nvSpPr>
            <p:cNvPr id="72" name="Line 72"/>
            <p:cNvSpPr/>
            <p:nvPr/>
          </p:nvSpPr>
          <p:spPr>
            <a:xfrm>
              <a:off x="1607820" y="2256377"/>
              <a:ext cx="9525" cy="1722120"/>
            </a:xfrm>
            <a:custGeom>
              <a:avLst/>
              <a:gdLst/>
              <a:ahLst/>
              <a:cxnLst/>
              <a:rect l="l" t="t" r="r" b="b"/>
              <a:pathLst>
                <a:path w="9525" h="1722120">
                  <a:moveTo>
                    <a:pt x="0" y="0"/>
                  </a:moveTo>
                  <a:lnTo>
                    <a:pt x="0" y="1722120"/>
                  </a:lnTo>
                </a:path>
              </a:pathLst>
            </a:custGeom>
            <a:noFill/>
            <a:ln w="9525">
              <a:solidFill>
                <a:srgbClr val="E0E0E0"/>
              </a:solidFill>
            </a:ln>
          </p:spPr>
        </p:sp>
        <p:sp>
          <p:nvSpPr>
            <p:cNvPr id="73" name="TextBox 73"/>
            <p:cNvSpPr txBox="1"/>
            <p:nvPr/>
          </p:nvSpPr>
          <p:spPr>
            <a:xfrm>
              <a:off x="1756410" y="2419255"/>
              <a:ext cx="992791"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立即行动建议</a:t>
              </a:r>
              <a:endParaRPr lang="zh-CN" sz="1050" b="1" dirty="0">
                <a:solidFill>
                  <a:srgbClr val="0A0A0A"/>
                </a:solidFill>
                <a:latin typeface="Times New Roman" panose="02020503050405090304"/>
                <a:ea typeface="宋体"/>
                <a:cs typeface="Times New Roman" panose="02020503050405090304"/>
              </a:endParaRPr>
            </a:p>
          </p:txBody>
        </p:sp>
        <p:sp>
          <p:nvSpPr>
            <p:cNvPr id="74" name="Rectangle 74"/>
            <p:cNvSpPr/>
            <p:nvPr/>
          </p:nvSpPr>
          <p:spPr>
            <a:xfrm>
              <a:off x="1769745" y="2685002"/>
              <a:ext cx="2738056" cy="527685"/>
            </a:xfrm>
            <a:prstGeom prst="rect">
              <a:avLst/>
            </a:prstGeom>
            <a:solidFill>
              <a:srgbClr val="000000">
                <a:alpha val="5000"/>
              </a:srgbClr>
            </a:solidFill>
            <a:ln>
              <a:noFill/>
            </a:ln>
          </p:spPr>
        </p:sp>
        <p:sp>
          <p:nvSpPr>
            <p:cNvPr id="75" name="Line 75"/>
            <p:cNvSpPr/>
            <p:nvPr/>
          </p:nvSpPr>
          <p:spPr>
            <a:xfrm>
              <a:off x="1769745" y="2685002"/>
              <a:ext cx="9525" cy="527685"/>
            </a:xfrm>
            <a:custGeom>
              <a:avLst/>
              <a:gdLst/>
              <a:ahLst/>
              <a:cxnLst/>
              <a:rect l="l" t="t" r="r" b="b"/>
              <a:pathLst>
                <a:path w="9525" h="527685">
                  <a:moveTo>
                    <a:pt x="0" y="0"/>
                  </a:moveTo>
                  <a:lnTo>
                    <a:pt x="0" y="527685"/>
                  </a:lnTo>
                </a:path>
              </a:pathLst>
            </a:custGeom>
            <a:noFill/>
            <a:ln w="28575">
              <a:solidFill>
                <a:srgbClr val="0070F3"/>
              </a:solidFill>
            </a:ln>
          </p:spPr>
        </p:sp>
        <p:sp>
          <p:nvSpPr>
            <p:cNvPr id="76" name="TextBox 76"/>
            <p:cNvSpPr txBox="1"/>
            <p:nvPr/>
          </p:nvSpPr>
          <p:spPr>
            <a:xfrm>
              <a:off x="1883093" y="2815018"/>
              <a:ext cx="1033082" cy="167640"/>
            </a:xfrm>
            <a:prstGeom prst="rect">
              <a:avLst/>
            </a:prstGeom>
            <a:noFill/>
            <a:ln>
              <a:noFill/>
            </a:ln>
          </p:spPr>
          <p:txBody>
            <a:bodyPr wrap="none" lIns="0" tIns="0" rIns="0" bIns="0" anchor="t" anchorCtr="0">
              <a:spAutoFit/>
            </a:bodyPr>
            <a:lstStyle/>
            <a:p>
              <a:pPr algn="l"/>
              <a:r>
                <a:rPr lang="zh-CN" sz="825" b="1" dirty="0">
                  <a:solidFill>
                    <a:srgbClr val="4A4A4A"/>
                  </a:solidFill>
                  <a:latin typeface="Arial" panose="020B0604020202090204"/>
                  <a:ea typeface="微软雅黑"/>
                  <a:cs typeface="Arial" panose="020B0604020202090204"/>
                </a:rPr>
                <a:t>1.启动 AI战略规划</a:t>
              </a:r>
              <a:endParaRPr lang="zh-CN" sz="825" b="1" dirty="0">
                <a:solidFill>
                  <a:srgbClr val="4A4A4A"/>
                </a:solidFill>
                <a:latin typeface="Arial" panose="020B0604020202090204"/>
                <a:ea typeface="微软雅黑"/>
                <a:cs typeface="Arial" panose="020B0604020202090204"/>
              </a:endParaRPr>
            </a:p>
          </p:txBody>
        </p:sp>
        <p:sp>
          <p:nvSpPr>
            <p:cNvPr id="77" name="TextBox 77"/>
            <p:cNvSpPr txBox="1"/>
            <p:nvPr/>
          </p:nvSpPr>
          <p:spPr>
            <a:xfrm>
              <a:off x="1884045" y="2979325"/>
              <a:ext cx="2489121"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在 90天内完成企业 AI成熟度评估与三年路线图制定</a:t>
              </a:r>
              <a:endParaRPr lang="zh-CN" sz="750" dirty="0">
                <a:solidFill>
                  <a:srgbClr val="666666"/>
                </a:solidFill>
                <a:latin typeface="Arial" panose="020B0604020202090204"/>
                <a:ea typeface="微软雅黑"/>
                <a:cs typeface="Arial" panose="020B0604020202090204"/>
              </a:endParaRPr>
            </a:p>
          </p:txBody>
        </p:sp>
        <p:sp>
          <p:nvSpPr>
            <p:cNvPr id="78" name="Rectangle 78"/>
            <p:cNvSpPr/>
            <p:nvPr/>
          </p:nvSpPr>
          <p:spPr>
            <a:xfrm>
              <a:off x="4603052" y="2685002"/>
              <a:ext cx="2738152" cy="527685"/>
            </a:xfrm>
            <a:prstGeom prst="rect">
              <a:avLst/>
            </a:prstGeom>
            <a:solidFill>
              <a:srgbClr val="000000">
                <a:alpha val="5000"/>
              </a:srgbClr>
            </a:solidFill>
            <a:ln>
              <a:noFill/>
            </a:ln>
          </p:spPr>
        </p:sp>
        <p:sp>
          <p:nvSpPr>
            <p:cNvPr id="79" name="Line 79"/>
            <p:cNvSpPr/>
            <p:nvPr/>
          </p:nvSpPr>
          <p:spPr>
            <a:xfrm>
              <a:off x="4603052" y="2685002"/>
              <a:ext cx="9525" cy="527685"/>
            </a:xfrm>
            <a:custGeom>
              <a:avLst/>
              <a:gdLst/>
              <a:ahLst/>
              <a:cxnLst/>
              <a:rect l="l" t="t" r="r" b="b"/>
              <a:pathLst>
                <a:path w="9525" h="527685">
                  <a:moveTo>
                    <a:pt x="0" y="0"/>
                  </a:moveTo>
                  <a:lnTo>
                    <a:pt x="0" y="527685"/>
                  </a:lnTo>
                </a:path>
              </a:pathLst>
            </a:custGeom>
            <a:noFill/>
            <a:ln w="28575">
              <a:solidFill>
                <a:srgbClr val="0070F3"/>
              </a:solidFill>
            </a:ln>
          </p:spPr>
        </p:sp>
        <p:sp>
          <p:nvSpPr>
            <p:cNvPr id="80" name="TextBox 80"/>
            <p:cNvSpPr txBox="1"/>
            <p:nvPr/>
          </p:nvSpPr>
          <p:spPr>
            <a:xfrm>
              <a:off x="4716399" y="2815018"/>
              <a:ext cx="1064710" cy="167640"/>
            </a:xfrm>
            <a:prstGeom prst="rect">
              <a:avLst/>
            </a:prstGeom>
            <a:noFill/>
            <a:ln>
              <a:noFill/>
            </a:ln>
          </p:spPr>
          <p:txBody>
            <a:bodyPr wrap="none" lIns="0" tIns="0" rIns="0" bIns="0" anchor="t" anchorCtr="0">
              <a:spAutoFit/>
            </a:bodyPr>
            <a:lstStyle/>
            <a:p>
              <a:pPr algn="l"/>
              <a:r>
                <a:rPr lang="zh-CN" sz="825" b="1" dirty="0">
                  <a:solidFill>
                    <a:srgbClr val="4A4A4A"/>
                  </a:solidFill>
                  <a:latin typeface="Arial" panose="020B0604020202090204"/>
                  <a:ea typeface="微软雅黑"/>
                  <a:cs typeface="Arial" panose="020B0604020202090204"/>
                </a:rPr>
                <a:t>2.建设 AI基础设施</a:t>
              </a:r>
              <a:endParaRPr lang="zh-CN" sz="825" b="1" dirty="0">
                <a:solidFill>
                  <a:srgbClr val="4A4A4A"/>
                </a:solidFill>
                <a:latin typeface="Arial" panose="020B0604020202090204"/>
                <a:ea typeface="微软雅黑"/>
                <a:cs typeface="Arial" panose="020B0604020202090204"/>
              </a:endParaRPr>
            </a:p>
          </p:txBody>
        </p:sp>
        <p:sp>
          <p:nvSpPr>
            <p:cNvPr id="81" name="TextBox 81"/>
            <p:cNvSpPr txBox="1"/>
            <p:nvPr/>
          </p:nvSpPr>
          <p:spPr>
            <a:xfrm>
              <a:off x="4717352" y="2979325"/>
              <a:ext cx="2538412"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搭建统一数据平台与模型服务中台，支撑规模化应用</a:t>
              </a:r>
              <a:endParaRPr lang="zh-CN" sz="750" dirty="0">
                <a:solidFill>
                  <a:srgbClr val="666666"/>
                </a:solidFill>
                <a:latin typeface="Arial" panose="020B0604020202090204"/>
                <a:ea typeface="微软雅黑"/>
                <a:cs typeface="Arial" panose="020B0604020202090204"/>
              </a:endParaRPr>
            </a:p>
          </p:txBody>
        </p:sp>
        <p:sp>
          <p:nvSpPr>
            <p:cNvPr id="82" name="Rectangle 82"/>
            <p:cNvSpPr/>
            <p:nvPr/>
          </p:nvSpPr>
          <p:spPr>
            <a:xfrm>
              <a:off x="1769745" y="3307937"/>
              <a:ext cx="2738056" cy="527685"/>
            </a:xfrm>
            <a:prstGeom prst="rect">
              <a:avLst/>
            </a:prstGeom>
            <a:solidFill>
              <a:srgbClr val="000000">
                <a:alpha val="5000"/>
              </a:srgbClr>
            </a:solidFill>
            <a:ln>
              <a:noFill/>
            </a:ln>
          </p:spPr>
        </p:sp>
        <p:sp>
          <p:nvSpPr>
            <p:cNvPr id="83" name="Line 83"/>
            <p:cNvSpPr/>
            <p:nvPr/>
          </p:nvSpPr>
          <p:spPr>
            <a:xfrm>
              <a:off x="1769745" y="3307937"/>
              <a:ext cx="9525" cy="527685"/>
            </a:xfrm>
            <a:custGeom>
              <a:avLst/>
              <a:gdLst/>
              <a:ahLst/>
              <a:cxnLst/>
              <a:rect l="l" t="t" r="r" b="b"/>
              <a:pathLst>
                <a:path w="9525" h="527685">
                  <a:moveTo>
                    <a:pt x="0" y="0"/>
                  </a:moveTo>
                  <a:lnTo>
                    <a:pt x="0" y="527685"/>
                  </a:lnTo>
                </a:path>
              </a:pathLst>
            </a:custGeom>
            <a:noFill/>
            <a:ln w="28575">
              <a:solidFill>
                <a:srgbClr val="0070F3"/>
              </a:solidFill>
            </a:ln>
          </p:spPr>
        </p:sp>
        <p:sp>
          <p:nvSpPr>
            <p:cNvPr id="84" name="TextBox 84"/>
            <p:cNvSpPr txBox="1"/>
            <p:nvPr/>
          </p:nvSpPr>
          <p:spPr>
            <a:xfrm>
              <a:off x="1883093" y="3437954"/>
              <a:ext cx="919217" cy="167640"/>
            </a:xfrm>
            <a:prstGeom prst="rect">
              <a:avLst/>
            </a:prstGeom>
            <a:noFill/>
            <a:ln>
              <a:noFill/>
            </a:ln>
          </p:spPr>
          <p:txBody>
            <a:bodyPr wrap="none" lIns="0" tIns="0" rIns="0" bIns="0" anchor="t" anchorCtr="0">
              <a:spAutoFit/>
            </a:bodyPr>
            <a:lstStyle/>
            <a:p>
              <a:pPr algn="l"/>
              <a:r>
                <a:rPr lang="zh-CN" sz="825" b="1" dirty="0">
                  <a:solidFill>
                    <a:srgbClr val="4A4A4A"/>
                  </a:solidFill>
                  <a:latin typeface="Arial" panose="020B0604020202090204"/>
                  <a:ea typeface="微软雅黑"/>
                  <a:cs typeface="Arial" panose="020B0604020202090204"/>
                </a:rPr>
                <a:t>3.落地标杆场景</a:t>
              </a:r>
              <a:endParaRPr lang="zh-CN" sz="825" b="1" dirty="0">
                <a:solidFill>
                  <a:srgbClr val="4A4A4A"/>
                </a:solidFill>
                <a:latin typeface="Arial" panose="020B0604020202090204"/>
                <a:ea typeface="微软雅黑"/>
                <a:cs typeface="Arial" panose="020B0604020202090204"/>
              </a:endParaRPr>
            </a:p>
          </p:txBody>
        </p:sp>
        <p:sp>
          <p:nvSpPr>
            <p:cNvPr id="85" name="TextBox 85"/>
            <p:cNvSpPr txBox="1"/>
            <p:nvPr/>
          </p:nvSpPr>
          <p:spPr>
            <a:xfrm>
              <a:off x="1884045" y="3602260"/>
              <a:ext cx="2379583"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选择 1-2个高价值场景快速试点， 6个月内见成效</a:t>
              </a:r>
              <a:endParaRPr lang="zh-CN" sz="750" dirty="0">
                <a:solidFill>
                  <a:srgbClr val="666666"/>
                </a:solidFill>
                <a:latin typeface="Arial" panose="020B0604020202090204"/>
                <a:ea typeface="微软雅黑"/>
                <a:cs typeface="Arial" panose="020B0604020202090204"/>
              </a:endParaRPr>
            </a:p>
          </p:txBody>
        </p:sp>
        <p:sp>
          <p:nvSpPr>
            <p:cNvPr id="86" name="Rectangle 86"/>
            <p:cNvSpPr/>
            <p:nvPr/>
          </p:nvSpPr>
          <p:spPr>
            <a:xfrm>
              <a:off x="4603052" y="3307937"/>
              <a:ext cx="2738152" cy="527685"/>
            </a:xfrm>
            <a:prstGeom prst="rect">
              <a:avLst/>
            </a:prstGeom>
            <a:solidFill>
              <a:srgbClr val="000000">
                <a:alpha val="5000"/>
              </a:srgbClr>
            </a:solidFill>
            <a:ln>
              <a:noFill/>
            </a:ln>
          </p:spPr>
        </p:sp>
        <p:sp>
          <p:nvSpPr>
            <p:cNvPr id="87" name="Line 87"/>
            <p:cNvSpPr/>
            <p:nvPr/>
          </p:nvSpPr>
          <p:spPr>
            <a:xfrm>
              <a:off x="4603052" y="3307937"/>
              <a:ext cx="9525" cy="527685"/>
            </a:xfrm>
            <a:custGeom>
              <a:avLst/>
              <a:gdLst/>
              <a:ahLst/>
              <a:cxnLst/>
              <a:rect l="l" t="t" r="r" b="b"/>
              <a:pathLst>
                <a:path w="9525" h="527685">
                  <a:moveTo>
                    <a:pt x="0" y="0"/>
                  </a:moveTo>
                  <a:lnTo>
                    <a:pt x="0" y="527685"/>
                  </a:lnTo>
                </a:path>
              </a:pathLst>
            </a:custGeom>
            <a:noFill/>
            <a:ln w="28575">
              <a:solidFill>
                <a:srgbClr val="0070F3"/>
              </a:solidFill>
            </a:ln>
          </p:spPr>
        </p:sp>
        <p:sp>
          <p:nvSpPr>
            <p:cNvPr id="88" name="TextBox 88"/>
            <p:cNvSpPr txBox="1"/>
            <p:nvPr/>
          </p:nvSpPr>
          <p:spPr>
            <a:xfrm>
              <a:off x="4716399" y="3437954"/>
              <a:ext cx="1064710" cy="167640"/>
            </a:xfrm>
            <a:prstGeom prst="rect">
              <a:avLst/>
            </a:prstGeom>
            <a:noFill/>
            <a:ln>
              <a:noFill/>
            </a:ln>
          </p:spPr>
          <p:txBody>
            <a:bodyPr wrap="none" lIns="0" tIns="0" rIns="0" bIns="0" anchor="t" anchorCtr="0">
              <a:spAutoFit/>
            </a:bodyPr>
            <a:lstStyle/>
            <a:p>
              <a:pPr algn="l"/>
              <a:r>
                <a:rPr lang="zh-CN" sz="825" b="1" dirty="0">
                  <a:solidFill>
                    <a:srgbClr val="4A4A4A"/>
                  </a:solidFill>
                  <a:latin typeface="Arial" panose="020B0604020202090204"/>
                  <a:ea typeface="微软雅黑"/>
                  <a:cs typeface="Arial" panose="020B0604020202090204"/>
                </a:rPr>
                <a:t>4.组建 AI能力团队</a:t>
              </a:r>
              <a:endParaRPr lang="zh-CN" sz="825" b="1" dirty="0">
                <a:solidFill>
                  <a:srgbClr val="4A4A4A"/>
                </a:solidFill>
                <a:latin typeface="Arial" panose="020B0604020202090204"/>
                <a:ea typeface="微软雅黑"/>
                <a:cs typeface="Arial" panose="020B0604020202090204"/>
              </a:endParaRPr>
            </a:p>
          </p:txBody>
        </p:sp>
        <p:sp>
          <p:nvSpPr>
            <p:cNvPr id="89" name="TextBox 89"/>
            <p:cNvSpPr txBox="1"/>
            <p:nvPr/>
          </p:nvSpPr>
          <p:spPr>
            <a:xfrm>
              <a:off x="4717352" y="3602260"/>
              <a:ext cx="2335768"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引进 AI工程师与数据科学家，建立持续迭代能力</a:t>
              </a:r>
              <a:endParaRPr lang="zh-CN" sz="750" dirty="0">
                <a:solidFill>
                  <a:srgbClr val="666666"/>
                </a:solidFill>
                <a:latin typeface="Arial" panose="020B0604020202090204"/>
                <a:ea typeface="微软雅黑"/>
                <a:cs typeface="Arial" panose="020B0604020202090204"/>
              </a:endParaRPr>
            </a:p>
          </p:txBody>
        </p:sp>
        <p:sp>
          <p:nvSpPr>
            <p:cNvPr id="90" name="Rectangle 90"/>
            <p:cNvSpPr/>
            <p:nvPr/>
          </p:nvSpPr>
          <p:spPr>
            <a:xfrm>
              <a:off x="7636478" y="2256377"/>
              <a:ext cx="2947702" cy="1722120"/>
            </a:xfrm>
            <a:prstGeom prst="roundRect">
              <a:avLst>
                <a:gd name="adj" fmla="val 2212"/>
              </a:avLst>
            </a:prstGeom>
            <a:noFill/>
            <a:ln>
              <a:noFill/>
            </a:ln>
          </p:spPr>
        </p:sp>
        <p:sp>
          <p:nvSpPr>
            <p:cNvPr id="91" name="Line 91"/>
            <p:cNvSpPr/>
            <p:nvPr/>
          </p:nvSpPr>
          <p:spPr>
            <a:xfrm>
              <a:off x="7636478" y="2256377"/>
              <a:ext cx="2947702" cy="9525"/>
            </a:xfrm>
            <a:custGeom>
              <a:avLst/>
              <a:gdLst/>
              <a:ahLst/>
              <a:cxnLst/>
              <a:rect l="l" t="t" r="r" b="b"/>
              <a:pathLst>
                <a:path w="2947702" h="9525">
                  <a:moveTo>
                    <a:pt x="0" y="0"/>
                  </a:moveTo>
                  <a:lnTo>
                    <a:pt x="2947702" y="0"/>
                  </a:lnTo>
                </a:path>
              </a:pathLst>
            </a:custGeom>
            <a:noFill/>
            <a:ln w="9525">
              <a:solidFill>
                <a:srgbClr val="E0E0E0"/>
              </a:solidFill>
            </a:ln>
          </p:spPr>
        </p:sp>
        <p:sp>
          <p:nvSpPr>
            <p:cNvPr id="92" name="Line 92"/>
            <p:cNvSpPr/>
            <p:nvPr/>
          </p:nvSpPr>
          <p:spPr>
            <a:xfrm>
              <a:off x="10584180" y="2256377"/>
              <a:ext cx="9525" cy="1722120"/>
            </a:xfrm>
            <a:custGeom>
              <a:avLst/>
              <a:gdLst/>
              <a:ahLst/>
              <a:cxnLst/>
              <a:rect l="l" t="t" r="r" b="b"/>
              <a:pathLst>
                <a:path w="9525" h="1722120">
                  <a:moveTo>
                    <a:pt x="0" y="0"/>
                  </a:moveTo>
                  <a:lnTo>
                    <a:pt x="0" y="1722120"/>
                  </a:lnTo>
                </a:path>
              </a:pathLst>
            </a:custGeom>
            <a:noFill/>
            <a:ln w="9525">
              <a:solidFill>
                <a:srgbClr val="E0E0E0"/>
              </a:solidFill>
            </a:ln>
          </p:spPr>
        </p:sp>
        <p:sp>
          <p:nvSpPr>
            <p:cNvPr id="93" name="Line 93"/>
            <p:cNvSpPr/>
            <p:nvPr/>
          </p:nvSpPr>
          <p:spPr>
            <a:xfrm>
              <a:off x="7636478" y="3978497"/>
              <a:ext cx="2947702" cy="9525"/>
            </a:xfrm>
            <a:custGeom>
              <a:avLst/>
              <a:gdLst/>
              <a:ahLst/>
              <a:cxnLst/>
              <a:rect l="l" t="t" r="r" b="b"/>
              <a:pathLst>
                <a:path w="2947702" h="9525">
                  <a:moveTo>
                    <a:pt x="0" y="0"/>
                  </a:moveTo>
                  <a:lnTo>
                    <a:pt x="2947702" y="0"/>
                  </a:lnTo>
                </a:path>
              </a:pathLst>
            </a:custGeom>
            <a:noFill/>
            <a:ln w="9525">
              <a:solidFill>
                <a:srgbClr val="E0E0E0"/>
              </a:solidFill>
            </a:ln>
          </p:spPr>
        </p:sp>
        <p:sp>
          <p:nvSpPr>
            <p:cNvPr id="94" name="Line 94"/>
            <p:cNvSpPr/>
            <p:nvPr/>
          </p:nvSpPr>
          <p:spPr>
            <a:xfrm>
              <a:off x="7636478" y="2256377"/>
              <a:ext cx="9525" cy="1722120"/>
            </a:xfrm>
            <a:custGeom>
              <a:avLst/>
              <a:gdLst/>
              <a:ahLst/>
              <a:cxnLst/>
              <a:rect l="l" t="t" r="r" b="b"/>
              <a:pathLst>
                <a:path w="9525" h="1722120">
                  <a:moveTo>
                    <a:pt x="0" y="0"/>
                  </a:moveTo>
                  <a:lnTo>
                    <a:pt x="0" y="1722120"/>
                  </a:lnTo>
                </a:path>
              </a:pathLst>
            </a:custGeom>
            <a:noFill/>
            <a:ln w="9525">
              <a:solidFill>
                <a:srgbClr val="E0E0E0"/>
              </a:solidFill>
            </a:ln>
          </p:spPr>
        </p:sp>
        <p:sp>
          <p:nvSpPr>
            <p:cNvPr id="95" name="TextBox 95"/>
            <p:cNvSpPr txBox="1"/>
            <p:nvPr/>
          </p:nvSpPr>
          <p:spPr>
            <a:xfrm>
              <a:off x="7785068" y="2419255"/>
              <a:ext cx="670750" cy="213360"/>
            </a:xfrm>
            <a:prstGeom prst="rect">
              <a:avLst/>
            </a:prstGeom>
            <a:noFill/>
            <a:ln>
              <a:noFill/>
            </a:ln>
          </p:spPr>
          <p:txBody>
            <a:bodyPr wrap="none" lIns="0" tIns="0" rIns="0" bIns="0" anchor="t" anchorCtr="0">
              <a:spAutoFit/>
            </a:bodyPr>
            <a:lstStyle/>
            <a:p>
              <a:pPr algn="l"/>
              <a:r>
                <a:rPr lang="zh-CN" sz="1050" b="1" dirty="0">
                  <a:solidFill>
                    <a:srgbClr val="0A0A0A"/>
                  </a:solidFill>
                  <a:latin typeface="Times New Roman" panose="02020503050405090304"/>
                  <a:ea typeface="宋体"/>
                  <a:cs typeface="Times New Roman" panose="02020503050405090304"/>
                </a:rPr>
                <a:t>关键信号</a:t>
              </a:r>
              <a:endParaRPr lang="zh-CN" sz="1050" b="1" dirty="0">
                <a:solidFill>
                  <a:srgbClr val="0A0A0A"/>
                </a:solidFill>
                <a:latin typeface="Times New Roman" panose="02020503050405090304"/>
                <a:ea typeface="宋体"/>
                <a:cs typeface="Times New Roman" panose="02020503050405090304"/>
              </a:endParaRPr>
            </a:p>
          </p:txBody>
        </p:sp>
        <p:sp>
          <p:nvSpPr>
            <p:cNvPr id="96" name="TextBox 96"/>
            <p:cNvSpPr txBox="1"/>
            <p:nvPr/>
          </p:nvSpPr>
          <p:spPr>
            <a:xfrm>
              <a:off x="8681061" y="2725007"/>
              <a:ext cx="858441" cy="426720"/>
            </a:xfrm>
            <a:prstGeom prst="rect">
              <a:avLst/>
            </a:prstGeom>
            <a:noFill/>
            <a:ln>
              <a:noFill/>
            </a:ln>
          </p:spPr>
          <p:txBody>
            <a:bodyPr wrap="none" lIns="0" tIns="0" rIns="0" bIns="0" anchor="t" anchorCtr="0">
              <a:spAutoFit/>
            </a:bodyPr>
            <a:lstStyle/>
            <a:p>
              <a:pPr algn="ctr"/>
              <a:r>
                <a:rPr lang="zh-CN" sz="2100" b="1" dirty="0">
                  <a:solidFill>
                    <a:srgbClr val="0070F3"/>
                  </a:solidFill>
                  <a:latin typeface="Arial" panose="020B0604020202090204"/>
                  <a:ea typeface="微软雅黑"/>
                  <a:cs typeface="Arial" panose="020B0604020202090204"/>
                </a:rPr>
                <a:t>40% +</a:t>
              </a:r>
              <a:endParaRPr lang="zh-CN" sz="2100" b="1" dirty="0">
                <a:solidFill>
                  <a:srgbClr val="0070F3"/>
                </a:solidFill>
                <a:latin typeface="Arial" panose="020B0604020202090204"/>
                <a:ea typeface="微软雅黑"/>
                <a:cs typeface="Arial" panose="020B0604020202090204"/>
              </a:endParaRPr>
            </a:p>
          </p:txBody>
        </p:sp>
        <p:sp>
          <p:nvSpPr>
            <p:cNvPr id="97" name="TextBox 97"/>
            <p:cNvSpPr txBox="1"/>
            <p:nvPr/>
          </p:nvSpPr>
          <p:spPr>
            <a:xfrm>
              <a:off x="8772144" y="3004090"/>
              <a:ext cx="676275" cy="152400"/>
            </a:xfrm>
            <a:prstGeom prst="rect">
              <a:avLst/>
            </a:prstGeom>
            <a:noFill/>
            <a:ln>
              <a:noFill/>
            </a:ln>
          </p:spPr>
          <p:txBody>
            <a:bodyPr wrap="none" lIns="0" tIns="0" rIns="0" bIns="0" anchor="t" anchorCtr="0">
              <a:spAutoFit/>
            </a:bodyPr>
            <a:lstStyle/>
            <a:p>
              <a:pPr algn="ctr"/>
              <a:r>
                <a:rPr lang="zh-CN" sz="750" dirty="0">
                  <a:solidFill>
                    <a:srgbClr val="666666"/>
                  </a:solidFill>
                  <a:latin typeface="Arial" panose="020B0604020202090204"/>
                  <a:ea typeface="微软雅黑"/>
                  <a:cs typeface="Arial" panose="020B0604020202090204"/>
                </a:rPr>
                <a:t>年复合增长率</a:t>
              </a:r>
              <a:endParaRPr lang="zh-CN" sz="750" dirty="0">
                <a:solidFill>
                  <a:srgbClr val="666666"/>
                </a:solidFill>
                <a:latin typeface="Arial" panose="020B0604020202090204"/>
                <a:ea typeface="微软雅黑"/>
                <a:cs typeface="Arial" panose="020B0604020202090204"/>
              </a:endParaRPr>
            </a:p>
          </p:txBody>
        </p:sp>
        <p:sp>
          <p:nvSpPr>
            <p:cNvPr id="98" name="TextBox 98"/>
            <p:cNvSpPr txBox="1"/>
            <p:nvPr/>
          </p:nvSpPr>
          <p:spPr>
            <a:xfrm>
              <a:off x="8042758" y="3241262"/>
              <a:ext cx="784974" cy="243840"/>
            </a:xfrm>
            <a:prstGeom prst="rect">
              <a:avLst/>
            </a:prstGeom>
            <a:noFill/>
            <a:ln>
              <a:noFill/>
            </a:ln>
          </p:spPr>
          <p:txBody>
            <a:bodyPr wrap="none" lIns="0" tIns="0" rIns="0" bIns="0" anchor="t" anchorCtr="0">
              <a:spAutoFit/>
            </a:bodyPr>
            <a:lstStyle/>
            <a:p>
              <a:pPr algn="ctr"/>
              <a:r>
                <a:rPr lang="zh-CN" sz="1200" b="1" dirty="0">
                  <a:solidFill>
                    <a:srgbClr val="0A0A0A"/>
                  </a:solidFill>
                  <a:latin typeface="Arial" panose="020B0604020202090204"/>
                  <a:ea typeface="微软雅黑"/>
                  <a:cs typeface="Arial" panose="020B0604020202090204"/>
                </a:rPr>
                <a:t>[待确认]</a:t>
              </a:r>
              <a:endParaRPr lang="zh-CN" sz="1200" b="1" dirty="0">
                <a:solidFill>
                  <a:srgbClr val="0A0A0A"/>
                </a:solidFill>
                <a:latin typeface="Arial" panose="020B0604020202090204"/>
                <a:ea typeface="微软雅黑"/>
                <a:cs typeface="Arial" panose="020B0604020202090204"/>
              </a:endParaRPr>
            </a:p>
          </p:txBody>
        </p:sp>
        <p:sp>
          <p:nvSpPr>
            <p:cNvPr id="99" name="TextBox 99"/>
            <p:cNvSpPr txBox="1"/>
            <p:nvPr/>
          </p:nvSpPr>
          <p:spPr>
            <a:xfrm>
              <a:off x="8180213" y="3445574"/>
              <a:ext cx="510064" cy="137160"/>
            </a:xfrm>
            <a:prstGeom prst="rect">
              <a:avLst/>
            </a:prstGeom>
            <a:noFill/>
            <a:ln>
              <a:noFill/>
            </a:ln>
          </p:spPr>
          <p:txBody>
            <a:bodyPr wrap="none" lIns="0" tIns="0" rIns="0" bIns="0" anchor="t" anchorCtr="0">
              <a:spAutoFit/>
            </a:bodyPr>
            <a:lstStyle/>
            <a:p>
              <a:pPr algn="ctr"/>
              <a:r>
                <a:rPr lang="zh-CN" sz="675" dirty="0">
                  <a:solidFill>
                    <a:srgbClr val="666666"/>
                  </a:solidFill>
                  <a:latin typeface="Arial" panose="020B0604020202090204"/>
                  <a:ea typeface="微软雅黑"/>
                  <a:cs typeface="Arial" panose="020B0604020202090204"/>
                </a:rPr>
                <a:t>企业渗透率</a:t>
              </a:r>
              <a:endParaRPr lang="zh-CN" sz="675" dirty="0">
                <a:solidFill>
                  <a:srgbClr val="666666"/>
                </a:solidFill>
                <a:latin typeface="Arial" panose="020B0604020202090204"/>
                <a:ea typeface="微软雅黑"/>
                <a:cs typeface="Arial" panose="020B0604020202090204"/>
              </a:endParaRPr>
            </a:p>
          </p:txBody>
        </p:sp>
        <p:sp>
          <p:nvSpPr>
            <p:cNvPr id="100" name="TextBox 100"/>
            <p:cNvSpPr txBox="1"/>
            <p:nvPr/>
          </p:nvSpPr>
          <p:spPr>
            <a:xfrm>
              <a:off x="9392831" y="3241262"/>
              <a:ext cx="784974" cy="243840"/>
            </a:xfrm>
            <a:prstGeom prst="rect">
              <a:avLst/>
            </a:prstGeom>
            <a:noFill/>
            <a:ln>
              <a:noFill/>
            </a:ln>
          </p:spPr>
          <p:txBody>
            <a:bodyPr wrap="none" lIns="0" tIns="0" rIns="0" bIns="0" anchor="t" anchorCtr="0">
              <a:spAutoFit/>
            </a:bodyPr>
            <a:lstStyle/>
            <a:p>
              <a:pPr algn="ctr"/>
              <a:r>
                <a:rPr lang="zh-CN" sz="1200" b="1" dirty="0">
                  <a:solidFill>
                    <a:srgbClr val="0A0A0A"/>
                  </a:solidFill>
                  <a:latin typeface="Arial" panose="020B0604020202090204"/>
                  <a:ea typeface="微软雅黑"/>
                  <a:cs typeface="Arial" panose="020B0604020202090204"/>
                </a:rPr>
                <a:t>[待确认]</a:t>
              </a:r>
              <a:endParaRPr lang="zh-CN" sz="1200" b="1" dirty="0">
                <a:solidFill>
                  <a:srgbClr val="0A0A0A"/>
                </a:solidFill>
                <a:latin typeface="Arial" panose="020B0604020202090204"/>
                <a:ea typeface="微软雅黑"/>
                <a:cs typeface="Arial" panose="020B0604020202090204"/>
              </a:endParaRPr>
            </a:p>
          </p:txBody>
        </p:sp>
        <p:sp>
          <p:nvSpPr>
            <p:cNvPr id="101" name="TextBox 101"/>
            <p:cNvSpPr txBox="1"/>
            <p:nvPr/>
          </p:nvSpPr>
          <p:spPr>
            <a:xfrm>
              <a:off x="9584507" y="3445574"/>
              <a:ext cx="401622" cy="137160"/>
            </a:xfrm>
            <a:prstGeom prst="rect">
              <a:avLst/>
            </a:prstGeom>
            <a:noFill/>
            <a:ln>
              <a:noFill/>
            </a:ln>
          </p:spPr>
          <p:txBody>
            <a:bodyPr wrap="none" lIns="0" tIns="0" rIns="0" bIns="0" anchor="t" anchorCtr="0">
              <a:spAutoFit/>
            </a:bodyPr>
            <a:lstStyle/>
            <a:p>
              <a:pPr algn="ctr"/>
              <a:r>
                <a:rPr lang="zh-CN" sz="675" dirty="0">
                  <a:solidFill>
                    <a:srgbClr val="666666"/>
                  </a:solidFill>
                  <a:latin typeface="Arial" panose="020B0604020202090204"/>
                  <a:ea typeface="微软雅黑"/>
                  <a:cs typeface="Arial" panose="020B0604020202090204"/>
                </a:rPr>
                <a:t>平均 ROI</a:t>
              </a:r>
              <a:endParaRPr lang="zh-CN" sz="675" dirty="0">
                <a:solidFill>
                  <a:srgbClr val="666666"/>
                </a:solidFill>
                <a:latin typeface="Arial" panose="020B0604020202090204"/>
                <a:ea typeface="微软雅黑"/>
                <a:cs typeface="Arial" panose="020B0604020202090204"/>
              </a:endParaRPr>
            </a:p>
          </p:txBody>
        </p:sp>
        <p:sp>
          <p:nvSpPr>
            <p:cNvPr id="102" name="Rectangle 102"/>
            <p:cNvSpPr/>
            <p:nvPr/>
          </p:nvSpPr>
          <p:spPr>
            <a:xfrm>
              <a:off x="1607820" y="4111847"/>
              <a:ext cx="8976360" cy="384810"/>
            </a:xfrm>
            <a:prstGeom prst="rect">
              <a:avLst/>
            </a:prstGeom>
            <a:noFill/>
            <a:ln>
              <a:noFill/>
            </a:ln>
          </p:spPr>
        </p:sp>
        <p:sp>
          <p:nvSpPr>
            <p:cNvPr id="103" name="Line 103"/>
            <p:cNvSpPr/>
            <p:nvPr/>
          </p:nvSpPr>
          <p:spPr>
            <a:xfrm>
              <a:off x="1607820" y="4111847"/>
              <a:ext cx="8976360" cy="9525"/>
            </a:xfrm>
            <a:custGeom>
              <a:avLst/>
              <a:gdLst/>
              <a:ahLst/>
              <a:cxnLst/>
              <a:rect l="l" t="t" r="r" b="b"/>
              <a:pathLst>
                <a:path w="8976360" h="9525">
                  <a:moveTo>
                    <a:pt x="0" y="0"/>
                  </a:moveTo>
                  <a:lnTo>
                    <a:pt x="8976360" y="0"/>
                  </a:lnTo>
                </a:path>
              </a:pathLst>
            </a:custGeom>
            <a:noFill/>
            <a:ln w="9525">
              <a:solidFill>
                <a:srgbClr val="E0E0E0"/>
              </a:solidFill>
            </a:ln>
          </p:spPr>
        </p:sp>
        <p:sp>
          <p:nvSpPr>
            <p:cNvPr id="104" name="TextBox 104"/>
            <p:cNvSpPr txBox="1"/>
            <p:nvPr/>
          </p:nvSpPr>
          <p:spPr>
            <a:xfrm>
              <a:off x="1598295" y="4230910"/>
              <a:ext cx="457200"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数据来源</a:t>
              </a:r>
              <a:endParaRPr lang="zh-CN" sz="750" dirty="0">
                <a:solidFill>
                  <a:srgbClr val="666666"/>
                </a:solidFill>
                <a:latin typeface="Arial" panose="020B0604020202090204"/>
                <a:ea typeface="微软雅黑"/>
                <a:cs typeface="Arial" panose="020B0604020202090204"/>
              </a:endParaRPr>
            </a:p>
          </p:txBody>
        </p:sp>
        <p:sp>
          <p:nvSpPr>
            <p:cNvPr id="105" name="TextBox 105"/>
            <p:cNvSpPr txBox="1"/>
            <p:nvPr/>
          </p:nvSpPr>
          <p:spPr>
            <a:xfrm>
              <a:off x="1597343" y="4365688"/>
              <a:ext cx="2064185" cy="167640"/>
            </a:xfrm>
            <a:prstGeom prst="rect">
              <a:avLst/>
            </a:prstGeom>
            <a:noFill/>
            <a:ln>
              <a:noFill/>
            </a:ln>
          </p:spPr>
          <p:txBody>
            <a:bodyPr wrap="none" lIns="0" tIns="0" rIns="0" bIns="0" anchor="t" anchorCtr="0">
              <a:spAutoFit/>
            </a:bodyPr>
            <a:lstStyle/>
            <a:p>
              <a:pPr algn="l"/>
              <a:r>
                <a:rPr lang="zh-CN" sz="825" b="1" dirty="0">
                  <a:solidFill>
                    <a:srgbClr val="0A0A0A"/>
                  </a:solidFill>
                  <a:latin typeface="Arial" panose="020B0604020202090204"/>
                  <a:ea typeface="微软雅黑"/>
                  <a:cs typeface="Arial" panose="020B0604020202090204"/>
                </a:rPr>
                <a:t>对话分析· McKinsey· Stanford HAI</a:t>
              </a:r>
              <a:endParaRPr lang="zh-CN" sz="825" b="1" dirty="0">
                <a:solidFill>
                  <a:srgbClr val="0A0A0A"/>
                </a:solidFill>
                <a:latin typeface="Arial" panose="020B0604020202090204"/>
                <a:ea typeface="微软雅黑"/>
                <a:cs typeface="Arial" panose="020B0604020202090204"/>
              </a:endParaRPr>
            </a:p>
          </p:txBody>
        </p:sp>
        <p:sp>
          <p:nvSpPr>
            <p:cNvPr id="106" name="Rectangle 106"/>
            <p:cNvSpPr/>
            <p:nvPr/>
          </p:nvSpPr>
          <p:spPr>
            <a:xfrm>
              <a:off x="3494913" y="4223194"/>
              <a:ext cx="9525" cy="266700"/>
            </a:xfrm>
            <a:prstGeom prst="rect">
              <a:avLst/>
            </a:prstGeom>
            <a:solidFill>
              <a:srgbClr val="E0E0E0"/>
            </a:solidFill>
            <a:ln>
              <a:noFill/>
            </a:ln>
          </p:spPr>
        </p:sp>
        <p:sp>
          <p:nvSpPr>
            <p:cNvPr id="107" name="TextBox 107"/>
            <p:cNvSpPr txBox="1"/>
            <p:nvPr/>
          </p:nvSpPr>
          <p:spPr>
            <a:xfrm>
              <a:off x="3647313" y="4230910"/>
              <a:ext cx="457200"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联系咨询</a:t>
              </a:r>
              <a:endParaRPr lang="zh-CN" sz="750" dirty="0">
                <a:solidFill>
                  <a:srgbClr val="666666"/>
                </a:solidFill>
                <a:latin typeface="Arial" panose="020B0604020202090204"/>
                <a:ea typeface="微软雅黑"/>
                <a:cs typeface="Arial" panose="020B0604020202090204"/>
              </a:endParaRPr>
            </a:p>
          </p:txBody>
        </p:sp>
        <p:sp>
          <p:nvSpPr>
            <p:cNvPr id="108" name="TextBox 108"/>
            <p:cNvSpPr txBox="1"/>
            <p:nvPr/>
          </p:nvSpPr>
          <p:spPr>
            <a:xfrm>
              <a:off x="3646360" y="4365688"/>
              <a:ext cx="786074"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ai-strategy@</a:t>
              </a:r>
              <a:endParaRPr lang="zh-CN" sz="825" dirty="0">
                <a:solidFill>
                  <a:srgbClr val="0070F3"/>
                </a:solidFill>
                <a:latin typeface="Arial" panose="020B0604020202090204"/>
                <a:ea typeface="微软雅黑"/>
                <a:cs typeface="Arial" panose="020B0604020202090204"/>
              </a:endParaRPr>
            </a:p>
          </p:txBody>
        </p:sp>
        <p:sp>
          <p:nvSpPr>
            <p:cNvPr id="109" name="TextBox 109"/>
            <p:cNvSpPr txBox="1"/>
            <p:nvPr/>
          </p:nvSpPr>
          <p:spPr>
            <a:xfrm>
              <a:off x="3646360" y="4512374"/>
              <a:ext cx="798124" cy="167640"/>
            </a:xfrm>
            <a:prstGeom prst="rect">
              <a:avLst/>
            </a:prstGeom>
            <a:noFill/>
            <a:ln>
              <a:noFill/>
            </a:ln>
          </p:spPr>
          <p:txBody>
            <a:bodyPr wrap="none" lIns="0" tIns="0" rIns="0" bIns="0" anchor="t" anchorCtr="0">
              <a:spAutoFit/>
            </a:bodyPr>
            <a:lstStyle/>
            <a:p>
              <a:pPr algn="l"/>
              <a:r>
                <a:rPr lang="zh-CN" sz="825" dirty="0">
                  <a:solidFill>
                    <a:srgbClr val="0070F3"/>
                  </a:solidFill>
                  <a:latin typeface="Arial" panose="020B0604020202090204"/>
                  <a:ea typeface="微软雅黑"/>
                  <a:cs typeface="Arial" panose="020B0604020202090204"/>
                </a:rPr>
                <a:t>company.com</a:t>
              </a:r>
              <a:endParaRPr lang="zh-CN" sz="825" dirty="0">
                <a:solidFill>
                  <a:srgbClr val="0070F3"/>
                </a:solidFill>
                <a:latin typeface="Arial" panose="020B0604020202090204"/>
                <a:ea typeface="微软雅黑"/>
                <a:cs typeface="Arial" panose="020B0604020202090204"/>
              </a:endParaRPr>
            </a:p>
          </p:txBody>
        </p:sp>
        <p:sp>
          <p:nvSpPr>
            <p:cNvPr id="110" name="TextBox 110"/>
            <p:cNvSpPr txBox="1"/>
            <p:nvPr/>
          </p:nvSpPr>
          <p:spPr>
            <a:xfrm>
              <a:off x="9034462" y="4304157"/>
              <a:ext cx="1749742"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[Data: XX%]占位数据待实际调研确</a:t>
              </a:r>
              <a:endParaRPr lang="zh-CN" sz="750" dirty="0">
                <a:solidFill>
                  <a:srgbClr val="666666"/>
                </a:solidFill>
                <a:latin typeface="Arial" panose="020B0604020202090204"/>
                <a:ea typeface="微软雅黑"/>
                <a:cs typeface="Arial" panose="020B0604020202090204"/>
              </a:endParaRPr>
            </a:p>
          </p:txBody>
        </p:sp>
        <p:sp>
          <p:nvSpPr>
            <p:cNvPr id="111" name="TextBox 111"/>
            <p:cNvSpPr txBox="1"/>
            <p:nvPr/>
          </p:nvSpPr>
          <p:spPr>
            <a:xfrm>
              <a:off x="9034462" y="4423220"/>
              <a:ext cx="128588" cy="152400"/>
            </a:xfrm>
            <a:prstGeom prst="rect">
              <a:avLst/>
            </a:prstGeom>
            <a:noFill/>
            <a:ln>
              <a:noFill/>
            </a:ln>
          </p:spPr>
          <p:txBody>
            <a:bodyPr wrap="none" lIns="0" tIns="0" rIns="0" bIns="0" anchor="t" anchorCtr="0">
              <a:spAutoFit/>
            </a:bodyPr>
            <a:lstStyle/>
            <a:p>
              <a:pPr algn="l"/>
              <a:r>
                <a:rPr lang="zh-CN" sz="750" dirty="0">
                  <a:solidFill>
                    <a:srgbClr val="666666"/>
                  </a:solidFill>
                  <a:latin typeface="Arial" panose="020B0604020202090204"/>
                  <a:ea typeface="微软雅黑"/>
                  <a:cs typeface="Arial" panose="020B0604020202090204"/>
                </a:rPr>
                <a:t>认</a:t>
              </a:r>
              <a:endParaRPr lang="zh-CN" sz="750" dirty="0">
                <a:solidFill>
                  <a:srgbClr val="666666"/>
                </a:solidFill>
                <a:latin typeface="Arial" panose="020B0604020202090204"/>
                <a:ea typeface="微软雅黑"/>
                <a:cs typeface="Arial" panose="020B0604020202090204"/>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6145</Words>
  <Application>WPS 表格</Application>
  <PresentationFormat>On-screen Show (4:3)</PresentationFormat>
  <Paragraphs>1340</Paragraphs>
  <Slides>12</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12</vt:i4>
      </vt:variant>
    </vt:vector>
  </HeadingPairs>
  <TitlesOfParts>
    <vt:vector size="34" baseType="lpstr">
      <vt:lpstr>Arial</vt:lpstr>
      <vt:lpstr>宋体</vt:lpstr>
      <vt:lpstr>Wingdings</vt:lpstr>
      <vt:lpstr>Arial</vt:lpstr>
      <vt:lpstr>Times New Roman</vt:lpstr>
      <vt:lpstr>宋体</vt:lpstr>
      <vt:lpstr>汉仪书宋二KW</vt:lpstr>
      <vt:lpstr>微软雅黑</vt:lpstr>
      <vt:lpstr>Segoe UI</vt:lpstr>
      <vt:lpstr>汉仪旗黑</vt:lpstr>
      <vt:lpstr>微软雅黑</vt:lpstr>
      <vt:lpstr>宋体</vt:lpstr>
      <vt:lpstr>Arial Unicode MS</vt:lpstr>
      <vt:lpstr>Calibri</vt:lpstr>
      <vt:lpstr>Helvetica Neue</vt:lpstr>
      <vt:lpstr>Thonburi</vt:lpstr>
      <vt:lpstr>Segoe UI</vt:lpstr>
      <vt:lpstr>Times New Roman</vt:lpstr>
      <vt:lpstr>微软雅黑</vt:lpstr>
      <vt:lpstr>苹方-简</vt:lpstr>
      <vt:lpstr>Apple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Alex</cp:lastModifiedBy>
  <cp:revision>3</cp:revision>
  <dcterms:created xsi:type="dcterms:W3CDTF">2026-05-08T04:18:21Z</dcterms:created>
  <dcterms:modified xsi:type="dcterms:W3CDTF">2026-05-08T04:18:21Z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8E57774ED4C35DFA0D64FD694F6DFB0C_43</vt:lpwstr>
  </property>
  <property fmtid="{D5CDD505-2E9C-101B-9397-08002B2CF9AE}" pid="3" name="KSOProductBuildVer">
    <vt:lpwstr>2052-12.1.23540.23540</vt:lpwstr>
  </property>
</Properties>
</file>