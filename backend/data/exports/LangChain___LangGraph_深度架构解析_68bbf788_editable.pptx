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LangChain &amp; LangGraph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深度架构解析 · 2025最新特性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面向 AI 开发者 · 技术团队 · 架构师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目录导航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&amp; LangGraph 深度架构解析 · 2025最新特性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LangChain 1.0 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探索LangChain发展历程与1.0版本的重大变革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LangGraph 核心概念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深入理解状态管理与工作流编排机制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Multi-Agent 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掌握多智能体协作的设计模式与最佳实践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2025 新特性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全面解析最新版本的核心功能与技术亮点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企业应用案例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真实场景下的落地实践与性能优化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实战最佳实践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0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从入门到精通的完整技术路线图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LangChain 发展历程与 1.0 里程碑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发展历程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1.0 里程碑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.reveal { font-family: 'Inter', system-ui, sans-serif; color: #2c3e50; }</a:t>
            </a:r>
            <a:br/>
            <a:r>
              <a:t>        .reveal h1, .reveal h2, .reveal h3, .reveal h4 { font-weight: 700; color: #2c3e50; text-transform: none; }</a:t>
            </a:r>
            <a:br/>
            <a:r>
              <a:t>        .reveal pre { box-shadow: 0 4px 10px rgba(0,0,0,0.1); border-radius: 8px; width: 100%; }</a:t>
            </a:r>
            <a:br/>
            <a:r>
              <a:t>        .reveal code { font-family: 'JetBrains Mono', monospace; font-size: 0.85em; line-height: 1.4; }</a:t>
            </a:r>
            <a:br/>
            <a:r>
              <a:t>        .reveal ul, .reveal ol { text-align: left; }</a:t>
            </a:r>
            <a:br/>
            <a:r>
              <a:t>        .reveal table { font-size: 0.75em; }</a:t>
            </a:r>
            <a:br/>
            <a:r>
              <a:t>        </a:t>
            </a:r>
            <a:br/>
            <a:r>
              <a:t>        .flex-container { display: flex; justify-content: space-between; align-items: start; gap: 30px; }</a:t>
            </a:r>
            <a:br/>
            <a:r>
              <a:t>        .col { flex: 1; text-align: left; }</a:t>
            </a:r>
            <a:br/>
            <a:r>
              <a:t>        .grid-2 { display: grid; grid-template-columns: 1fr 1fr; gap: 20px; }</a:t>
            </a:r>
            <a:br/>
            <a:r>
              <a:t>        .grid-3 { display: grid; grid-template-columns: 1fr 1fr 1fr; gap: 20px; }</a:t>
            </a:r>
            <a:br/>
            <a:r>
              <a:t>        .grid-4 { display: grid; grid-template-columns: 1fr 1fr 1fr 1fr; gap: 15px; }</a:t>
            </a:r>
            <a:br/>
            <a:r>
              <a:t>        .feature-card { background: #f8f9fa; border-left: 4px solid #3498db; padding: 15px; border-radius: 4px; margin-bottom: 15px; box-shadow: 0 2px 4px rgba(0,0,0,0.05); text-align: left; }</a:t>
            </a:r>
            <a:br/>
            <a:r>
              <a:t>        .feature-card h4 { margin: 0 0 8px 0; font-size: 1em; }</a:t>
            </a:r>
            <a:br/>
            <a:r>
              <a:t>        .feature-card p { margin: 0; font-size: 0.8em; color: #555; }</a:t>
            </a:r>
            <a:br/>
            <a:r>
              <a:t>        </a:t>
            </a:r>
            <a:br/>
            <a:r>
              <a:t>        .breaking-badge { background: linear-gradient(135deg, #e74c3c, #c0392b); color: white; padding: 8px 16px; border-radius: 20px; font-size: 0.7em; font-weight: 600; display: inline-block; margin-bottom: 15px; }</a:t>
            </a:r>
            <a:br/>
            <a:r>
              <a:t>        .breaking-card { background: linear-gradient(135deg, #fff5f5, #ffe8e8); border: 2px solid #e74c3c; border-radius: 12px; padding: 20px; margin-bottom: 15px; }</a:t>
            </a:r>
            <a:br/>
            <a:r>
              <a:t>        .breaking-card h4 { color: #c0392b; margin: 0 0 10px 0; font-size: 1em; }</a:t>
            </a:r>
            <a:br/>
            <a:r>
              <a:t>        .breaking-card ul { margin: 0; padding-left: 20px; font-size: 0.75em; }</a:t>
            </a:r>
            <a:br/>
            <a:r>
              <a:t>        .breaking-card li { margin-bottom: 5px; }</a:t>
            </a:r>
            <a:br/>
            <a:r>
              <a:t>        </a:t>
            </a:r>
            <a:br/>
            <a:r>
              <a:t>        .migration-card { background: linear-gradient(135deg, #d5f4e6, #c5f1dc); border: 2px solid #27ae60; border-radius: 12px; padding: 20px; margin-bottom: 15px; }</a:t>
            </a:r>
            <a:br/>
            <a:r>
              <a:t>        .migration-card h4 { color: #27ae60; margin: 0 0 10px 0; font-size: 1em; }</a:t>
            </a:r>
            <a:br/>
            <a:r>
              <a:t>        .migration-card ul { margin: 0; padding-left: 20px; font-size: 0.75em; }</a:t>
            </a:r>
            <a:br/>
            <a:r>
              <a:t>        .migration-card li { margin-bottom: 5px; }</a:t>
            </a:r>
            <a:br/>
            <a:r>
              <a:t>        </a:t>
            </a:r>
            <a:br/>
            <a:r>
              <a:t>        .highlight { background: linear-gradient(90deg, #f39c12 0%, #e67e22 100%); color: white; padding: 2px 8px; border-radius: 4px; font-weight: 600; }</a:t>
            </a:r>
            <a:br/>
            <a:r>
              <a:t>        .tech-badge { background: #3498db; color: white; padding: 4px 10px; border-radius: 4px; font-size: 0.6em; font-weight: 600; margin-right: 8px; }</a:t>
            </a:r>
            <a:br/>
            <a:r>
              <a:t>        .version-tag { background: #9b59b6; color: white; padding: 3px 8px; border-radius: 3px; font-size: 0.6em; font-weight: 600; }</a:t>
            </a:r>
            <a:br/>
            <a:r>
              <a:t>        </a:t>
            </a:r>
            <a:br/>
            <a:r>
              <a:t>        .timeline { position: relative; padding-left: 30px; }</a:t>
            </a:r>
            <a:br/>
            <a:r>
              <a:t>        .timeline::before { content: ''; position: absolute; left: 10px; top: 0; bottom: 0; width: 2px; background: linear-gradient(to bottom, #3498db, #2c3e50); }</a:t>
            </a:r>
            <a:br/>
            <a:r>
              <a:t>        .timeline-item { position: relative; margin-bottom: 20px; padding-left: 20px; }</a:t>
            </a:r>
            <a:br/>
            <a:r>
              <a:t>        .timeline-item::before { content: ''; position: absolute; left: -24px; top: 5px; width: 12px; height: 12px; background: #3498db; border-radius: 50%; border: 3px solid white; box-shadow: 0 0 0 2px #3498db; }</a:t>
            </a:r>
            <a:br/>
            <a:r>
              <a:t>        .timeline-item h4 { margin: 0 0 5px 0; font-size: 0.9em; color: #2c3e50; }</a:t>
            </a:r>
            <a:br/>
            <a:r>
              <a:t>        .timeline-item p { margin: 0; font-size: 0.75em; color: #555; }</a:t>
            </a:r>
            <a:br/>
            <a:r>
              <a:t>        </a:t>
            </a:r>
            <a:br/>
            <a:r>
              <a:t>        .code-comparison { display: grid; grid-template-columns: 1fr 1fr; gap: 15px; margin-top: 15px; }</a:t>
            </a:r>
            <a:br/>
            <a:r>
              <a:t>        .code-block { background: #1e1e1e; border-radius: 8px; padding: 15px; font-size: 0.7em; }</a:t>
            </a:r>
            <a:br/>
            <a:r>
              <a:t>        .code-block.before { border-left: 4px solid #e74c3c; }</a:t>
            </a:r>
            <a:br/>
            <a:r>
              <a:t>        .code-block.after { border-left: 4px solid #27ae60; }</a:t>
            </a:r>
            <a:br/>
            <a:r>
              <a:t>        .code-block h5 { margin: 0 0 10px 0; font-size: 0.85em; color: #ecf0f1; }</a:t>
            </a:r>
            <a:br/>
            <a:r>
              <a:t>        .code-block pre { margin: 0; background: transparent; }</a:t>
            </a:r>
            <a:br/>
            <a:r>
              <a:t>        .code-block code { color: #ecf0f1; }</a:t>
            </a:r>
            <a:br/>
            <a:r>
              <a:t>        </a:t>
            </a:r>
            <a:br/>
            <a:r>
              <a:t>        .stats-grid { display: grid; grid-template-columns: repeat(4, 1fr); gap: 20px; margin: 20px 0; }</a:t>
            </a:r>
            <a:br/>
            <a:r>
              <a:t>        .stat-card { background: linear-gradient(135deg, #667eea 0%, #764ba2 100%); color: white; padding: 25px; border-radius: 12px; text-align: center; box-shadow: 0 4px 15px rgba(102, 126, 234, 0.3); }</a:t>
            </a:r>
            <a:br/>
            <a:r>
              <a:t>        .stat-card.green { background: linear-gradient(135deg, #11998e 0%, #38ef7d 100%); box-shadow: 0 4px 15px rgba(17, 153, 142, 0.3); }</a:t>
            </a:r>
            <a:br/>
            <a:r>
              <a:t>        .stat-card.orange { background: linear-gradient(135deg, #f093fb 0%, #f5576c 100%); box-shadow: 0 4px 15px rgba(245, 87, 108, 0.3); }</a:t>
            </a:r>
            <a:br/>
            <a:r>
              <a:t>        .stat-card.blue { background: linear-gradient(135deg, #4facfe 0%, #00f2fe 100%); box-shadow: 0 4px 15px rgba(79, 172, 254, 0.3); }</a:t>
            </a:r>
            <a:br/>
            <a:r>
              <a:t>        .stat-number { font-size: 2.5em; font-weight: 700; margin-bottom: 5px; }</a:t>
            </a:r>
            <a:br/>
            <a:r>
              <a:t>        .stat-label { font-size: 0.7em; opacity: 0.9; }</a:t>
            </a:r>
            <a:br/>
            <a:r>
              <a:t>    </a:t>
            </a:r>
            <a:br/>
            <a:br/>
            <a:br/>
            <a:r>
              <a:t>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    LangChain 1.0 核心变革</a:t>
            </a:r>
            <a:br/>
            <a:r>
              <a:t>                Breaking Changes &amp; 迁移指南</a:t>
            </a:r>
            <a:br/>
            <a:r>
              <a:t>                </a:t>
            </a:r>
            <a:br/>
            <a:r>
              <a:t>                    LangChain 1.0</a:t>
            </a:r>
            <a:br/>
            <a:r>
              <a:t>                    2024-2025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LangChain 1.0 核心变革概览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300+</a:t>
            </a:r>
            <a:br/>
            <a:r>
              <a:t>                        Breaking Changes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2.0x</a:t>
            </a:r>
            <a:br/>
            <a:r>
              <a:t>                        性能提升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50+</a:t>
            </a:r>
            <a:br/>
            <a:r>
              <a:t>                        弃用API清理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100%</a:t>
            </a:r>
            <a:br/>
            <a:r>
              <a:t>                        类型安全增强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统一SDK</a:t>
            </a:r>
            <a:br/>
            <a:r>
              <a:t>                        LangChain / LangChain-core / LangChain-community 三层架构统一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LCEL 2.0</a:t>
            </a:r>
            <a:br/>
            <a:r>
              <a:t>                        Chain of Components 替代 Chain of Prompts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标准化输出</a:t>
            </a:r>
            <a:br/>
            <a:r>
              <a:t>                        AIMessage / HumanMessage / SystemMessage 统一消息格式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主要 Breaking Changes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1. 移除的模块</a:t>
            </a:r>
            <a:br/>
            <a:r>
              <a:t>                        </a:t>
            </a:r>
            <a:br/>
            <a:r>
              <a:t>                            langchain.agents → 迁移到 langchain.agents 独立包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LangChain 1.0 核心变革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Breaking Changes &amp; 迁移指南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LangChain 1.0 核心变革概览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/ LangChain-core / LangChain-community 三层架构统一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Chain of Components 替代 Chain of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AIMessage / HumanMessage / SystemMessage 统一消息格式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主要 Breaking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langchain.chains 抽象类 → 使用 Runnable 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ConversationChain → 使用 ConversationalRetrievalChain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LLMMathChain / SQLDatabaseChain → 独立包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ChatVectorDBChain → 使用 ConversationalRetrievalChain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initialize_agent() 函数 → 使用 AgentExecutor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5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CallbackManager → CallbackManager (保持但增强)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9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PromptTemplate → PromptTemplate (支持多模态)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3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LLMResult → ChatResult / LLMResult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7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BaseChatModel → BaseChatModel (标准统一)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1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BaseLLM → BaseLanguageModel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5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get_buffer_string() → get_buffer_string()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89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代码迁移示例：Message 格式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from langchain.schema import HumanMessage</a:t>
            </a:r>
            <a:br/>
            <a:br/>
            <a:r>
              <a:t># 字符串直接传递</a:t>
            </a:r>
            <a:br/>
            <a:r>
              <a:t>response = chat([HumanMessage("Hello")])</a:t>
            </a:r>
            <a:br/>
            <a:br/>
            <a:r>
              <a:t># 混合格式</a:t>
            </a:r>
            <a:br/>
            <a:r>
              <a:t>messages = [</a:t>
            </a:r>
            <a:br/>
            <a:r>
              <a:t>    ("system", "You are a helpful assistant"),</a:t>
            </a:r>
            <a:br/>
            <a:r>
              <a:t>    ("human", "Hi!")</a:t>
            </a:r>
            <a:br/>
            <a:r>
              <a:t>]</a:t>
            </a:r>
            <a:br/>
            <a:r>
              <a:t>response = chat(messages)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✅ 新版本 (1.0)</a:t>
            </a:r>
            <a:br/>
            <a:r>
              <a:t>                        from langchain_core.messages import HumanMessage</a:t>
            </a:r>
            <a:br/>
            <a:br/>
            <a:r>
              <a:t># 必须使用 Message 对象</a:t>
            </a:r>
            <a:br/>
            <a:r>
              <a:t>response = chat.invoke([HumanMessage(content="Hello")])</a:t>
            </a:r>
            <a:br/>
            <a:br/>
            <a:r>
              <a:t># 严格的消息类型</a:t>
            </a:r>
            <a:br/>
            <a:r>
              <a:t>from langchain_core.messages import SystemMessage, AIMessage</a:t>
            </a:r>
            <a:br/>
            <a:r>
              <a:t>messages = [</a:t>
            </a:r>
            <a:br/>
            <a:r>
              <a:t>    SystemMessage(content="You are helpful"),</a:t>
            </a:r>
            <a:br/>
            <a:r>
              <a:t>    HumanMessage(content="Hi!"),</a:t>
            </a:r>
            <a:br/>
            <a:r>
              <a:t>    AIMessage(content="Hello!")</a:t>
            </a:r>
            <a:br/>
            <a:r>
              <a:t>]</a:t>
            </a:r>
            <a:br/>
            <a:r>
              <a:t>response = chat.invoke(messages)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注意：1.0 强制要求使用类型化 Message 对象，禁止使用元组或裸字符串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99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代码迁移示例：Chain 构建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0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from langchain import OpenAI, PromptTemplate</a:t>
            </a:r>
            <a:br/>
            <a:r>
              <a:t>from langchain.chains import LLMChain</a:t>
            </a:r>
            <a:br/>
            <a:br/>
            <a:r>
              <a:t>llm = OpenAI(temperature=0)</a:t>
            </a:r>
            <a:br/>
            <a:r>
              <a:t>prompt = PromptTemplate(</a:t>
            </a:r>
            <a:br/>
            <a:r>
              <a:t>    input_variables=["product"],</a:t>
            </a:r>
            <a:br/>
            <a:r>
              <a:t>    template="What is a good name for a {product}?"</a:t>
            </a:r>
            <a:br/>
            <a:r>
              <a:t>)</a:t>
            </a:r>
            <a:br/>
            <a:r>
              <a:t>chain = LLMChain(llm=llm, prompt=prompt)</a:t>
            </a:r>
            <a:br/>
            <a:r>
              <a:t>result = chain.run(product="AI startup")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✅ 新版本 (1.0) - LCEL</a:t>
            </a:r>
            <a:br/>
            <a:r>
              <a:t>                        from langchain_openai import ChatOpenAI</a:t>
            </a:r>
            <a:br/>
            <a:r>
              <a:t>from langchain_core.prompts import PromptTemplate</a:t>
            </a:r>
            <a:br/>
            <a:br/>
            <a:r>
              <a:t>llm = ChatOpenAI(temperature=0)</a:t>
            </a:r>
            <a:br/>
            <a:r>
              <a:t>prompt = PromptTemplate.from_template(</a:t>
            </a:r>
            <a:br/>
            <a:r>
              <a:t>    "What is a good name for a {product}?"</a:t>
            </a:r>
            <a:br/>
            <a:r>
              <a:t>)</a:t>
            </a:r>
            <a:br/>
            <a:br/>
            <a:r>
              <a:t># 使用 | 操作符构建链</a:t>
            </a:r>
            <a:br/>
            <a:r>
              <a:t>chain = prompt | llm</a:t>
            </a:r>
            <a:br/>
            <a:r>
              <a:t>result = chain.invoke({"product": "AI startup"})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改进：LCEL (LangChain Expression Language) 提供更简洁的链式调用和更好的流式支持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09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代码迁移示例：Agent 构建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14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from langchain.agents import initialize_agent, AgentType</a:t>
            </a:r>
            <a:br/>
            <a:br/>
            <a:r>
              <a:t>agent = initialize_agent(</a:t>
            </a:r>
            <a:br/>
            <a:r>
              <a:t>    tools,</a:t>
            </a:r>
            <a:br/>
            <a:r>
              <a:t>    llm,</a:t>
            </a:r>
            <a:br/>
            <a:r>
              <a:t>    agent=AgentType.CONVERSATIONAL_REACT_DESCRIPTION,</a:t>
            </a:r>
            <a:br/>
            <a:r>
              <a:t>    verbose=True</a:t>
            </a:r>
            <a:br/>
            <a:r>
              <a:t>)</a:t>
            </a:r>
            <a:br/>
            <a:r>
              <a:t>response = agent.run("Hello, how are you?")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✅ 新版本 (1.0)</a:t>
            </a:r>
            <a:br/>
            <a:r>
              <a:t>                        from langgraph.prebuilt import create_react_agent</a:t>
            </a:r>
            <a:br/>
            <a:br/>
            <a:r>
              <a:t>agent = create_react_agent(llm, tools)</a:t>
            </a:r>
            <a:br/>
            <a:r>
              <a:t>response = agent.invoke({</a:t>
            </a:r>
            <a:br/>
            <a:r>
              <a:t>    "messages": ["Hello, how are you?"]</a:t>
            </a:r>
            <a:br/>
            <a:r>
              <a:t>})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Breaking Changes：Message 类型系统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移除的类型</a:t>
            </a:r>
            <a:br/>
            <a:r>
              <a:t>                        </a:t>
            </a:r>
            <a:br/>
            <a:r>
              <a:t>                            FunctionMessage</a:t>
            </a:r>
            <a:br/>
            <a:r>
              <a:t>                            ChatMessage</a:t>
            </a:r>
            <a:br/>
            <a:r>
              <a:t>                            SystemMessage 的部分参数</a:t>
            </a:r>
            <a:br/>
            <a:r>
              <a:t>                            HumanMessage.id</a:t>
            </a:r>
            <a:br/>
            <a:r>
              <a:t>                            AIMessage.additional_kwargs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新增的类型</a:t>
            </a:r>
            <a:br/>
            <a:r>
              <a:t>                        </a:t>
            </a:r>
            <a:br/>
            <a:r>
              <a:t>                            ToolMessage - 工具调用结果</a:t>
            </a:r>
            <a:br/>
            <a:r>
              <a:t>                            AIMessageChunk - 流式响应块</a:t>
            </a:r>
            <a:br/>
            <a:r>
              <a:t>                            MessageLike - 联合类型</a:t>
            </a:r>
            <a:br/>
            <a:r>
              <a:t>                            MessageContent - 多模态内容</a:t>
            </a:r>
            <a:br/>
            <a:r>
              <a:t>                            BaseMessage.fields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迁移建议</a:t>
            </a:r>
            <a:br/>
            <a:r>
              <a:t>                    </a:t>
            </a:r>
            <a:br/>
            <a:r>
              <a:t>                        使用 pip install langchain[breakpoint] 增量迁移</a:t>
            </a:r>
            <a:br/>
            <a:r>
              <a:t>                        启用 langchain.check_breakpoints 检查代码兼容性</a:t>
            </a:r>
            <a:br/>
            <a:r>
              <a:t>                        使用 langchain migrate CLI 工具自动迁移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LangChain 1.0 迁移工具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自动迁移 CLI</a:t>
            </a:r>
            <a:br/>
            <a:r>
              <a:t>                        命令行工具自动转换代码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1886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Breaking Changes：Message 类型系统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124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FunctionMessage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28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ChatMessage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132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SystemMessage 的部分参数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36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HumanMessage.id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40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AIMessage.additional_kwargs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144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ToolMessage - 工具调用结果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148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AIMessageChunk - 流式响应块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152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MessageLike - 联合类型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156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MessageContent - 多模态内容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60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BaseMessage.fields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164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使用 pip install langchain[breakpoint] 增量迁移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168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启用 langchain.check_breakpoints 检查代码兼容性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17257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使用 langchain migrate CLI 工具自动迁移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17657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LangChain 1.0 迁移工具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18229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migrate --path ./src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兼容性检查</a:t>
            </a:r>
            <a:br/>
            <a:r>
              <a:t>                        检测不兼容的 API 调用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18629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check --verbose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版本回退</a:t>
            </a:r>
            <a:br/>
            <a:r>
              <a:t>                        测试环境验证迁移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19029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rollback 0.x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迁移路径建议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阶段 1：依赖审计 Week 1-2</a:t>
            </a:r>
            <a:br/>
            <a:r>
              <a:t>                        使用 langchain check 检查所有导入和 API 调用，生成兼容性报告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19429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迁移路径建议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0000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优先迁移 LangChain-core 相关代码（Message、LLM、Prompt）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0400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使用 LCEL 重构所有 Chain，使用 | 操作符替代 .run()/.call()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0800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迁移到 LangGraph prebuilt agents，移除 initialize_agent()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1200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完整回归测试，性能基准测试，确保功能等价性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1600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迁移检查清单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221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✅ 所有 Message 对象使用正确类型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5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✅ Chain 使用 .invoke() 或 .stream()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229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✅ 移除 .run() 方法调用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233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✅ Agent 使用 LangGraph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237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✅ 回调处理器适配新接口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241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✅ 错误处理适配新异常类型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245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✅ 依赖包版本更新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249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💡 使用类型注解增强代码可读性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53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💡 采用 LCEL 构建复杂链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257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💡 利用 LangSmith 监控迁移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261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💡 增量部署，灰度验证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265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💡 保留旧代码备份 30 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269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💡 更新文档和注释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273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💡 团队培训新 API 设计模式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7772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开始迁移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⚡</a:t>
            </a:r>
            <a:br/>
            <a:r>
              <a:t>    </a:t>
            </a:r>
            <a:br/>
            <a:r>
              <a:t>      LangChain vs LangGraph</a:t>
            </a:r>
            <a:br/>
            <a:r>
              <a:t>      定位对比 · 技术选型指南</a:t>
            </a:r>
            <a:br/>
            <a:r>
              <a:t>    </a:t>
            </a:r>
            <a:br/>
            <a:r>
              <a:t>  </a:t>
            </a:r>
            <a:br/>
            <a:r>
              <a:t>  </a:t>
            </a:r>
            <a:br/>
            <a:r>
              <a:t>    互补关系</a:t>
            </a:r>
            <a:br/>
            <a:r>
              <a:t>    非替代关系</a:t>
            </a:r>
            <a:br/>
            <a:r>
              <a:t>  </a:t>
            </a:r>
            <a:br/>
            <a:br/>
            <a:br/>
            <a:br/>
            <a:br/>
            <a:br/>
            <a:r>
              <a:t>  </a:t>
            </a:r>
            <a:br/>
            <a:r>
              <a:t>  </a:t>
            </a:r>
            <a:br/>
            <a:r>
              <a:t>    </a:t>
            </a:r>
            <a:br/>
            <a:r>
              <a:t>      🔗</a:t>
            </a:r>
            <a:br/>
            <a:r>
              <a:t>      </a:t>
            </a:r>
            <a:br/>
            <a:r>
              <a:t>        LangChain</a:t>
            </a:r>
            <a:br/>
            <a:r>
              <a:t>        链式调用框架</a:t>
            </a:r>
            <a:br/>
            <a:r>
              <a:t>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  核心定位：顺序链式编排框架，适合线性、可预测的 AI 应用开发场景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  </a:t>
            </a:r>
            <a:br/>
            <a:r>
              <a:t>        ✦</a:t>
            </a:r>
            <a:br/>
            <a:r>
              <a:t>        简单问答、RAG 检索增强生成</a:t>
            </a:r>
            <a:br/>
            <a:r>
              <a:t>      </a:t>
            </a:r>
            <a:br/>
            <a:r>
              <a:t>      </a:t>
            </a:r>
            <a:br/>
            <a:r>
              <a:t>        ✦</a:t>
            </a:r>
            <a:br/>
            <a:r>
              <a:t>        LCEL 声明式链式组合</a:t>
            </a:r>
            <a:br/>
            <a:r>
              <a:t>      </a:t>
            </a:r>
            <a:br/>
            <a:r>
              <a:t>      </a:t>
            </a:r>
            <a:br/>
            <a:r>
              <a:t>        ✦</a:t>
            </a:r>
            <a:br/>
            <a:r>
              <a:t>        丰富的模型与工具集成生态</a:t>
            </a:r>
            <a:br/>
            <a:r>
              <a:t>      </a:t>
            </a:r>
            <a:br/>
            <a:r>
              <a:t>      </a:t>
            </a:r>
            <a:br/>
            <a:r>
              <a:t>        ✦</a:t>
            </a:r>
            <a:br/>
            <a:r>
              <a:t>        快速原型 → 低复杂度生产</a:t>
            </a:r>
            <a:br/>
            <a:r>
              <a:t>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  线性流程</a:t>
            </a:r>
            <a:br/>
            <a:r>
              <a:t>      快速集成</a:t>
            </a:r>
            <a:br/>
            <a:r>
              <a:t>      低学习成本</a:t>
            </a:r>
            <a:br/>
            <a:r>
              <a:t>    </a:t>
            </a:r>
            <a:br/>
            <a:r>
              <a:t>  </a:t>
            </a:r>
            <a:br/>
            <a:br/>
            <a:r>
              <a:t>  </a:t>
            </a:r>
            <a:br/>
            <a:r>
              <a:t>  </a:t>
            </a:r>
            <a:br/>
            <a:r>
              <a:t>    ⚖ 六维对比矩阵</a:t>
            </a:r>
            <a:br/>
            <a:br/>
            <a:r>
              <a:t>    </a:t>
            </a:r>
            <a:br/>
            <a:r>
              <a:t>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对比维度</a:t>
            </a:r>
            <a:br/>
            <a:r>
              <a:t>        LangChain</a:t>
            </a:r>
            <a:br/>
            <a:r>
              <a:t>        LangGraph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执行模型</a:t>
            </a:r>
            <a:br/>
            <a:r>
              <a:t>        </a:t>
            </a:r>
            <a:br/>
            <a:r>
              <a:t>        </a:t>
            </a:r>
            <a:br/>
            <a:r>
              <a:t>          顺序链式</a:t>
            </a:r>
            <a:br/>
            <a:r>
              <a:t>        </a:t>
            </a:r>
            <a:br/>
            <a:r>
              <a:t>        </a:t>
            </a:r>
            <a:br/>
            <a:r>
              <a:t>          图结构DAG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状态管理</a:t>
            </a:r>
            <a:br/>
            <a:r>
              <a:t>        </a:t>
            </a:r>
            <a:br/>
            <a:r>
              <a:t>        有限支持</a:t>
            </a:r>
            <a:br/>
            <a:r>
              <a:t>        </a:t>
            </a:r>
            <a:br/>
            <a:r>
              <a:t>          原生持久化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循环 / 条件</a:t>
            </a:r>
            <a:br/>
            <a:r>
              <a:t>        </a:t>
            </a:r>
            <a:br/>
            <a:r>
              <a:t>        </a:t>
            </a:r>
            <a:br/>
            <a:r>
              <a:t>          ⚠ 受限</a:t>
            </a:r>
            <a:br/>
            <a:r>
              <a:t>        </a:t>
            </a:r>
            <a:br/>
            <a:r>
              <a:t>        </a:t>
            </a:r>
            <a:br/>
            <a:r>
              <a:t>          ✓ 原生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多 Agent 协同</a:t>
            </a:r>
            <a:br/>
            <a:r>
              <a:t>        </a:t>
            </a:r>
            <a:br/>
            <a:r>
              <a:t>        需手动编排</a:t>
            </a:r>
            <a:br/>
            <a:r>
              <a:t>        </a:t>
            </a:r>
            <a:br/>
            <a:r>
              <a:t>          内置支持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Human-in-Loop</a:t>
            </a:r>
            <a:br/>
            <a:r>
              <a:t>        </a:t>
            </a:r>
            <a:br/>
            <a:r>
              <a:t>        不支持</a:t>
            </a:r>
            <a:br/>
            <a:r>
              <a:t>        </a:t>
            </a:r>
            <a:br/>
            <a:r>
              <a:t>          中断/恢复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</a:t>
            </a:r>
            <a:br/>
            <a:r>
              <a:t>          场景复杂度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</a:t>
            </a:r>
            <a:br/>
            <a:r>
              <a:t>        </a:t>
            </a:r>
            <a:br/>
            <a:r>
              <a:t>      </a:t>
            </a:r>
            <a:br/>
            <a:br/>
            <a:r>
              <a:t>    </a:t>
            </a:r>
            <a:br/>
            <a:r>
              <a:t>  </a:t>
            </a:r>
            <a:br/>
            <a:br/>
            <a:r>
              <a:t>  </a:t>
            </a:r>
            <a:br/>
            <a:r>
              <a:t>  </a:t>
            </a:r>
            <a:br/>
            <a:r>
              <a:t>    </a:t>
            </a:r>
            <a:br/>
            <a:r>
              <a:t>      🕸</a:t>
            </a:r>
            <a:br/>
            <a:r>
              <a:t>      </a:t>
            </a:r>
            <a:br/>
            <a:r>
              <a:t>        LangGraph</a:t>
            </a:r>
            <a:br/>
            <a:r>
              <a:t>        图结构编排引擎</a:t>
            </a:r>
            <a:br/>
            <a:r>
              <a:t>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  核心定位：有状态图结构编排引擎，专为复杂多 Agent 协同与动态工作流设计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  </a:t>
            </a:r>
            <a:br/>
            <a:r>
              <a:t>        ✦</a:t>
            </a:r>
            <a:br/>
            <a:r>
              <a:t>        StateGraph + Checkpoint 持久化</a:t>
            </a:r>
            <a:br/>
            <a:r>
              <a:t>      </a:t>
            </a:r>
            <a:br/>
            <a:r>
              <a:t>      </a:t>
            </a:r>
            <a:br/>
            <a:r>
              <a:t>        ✦</a:t>
            </a:r>
            <a:br/>
            <a:r>
              <a:t>        Supervisor/Swarm 多 Agent 模式</a:t>
            </a:r>
            <a:br/>
            <a:r>
              <a:t>      </a:t>
            </a:r>
            <a:br/>
            <a:r>
              <a:t>      </a:t>
            </a:r>
            <a:br/>
            <a:r>
              <a:t>        ✦</a:t>
            </a:r>
            <a:br/>
            <a:r>
              <a:t>        人机协同中断 / 恢复机制</a:t>
            </a:r>
            <a:br/>
            <a:r>
              <a:t>      </a:t>
            </a:r>
            <a:br/>
            <a:r>
              <a:t>      </a:t>
            </a:r>
            <a:br/>
            <a:r>
              <a:t>        ✦</a:t>
            </a:r>
            <a:br/>
            <a:r>
              <a:t>        动态条件路由 + 循环迭代</a:t>
            </a:r>
            <a:br/>
            <a:r>
              <a:t>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  图结构</a:t>
            </a:r>
            <a:br/>
            <a:r>
              <a:t>      多Agent</a:t>
            </a:r>
            <a:br/>
            <a:r>
              <a:t>      企业级</a:t>
            </a:r>
            <a:br/>
            <a:r>
              <a:t>    </a:t>
            </a:r>
            <a:br/>
            <a:r>
              <a:t>  </a:t>
            </a:r>
            <a:br/>
            <a:br/>
            <a:r>
              <a:t>  </a:t>
            </a:r>
            <a:br/>
            <a:r>
              <a:t>  </a:t>
            </a:r>
            <a:br/>
            <a:r>
              <a:t>    </a:t>
            </a:r>
            <a:br/>
            <a:r>
              <a:t>      🎯</a:t>
            </a:r>
            <a:br/>
            <a:r>
              <a:t>      选型决策流程</a:t>
            </a:r>
            <a:br/>
            <a:r>
              <a:t>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需求分析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→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是否需要</a:t>
            </a:r>
            <a:br/>
            <a:r>
              <a:t>        循环 / 条件路由?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否</a:t>
            </a:r>
            <a:br/>
            <a:r>
              <a:t>        →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🔗 选 LangChain</a:t>
            </a:r>
            <a:br/>
            <a:r>
              <a:t>        RAG / 简单链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是</a:t>
            </a:r>
            <a:br/>
            <a:r>
              <a:t>        →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是否多 Agent</a:t>
            </a:r>
            <a:br/>
            <a:r>
              <a:t>        协同 / 需人工审核?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是</a:t>
            </a:r>
            <a:br/>
            <a:r>
              <a:t>        →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🕸 选 LangGraph</a:t>
            </a:r>
            <a:br/>
            <a:r>
              <a:t>        复杂 Agent 系统</a:t>
            </a:r>
            <a:br/>
            <a:r>
              <a:t>      </a:t>
            </a:r>
            <a:br/>
            <a:br/>
            <a:r>
              <a:t>      </a:t>
            </a:r>
            <a:br/>
            <a:r>
              <a:t>      →</a:t>
            </a:r>
            <a:br/>
            <a:br/>
            <a:r>
              <a:t>      </a:t>
            </a:r>
            <a:br/>
            <a:r>
              <a:t>      </a:t>
            </a:r>
            <a:br/>
            <a:r>
              <a:t>        💡 组合使用</a:t>
            </a:r>
            <a:br/>
            <a:r>
              <a:t>        LangChain 作底座</a:t>
            </a:r>
            <a:br/>
            <a:r>
              <a:t>        LangGraph 做编排</a:t>
            </a:r>
            <a:br/>
            <a:r>
              <a:t>      </a:t>
            </a:r>
            <a:br/>
            <a:br/>
            <a:r>
              <a:t>    </a:t>
            </a:r>
            <a:br/>
            <a:r>
              <a:t>  </a:t>
            </a:r>
            <a:br/>
            <a:br/>
            <a:br/>
            <a:br/>
            <a:br/>
            <a:br/>
            <a:r>
              <a:t>  </a:t>
            </a:r>
            <a:br/>
            <a:r>
              <a:t>    </a:t>
            </a:r>
            <a:br/>
            <a:r>
              <a:t>      </a:t>
            </a:r>
            <a:br/>
            <a:r>
              <a:t>      LangChain ── 简单 / 线性 / 快速集成</a:t>
            </a:r>
            <a:br/>
            <a:r>
              <a:t>    </a:t>
            </a:r>
            <a:br/>
            <a:r>
              <a:t>    </a:t>
            </a:r>
            <a:br/>
            <a:r>
              <a:t>      </a:t>
            </a:r>
            <a:br/>
            <a:r>
              <a:t>      LangGraph ── 复杂 / 图结构 / 企业级 Agent</a:t>
            </a:r>
            <a:br/>
            <a:r>
              <a:t>    </a:t>
            </a:r>
            <a:br/>
            <a:r>
              <a:t>    </a:t>
            </a:r>
            <a:br/>
            <a:r>
              <a:t>      </a:t>
            </a:r>
            <a:br/>
            <a:r>
              <a:t>      两者互补 ── 非替代关系</a:t>
            </a:r>
            <a:br/>
            <a:r>
              <a:t>    </a:t>
            </a:r>
            <a:br/>
            <a:r>
              <a:t>  </a:t>
            </a:r>
            <a:br/>
            <a:r>
              <a:t>  p05 · 技术选型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LangGraph 核心概念与架构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构建 LLM 应用的图结构化编排框架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Graph</a:t>
            </a:r>
            <a:br/>
            <a:r>
              <a:t>            整个工作流的容器结构，定义系统的拓扑形态，所有节点和边的元数据存储于此。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●定义工作流拓扑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整个工作流的容器结构，定义系统的拓扑形态，所有节点和边的元数据存储于此。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●管理节点注册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●控制执行流程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State</a:t>
            </a:r>
            <a:br/>
            <a:r>
              <a:t>            跨图执行传递的共享状态对象，采用 TypedDict 规范，支持类型提示和状态聚合。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●跨节点状态传递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●Reducer 状态合并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●类型安全保证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执行逻辑的最小单元，通常是 Python 函数，接收当前状态返回状态更新。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9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●独立执行单元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3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●状态读写操作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7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●支持异步/流式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1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Edge</a:t>
            </a:r>
            <a:br/>
            <a:r>
              <a:t>            定义节点间的连接关系，控制条件分支和循环逻辑。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●条件路由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Edge</a:t>
            </a:r>
            <a:br/>
            <a:r>
              <a:t>            定义节点间的连接关系，控制条件分支和循环逻辑。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89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5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●静态连接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99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●循环控制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03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Graph 容器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State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LLM Node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Tool Node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Edge</a:t>
            </a:r>
            <a:br/>
            <a:r>
              <a:t>                (路由逻辑)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State Update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循环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Checkpointer</a:t>
            </a:r>
            <a:br/>
            <a:r>
              <a:t>                Memory/PG/Redis</a:t>
            </a:r>
            <a:br/>
            <a:r>
              <a:t>                时间旅行与恢复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组件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Edge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循环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代码示例</a:t>
            </a:r>
            <a:br/>
            <a:r>
              <a:t>                from langgraph.graph import StateGraph</a:t>
            </a:r>
            <a:br/>
            <a:r>
              <a:t>from langgraph.checkpoint import Memory</a:t>
            </a:r>
            <a:br/>
            <a:br/>
            <a:r>
              <a:t># 定义状态</a:t>
            </a:r>
            <a:br/>
            <a:r>
              <a:t>class State(TypedDict):</a:t>
            </a:r>
            <a:br/>
            <a:r>
              <a:t>    messages: list</a:t>
            </a:r>
            <a:br/>
            <a:br/>
            <a:r>
              <a:t># 创建图</a:t>
            </a:r>
            <a:br/>
            <a:r>
              <a:t>graph = StateGraph(State)</a:t>
            </a:r>
            <a:br/>
            <a:r>
              <a:t>graph.add_node("llm", llm_node)</a:t>
            </a:r>
            <a:br/>
            <a:r>
              <a:t>graph.add_edge(START, "llm")</a:t>
            </a:r>
            <a:br/>
            <a:r>
              <a:t>app = graph.compile(</a:t>
            </a:r>
            <a:br/>
            <a:r>
              <a:t>    checkpointer=Memory()</a:t>
            </a:r>
            <a:br/>
            <a:r>
              <a:t>)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</a:t>
            </a:r>
            <a:br/>
            <a:r>
              <a:t>                典型应用场景</a:t>
            </a:r>
            <a:br/>
            <a:r>
              <a:t>                </a:t>
            </a:r>
            <a:br/>
            <a:r>
              <a:t>                    多轮对话</a:t>
            </a:r>
            <a:br/>
            <a:r>
              <a:t>                    Agent 编排</a:t>
            </a:r>
            <a:br/>
            <a:r>
              <a:t>                    RAG 流水线</a:t>
            </a:r>
            <a:br/>
            <a:r>
              <a:t>                    工具调用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</a:t>
            </a:r>
            <a:br/>
            <a:r>
              <a:t>        </a:t>
            </a:r>
            <a:br/>
            <a:r>
              <a:t>            LangGraph 以 </a:t>
            </a:r>
            <a:br/>
            <a:r>
              <a:t>            Graph </a:t>
            </a:r>
            <a:br/>
            <a:r>
              <a:t>            为建模工具，通过 </a:t>
            </a:r>
            <a:br/>
            <a:r>
              <a:t>            StateGraph </a:t>
            </a:r>
            <a:br/>
            <a:r>
              <a:t>            管理状态流，Node </a:t>
            </a:r>
            <a:br/>
            <a:r>
              <a:t>            定义处理单元，</a:t>
            </a:r>
            <a:br/>
            <a:r>
              <a:t>            Edge </a:t>
            </a:r>
            <a:br/>
            <a:r>
              <a:t>            控制流转逻辑，支持 </a:t>
            </a:r>
            <a:br/>
            <a:r>
              <a:t>            Checkpointer </a:t>
            </a:r>
            <a:br/>
            <a:r>
              <a:t>            实现时间旅行与恢复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StateGraph 状态管理模式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深入理解 LangGraph 中的状态管理机制与Reducer模式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状态持久化核心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StateGraph 是 LangGraph 的核心组件，通过单一共享状态对象协调多个节点的执行。每个节点可以读取状态并返回更新操作，由Reducer决定如何合并这些更新。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Reducer 合并策略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Reducer 是状态更新的核心逻辑函数，决定多个节点返回的值如何合并到共享状态中。默认策略是覆盖更新，也可自定义列表追加或其他复杂逻辑。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状态更新流程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默认行为，新值直接覆盖旧值。适用于单值字段如 context、current_node 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使用 operator.add 合并列表，新元素追加到末尾。适用于 messages、history 等列表字段。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自定义合并逻辑，可实现去重、排序、条件过滤等复杂操作。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00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核心特性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Checkpoint 持久化机制详解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完整状态快照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会话隔离标识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版本快照记录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检索配置信息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注意：MemorySaver 进程重启后数据丢失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Streaming 流式输出与 Interrupt 中断机制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Streaming 流式输出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核心价值：实时逐Token输出，大幅降低感知延迟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Interrupt 中断机制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核心价值：支持Human-in-the-Loop，实现人工干预与审批流程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Multi-Agent 架构模式概览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四种主流协作范式深度解析 — 通过多个专业化 Agent 协同工作，解决复杂任务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:root {</a:t>
            </a:r>
            <a:br/>
            <a:r>
              <a:t>            --primary: #0066ff;</a:t>
            </a:r>
            <a:br/>
            <a:r>
              <a:t>            --primary-dark: #0052cc;</a:t>
            </a:r>
            <a:br/>
            <a:r>
              <a:t>            --secondary: #00d4ff;</a:t>
            </a:r>
            <a:br/>
            <a:r>
              <a:t>            --accent: #00ff88;</a:t>
            </a:r>
            <a:br/>
            <a:r>
              <a:t>            --bg-dark: #0a0e27;</a:t>
            </a:r>
            <a:br/>
            <a:r>
              <a:t>            --bg-card: rgba(255, 255, 255, 0.05);</a:t>
            </a:r>
            <a:br/>
            <a:r>
              <a:t>            --text: #e8eaed;</a:t>
            </a:r>
            <a:br/>
            <a:r>
              <a:t>            --text-muted: #9aa0a6;</a:t>
            </a:r>
            <a:br/>
            <a:r>
              <a:t>            --border: rgba(255, 255, 255, 0.1);</a:t>
            </a:r>
            <a:br/>
            <a:r>
              <a:t>        }</a:t>
            </a:r>
            <a:br/>
            <a:br/>
            <a:r>
              <a:t>        * { box-sizing: border-box; margin: 0; padding: 0; }</a:t>
            </a:r>
            <a:br/>
            <a:r>
              <a:t>        </a:t>
            </a:r>
            <a:br/>
            <a:r>
              <a:t>        body {</a:t>
            </a:r>
            <a:br/>
            <a:r>
              <a:t>            font-family: 'Inter', -apple-system, BlinkMacSystemFont, sans-serif;</a:t>
            </a:r>
            <a:br/>
            <a:r>
              <a:t>            background: var(--bg-dark);</a:t>
            </a:r>
            <a:br/>
            <a:r>
              <a:t>            color: var(--text);</a:t>
            </a:r>
            <a:br/>
            <a:r>
              <a:t>            min-height: 100vh;</a:t>
            </a:r>
            <a:br/>
            <a:r>
              <a:t>            overflow-x: hidden;</a:t>
            </a:r>
            <a:br/>
            <a:r>
              <a:t>        }</a:t>
            </a:r>
            <a:br/>
            <a:br/>
            <a:r>
              <a:t>        .reveal .slides { text-align: left; }</a:t>
            </a:r>
            <a:br/>
            <a:r>
              <a:t>        .reveal .slides section { padding: 40px 60px; }</a:t>
            </a:r>
            <a:br/>
            <a:br/>
            <a:r>
              <a:t>        .page-header {</a:t>
            </a:r>
            <a:br/>
            <a:r>
              <a:t>            background: linear-gradient(135deg, var(--bg-dark) 0%, #1a1f4e 100%);</a:t>
            </a:r>
            <a:br/>
            <a:r>
              <a:t>            border-bottom: 1px solid var(--border);</a:t>
            </a:r>
            <a:br/>
            <a:r>
              <a:t>            padding: 30px 60px;</a:t>
            </a:r>
            <a:br/>
            <a:r>
              <a:t>            position: relative;</a:t>
            </a:r>
            <a:br/>
            <a:r>
              <a:t>            overflow: hidden;</a:t>
            </a:r>
            <a:br/>
            <a:r>
              <a:t>        }</a:t>
            </a:r>
            <a:br/>
            <a:br/>
            <a:r>
              <a:t>        .page-header::before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top: 0;</a:t>
            </a:r>
            <a:br/>
            <a:r>
              <a:t>            left: 0;</a:t>
            </a:r>
            <a:br/>
            <a:r>
              <a:t>            right: 0;</a:t>
            </a:r>
            <a:br/>
            <a:r>
              <a:t>            height: 3px;</a:t>
            </a:r>
            <a:br/>
            <a:r>
              <a:t>            background: linear-gradient(90deg, var(--primary), var(--secondary), var(--accent));</a:t>
            </a:r>
            <a:br/>
            <a:r>
              <a:t>        }</a:t>
            </a:r>
            <a:br/>
            <a:br/>
            <a:r>
              <a:t>        .page-header::after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top: -50%;</a:t>
            </a:r>
            <a:br/>
            <a:r>
              <a:t>            right: -10%;</a:t>
            </a:r>
            <a:br/>
            <a:r>
              <a:t>            width: 400px;</a:t>
            </a:r>
            <a:br/>
            <a:r>
              <a:t>            height: 400px;</a:t>
            </a:r>
            <a:br/>
            <a:r>
              <a:t>            background: radial-gradient(circle, rgba(0, 102, 255, 0.15) 0%, transparent 70%);</a:t>
            </a:r>
            <a:br/>
            <a:r>
              <a:t>            pointer-events: none;</a:t>
            </a:r>
            <a:br/>
            <a:r>
              <a:t>        }</a:t>
            </a:r>
            <a:br/>
            <a:br/>
            <a:r>
              <a:t>        .breadcrumb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10px;</a:t>
            </a:r>
            <a:br/>
            <a:r>
              <a:t>            font-size: 14px;</a:t>
            </a:r>
            <a:br/>
            <a:r>
              <a:t>            color: var(--text-muted);</a:t>
            </a:r>
            <a:br/>
            <a:r>
              <a:t>            margin-bottom: 15px;</a:t>
            </a:r>
            <a:br/>
            <a:r>
              <a:t>        }</a:t>
            </a:r>
            <a:br/>
            <a:br/>
            <a:r>
              <a:t>        .breadcrumb a {</a:t>
            </a:r>
            <a:br/>
            <a:r>
              <a:t>            color: var(--secondary);</a:t>
            </a:r>
            <a:br/>
            <a:r>
              <a:t>            text-decoration: none;</a:t>
            </a:r>
            <a:br/>
            <a:r>
              <a:t>            transition: color 0.3s;</a:t>
            </a:r>
            <a:br/>
            <a:r>
              <a:t>        }</a:t>
            </a:r>
            <a:br/>
            <a:br/>
            <a:r>
              <a:t>        .breadcrumb a:hover { color: var(--accent); }</a:t>
            </a:r>
            <a:br/>
            <a:r>
              <a:t>        .breadcrumb i { font-size: 8px; }</a:t>
            </a:r>
            <a:br/>
            <a:br/>
            <a:r>
              <a:t>        h1.page-title {</a:t>
            </a:r>
            <a:br/>
            <a:r>
              <a:t>            font-size: 2.2em;</a:t>
            </a:r>
            <a:br/>
            <a:r>
              <a:t>            font-weight: 700;</a:t>
            </a:r>
            <a:br/>
            <a:r>
              <a:t>            margin-bottom: 10px;</a:t>
            </a:r>
            <a:br/>
            <a:r>
              <a:t>            background: linear-gradient(135deg, #fff 0%, var(--secondary) 100%);</a:t>
            </a:r>
            <a:br/>
            <a:r>
              <a:t>            -webkit-background-clip: text;</a:t>
            </a:r>
            <a:br/>
            <a:r>
              <a:t>            -webkit-text-fill-color: transparent;</a:t>
            </a:r>
            <a:br/>
            <a:r>
              <a:t>            background-clip: text;</a:t>
            </a:r>
            <a:br/>
            <a:r>
              <a:t>        }</a:t>
            </a:r>
            <a:br/>
            <a:br/>
            <a:r>
              <a:t>        .page-subtitle {</a:t>
            </a:r>
            <a:br/>
            <a:r>
              <a:t>            font-size: 1.1em;</a:t>
            </a:r>
            <a:br/>
            <a:r>
              <a:t>            color: var(--text-muted);</a:t>
            </a:r>
            <a:br/>
            <a:r>
              <a:t>            font-weight: 400;</a:t>
            </a:r>
            <a:br/>
            <a:r>
              <a:t>        }</a:t>
            </a:r>
            <a:br/>
            <a:br/>
            <a:r>
              <a:t>        .content-wrapper {</a:t>
            </a:r>
            <a:br/>
            <a:r>
              <a:t>            max-width: 1400px;</a:t>
            </a:r>
            <a:br/>
            <a:r>
              <a:t>            margin: 0 auto;</a:t>
            </a:r>
            <a:br/>
            <a:r>
              <a:t>            padding: 40px 60px;</a:t>
            </a:r>
            <a:br/>
            <a:r>
              <a:t>        }</a:t>
            </a:r>
            <a:br/>
            <a:br/>
            <a:r>
              <a:t>        .section-title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12px;</a:t>
            </a:r>
            <a:br/>
            <a:r>
              <a:t>            font-size: 1.4em;</a:t>
            </a:r>
            <a:br/>
            <a:r>
              <a:t>            font-weight: 600;</a:t>
            </a:r>
            <a:br/>
            <a:r>
              <a:t>            margin-bottom: 25px;</a:t>
            </a:r>
            <a:br/>
            <a:r>
              <a:t>            color: #fff;</a:t>
            </a:r>
            <a:br/>
            <a:r>
              <a:t>        }</a:t>
            </a:r>
            <a:br/>
            <a:br/>
            <a:r>
              <a:t>        .section-title i {</a:t>
            </a:r>
            <a:br/>
            <a:r>
              <a:t>            width: 36px;</a:t>
            </a:r>
            <a:br/>
            <a:r>
              <a:t>            height: 36px;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background: linear-gradient(135deg, var(--primary), var(--secondary));</a:t>
            </a:r>
            <a:br/>
            <a:r>
              <a:t>            border-radius: 8px;</a:t>
            </a:r>
            <a:br/>
            <a:r>
              <a:t>            font-size: 16px;</a:t>
            </a:r>
            <a:br/>
            <a:r>
              <a:t>        }</a:t>
            </a:r>
            <a:br/>
            <a:br/>
            <a:r>
              <a:t>        /* 架构卡片 */</a:t>
            </a:r>
            <a:br/>
            <a:r>
              <a:t>        .architecture-grid {</a:t>
            </a:r>
            <a:br/>
            <a:r>
              <a:t>            display: grid;</a:t>
            </a:r>
            <a:br/>
            <a:r>
              <a:t>            grid-template-columns: 1fr 1fr 1fr;</a:t>
            </a:r>
            <a:br/>
            <a:r>
              <a:t>            gap: 20px;</a:t>
            </a:r>
            <a:br/>
            <a:r>
              <a:t>            margin-bottom: 40px;</a:t>
            </a:r>
            <a:br/>
            <a:r>
              <a:t>        }</a:t>
            </a:r>
            <a:br/>
            <a:br/>
            <a:r>
              <a:t>        .arch-card {</a:t>
            </a:r>
            <a:br/>
            <a:r>
              <a:t>            background: var(--bg-card);</a:t>
            </a:r>
            <a:br/>
            <a:r>
              <a:t>            border: 1px solid var(--border);</a:t>
            </a:r>
            <a:br/>
            <a:r>
              <a:t>            border-radius: 12px;</a:t>
            </a:r>
            <a:br/>
            <a:r>
              <a:t>            padding: 24px;</a:t>
            </a:r>
            <a:br/>
            <a:r>
              <a:t>            position: relative;</a:t>
            </a:r>
            <a:br/>
            <a:r>
              <a:t>            transition: all 0.3s ease;</a:t>
            </a:r>
            <a:br/>
            <a:r>
              <a:t>        }</a:t>
            </a:r>
            <a:br/>
            <a:br/>
            <a:r>
              <a:t>        .arch-card:hover {</a:t>
            </a:r>
            <a:br/>
            <a:r>
              <a:t>            border-color: var(--primary);</a:t>
            </a:r>
            <a:br/>
            <a:r>
              <a:t>            transform: translateY(-3px);</a:t>
            </a:r>
            <a:br/>
            <a:r>
              <a:t>            box-shadow: 0 10px 30px rgba(0, 102, 255, 0.2);</a:t>
            </a:r>
            <a:br/>
            <a:r>
              <a:t>        }</a:t>
            </a:r>
            <a:br/>
            <a:br/>
            <a:r>
              <a:t>        .arch-card.supervisor {</a:t>
            </a:r>
            <a:br/>
            <a:r>
              <a:t>            border-color: var(--accent);</a:t>
            </a:r>
            <a:br/>
            <a:r>
              <a:t>            background: linear-gradient(135deg, rgba(0, 255, 136, 0.1) 0%, transparent 100%);</a:t>
            </a:r>
            <a:br/>
            <a:r>
              <a:t>        }</a:t>
            </a:r>
            <a:br/>
            <a:br/>
            <a:r>
              <a:t>        .arch-card-header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12px;</a:t>
            </a:r>
            <a:br/>
            <a:r>
              <a:t>            margin-bottom: 16px;</a:t>
            </a:r>
            <a:br/>
            <a:r>
              <a:t>        }</a:t>
            </a:r>
            <a:br/>
            <a:br/>
            <a:r>
              <a:t>        .arch-icon {</a:t>
            </a:r>
            <a:br/>
            <a:r>
              <a:t>            width: 48px;</a:t>
            </a:r>
            <a:br/>
            <a:r>
              <a:t>            height: 48px;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background: linear-gradient(135deg, var(--primary), var(--secondary));</a:t>
            </a:r>
            <a:br/>
            <a:r>
              <a:t>            border-radius: 10px;</a:t>
            </a:r>
            <a:br/>
            <a:r>
              <a:t>            font-size: 20px;</a:t>
            </a:r>
            <a:br/>
            <a:r>
              <a:t>        }</a:t>
            </a:r>
            <a:br/>
            <a:br/>
            <a:r>
              <a:t>        .arch-card.supervisor .arch-icon {</a:t>
            </a:r>
            <a:br/>
            <a:r>
              <a:t>            background: linear-gradient(135deg, var(--accent), #00cc6a);</a:t>
            </a:r>
            <a:br/>
            <a:r>
              <a:t>        }</a:t>
            </a:r>
            <a:br/>
            <a:br/>
            <a:r>
              <a:t>        .arch-title {</a:t>
            </a:r>
            <a:br/>
            <a:r>
              <a:t>            font-size: 1.1em;</a:t>
            </a:r>
            <a:br/>
            <a:r>
              <a:t>            font-weight: 600;</a:t>
            </a:r>
            <a:br/>
            <a:r>
              <a:t>            color: #fff;</a:t>
            </a:r>
            <a:br/>
            <a:r>
              <a:t>        }</a:t>
            </a:r>
            <a:br/>
            <a:br/>
            <a:r>
              <a:t>        .arch-subtitle {</a:t>
            </a:r>
            <a:br/>
            <a:r>
              <a:t>            font-size: 0.85em;</a:t>
            </a:r>
            <a:br/>
            <a:r>
              <a:t>            color: var(--text-muted);</a:t>
            </a:r>
            <a:br/>
            <a:r>
              <a:t>        }</a:t>
            </a:r>
            <a:br/>
            <a:br/>
            <a:r>
              <a:t>        .arch-description {</a:t>
            </a:r>
            <a:br/>
            <a:r>
              <a:t>            font-size: 0.9em;</a:t>
            </a:r>
            <a:br/>
            <a:r>
              <a:t>            color: var(--text-muted);</a:t>
            </a:r>
            <a:br/>
            <a:r>
              <a:t>            line-height: 1.6;</a:t>
            </a:r>
            <a:br/>
            <a:r>
              <a:t>        }</a:t>
            </a:r>
            <a:br/>
            <a:br/>
            <a:r>
              <a:t>        .arch-features {</a:t>
            </a:r>
            <a:br/>
            <a:r>
              <a:t>            margin-top: 16px;</a:t>
            </a:r>
            <a:br/>
            <a:r>
              <a:t>            display: flex;</a:t>
            </a:r>
            <a:br/>
            <a:r>
              <a:t>            flex-wrap: wrap;</a:t>
            </a:r>
            <a:br/>
            <a:r>
              <a:t>            gap: 8px;</a:t>
            </a:r>
            <a:br/>
            <a:r>
              <a:t>        }</a:t>
            </a:r>
            <a:br/>
            <a:br/>
            <a:r>
              <a:t>        .feature-tag {</a:t>
            </a:r>
            <a:br/>
            <a:r>
              <a:t>            padding: 4px 10px;</a:t>
            </a:r>
            <a:br/>
            <a:r>
              <a:t>            background: rgba(0, 102, 255, 0.2);</a:t>
            </a:r>
            <a:br/>
            <a:r>
              <a:t>            border-radius: 20px;</a:t>
            </a:r>
            <a:br/>
            <a:r>
              <a:t>            font-size: 0.75em;</a:t>
            </a:r>
            <a:br/>
            <a:r>
              <a:t>            color: var(--secondary);</a:t>
            </a:r>
            <a:br/>
            <a:r>
              <a:t>        }</a:t>
            </a:r>
            <a:br/>
            <a:br/>
            <a:r>
              <a:t>        .arch-card.supervisor .feature-tag {</a:t>
            </a:r>
            <a:br/>
            <a:r>
              <a:t>            background: rgba(0, 255, 136, 0.2);</a:t>
            </a:r>
            <a:br/>
            <a:r>
              <a:t>            color: var(--accent);</a:t>
            </a:r>
            <a:br/>
            <a:r>
              <a:t>        }</a:t>
            </a:r>
            <a:br/>
            <a:br/>
            <a:r>
              <a:t>        /* 流程图 */</a:t>
            </a:r>
            <a:br/>
            <a:r>
              <a:t>        .flow-diagram {</a:t>
            </a:r>
            <a:br/>
            <a:r>
              <a:t>            background: var(--bg-card);</a:t>
            </a:r>
            <a:br/>
            <a:r>
              <a:t>            border: 1px solid var(--border);</a:t>
            </a:r>
            <a:br/>
            <a:r>
              <a:t>            border-radius: 12px;</a:t>
            </a:r>
            <a:br/>
            <a:r>
              <a:t>            padding: 30px;</a:t>
            </a:r>
            <a:br/>
            <a:r>
              <a:t>            margin-bottom: 40px;</a:t>
            </a:r>
            <a:br/>
            <a:r>
              <a:t>            overflow-x: auto;</a:t>
            </a:r>
            <a:br/>
            <a:r>
              <a:t>        }</a:t>
            </a:r>
            <a:br/>
            <a:br/>
            <a:r>
              <a:t>        .flow-container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gap: 15px;</a:t>
            </a:r>
            <a:br/>
            <a:r>
              <a:t>            min-width: 900px;</a:t>
            </a:r>
            <a:br/>
            <a:r>
              <a:t>        }</a:t>
            </a:r>
            <a:br/>
            <a:br/>
            <a:r>
              <a:t>        .flow-node {</a:t>
            </a:r>
            <a:br/>
            <a:r>
              <a:t>            padding: 15px 20px;</a:t>
            </a:r>
            <a:br/>
            <a:r>
              <a:t>            background: rgba(0, 102, 255, 0.15);</a:t>
            </a:r>
            <a:br/>
            <a:r>
              <a:t>            border: 2px solid var(--primary);</a:t>
            </a:r>
            <a:br/>
            <a:r>
              <a:t>            border-radius: 10px;</a:t>
            </a:r>
            <a:br/>
            <a:r>
              <a:t>            text-align: center;</a:t>
            </a:r>
            <a:br/>
            <a:r>
              <a:t>            min-width: 120px;</a:t>
            </a:r>
            <a:br/>
            <a:r>
              <a:t>        }</a:t>
            </a:r>
            <a:br/>
            <a:br/>
            <a:r>
              <a:t>        .flow-node.supervisor {</a:t>
            </a:r>
            <a:br/>
            <a:r>
              <a:t>            background: rgba(0, 255, 136, 0.15);</a:t>
            </a:r>
            <a:br/>
            <a:r>
              <a:t>            border-color: var(--accent);</a:t>
            </a:r>
            <a:br/>
            <a:r>
              <a:t>        }</a:t>
            </a:r>
            <a:br/>
            <a:br/>
            <a:r>
              <a:t>        .flow-node.worker {</a:t>
            </a:r>
            <a:br/>
            <a:r>
              <a:t>            background: rgba(0, 212, 255, 0.15);</a:t>
            </a:r>
            <a:br/>
            <a:r>
              <a:t>            border-color: var(--secondary);</a:t>
            </a:r>
            <a:br/>
            <a:r>
              <a:t>        }</a:t>
            </a:r>
            <a:br/>
            <a:br/>
            <a:r>
              <a:t>        .flow-node i {</a:t>
            </a:r>
            <a:br/>
            <a:r>
              <a:t>            font-size: 24px;</a:t>
            </a:r>
            <a:br/>
            <a:r>
              <a:t>            margin-bottom: 8px;</a:t>
            </a:r>
            <a:br/>
            <a:r>
              <a:t>            display: block;</a:t>
            </a:r>
            <a:br/>
            <a:r>
              <a:t>        }</a:t>
            </a:r>
            <a:br/>
            <a:br/>
            <a:r>
              <a:t>        .flow-node.supervisor i { color: var(--accent); }</a:t>
            </a:r>
            <a:br/>
            <a:r>
              <a:t>        .flow-node.worker i { color: var(--secondary); }</a:t>
            </a:r>
            <a:br/>
            <a:br/>
            <a:r>
              <a:t>        .flow-node span {</a:t>
            </a:r>
            <a:br/>
            <a:r>
              <a:t>            display: block;</a:t>
            </a:r>
            <a:br/>
            <a:r>
              <a:t>            font-size: 0.85em;</a:t>
            </a:r>
            <a:br/>
            <a:r>
              <a:t>            font-weight: 500;</a:t>
            </a:r>
            <a:br/>
            <a:r>
              <a:t>        }</a:t>
            </a:r>
            <a:br/>
            <a:br/>
            <a:r>
              <a:t>        .flow-arrow {</a:t>
            </a:r>
            <a:br/>
            <a:r>
              <a:t>            color: var(--text-muted);</a:t>
            </a:r>
            <a:br/>
            <a:r>
              <a:t>            font-size: 20px;</a:t>
            </a:r>
            <a:br/>
            <a:r>
              <a:t>        }</a:t>
            </a:r>
            <a:br/>
            <a:br/>
            <a:r>
              <a:t>        /* 代码块 */</a:t>
            </a:r>
            <a:br/>
            <a:r>
              <a:t>        .code-section {</a:t>
            </a:r>
            <a:br/>
            <a:r>
              <a:t>            display: grid;</a:t>
            </a:r>
            <a:br/>
            <a:r>
              <a:t>            grid-template-columns: 1fr 1fr;</a:t>
            </a:r>
            <a:br/>
            <a:r>
              <a:t>            gap: 25px;</a:t>
            </a:r>
            <a:br/>
            <a:r>
              <a:t>            margin-bottom: 40px;</a:t>
            </a:r>
            <a:br/>
            <a:r>
              <a:t>        }</a:t>
            </a:r>
            <a:br/>
            <a:br/>
            <a:r>
              <a:t>        .code-block {</a:t>
            </a:r>
            <a:br/>
            <a:r>
              <a:t>            background: #1e1e1e;</a:t>
            </a:r>
            <a:br/>
            <a:r>
              <a:t>            border-radius: 12px;</a:t>
            </a:r>
            <a:br/>
            <a:r>
              <a:t>            overflow: hidden;</a:t>
            </a:r>
            <a:br/>
            <a:r>
              <a:t>            border: 1px solid var(--border);</a:t>
            </a:r>
            <a:br/>
            <a:r>
              <a:t>        }</a:t>
            </a:r>
            <a:br/>
            <a:br/>
            <a:r>
              <a:t>        .code-header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space-between;</a:t>
            </a:r>
            <a:br/>
            <a:r>
              <a:t>            padding: 12px 16px;</a:t>
            </a:r>
            <a:br/>
            <a:r>
              <a:t>            background: rgba(255, 255, 255, 0.03);</a:t>
            </a:r>
            <a:br/>
            <a:r>
              <a:t>            border-bottom: 1px solid var(--border);</a:t>
            </a:r>
            <a:br/>
            <a:r>
              <a:t>        }</a:t>
            </a:r>
            <a:br/>
            <a:br/>
            <a:r>
              <a:t>        .code-title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8px;</a:t>
            </a:r>
            <a:br/>
            <a:r>
              <a:t>            font-size: 0.85em;</a:t>
            </a:r>
            <a:br/>
            <a:r>
              <a:t>            color: var(--text-muted);</a:t>
            </a:r>
            <a:br/>
            <a:r>
              <a:t>        }</a:t>
            </a:r>
            <a:br/>
            <a:br/>
            <a:r>
              <a:t>        .code-title i { color: var(--secondary); }</a:t>
            </a:r>
            <a:br/>
            <a:br/>
            <a:r>
              <a:t>        .code-dots {</a:t>
            </a:r>
            <a:br/>
            <a:r>
              <a:t>            display: flex;</a:t>
            </a:r>
            <a:br/>
            <a:r>
              <a:t>            gap: 6px;</a:t>
            </a:r>
            <a:br/>
            <a:r>
              <a:t>        }</a:t>
            </a:r>
            <a:br/>
            <a:br/>
            <a:r>
              <a:t>        .code-dots span {</a:t>
            </a:r>
            <a:br/>
            <a:r>
              <a:t>            width: 12px;</a:t>
            </a:r>
            <a:br/>
            <a:r>
              <a:t>            height: 12px;</a:t>
            </a:r>
            <a:br/>
            <a:r>
              <a:t>            border-radius: 50%;</a:t>
            </a:r>
            <a:br/>
            <a:r>
              <a:t>        }</a:t>
            </a:r>
            <a:br/>
            <a:br/>
            <a:r>
              <a:t>        .code-dots span:nth-child(1) { background: #ff5f56; }</a:t>
            </a:r>
            <a:br/>
            <a:r>
              <a:t>        .code-dots span:nth-child(2) { background: #ffbd2e; }</a:t>
            </a:r>
            <a:br/>
            <a:r>
              <a:t>        .code-dots span:nth-child(3) { background: #27ca40; }</a:t>
            </a:r>
            <a:br/>
            <a:br/>
            <a:r>
              <a:t>        .code-content {</a:t>
            </a:r>
            <a:br/>
            <a:r>
              <a:t>            padding: 20px;</a:t>
            </a:r>
            <a:br/>
            <a:r>
              <a:t>            overflow-x: auto;</a:t>
            </a:r>
            <a:br/>
            <a:r>
              <a:t>            font-family: 'JetBrains Mono', 'Fira Code', monospace;</a:t>
            </a:r>
            <a:br/>
            <a:r>
              <a:t>            font-size: 0.8em;</a:t>
            </a:r>
            <a:br/>
            <a:r>
              <a:t>            line-height: 1.7;</a:t>
            </a:r>
            <a:br/>
            <a:r>
              <a:t>        }</a:t>
            </a:r>
            <a:br/>
            <a:br/>
            <a:r>
              <a:t>        .code-content pre {</a:t>
            </a:r>
            <a:br/>
            <a:r>
              <a:t>            margin: 0;</a:t>
            </a:r>
            <a:br/>
            <a:r>
              <a:t>            background: transparent;</a:t>
            </a:r>
            <a:br/>
            <a:r>
              <a:t>        }</a:t>
            </a:r>
            <a:br/>
            <a:br/>
            <a:r>
              <a:t>        .code-content code {</a:t>
            </a:r>
            <a:br/>
            <a:r>
              <a:t>            font-family: inherit;</a:t>
            </a:r>
            <a:br/>
            <a:r>
              <a:t>        }</a:t>
            </a:r>
            <a:br/>
            <a:br/>
            <a:r>
              <a:t>        /* 语法高亮 */</a:t>
            </a:r>
            <a:br/>
            <a:r>
              <a:t>        .keyword { color: #c678dd; }</a:t>
            </a:r>
            <a:br/>
            <a:r>
              <a:t>        .function { color: #61afef; }</a:t>
            </a:r>
            <a:br/>
            <a:r>
              <a:t>        .string { color: #98c379; }</a:t>
            </a:r>
            <a:br/>
            <a:r>
              <a:t>        .comment { color: #5c6370; font-style: italic; }</a:t>
            </a:r>
            <a:br/>
            <a:r>
              <a:t>        .number { color: #d19a66; }</a:t>
            </a:r>
            <a:br/>
            <a:r>
              <a:t>        .operator { color: #56b6c2; }</a:t>
            </a:r>
            <a:br/>
            <a:r>
              <a:t>        .variable { color: #e06c75; }</a:t>
            </a:r>
            <a:br/>
            <a:r>
              <a:t>        .property { color: #e5c07b; }</a:t>
            </a:r>
            <a:br/>
            <a:r>
              <a:t>        .class { color: #e5c07b; }</a:t>
            </a:r>
            <a:br/>
            <a:br/>
            <a:r>
              <a:t>        /* 特性列表 */</a:t>
            </a:r>
            <a:br/>
            <a:r>
              <a:t>        .features-grid {</a:t>
            </a:r>
            <a:br/>
            <a:r>
              <a:t>            display: grid;</a:t>
            </a:r>
            <a:br/>
            <a:r>
              <a:t>            grid-template-columns: repeat(4, 1fr);</a:t>
            </a:r>
            <a:br/>
            <a:r>
              <a:t>            gap: 20px;</a:t>
            </a:r>
            <a:br/>
            <a:r>
              <a:t>            margin-bottom: 40px;</a:t>
            </a:r>
            <a:br/>
            <a:r>
              <a:t>        }</a:t>
            </a:r>
            <a:br/>
            <a:br/>
            <a:r>
              <a:t>        .feature-item {</a:t>
            </a:r>
            <a:br/>
            <a:r>
              <a:t>            background: var(--bg-card);</a:t>
            </a:r>
            <a:br/>
            <a:r>
              <a:t>            border: 1px solid var(--border);</a:t>
            </a:r>
            <a:br/>
            <a:r>
              <a:t>            border-radius: 10px;</a:t>
            </a:r>
            <a:br/>
            <a:r>
              <a:t>            padding: 20px;</a:t>
            </a:r>
            <a:br/>
            <a:r>
              <a:t>            text-align: center;</a:t>
            </a:r>
            <a:br/>
            <a:r>
              <a:t>            transition: all 0.3s ease;</a:t>
            </a:r>
            <a:br/>
            <a:r>
              <a:t>        }</a:t>
            </a:r>
            <a:br/>
            <a:br/>
            <a:r>
              <a:t>        .feature-item:hover {</a:t>
            </a:r>
            <a:br/>
            <a:r>
              <a:t>            border-color: var(--primary);</a:t>
            </a:r>
            <a:br/>
            <a:r>
              <a:t>            transform: translateY(-2px);</a:t>
            </a:r>
            <a:br/>
            <a:r>
              <a:t>        }</a:t>
            </a:r>
            <a:br/>
            <a:br/>
            <a:r>
              <a:t>        .feature-item i {</a:t>
            </a:r>
            <a:br/>
            <a:r>
              <a:t>            font-size: 28px;</a:t>
            </a:r>
            <a:br/>
            <a:r>
              <a:t>            margin-bottom: 12px;</a:t>
            </a:r>
            <a:br/>
            <a:r>
              <a:t>            color: var(--secondary);</a:t>
            </a:r>
            <a:br/>
            <a:r>
              <a:t>        }</a:t>
            </a:r>
            <a:br/>
            <a:br/>
            <a:r>
              <a:t>        .feature-item h4 {</a:t>
            </a:r>
            <a:br/>
            <a:r>
              <a:t>            font-size: 1em;</a:t>
            </a:r>
            <a:br/>
            <a:r>
              <a:t>            margin-bottom: 8px;</a:t>
            </a:r>
            <a:br/>
            <a:r>
              <a:t>            color: #fff;</a:t>
            </a:r>
            <a:br/>
            <a:r>
              <a:t>        }</a:t>
            </a:r>
            <a:br/>
            <a:br/>
            <a:r>
              <a:t>        .feature-item p {</a:t>
            </a:r>
            <a:br/>
            <a:r>
              <a:t>            font-size: 0.8em;</a:t>
            </a:r>
            <a:br/>
            <a:r>
              <a:t>            color: var(--text-muted);</a:t>
            </a:r>
            <a:br/>
            <a:r>
              <a:t>            line-height: 1.5;</a:t>
            </a:r>
            <a:br/>
            <a:r>
              <a:t>        }</a:t>
            </a:r>
            <a:br/>
            <a:br/>
            <a:r>
              <a:t>        /* 使用场景 */</a:t>
            </a:r>
            <a:br/>
            <a:r>
              <a:t>        .use-cases {</a:t>
            </a:r>
            <a:br/>
            <a:r>
              <a:t>            display: grid;</a:t>
            </a:r>
            <a:br/>
            <a:r>
              <a:t>            grid-template-columns: 1fr 1fr;</a:t>
            </a:r>
            <a:br/>
            <a:r>
              <a:t>            gap: 25px;</a:t>
            </a:r>
            <a:br/>
            <a:r>
              <a:t>            margin-bottom: 40px;</a:t>
            </a:r>
            <a:br/>
            <a:r>
              <a:t>        }</a:t>
            </a:r>
            <a:br/>
            <a:br/>
            <a:r>
              <a:t>        .use-case-card {</a:t>
            </a:r>
            <a:br/>
            <a:r>
              <a:t>            background: var(--bg-card);</a:t>
            </a:r>
            <a:br/>
            <a:r>
              <a:t>            border: 1px solid var(--border);</a:t>
            </a:r>
            <a:br/>
            <a:r>
              <a:t>            border-radius: 12px;</a:t>
            </a:r>
            <a:br/>
            <a:r>
              <a:t>            padding: 24px;</a:t>
            </a:r>
            <a:br/>
            <a:r>
              <a:t>        }</a:t>
            </a:r>
            <a:br/>
            <a:br/>
            <a:r>
              <a:t>        .use-case-card h4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10px;</a:t>
            </a:r>
            <a:br/>
            <a:r>
              <a:t>            font-size: 1em;</a:t>
            </a:r>
            <a:br/>
            <a:r>
              <a:t>            margin-bottom: 12px;</a:t>
            </a:r>
            <a:br/>
            <a:r>
              <a:t>            color: #fff;</a:t>
            </a:r>
            <a:br/>
            <a:r>
              <a:t>        }</a:t>
            </a:r>
            <a:br/>
            <a:br/>
            <a:r>
              <a:t>        .use-case-card h4 i {</a:t>
            </a:r>
            <a:br/>
            <a:r>
              <a:t>            color: var(--secondary);</a:t>
            </a:r>
            <a:br/>
            <a:r>
              <a:t>        }</a:t>
            </a:r>
            <a:br/>
            <a:br/>
            <a:r>
              <a:t>        .use-case-card ul {</a:t>
            </a:r>
            <a:br/>
            <a:r>
              <a:t>            list-style: none;</a:t>
            </a:r>
            <a:br/>
            <a:r>
              <a:t>            font-size: 0.9em;</a:t>
            </a:r>
            <a:br/>
            <a:r>
              <a:t>            color: var(--text-muted);</a:t>
            </a:r>
            <a:br/>
            <a:r>
              <a:t>        }</a:t>
            </a:r>
            <a:br/>
            <a:br/>
            <a:r>
              <a:t>        .use-case-card li {</a:t>
            </a:r>
            <a:br/>
            <a:r>
              <a:t>            padding: 6px 0;</a:t>
            </a:r>
            <a:br/>
            <a:r>
              <a:t>            padding-left: 20px;</a:t>
            </a:r>
            <a:br/>
            <a:r>
              <a:t>            position: relative;</a:t>
            </a:r>
            <a:br/>
            <a:r>
              <a:t>        }</a:t>
            </a:r>
            <a:br/>
            <a:br/>
            <a:r>
              <a:t>        .use-case-card li::before {</a:t>
            </a:r>
            <a:br/>
            <a:r>
              <a:t>            content: '→';</a:t>
            </a:r>
            <a:br/>
            <a:r>
              <a:t>            position: absolute;</a:t>
            </a:r>
            <a:br/>
            <a:r>
              <a:t>            left: 0;</a:t>
            </a:r>
            <a:br/>
            <a:r>
              <a:t>            color: var(--primary);</a:t>
            </a:r>
            <a:br/>
            <a:r>
              <a:t>        }</a:t>
            </a:r>
            <a:br/>
            <a:br/>
            <a:r>
              <a:t>        /* 最佳实践 */</a:t>
            </a:r>
            <a:br/>
            <a:r>
              <a:t>        .best-practices {</a:t>
            </a:r>
            <a:br/>
            <a:r>
              <a:t>            background: linear-gradient(135deg, rgba(0, 102, 255, 0.1) 0%, rgba(0, 212, 255, 0.1) 100%);</a:t>
            </a:r>
            <a:br/>
            <a:r>
              <a:t>            border: 1px solid var(--primary);</a:t>
            </a:r>
            <a:br/>
            <a:r>
              <a:t>            border-radius: 12px;</a:t>
            </a:r>
            <a:br/>
            <a:r>
              <a:t>            padding: 25px;</a:t>
            </a:r>
            <a:br/>
            <a:r>
              <a:t>        }</a:t>
            </a:r>
            <a:br/>
            <a:br/>
            <a:r>
              <a:t>        .practices-grid {</a:t>
            </a:r>
            <a:br/>
            <a:r>
              <a:t>            display: grid;</a:t>
            </a:r>
            <a:br/>
            <a:r>
              <a:t>            grid-template-columns: repeat(2, 1fr);</a:t>
            </a:r>
            <a:br/>
            <a:r>
              <a:t>            gap: 20px;</a:t>
            </a:r>
            <a:br/>
            <a:r>
              <a:t>        }</a:t>
            </a:r>
            <a:br/>
            <a:br/>
            <a:r>
              <a:t>        .practice-item {</a:t>
            </a:r>
            <a:br/>
            <a:r>
              <a:t>            display: flex;</a:t>
            </a:r>
            <a:br/>
            <a:r>
              <a:t>            gap: 15px;</a:t>
            </a:r>
            <a:br/>
            <a:r>
              <a:t>            padding: 15px;</a:t>
            </a:r>
            <a:br/>
            <a:r>
              <a:t>            background: rgba(0, 0, 0, 0.2);</a:t>
            </a:r>
            <a:br/>
            <a:r>
              <a:t>            border-radius: 8px;</a:t>
            </a:r>
            <a:br/>
            <a:r>
              <a:t>        }</a:t>
            </a:r>
            <a:br/>
            <a:br/>
            <a:r>
              <a:t>        .practice-icon {</a:t>
            </a:r>
            <a:br/>
            <a:r>
              <a:t>            width: 40px;</a:t>
            </a:r>
            <a:br/>
            <a:r>
              <a:t>            height: 40px;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background: var(--primary);</a:t>
            </a:r>
            <a:br/>
            <a:r>
              <a:t>            border-radius: 8px;</a:t>
            </a:r>
            <a:br/>
            <a:r>
              <a:t>            flex-shrink: 0;</a:t>
            </a:r>
            <a:br/>
            <a:r>
              <a:t>        }</a:t>
            </a:r>
            <a:br/>
            <a:br/>
            <a:r>
              <a:t>        .practice-icon i { font-size: 16px; }</a:t>
            </a:r>
            <a:br/>
            <a:br/>
            <a:r>
              <a:t>        .practice-content h5 {</a:t>
            </a:r>
            <a:br/>
            <a:r>
              <a:t>            font-size: 0.95em;</a:t>
            </a:r>
            <a:br/>
            <a:r>
              <a:t>            margin-bottom: 5px;</a:t>
            </a:r>
            <a:br/>
            <a:r>
              <a:t>            color: #fff;</a:t>
            </a:r>
            <a:br/>
            <a:r>
              <a:t>        }</a:t>
            </a:r>
            <a:br/>
            <a:br/>
            <a:r>
              <a:t>        .practice-content p {</a:t>
            </a:r>
            <a:br/>
            <a:r>
              <a:t>            font-size: 0.8em;</a:t>
            </a:r>
            <a:br/>
            <a:r>
              <a:t>            color: var(--text-muted);</a:t>
            </a:r>
            <a:br/>
            <a:r>
              <a:t>            line-height: 1.5;</a:t>
            </a:r>
            <a:br/>
            <a:r>
              <a:t>        }</a:t>
            </a:r>
            <a:br/>
            <a:br/>
            <a:r>
              <a:t>        /* 性能指标 */</a:t>
            </a:r>
            <a:br/>
            <a:r>
              <a:t>        .metrics-row {</a:t>
            </a:r>
            <a:br/>
            <a:r>
              <a:t>            display: grid;</a:t>
            </a:r>
            <a:br/>
            <a:r>
              <a:t>            grid-template-columns: repeat(4, 1fr);</a:t>
            </a:r>
            <a:br/>
            <a:r>
              <a:t>            gap: 20px;</a:t>
            </a:r>
            <a:br/>
            <a:r>
              <a:t>            margin-bottom: 40px;</a:t>
            </a:r>
            <a:br/>
            <a:r>
              <a:t>        }</a:t>
            </a:r>
            <a:br/>
            <a:br/>
            <a:r>
              <a:t>        .metric-card {</a:t>
            </a:r>
            <a:br/>
            <a:r>
              <a:t>            background: var(--bg-card);</a:t>
            </a:r>
            <a:br/>
            <a:r>
              <a:t>            border: 1px solid var(--border);</a:t>
            </a:r>
            <a:br/>
            <a:r>
              <a:t>            border-radius: 10px;</a:t>
            </a:r>
            <a:br/>
            <a:r>
              <a:t>            padding: 20px;</a:t>
            </a:r>
            <a:br/>
            <a:r>
              <a:t>            text-align: center;</a:t>
            </a:r>
            <a:br/>
            <a:r>
              <a:t>        }</a:t>
            </a:r>
            <a:br/>
            <a:br/>
            <a:r>
              <a:t>        .metric-value {</a:t>
            </a:r>
            <a:br/>
            <a:r>
              <a:t>            font-size: 2em;</a:t>
            </a:r>
            <a:br/>
            <a:r>
              <a:t>            font-weight: 700;</a:t>
            </a:r>
            <a:br/>
            <a:r>
              <a:t>            background: linear-gradient(135deg, var(--secondary), var(--accent));</a:t>
            </a:r>
            <a:br/>
            <a:r>
              <a:t>            -webkit-background-clip: text;</a:t>
            </a:r>
            <a:br/>
            <a:r>
              <a:t>            -webkit-text-fill-color: transparent;</a:t>
            </a:r>
            <a:br/>
            <a:r>
              <a:t>            background-clip: text;</a:t>
            </a:r>
            <a:br/>
            <a:r>
              <a:t>        }</a:t>
            </a:r>
            <a:br/>
            <a:br/>
            <a:r>
              <a:t>        .metric-label {</a:t>
            </a:r>
            <a:br/>
            <a:r>
              <a:t>            font-size: 0.85em;</a:t>
            </a:r>
            <a:br/>
            <a:r>
              <a:t>            color: var(--text-muted);</a:t>
            </a:r>
            <a:br/>
            <a:r>
              <a:t>            margin-top: 5px;</a:t>
            </a:r>
            <a:br/>
            <a:r>
              <a:t>        }</a:t>
            </a:r>
            <a:br/>
            <a:br/>
            <a:r>
              <a:t>        /* Footer */</a:t>
            </a:r>
            <a:br/>
            <a:r>
              <a:t>        .page-footer {</a:t>
            </a:r>
            <a:br/>
            <a:r>
              <a:t>            background: rgba(0, 0, 0, 0.3);</a:t>
            </a:r>
            <a:br/>
            <a:r>
              <a:t>            border-top: 1px solid var(--border);</a:t>
            </a:r>
            <a:br/>
            <a:r>
              <a:t>            padding: 20px 60px;</a:t>
            </a:r>
            <a:br/>
            <a:r>
              <a:t>            display: flex;</a:t>
            </a:r>
            <a:br/>
            <a:r>
              <a:t>            justify-content: space-between;</a:t>
            </a:r>
            <a:br/>
            <a:r>
              <a:t>            align-items: center;</a:t>
            </a:r>
            <a:br/>
            <a:r>
              <a:t>            font-size: 0.85em;</a:t>
            </a:r>
            <a:br/>
            <a:r>
              <a:t>            color: var(--text-muted);</a:t>
            </a:r>
            <a:br/>
            <a:r>
              <a:t>        }</a:t>
            </a:r>
            <a:br/>
            <a:br/>
            <a:r>
              <a:t>        .footer-nav {</a:t>
            </a:r>
            <a:br/>
            <a:r>
              <a:t>            display: flex;</a:t>
            </a:r>
            <a:br/>
            <a:r>
              <a:t>            gap: 20px;</a:t>
            </a:r>
            <a:br/>
            <a:r>
              <a:t>        }</a:t>
            </a:r>
            <a:br/>
            <a:br/>
            <a:r>
              <a:t>        .footer-nav a {</a:t>
            </a:r>
            <a:br/>
            <a:r>
              <a:t>            color: var(--secondary);</a:t>
            </a:r>
            <a:br/>
            <a:r>
              <a:t>            text-decoration: none;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6px;</a:t>
            </a:r>
            <a:br/>
            <a:r>
              <a:t>            transition: color 0.3s;</a:t>
            </a:r>
            <a:br/>
            <a:r>
              <a:t>        }</a:t>
            </a:r>
            <a:br/>
            <a:br/>
            <a:r>
              <a:t>        .footer-nav a:hover { color: var(--accent); }</a:t>
            </a:r>
            <a:br/>
            <a:br/>
            <a:r>
              <a:t>        @media (max-width: 1200px) {</a:t>
            </a:r>
            <a:br/>
            <a:r>
              <a:t>            .architecture-grid { grid-template-columns: 1fr 1fr; }</a:t>
            </a:r>
            <a:br/>
            <a:r>
              <a:t>            .features-grid { grid-template-columns: repeat(2, 1fr); }</a:t>
            </a:r>
            <a:br/>
            <a:r>
              <a:t>            .code-section { grid-template-columns: 1fr; }</a:t>
            </a:r>
            <a:br/>
            <a:r>
              <a:t>        }</a:t>
            </a:r>
            <a:br/>
            <a:br/>
            <a:r>
              <a:t>        @media (max-width: 768px) {</a:t>
            </a:r>
            <a:br/>
            <a:r>
              <a:t>            .architecture-grid { grid-template-columns: 1fr; }</a:t>
            </a:r>
            <a:br/>
            <a:r>
              <a:t>            .features-grid { grid-template-columns: 1fr; }</a:t>
            </a:r>
            <a:br/>
            <a:r>
              <a:t>            .use-cases { grid-template-columns: 1fr; }</a:t>
            </a:r>
            <a:br/>
            <a:r>
              <a:t>            .practices-grid { grid-template-columns: 1fr; }</a:t>
            </a:r>
            <a:br/>
            <a:r>
              <a:t>            .metrics-row { grid-template-columns: repeat(2, 1fr); }</a:t>
            </a:r>
            <a:br/>
            <a:r>
              <a:t>            .content-wrapper { padding: 20px; }</a:t>
            </a:r>
            <a:br/>
            <a:r>
              <a:t>            .page-header { padding: 20px; }</a:t>
            </a:r>
            <a:br/>
            <a:r>
              <a:t>            .page-footer { padding: 15px 20px; flex-direction: column; gap: 15px; }</a:t>
            </a:r>
            <a:br/>
            <a:r>
              <a:t>        }</a:t>
            </a:r>
            <a:br/>
            <a:r>
              <a:t>    </a:t>
            </a:r>
            <a:br/>
            <a:br/>
            <a:br/>
            <a:r>
              <a:t>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Multi-Agent架构</a:t>
            </a:r>
            <a:br/>
            <a:r>
              <a:t>            </a:t>
            </a:r>
            <a:br/>
            <a:r>
              <a:t>            Supervisor模式</a:t>
            </a:r>
            <a:br/>
            <a:r>
              <a:t>        </a:t>
            </a:r>
            <a:br/>
            <a:r>
              <a:t>        Supervisor模式深度解析</a:t>
            </a:r>
            <a:br/>
            <a:r>
              <a:t>        基于LLM的动态任务分配与路由机制 | LangGraph原生支持</a:t>
            </a:r>
            <a:br/>
            <a:r>
              <a:t>    </a:t>
            </a:r>
            <a:br/>
            <a:br/>
            <a:r>
              <a:t>    </a:t>
            </a:r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核心架构</a:t>
            </a:r>
            <a:br/>
            <a:r>
              <a:t>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Supervisor Agent</a:t>
            </a:r>
            <a:br/>
            <a:r>
              <a:t>                        任务协调器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中心化的LLM驱动的调度者，负责分析用户输入、分解任务并智能分配给专业子Agent。通过自然语言理解实现动态路由。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意图识别</a:t>
            </a:r>
            <a:br/>
            <a:r>
              <a:t>                    任务分解</a:t>
            </a:r>
            <a:br/>
            <a:r>
              <a:t>                    结果聚合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Specialist Agents</a:t>
            </a:r>
            <a:br/>
            <a:r>
              <a:t>                        专家代理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领域专精的子Agent，每个代理专注于特定任务类型。通过预定义的工具集和系统提示词实现专业化。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代码生成</a:t>
            </a:r>
            <a:br/>
            <a:r>
              <a:t>                    数据分析</a:t>
            </a:r>
            <a:br/>
            <a:r>
              <a:t>                    信息检索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Router Logic</a:t>
            </a:r>
            <a:br/>
            <a:r>
              <a:t>                        路由引擎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基于LLM的智能路由决策，根据Supervisor的判断选择下一个执行的Agent或决定是否结束对话。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条件分支</a:t>
            </a:r>
            <a:br/>
            <a:r>
              <a:t>                    状态管理</a:t>
            </a:r>
            <a:br/>
            <a:r>
              <a:t>                    循环控制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工作流程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用户请求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Supervisor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代码Agent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评估结果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分析Agent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FINISH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实战代码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supervisor_graph.py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from langgraph.graph import StateGraph, END</a:t>
            </a:r>
            <a:br/>
            <a:r>
              <a:t>from langgraph.prebuilt import create_react_agent</a:t>
            </a:r>
            <a:br/>
            <a:r>
              <a:t>from typing import TypedDict, Annotated</a:t>
            </a:r>
            <a:br/>
            <a:r>
              <a:t>import operator</a:t>
            </a:r>
            <a:br/>
            <a:br/>
            <a:r>
              <a:t># 定义Agent节点</a:t>
            </a:r>
            <a:br/>
            <a:r>
              <a:t>def create_agent(tools, system_message: str):</a:t>
            </a:r>
            <a:br/>
            <a:r>
              <a:t>    return create_react_agent(</a:t>
            </a:r>
            <a:br/>
            <a:r>
              <a:t>        model, tools, </a:t>
            </a:r>
            <a:br/>
            <a:r>
              <a:t>        state_modifier=system_message</a:t>
            </a:r>
            <a:br/>
            <a:r>
              <a:t>    )</a:t>
            </a:r>
            <a:br/>
            <a:br/>
            <a:r>
              <a:t># Supervisor决策逻辑</a:t>
            </a:r>
            <a:br/>
            <a:r>
              <a:t>def supervisor_node(state: MultiAgentState):</a:t>
            </a:r>
            <a:br/>
            <a:r>
              <a:t>    messages = state["messages"]</a:t>
            </a:r>
            <a:br/>
            <a:r>
              <a:t>    last_message = messages[-1]</a:t>
            </a:r>
            <a:br/>
            <a:r>
              <a:t>    </a:t>
            </a:r>
            <a:br/>
            <a:r>
              <a:t>    # LLM判断下一步行动</a:t>
            </a:r>
            <a:br/>
            <a:r>
              <a:t>    response = model.invoke([</a:t>
            </a:r>
            <a:br/>
            <a:r>
              <a:t>        SystemMessage(content=supervisor_system_prompt),</a:t>
            </a:r>
            <a:br/>
            <a:r>
              <a:t>        HumanMessage(content=last_message.content)</a:t>
            </a:r>
            <a:br/>
            <a:r>
              <a:t>    ])</a:t>
            </a:r>
            <a:br/>
            <a:r>
              <a:t>    </a:t>
            </a:r>
            <a:br/>
            <a:r>
              <a:t>    return {"next": response.content}</a:t>
            </a:r>
            <a:br/>
            <a:br/>
            <a:r>
              <a:t># 构建图结构</a:t>
            </a:r>
            <a:br/>
            <a:r>
              <a:t>graph = StateGraph(MultiAgentState)</a:t>
            </a:r>
            <a:br/>
            <a:r>
              <a:t>graph.add_node("supervisor", supervisor_node)</a:t>
            </a:r>
            <a:br/>
            <a:r>
              <a:t>graph.add_node("research", research_agent)</a:t>
            </a:r>
            <a:br/>
            <a:r>
              <a:t>graph.add_node("code", code_agent)</a:t>
            </a:r>
            <a:br/>
            <a:r>
              <a:t>graph.add_node("analyze", analyze_agent)</a:t>
            </a:r>
            <a:br/>
            <a:br/>
            <a:r>
              <a:t># 添加条件边</a:t>
            </a:r>
            <a:br/>
            <a:r>
              <a:t>graph.add_conditional_edges(</a:t>
            </a:r>
            <a:br/>
            <a:r>
              <a:t>    "supervisor",</a:t>
            </a:r>
            <a:br/>
            <a:r>
              <a:t>    lambda x: x["next"],</a:t>
            </a:r>
            <a:br/>
            <a:r>
              <a:t>    {</a:t>
            </a:r>
            <a:br/>
            <a:r>
              <a:t>        "research": ["research"],</a:t>
            </a:r>
            <a:br/>
            <a:r>
              <a:t>        "code": ["code"],</a:t>
            </a:r>
            <a:br/>
            <a:r>
              <a:t>        "analyze": ["analyze"],</a:t>
            </a:r>
            <a:br/>
            <a:r>
              <a:t>        "FINISH": END</a:t>
            </a:r>
            <a:br/>
            <a:r>
              <a:t>    }</a:t>
            </a:r>
            <a:br/>
            <a:r>
              <a:t>)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agent_definitions.py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# Agent系统提示词定义</a:t>
            </a:r>
            <a:br/>
            <a:r>
              <a:t>researcher_prompt = """你是一位专业研究员。</a:t>
            </a:r>
            <a:br/>
            <a:r>
              <a:t>专长：信息检索、文献分析、事实核查。</a:t>
            </a:r>
            <a:br/>
            <a:r>
              <a:t>当需要收集外部信息时调用research_tools。"""</a:t>
            </a:r>
            <a:br/>
            <a:br/>
            <a:r>
              <a:t>coder_prompt = """你是一位资深工程师。</a:t>
            </a:r>
            <a:br/>
            <a:r>
              <a:t>专长：代码生成、调试优化、架构设计。</a:t>
            </a:r>
            <a:br/>
            <a:r>
              <a:t>当需要编写或修改代码时调用code_tools。"""</a:t>
            </a:r>
            <a:br/>
            <a:br/>
            <a:r>
              <a:t>analyzer_prompt = """你是一位数据分析师。</a:t>
            </a:r>
            <a:br/>
            <a:r>
              <a:t>专长：统计分析、可视化、洞察提炼。</a:t>
            </a:r>
            <a:br/>
            <a:r>
              <a:t>当需要分析数据时调用analyze_tools。"""</a:t>
            </a:r>
            <a:br/>
            <a:br/>
            <a:r>
              <a:t>supervisor_system_prompt = """你是一个智能调度中心。</a:t>
            </a:r>
            <a:br/>
            <a:r>
              <a:t>分析用户请求，决定调用哪个专家Agent：</a:t>
            </a:r>
            <a:br/>
            <a:r>
              <a:t>- "research"：需要信息检索时</a:t>
            </a:r>
            <a:br/>
            <a:r>
              <a:t>- "code"：需要代码编写时  </a:t>
            </a:r>
            <a:br/>
            <a:r>
              <a:t>- "analyze"：需要数据分析时</a:t>
            </a:r>
            <a:br/>
            <a:r>
              <a:t>- "FINISH"：任务完成时</a:t>
            </a:r>
            <a:br/>
            <a:br/>
            <a:r>
              <a:t>只输出一个词作为决策。"""</a:t>
            </a:r>
            <a:br/>
            <a:br/>
            <a:r>
              <a:t># 工具定义</a:t>
            </a:r>
            <a:br/>
            <a:r>
              <a:t>research_tools = [serp_api, wikipedia, calculator]</a:t>
            </a:r>
            <a:br/>
            <a:r>
              <a:t>code_tools = [write_file, execute_code, git_commit]</a:t>
            </a:r>
            <a:br/>
            <a:r>
              <a:t>analyze_tools = [pandas_df, matplotlib_plot]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核心特性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LLM驱动决策</a:t>
            </a:r>
            <a:br/>
            <a:r>
              <a:t>                基于大语言模型的智能路由，自然语言理解能力强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动态扩展</a:t>
            </a:r>
            <a:br/>
            <a:r>
              <a:t>                运行时添加新Agent，无需修改核心逻辑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状态持久化</a:t>
            </a:r>
            <a:br/>
            <a:r>
              <a:t>                支持Checkpoint，恢复中断的复杂任务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安全可控</a:t>
            </a:r>
            <a:br/>
            <a:r>
              <a:t>                工具权限控制，敏感操作审批机制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性能对比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</a:t>
            </a:r>
            <a:br/>
            <a:r>
              <a:t>                85%</a:t>
            </a:r>
            <a:br/>
            <a:r>
              <a:t>                任务路由准确率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3.2x</a:t>
            </a:r>
            <a:br/>
            <a:r>
              <a:t>                处理效率提升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92%</a:t>
            </a:r>
            <a:br/>
            <a:r>
              <a:t>                用户满意度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&amp;lt;50ms</a:t>
            </a:r>
            <a:br/>
            <a:r>
              <a:t>                平均响应延迟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适用场景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</a:t>
            </a:r>
            <a:br/>
            <a:r>
              <a:t>                 企业级应用</a:t>
            </a:r>
            <a:br/>
            <a:r>
              <a:t>                </a:t>
            </a:r>
            <a:br/>
            <a:r>
              <a:t>                    智能客服系统 - 多部门协调响应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Supervisor模式深度解析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基于LLM的动态任务分配与路由机制 | LangGraph原生支持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核心架构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中心化的LLM驱动的调度者，负责分析用户输入、分解任务并智能分配给专业子Agent。通过自然语言理解实现动态路由。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领域专精的子Agent，每个代理专注于特定任务类型。通过预定义的工具集和系统提示词实现专业化。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基于LLM的智能路由决策，根据Supervisor的判断选择下一个执行的Agent或决定是否结束对话。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工作流程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实战代码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from langgraph.graph import StateGraph, END</a:t>
            </a:r>
            <a:br/>
            <a:r>
              <a:t>from langgraph.prebuilt import create_react_agent</a:t>
            </a:r>
            <a:br/>
            <a:r>
              <a:t>from typing import TypedDict, Annotated</a:t>
            </a:r>
            <a:br/>
            <a:r>
              <a:t>import operator</a:t>
            </a:r>
            <a:br/>
            <a:br/>
            <a:r>
              <a:t># 定义Agent节点</a:t>
            </a:r>
            <a:br/>
            <a:r>
              <a:t>def create_agent(tools, system_message: str):</a:t>
            </a:r>
            <a:br/>
            <a:r>
              <a:t>    return create_react_agent(</a:t>
            </a:r>
            <a:br/>
            <a:r>
              <a:t>        model, tools, </a:t>
            </a:r>
            <a:br/>
            <a:r>
              <a:t>        state_modifier=system_message</a:t>
            </a:r>
            <a:br/>
            <a:r>
              <a:t>    )</a:t>
            </a:r>
            <a:br/>
            <a:br/>
            <a:r>
              <a:t># Supervisor决策逻辑</a:t>
            </a:r>
            <a:br/>
            <a:r>
              <a:t>def supervisor_node(state: MultiAgentState):</a:t>
            </a:r>
            <a:br/>
            <a:r>
              <a:t>    messages = state["messages"]</a:t>
            </a:r>
            <a:br/>
            <a:r>
              <a:t>    last_message = messages[-1]</a:t>
            </a:r>
            <a:br/>
            <a:r>
              <a:t>    </a:t>
            </a:r>
            <a:br/>
            <a:r>
              <a:t>    # LLM判断下一步行动</a:t>
            </a:r>
            <a:br/>
            <a:r>
              <a:t>    response = model.invoke([</a:t>
            </a:r>
            <a:br/>
            <a:r>
              <a:t>        SystemMessage(content=supervisor_system_prompt),</a:t>
            </a:r>
            <a:br/>
            <a:r>
              <a:t>        HumanMessage(content=last_message.content)</a:t>
            </a:r>
            <a:br/>
            <a:r>
              <a:t>    ])</a:t>
            </a:r>
            <a:br/>
            <a:r>
              <a:t>    </a:t>
            </a:r>
            <a:br/>
            <a:r>
              <a:t>    return {"next": response.content}</a:t>
            </a:r>
            <a:br/>
            <a:br/>
            <a:r>
              <a:t># 构建图结构</a:t>
            </a:r>
            <a:br/>
            <a:r>
              <a:t>graph = StateGraph(MultiAgentState)</a:t>
            </a:r>
            <a:br/>
            <a:r>
              <a:t>graph.add_node("supervisor", supervisor_node)</a:t>
            </a:r>
            <a:br/>
            <a:r>
              <a:t>graph.add_node("research", research_agent)</a:t>
            </a:r>
            <a:br/>
            <a:r>
              <a:t>graph.add_node("code", code_agent)</a:t>
            </a:r>
            <a:br/>
            <a:r>
              <a:t>graph.add_node("analyze", analyze_agent)</a:t>
            </a:r>
            <a:br/>
            <a:br/>
            <a:r>
              <a:t># 添加条件边</a:t>
            </a:r>
            <a:br/>
            <a:r>
              <a:t>graph.add_conditional_edges(</a:t>
            </a:r>
            <a:br/>
            <a:r>
              <a:t>    "supervisor",</a:t>
            </a:r>
            <a:br/>
            <a:r>
              <a:t>    lambda x: x["next"],</a:t>
            </a:r>
            <a:br/>
            <a:r>
              <a:t>    {</a:t>
            </a:r>
            <a:br/>
            <a:r>
              <a:t>        "research": ["research"],</a:t>
            </a:r>
            <a:br/>
            <a:r>
              <a:t>        "code": ["code"],</a:t>
            </a:r>
            <a:br/>
            <a:r>
              <a:t>        "analyze": ["analyze"],</a:t>
            </a:r>
            <a:br/>
            <a:r>
              <a:t>        "FINISH": END</a:t>
            </a:r>
            <a:br/>
            <a:r>
              <a:t>    }</a:t>
            </a:r>
            <a:br/>
            <a:r>
              <a:t>)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agent_definitions.py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# Agent系统提示词定义</a:t>
            </a:r>
            <a:br/>
            <a:r>
              <a:t>researcher_prompt = """你是一位专业研究员。</a:t>
            </a:r>
            <a:br/>
            <a:r>
              <a:t>专长：信息检索、文献分析、事实核查。</a:t>
            </a:r>
            <a:br/>
            <a:r>
              <a:t>当需要收集外部信息时调用research_tools。"""</a:t>
            </a:r>
            <a:br/>
            <a:br/>
            <a:r>
              <a:t>coder_prompt = """你是一位资深工程师。</a:t>
            </a:r>
            <a:br/>
            <a:r>
              <a:t>专长：代码生成、调试优化、架构设计。</a:t>
            </a:r>
            <a:br/>
            <a:r>
              <a:t>当需要编写或修改代码时调用code_tools。"""</a:t>
            </a:r>
            <a:br/>
            <a:br/>
            <a:r>
              <a:t>analyzer_prompt = """你是一位数据分析师。</a:t>
            </a:r>
            <a:br/>
            <a:r>
              <a:t>专长：统计分析、可视化、洞察提炼。</a:t>
            </a:r>
            <a:br/>
            <a:r>
              <a:t>当需要分析数据时调用analyze_tools。"""</a:t>
            </a:r>
            <a:br/>
            <a:br/>
            <a:r>
              <a:t>supervisor_system_prompt = """你是一个智能调度中心。</a:t>
            </a:r>
            <a:br/>
            <a:r>
              <a:t>分析用户请求，决定调用哪个专家Agent：</a:t>
            </a:r>
            <a:br/>
            <a:r>
              <a:t>- "research"：需要信息检索时</a:t>
            </a:r>
            <a:br/>
            <a:r>
              <a:t>- "code"：需要代码编写时  </a:t>
            </a:r>
            <a:br/>
            <a:r>
              <a:t>- "analyze"：需要数据分析时</a:t>
            </a:r>
            <a:br/>
            <a:r>
              <a:t>- "FINISH"：任务完成时</a:t>
            </a:r>
            <a:br/>
            <a:br/>
            <a:r>
              <a:t>只输出一个词作为决策。"""</a:t>
            </a:r>
            <a:br/>
            <a:br/>
            <a:r>
              <a:t># 工具定义</a:t>
            </a:r>
            <a:br/>
            <a:r>
              <a:t>research_tools = [serp_api, wikipedia, calculator]</a:t>
            </a:r>
            <a:br/>
            <a:r>
              <a:t>code_tools = [write_file, execute_code, git_commit]</a:t>
            </a:r>
            <a:br/>
            <a:r>
              <a:t>analyze_tools = [pandas_df, matplotlib_plot]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核心特性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LLM驱动决策</a:t>
            </a:r>
            <a:br/>
            <a:r>
              <a:t>                基于大语言模型的智能路由，自然语言理解能力强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核心特性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运行时添加新Agent，无需修改核心逻辑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支持Checkpoint，恢复中断的复杂任务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工具权限控制，敏感操作审批机制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8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性能对比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8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适用场景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自动化工作流 - 跨系统任务编排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0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决策支持系统 - 多维度分析整合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0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代码审查助手 - 多语言/多框架支持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0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智能调试系统 - 根因分析与修复建议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1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文档自动生成 - 代码与注释同步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1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文献综述自动化 - 多源信息整合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2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实验数据分析 - 统计与可视化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2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假设生成验证 - 迭代式探索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2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电商智能助理 - 商品查询与推荐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13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订单处理系统 - 状态跟踪与异常处理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13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营销自动化 - 受众分析与内容生成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最佳实践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为每个Agent定义清晰的角色、能力边界和输出格式要求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5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避免过度分解，保持每个Agent任务的独立性和完整性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5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为每个专家Agent配备专用工具集，提高任务执行效率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6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使用Checkpointer实现中断恢复和执行历史追踪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Hierarchical 模式深度解析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分层代理架构 - 企业级复杂任务处理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分层架构示意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适用场景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模式对比优势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:root {</a:t>
            </a:r>
            <a:br/>
            <a:r>
              <a:t>            --primary-blue: #00a8ff;</a:t>
            </a:r>
            <a:br/>
            <a:r>
              <a:t>            --secondary-blue: #0056b3;</a:t>
            </a:r>
            <a:br/>
            <a:r>
              <a:t>            --dark-bg: #0a1929;</a:t>
            </a:r>
            <a:br/>
            <a:r>
              <a:t>            --card-bg: #112240;</a:t>
            </a:r>
            <a:br/>
            <a:r>
              <a:t>            --accent-cyan: #64ffda;</a:t>
            </a:r>
            <a:br/>
            <a:r>
              <a:t>            --text-light: #e6f1ff;</a:t>
            </a:r>
            <a:br/>
            <a:r>
              <a:t>            --text-muted: #8892b0;</a:t>
            </a:r>
            <a:br/>
            <a:r>
              <a:t>        }</a:t>
            </a:r>
            <a:br/>
            <a:r>
              <a:t>        </a:t>
            </a:r>
            <a:br/>
            <a:r>
              <a:t>        * { margin: 0; padding: 0; box-sizing: border-box; }</a:t>
            </a:r>
            <a:br/>
            <a:r>
              <a:t>        </a:t>
            </a:r>
            <a:br/>
            <a:r>
              <a:t>        body {</a:t>
            </a:r>
            <a:br/>
            <a:r>
              <a:t>            font-family: 'Inter', 'Segoe UI', system-ui, sans-serif;</a:t>
            </a:r>
            <a:br/>
            <a:r>
              <a:t>            background: linear-gradient(135deg, var(--dark-bg) 0%, #0d1b2a 50%, #1b263b 100%);</a:t>
            </a:r>
            <a:br/>
            <a:r>
              <a:t>            color: var(--text-light);</a:t>
            </a:r>
            <a:br/>
            <a:r>
              <a:t>            min-height: 100vh;</a:t>
            </a:r>
            <a:br/>
            <a:r>
              <a:t>            overflow-x: hidden;</a:t>
            </a:r>
            <a:br/>
            <a:r>
              <a:t>        }</a:t>
            </a:r>
            <a:br/>
            <a:r>
              <a:t>        </a:t>
            </a:r>
            <a:br/>
            <a:r>
              <a:t>        .slide-container {</a:t>
            </a:r>
            <a:br/>
            <a:r>
              <a:t>            max-width: 1400px;</a:t>
            </a:r>
            <a:br/>
            <a:r>
              <a:t>            margin: 0 auto;</a:t>
            </a:r>
            <a:br/>
            <a:r>
              <a:t>            padding: 60px 80px;</a:t>
            </a:r>
            <a:br/>
            <a:r>
              <a:t>            min-height: 100vh;</a:t>
            </a:r>
            <a:br/>
            <a:r>
              <a:t>            display: flex;</a:t>
            </a:r>
            <a:br/>
            <a:r>
              <a:t>            flex-direction: column;</a:t>
            </a:r>
            <a:br/>
            <a:r>
              <a:t>        }</a:t>
            </a:r>
            <a:br/>
            <a:r>
              <a:t>        </a:t>
            </a:r>
            <a:br/>
            <a:r>
              <a:t>        .page-header {</a:t>
            </a:r>
            <a:br/>
            <a:r>
              <a:t>            margin-bottom: 50px;</a:t>
            </a:r>
            <a:br/>
            <a:r>
              <a:t>            position: relative;</a:t>
            </a:r>
            <a:br/>
            <a:r>
              <a:t>        }</a:t>
            </a:r>
            <a:br/>
            <a:r>
              <a:t>        </a:t>
            </a:r>
            <a:br/>
            <a:r>
              <a:t>        .page-number {</a:t>
            </a:r>
            <a:br/>
            <a:r>
              <a:t>            position: absolute;</a:t>
            </a:r>
            <a:br/>
            <a:r>
              <a:t>            top: 0;</a:t>
            </a:r>
            <a:br/>
            <a:r>
              <a:t>            right: 0;</a:t>
            </a:r>
            <a:br/>
            <a:r>
              <a:t>            background: linear-gradient(135deg, var(--primary-blue), var(--accent-cyan));</a:t>
            </a:r>
            <a:br/>
            <a:r>
              <a:t>            color: var(--dark-bg);</a:t>
            </a:r>
            <a:br/>
            <a:r>
              <a:t>            padding: 8px 20px;</a:t>
            </a:r>
            <a:br/>
            <a:r>
              <a:t>            border-radius: 20px;</a:t>
            </a:r>
            <a:br/>
            <a:r>
              <a:t>            font-weight: 700;</a:t>
            </a:r>
            <a:br/>
            <a:r>
              <a:t>            font-size: 14px;</a:t>
            </a:r>
            <a:br/>
            <a:r>
              <a:t>        }</a:t>
            </a:r>
            <a:br/>
            <a:r>
              <a:t>        </a:t>
            </a:r>
            <a:br/>
            <a:r>
              <a:t>        h1 {</a:t>
            </a:r>
            <a:br/>
            <a:r>
              <a:t>            font-size: 48px;</a:t>
            </a:r>
            <a:br/>
            <a:r>
              <a:t>            font-weight: 800;</a:t>
            </a:r>
            <a:br/>
            <a:r>
              <a:t>            background: linear-gradient(135deg, var(--text-light) 0%, var(--accent-cyan) 100%);</a:t>
            </a:r>
            <a:br/>
            <a:r>
              <a:t>            -webkit-background-clip: text;</a:t>
            </a:r>
            <a:br/>
            <a:r>
              <a:t>            -webkit-text-fill-color: transparent;</a:t>
            </a:r>
            <a:br/>
            <a:r>
              <a:t>            background-clip: text;</a:t>
            </a:r>
            <a:br/>
            <a:r>
              <a:t>            margin-bottom: 15px;</a:t>
            </a:r>
            <a:br/>
            <a:r>
              <a:t>            letter-spacing: -1px;</a:t>
            </a:r>
            <a:br/>
            <a:r>
              <a:t>        }</a:t>
            </a:r>
            <a:br/>
            <a:r>
              <a:t>        </a:t>
            </a:r>
            <a:br/>
            <a:r>
              <a:t>        .subtitle {</a:t>
            </a:r>
            <a:br/>
            <a:r>
              <a:t>            font-size: 20px;</a:t>
            </a:r>
            <a:br/>
            <a:r>
              <a:t>            color: var(--text-muted);</a:t>
            </a:r>
            <a:br/>
            <a:r>
              <a:t>            font-weight: 400;</a:t>
            </a:r>
            <a:br/>
            <a:r>
              <a:t>        }</a:t>
            </a:r>
            <a:br/>
            <a:r>
              <a:t>        </a:t>
            </a:r>
            <a:br/>
            <a:r>
              <a:t>        .content-grid {</a:t>
            </a:r>
            <a:br/>
            <a:r>
              <a:t>            display: grid;</a:t>
            </a:r>
            <a:br/>
            <a:r>
              <a:t>            grid-template-columns: 1fr 1fr;</a:t>
            </a:r>
            <a:br/>
            <a:r>
              <a:t>            gap: 40px;</a:t>
            </a:r>
            <a:br/>
            <a:r>
              <a:t>            flex: 1;</a:t>
            </a:r>
            <a:br/>
            <a:r>
              <a:t>        }</a:t>
            </a:r>
            <a:br/>
            <a:r>
              <a:t>        </a:t>
            </a:r>
            <a:br/>
            <a:r>
              <a:t>        .section-card {</a:t>
            </a:r>
            <a:br/>
            <a:r>
              <a:t>            background: var(--card-bg);</a:t>
            </a:r>
            <a:br/>
            <a:r>
              <a:t>            border-radius: 16px;</a:t>
            </a:r>
            <a:br/>
            <a:r>
              <a:t>            padding: 35px;</a:t>
            </a:r>
            <a:br/>
            <a:r>
              <a:t>            border: 1px solid rgba(100, 255, 218, 0.1);</a:t>
            </a:r>
            <a:br/>
            <a:r>
              <a:t>            transition: all 0.3s ease;</a:t>
            </a:r>
            <a:br/>
            <a:r>
              <a:t>            position: relative;</a:t>
            </a:r>
            <a:br/>
            <a:r>
              <a:t>            overflow: hidden;</a:t>
            </a:r>
            <a:br/>
            <a:r>
              <a:t>        }</a:t>
            </a:r>
            <a:br/>
            <a:r>
              <a:t>        </a:t>
            </a:r>
            <a:br/>
            <a:r>
              <a:t>        .section-card::before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top: 0;</a:t>
            </a:r>
            <a:br/>
            <a:r>
              <a:t>            left: 0;</a:t>
            </a:r>
            <a:br/>
            <a:r>
              <a:t>            right: 0;</a:t>
            </a:r>
            <a:br/>
            <a:r>
              <a:t>            height: 3px;</a:t>
            </a:r>
            <a:br/>
            <a:r>
              <a:t>            background: linear-gradient(90deg, var(--primary-blue), var(--accent-cyan));</a:t>
            </a:r>
            <a:br/>
            <a:r>
              <a:t>        }</a:t>
            </a:r>
            <a:br/>
            <a:r>
              <a:t>        </a:t>
            </a:r>
            <a:br/>
            <a:r>
              <a:t>        .section-card:hover {</a:t>
            </a:r>
            <a:br/>
            <a:r>
              <a:t>            transform: translateY(-5px);</a:t>
            </a:r>
            <a:br/>
            <a:r>
              <a:t>            box-shadow: 0 20px 40px rgba(0, 168, 255, 0.15);</a:t>
            </a:r>
            <a:br/>
            <a:r>
              <a:t>            border-color: rgba(100, 255, 218, 0.3);</a:t>
            </a:r>
            <a:br/>
            <a:r>
              <a:t>        }</a:t>
            </a:r>
            <a:br/>
            <a:r>
              <a:t>        </a:t>
            </a:r>
            <a:br/>
            <a:r>
              <a:t>        .card-icon {</a:t>
            </a:r>
            <a:br/>
            <a:r>
              <a:t>            width: 60px;</a:t>
            </a:r>
            <a:br/>
            <a:r>
              <a:t>            height: 60px;</a:t>
            </a:r>
            <a:br/>
            <a:r>
              <a:t>            background: linear-gradient(135deg, var(--primary-blue), var(--secondary-blue));</a:t>
            </a:r>
            <a:br/>
            <a:r>
              <a:t>            border-radius: 14px;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margin-bottom: 20px;</a:t>
            </a:r>
            <a:br/>
            <a:r>
              <a:t>            font-size: 28px;</a:t>
            </a:r>
            <a:br/>
            <a:r>
              <a:t>            color: white;</a:t>
            </a:r>
            <a:br/>
            <a:r>
              <a:t>        }</a:t>
            </a:r>
            <a:br/>
            <a:r>
              <a:t>        </a:t>
            </a:r>
            <a:br/>
            <a:r>
              <a:t>        .card-title {</a:t>
            </a:r>
            <a:br/>
            <a:r>
              <a:t>            font-size: 24px;</a:t>
            </a:r>
            <a:br/>
            <a:r>
              <a:t>            font-weight: 700;</a:t>
            </a:r>
            <a:br/>
            <a:r>
              <a:t>            color: var(--text-light);</a:t>
            </a:r>
            <a:br/>
            <a:r>
              <a:t>            margin-bottom: 15px;</a:t>
            </a:r>
            <a:br/>
            <a:r>
              <a:t>        }</a:t>
            </a:r>
            <a:br/>
            <a:r>
              <a:t>        </a:t>
            </a:r>
            <a:br/>
            <a:r>
              <a:t>        .card-content {</a:t>
            </a:r>
            <a:br/>
            <a:r>
              <a:t>            color: var(--text-muted);</a:t>
            </a:r>
            <a:br/>
            <a:r>
              <a:t>            line-height: 1.8;</a:t>
            </a:r>
            <a:br/>
            <a:r>
              <a:t>            font-size: 16px;</a:t>
            </a:r>
            <a:br/>
            <a:r>
              <a:t>        }</a:t>
            </a:r>
            <a:br/>
            <a:r>
              <a:t>        </a:t>
            </a:r>
            <a:br/>
            <a:r>
              <a:t>        .feature-list {</a:t>
            </a:r>
            <a:br/>
            <a:r>
              <a:t>            list-style: none;</a:t>
            </a:r>
            <a:br/>
            <a:r>
              <a:t>            margin-top: 15px;</a:t>
            </a:r>
            <a:br/>
            <a:r>
              <a:t>        }</a:t>
            </a:r>
            <a:br/>
            <a:r>
              <a:t>        </a:t>
            </a:r>
            <a:br/>
            <a:r>
              <a:t>        .feature-list li {</a:t>
            </a:r>
            <a:br/>
            <a:r>
              <a:t>            padding: 10px 0;</a:t>
            </a:r>
            <a:br/>
            <a:r>
              <a:t>            border-bottom: 1px solid rgba(100, 255, 218, 0.1);</a:t>
            </a:r>
            <a:br/>
            <a:r>
              <a:t>            display: flex;</a:t>
            </a:r>
            <a:br/>
            <a:r>
              <a:t>            align-items: flex-start;</a:t>
            </a:r>
            <a:br/>
            <a:r>
              <a:t>            gap: 12px;</a:t>
            </a:r>
            <a:br/>
            <a:r>
              <a:t>            font-size: 15px;</a:t>
            </a:r>
            <a:br/>
            <a:r>
              <a:t>        }</a:t>
            </a:r>
            <a:br/>
            <a:r>
              <a:t>        </a:t>
            </a:r>
            <a:br/>
            <a:r>
              <a:t>        .feature-list li:last-child {</a:t>
            </a:r>
            <a:br/>
            <a:r>
              <a:t>            border-bottom: none;</a:t>
            </a:r>
            <a:br/>
            <a:r>
              <a:t>        }</a:t>
            </a:r>
            <a:br/>
            <a:r>
              <a:t>        </a:t>
            </a:r>
            <a:br/>
            <a:r>
              <a:t>        .feature-list li i {</a:t>
            </a:r>
            <a:br/>
            <a:r>
              <a:t>            color: var(--accent-cyan);</a:t>
            </a:r>
            <a:br/>
            <a:r>
              <a:t>            margin-top: 4px;</a:t>
            </a:r>
            <a:br/>
            <a:r>
              <a:t>            flex-shrink: 0;</a:t>
            </a:r>
            <a:br/>
            <a:r>
              <a:t>        }</a:t>
            </a:r>
            <a:br/>
            <a:r>
              <a:t>        </a:t>
            </a:r>
            <a:br/>
            <a:r>
              <a:t>        .highlight-box {</a:t>
            </a:r>
            <a:br/>
            <a:r>
              <a:t>            background: rgba(0, 168, 255, 0.1);</a:t>
            </a:r>
            <a:br/>
            <a:r>
              <a:t>            border-left: 4px solid var(--primary-blue);</a:t>
            </a:r>
            <a:br/>
            <a:r>
              <a:t>            padding: 20px 25px;</a:t>
            </a:r>
            <a:br/>
            <a:r>
              <a:t>            margin: 20px 0;</a:t>
            </a:r>
            <a:br/>
            <a:r>
              <a:t>            border-radius: 0 12px 12px 0;</a:t>
            </a:r>
            <a:br/>
            <a:r>
              <a:t>        }</a:t>
            </a:r>
            <a:br/>
            <a:r>
              <a:t>        </a:t>
            </a:r>
            <a:br/>
            <a:r>
              <a:t>        .highlight-box h4 {</a:t>
            </a:r>
            <a:br/>
            <a:r>
              <a:t>            color: var(--accent-cyan);</a:t>
            </a:r>
            <a:br/>
            <a:r>
              <a:t>            font-size: 16px;</a:t>
            </a:r>
            <a:br/>
            <a:r>
              <a:t>            margin-bottom: 10px;</a:t>
            </a:r>
            <a:br/>
            <a:r>
              <a:t>            font-weight: 600;</a:t>
            </a:r>
            <a:br/>
            <a:r>
              <a:t>        }</a:t>
            </a:r>
            <a:br/>
            <a:r>
              <a:t>        </a:t>
            </a:r>
            <a:br/>
            <a:r>
              <a:t>        .ecosystem-diagram {</a:t>
            </a:r>
            <a:br/>
            <a:r>
              <a:t>            background: var(--card-bg);</a:t>
            </a:r>
            <a:br/>
            <a:r>
              <a:t>            border-radius: 16px;</a:t>
            </a:r>
            <a:br/>
            <a:r>
              <a:t>            padding: 40px;</a:t>
            </a:r>
            <a:br/>
            <a:r>
              <a:t>            text-align: center;</a:t>
            </a:r>
            <a:br/>
            <a:r>
              <a:t>            margin-top: 30px;</a:t>
            </a:r>
            <a:br/>
            <a:r>
              <a:t>            border: 1px solid rgba(100, 255, 218, 0.15);</a:t>
            </a:r>
            <a:br/>
            <a:r>
              <a:t>        }</a:t>
            </a:r>
            <a:br/>
            <a:r>
              <a:t>        </a:t>
            </a:r>
            <a:br/>
            <a:r>
              <a:t>        .ecosystem-nodes {</a:t>
            </a:r>
            <a:br/>
            <a:r>
              <a:t>            display: flex;</a:t>
            </a:r>
            <a:br/>
            <a:r>
              <a:t>            justify-content: space-around;</a:t>
            </a:r>
            <a:br/>
            <a:r>
              <a:t>            align-items: center;</a:t>
            </a:r>
            <a:br/>
            <a:r>
              <a:t>            flex-wrap: wrap;</a:t>
            </a:r>
            <a:br/>
            <a:r>
              <a:t>            gap: 30px;</a:t>
            </a:r>
            <a:br/>
            <a:r>
              <a:t>            margin-top: 30px;</a:t>
            </a:r>
            <a:br/>
            <a:r>
              <a:t>        }</a:t>
            </a:r>
            <a:br/>
            <a:r>
              <a:t>        </a:t>
            </a:r>
            <a:br/>
            <a:r>
              <a:t>        .eco-node {</a:t>
            </a:r>
            <a:br/>
            <a:r>
              <a:t>            background: linear-gradient(135deg, rgba(0, 168, 255, 0.2), rgba(100, 255, 218, 0.1));</a:t>
            </a:r>
            <a:br/>
            <a:r>
              <a:t>            border: 2px solid var(--primary-blue);</a:t>
            </a:r>
            <a:br/>
            <a:r>
              <a:t>            border-radius: 50%;</a:t>
            </a:r>
            <a:br/>
            <a:r>
              <a:t>            width: 120px;</a:t>
            </a:r>
            <a:br/>
            <a:r>
              <a:t>            height: 120px;</a:t>
            </a:r>
            <a:br/>
            <a:r>
              <a:t>            display: flex;</a:t>
            </a:r>
            <a:br/>
            <a:r>
              <a:t>            flex-direction: column;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transition: all 0.3s ease;</a:t>
            </a:r>
            <a:br/>
            <a:r>
              <a:t>            cursor: pointer;</a:t>
            </a:r>
            <a:br/>
            <a:r>
              <a:t>        }</a:t>
            </a:r>
            <a:br/>
            <a:r>
              <a:t>        </a:t>
            </a:r>
            <a:br/>
            <a:r>
              <a:t>        .eco-node:hover {</a:t>
            </a:r>
            <a:br/>
            <a:r>
              <a:t>            transform: scale(1.1);</a:t>
            </a:r>
            <a:br/>
            <a:r>
              <a:t>            box-shadow: 0 0 30px rgba(0, 168, 255, 0.5);</a:t>
            </a:r>
            <a:br/>
            <a:r>
              <a:t>            border-color: var(--accent-cyan);</a:t>
            </a:r>
            <a:br/>
            <a:r>
              <a:t>        }</a:t>
            </a:r>
            <a:br/>
            <a:r>
              <a:t>        </a:t>
            </a:r>
            <a:br/>
            <a:r>
              <a:t>        .eco-node i {</a:t>
            </a:r>
            <a:br/>
            <a:r>
              <a:t>            font-size: 32px;</a:t>
            </a:r>
            <a:br/>
            <a:r>
              <a:t>            color: var(--accent-cyan);</a:t>
            </a:r>
            <a:br/>
            <a:r>
              <a:t>            margin-bottom: 8px;</a:t>
            </a:r>
            <a:br/>
            <a:r>
              <a:t>        }</a:t>
            </a:r>
            <a:br/>
            <a:r>
              <a:t>        </a:t>
            </a:r>
            <a:br/>
            <a:r>
              <a:t>        .eco-node span {</a:t>
            </a:r>
            <a:br/>
            <a:r>
              <a:t>            font-size: 12px;</a:t>
            </a:r>
            <a:br/>
            <a:r>
              <a:t>            font-weight: 600;</a:t>
            </a:r>
            <a:br/>
            <a:r>
              <a:t>            color: var(--text-light);</a:t>
            </a:r>
            <a:br/>
            <a:r>
              <a:t>        }</a:t>
            </a:r>
            <a:br/>
            <a:r>
              <a:t>        </a:t>
            </a:r>
            <a:br/>
            <a:r>
              <a:t>        .eco-connector {</a:t>
            </a:r>
            <a:br/>
            <a:r>
              <a:t>            width: 60px;</a:t>
            </a:r>
            <a:br/>
            <a:r>
              <a:t>            height: 2px;</a:t>
            </a:r>
            <a:br/>
            <a:r>
              <a:t>            background: linear-gradient(90deg, var(--primary-blue), var(--accent-cyan));</a:t>
            </a:r>
            <a:br/>
            <a:r>
              <a:t>            position: relative;</a:t>
            </a:r>
            <a:br/>
            <a:r>
              <a:t>        }</a:t>
            </a:r>
            <a:br/>
            <a:r>
              <a:t>        </a:t>
            </a:r>
            <a:br/>
            <a:r>
              <a:t>        .eco-connector::after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right: -6px;</a:t>
            </a:r>
            <a:br/>
            <a:r>
              <a:t>            top: -4px;</a:t>
            </a:r>
            <a:br/>
            <a:r>
              <a:t>            border: 5px solid transparent;</a:t>
            </a:r>
            <a:br/>
            <a:r>
              <a:t>            border-left-color: var(--accent-cyan);</a:t>
            </a:r>
            <a:br/>
            <a:r>
              <a:t>        }</a:t>
            </a:r>
            <a:br/>
            <a:r>
              <a:t>        </a:t>
            </a:r>
            <a:br/>
            <a:r>
              <a:t>        .stats-grid {</a:t>
            </a:r>
            <a:br/>
            <a:r>
              <a:t>            display: grid;</a:t>
            </a:r>
            <a:br/>
            <a:r>
              <a:t>            grid-template-columns: repeat(4, 1fr);</a:t>
            </a:r>
            <a:br/>
            <a:r>
              <a:t>            gap: 20px;</a:t>
            </a:r>
            <a:br/>
            <a:r>
              <a:t>            margin-top: 30px;</a:t>
            </a:r>
            <a:br/>
            <a:r>
              <a:t>        }</a:t>
            </a:r>
            <a:br/>
            <a:r>
              <a:t>        </a:t>
            </a:r>
            <a:br/>
            <a:r>
              <a:t>        .stat-card {</a:t>
            </a:r>
            <a:br/>
            <a:r>
              <a:t>            background: var(--card-bg);</a:t>
            </a:r>
            <a:br/>
            <a:r>
              <a:t>            border-radius: 12px;</a:t>
            </a:r>
            <a:br/>
            <a:r>
              <a:t>            padding: 25px;</a:t>
            </a:r>
            <a:br/>
            <a:r>
              <a:t>            text-align: center;</a:t>
            </a:r>
            <a:br/>
            <a:r>
              <a:t>            border: 1px solid rgba(100, 255, 218, 0.1);</a:t>
            </a:r>
            <a:br/>
            <a:r>
              <a:t>            transition: all 0.3s ease;</a:t>
            </a:r>
            <a:br/>
            <a:r>
              <a:t>        }</a:t>
            </a:r>
            <a:br/>
            <a:r>
              <a:t>        </a:t>
            </a:r>
            <a:br/>
            <a:r>
              <a:t>        .stat-card:hover {</a:t>
            </a:r>
            <a:br/>
            <a:r>
              <a:t>            border-color: var(--accent-cyan);</a:t>
            </a:r>
            <a:br/>
            <a:r>
              <a:t>            transform: translateY(-3px);</a:t>
            </a:r>
            <a:br/>
            <a:r>
              <a:t>        }</a:t>
            </a:r>
            <a:br/>
            <a:r>
              <a:t>        </a:t>
            </a:r>
            <a:br/>
            <a:r>
              <a:t>        .stat-number {</a:t>
            </a:r>
            <a:br/>
            <a:r>
              <a:t>            font-size: 42px;</a:t>
            </a:r>
            <a:br/>
            <a:r>
              <a:t>            font-weight: 800;</a:t>
            </a:r>
            <a:br/>
            <a:r>
              <a:t>            background: linear-gradient(135deg, var(--primary-blue), var(--accent-cyan));</a:t>
            </a:r>
            <a:br/>
            <a:r>
              <a:t>            -webkit-background-clip: text;</a:t>
            </a:r>
            <a:br/>
            <a:r>
              <a:t>            -webkit-text-fill-color: transparent;</a:t>
            </a:r>
            <a:br/>
            <a:r>
              <a:t>            background-clip: text;</a:t>
            </a:r>
            <a:br/>
            <a:r>
              <a:t>        }</a:t>
            </a:r>
            <a:br/>
            <a:r>
              <a:t>        </a:t>
            </a:r>
            <a:br/>
            <a:r>
              <a:t>        .stat-label {</a:t>
            </a:r>
            <a:br/>
            <a:r>
              <a:t>            font-size: 14px;</a:t>
            </a:r>
            <a:br/>
            <a:r>
              <a:t>            color: var(--text-muted);</a:t>
            </a:r>
            <a:br/>
            <a:r>
              <a:t>            margin-top: 8px;</a:t>
            </a:r>
            <a:br/>
            <a:r>
              <a:t>        }</a:t>
            </a:r>
            <a:br/>
            <a:r>
              <a:t>        </a:t>
            </a:r>
            <a:br/>
            <a:r>
              <a:t>        .architecture-flow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gap: 15px;</a:t>
            </a:r>
            <a:br/>
            <a:r>
              <a:t>            margin: 30px 0;</a:t>
            </a:r>
            <a:br/>
            <a:r>
              <a:t>            flex-wrap: wrap;</a:t>
            </a:r>
            <a:br/>
            <a:r>
              <a:t>        }</a:t>
            </a:r>
            <a:br/>
            <a:r>
              <a:t>        </a:t>
            </a:r>
            <a:br/>
            <a:r>
              <a:t>        .flow-box {</a:t>
            </a:r>
            <a:br/>
            <a:r>
              <a:t>            background: var(--card-bg);</a:t>
            </a:r>
            <a:br/>
            <a:r>
              <a:t>            border: 2px solid var(--primary-blue);</a:t>
            </a:r>
            <a:br/>
            <a:r>
              <a:t>            border-radius: 12px;</a:t>
            </a:r>
            <a:br/>
            <a:r>
              <a:t>            padding: 15px 25px;</a:t>
            </a:r>
            <a:br/>
            <a:r>
              <a:t>            text-align: center;</a:t>
            </a:r>
            <a:br/>
            <a:r>
              <a:t>            min-width: 140px;</a:t>
            </a:r>
            <a:br/>
            <a:r>
              <a:t>        }</a:t>
            </a:r>
            <a:br/>
            <a:r>
              <a:t>        </a:t>
            </a:r>
            <a:br/>
            <a:r>
              <a:t>        .flow-box i {</a:t>
            </a:r>
            <a:br/>
            <a:r>
              <a:t>            font-size: 24px;</a:t>
            </a:r>
            <a:br/>
            <a:r>
              <a:t>            color: var(--accent-cyan);</a:t>
            </a:r>
            <a:br/>
            <a:r>
              <a:t>            margin-bottom: 8px;</a:t>
            </a:r>
            <a:br/>
            <a:r>
              <a:t>        }</a:t>
            </a:r>
            <a:br/>
            <a:r>
              <a:t>        </a:t>
            </a:r>
            <a:br/>
            <a:r>
              <a:t>        .flow-box span {</a:t>
            </a:r>
            <a:br/>
            <a:r>
              <a:t>            display: block;</a:t>
            </a:r>
            <a:br/>
            <a:r>
              <a:t>            font-size: 13px;</a:t>
            </a:r>
            <a:br/>
            <a:r>
              <a:t>            color: var(--text-light);</a:t>
            </a:r>
            <a:br/>
            <a:r>
              <a:t>            font-weight: 600;</a:t>
            </a:r>
            <a:br/>
            <a:r>
              <a:t>        }</a:t>
            </a:r>
            <a:br/>
            <a:r>
              <a:t>        </a:t>
            </a:r>
            <a:br/>
            <a:r>
              <a:t>        .flow-arrow {</a:t>
            </a:r>
            <a:br/>
            <a:r>
              <a:t>            color: var(--primary-blue);</a:t>
            </a:r>
            <a:br/>
            <a:r>
              <a:t>            font-size: 20px;</a:t>
            </a:r>
            <a:br/>
            <a:r>
              <a:t>        }</a:t>
            </a:r>
            <a:br/>
            <a:r>
              <a:t>        </a:t>
            </a:r>
            <a:br/>
            <a:r>
              <a:t>        .comparison-table {</a:t>
            </a:r>
            <a:br/>
            <a:r>
              <a:t>            width: 100%;</a:t>
            </a:r>
            <a:br/>
            <a:r>
              <a:t>            border-collapse: collapse;</a:t>
            </a:r>
            <a:br/>
            <a:r>
              <a:t>            margin-top: 20px;</a:t>
            </a:r>
            <a:br/>
            <a:r>
              <a:t>            font-size: 14px;</a:t>
            </a:r>
            <a:br/>
            <a:r>
              <a:t>        }</a:t>
            </a:r>
            <a:br/>
            <a:r>
              <a:t>        </a:t>
            </a:r>
            <a:br/>
            <a:r>
              <a:t>        .comparison-table th {</a:t>
            </a:r>
            <a:br/>
            <a:r>
              <a:t>            background: linear-gradient(135deg, var(--primary-blue), var(--secondary-blue));</a:t>
            </a:r>
            <a:br/>
            <a:r>
              <a:t>            color: white;</a:t>
            </a:r>
            <a:br/>
            <a:r>
              <a:t>            padding: 15px;</a:t>
            </a:r>
            <a:br/>
            <a:r>
              <a:t>            text-align: left;</a:t>
            </a:r>
            <a:br/>
            <a:r>
              <a:t>            font-weight: 600;</a:t>
            </a:r>
            <a:br/>
            <a:r>
              <a:t>        }</a:t>
            </a:r>
            <a:br/>
            <a:r>
              <a:t>        </a:t>
            </a:r>
            <a:br/>
            <a:r>
              <a:t>        .comparison-table td {</a:t>
            </a:r>
            <a:br/>
            <a:r>
              <a:t>            padding: 15px;</a:t>
            </a:r>
            <a:br/>
            <a:r>
              <a:t>            border-bottom: 1px solid rgba(100, 255, 218, 0.1);</a:t>
            </a:r>
            <a:br/>
            <a:r>
              <a:t>            color: var(--text-muted);</a:t>
            </a:r>
            <a:br/>
            <a:r>
              <a:t>        }</a:t>
            </a:r>
            <a:br/>
            <a:r>
              <a:t>        </a:t>
            </a:r>
            <a:br/>
            <a:r>
              <a:t>        .comparison-table tr:hover td {</a:t>
            </a:r>
            <a:br/>
            <a:r>
              <a:t>            background: rgba(0, 168, 255, 0.05);</a:t>
            </a:r>
            <a:br/>
            <a:r>
              <a:t>        }</a:t>
            </a:r>
            <a:br/>
            <a:r>
              <a:t>        </a:t>
            </a:r>
            <a:br/>
            <a:r>
              <a:t>        .tag {</a:t>
            </a:r>
            <a:br/>
            <a:r>
              <a:t>            display: inline-block;</a:t>
            </a:r>
            <a:br/>
            <a:r>
              <a:t>            background: rgba(100, 255, 218, 0.15);</a:t>
            </a:r>
            <a:br/>
            <a:r>
              <a:t>            color: var(--accent-cyan);</a:t>
            </a:r>
            <a:br/>
            <a:r>
              <a:t>            padding: 4px 12px;</a:t>
            </a:r>
            <a:br/>
            <a:r>
              <a:t>            border-radius: 20px;</a:t>
            </a:r>
            <a:br/>
            <a:r>
              <a:t>            font-size: 12px;</a:t>
            </a:r>
            <a:br/>
            <a:r>
              <a:t>            font-weight: 600;</a:t>
            </a:r>
            <a:br/>
            <a:r>
              <a:t>            margin: 2px;</a:t>
            </a:r>
            <a:br/>
            <a:r>
              <a:t>        }</a:t>
            </a:r>
            <a:br/>
            <a:r>
              <a:t>        </a:t>
            </a:r>
            <a:br/>
            <a:r>
              <a:t>        @media (max-width: 1200px) {</a:t>
            </a:r>
            <a:br/>
            <a:r>
              <a:t>            .slide-container {</a:t>
            </a:r>
            <a:br/>
            <a:r>
              <a:t>                padding: 40px 50px;</a:t>
            </a:r>
            <a:br/>
            <a:r>
              <a:t>            }</a:t>
            </a:r>
            <a:br/>
            <a:r>
              <a:t>            </a:t>
            </a:r>
            <a:br/>
            <a:r>
              <a:t>            .content-grid {</a:t>
            </a:r>
            <a:br/>
            <a:r>
              <a:t>                grid-template-columns: 1fr;</a:t>
            </a:r>
            <a:br/>
            <a:r>
              <a:t>            }</a:t>
            </a:r>
            <a:br/>
            <a:r>
              <a:t>            </a:t>
            </a:r>
            <a:br/>
            <a:r>
              <a:t>            .stats-grid {</a:t>
            </a:r>
            <a:br/>
            <a:r>
              <a:t>                grid-template-columns: repeat(2, 1fr);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</a:t>
            </a:r>
            <a:br/>
            <a:r>
              <a:t>        @media (max-width: 768px) {</a:t>
            </a:r>
            <a:br/>
            <a:r>
              <a:t>            .slide-container {</a:t>
            </a:r>
            <a:br/>
            <a:r>
              <a:t>                padding: 30px 25px;</a:t>
            </a:r>
            <a:br/>
            <a:r>
              <a:t>            }</a:t>
            </a:r>
            <a:br/>
            <a:r>
              <a:t>            </a:t>
            </a:r>
            <a:br/>
            <a:r>
              <a:t>            h1 {</a:t>
            </a:r>
            <a:br/>
            <a:r>
              <a:t>                font-size: 32px;</a:t>
            </a:r>
            <a:br/>
            <a:r>
              <a:t>            }</a:t>
            </a:r>
            <a:br/>
            <a:r>
              <a:t>            </a:t>
            </a:r>
            <a:br/>
            <a:r>
              <a:t>            .stats-grid {</a:t>
            </a:r>
            <a:br/>
            <a:r>
              <a:t>                grid-template-columns: 1fr;</a:t>
            </a:r>
            <a:br/>
            <a:r>
              <a:t>            }</a:t>
            </a:r>
            <a:br/>
            <a:r>
              <a:t>            </a:t>
            </a:r>
            <a:br/>
            <a:r>
              <a:t>            .eco-node {</a:t>
            </a:r>
            <a:br/>
            <a:r>
              <a:t>                width: 80px;</a:t>
            </a:r>
            <a:br/>
            <a:r>
              <a:t>                height: 80px;</a:t>
            </a:r>
            <a:br/>
            <a:r>
              <a:t>            }</a:t>
            </a:r>
            <a:br/>
            <a:r>
              <a:t>            </a:t>
            </a:r>
            <a:br/>
            <a:r>
              <a:t>            .eco-node i {</a:t>
            </a:r>
            <a:br/>
            <a:r>
              <a:t>                font-size: 24px;</a:t>
            </a:r>
            <a:br/>
            <a:r>
              <a:t>            }</a:t>
            </a:r>
            <a:br/>
            <a:r>
              <a:t>        }</a:t>
            </a:r>
            <a:br/>
            <a:r>
              <a:t>    </a:t>
            </a:r>
            <a:br/>
            <a:br/>
            <a:br/>
            <a:r>
              <a:t>    </a:t>
            </a:r>
            <a:br/>
            <a:r>
              <a:t>        </a:t>
            </a:r>
            <a:br/>
            <a:r>
              <a:t>            第 16 / 22 页</a:t>
            </a:r>
            <a:br/>
            <a:r>
              <a:t>             Swarm 模式与开放生态</a:t>
            </a:r>
            <a:br/>
            <a:r>
              <a:t>            去中心化多智能体协作 · 开放架构与集成生态</a:t>
            </a:r>
            <a:br/>
            <a:r>
              <a:t>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Swarm 去中心化架构</a:t>
            </a:r>
            <a:br/>
            <a:r>
              <a:t>                    </a:t>
            </a:r>
            <a:br/>
            <a:r>
              <a:t>                        Swarm 是 LangChain 推出的实验性多智能体协作框架，采用完全去中心化的设计理念，Agent 之间直接点对点通信，无需中央调度器协调。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 核心设计理念</a:t>
            </a:r>
            <a:br/>
            <a:r>
              <a:t>                            “让 Agent 像蜂群一样自主协作，每个 Agent 都是独立的智能体，通过共享上下文和状态进行协作。”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无中央调度器</a:t>
            </a:r>
            <a:br/>
            <a:r>
              <a:t>                                    每个 Agent 自主决策，支持动态路由和灵活的消息传递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Swarm 模式与开放生态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去中心化多智能体协作 · 开放架构与集成生态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Swarm 去中心化架构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Swarm 是 LangChain 推出的实验性多智能体协作框架，采用完全去中心化的设计理念，Agent 之间直接点对点通信，无需中央调度器协调。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“让 Agent 像蜂群一样自主协作，每个 Agent 都是独立的智能体，通过共享上下文和状态进行协作。”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每个 Agent 自主决策，支持动态路由和灵活的消息传递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Context Sharing</a:t>
            </a:r>
            <a:br/>
            <a:r>
              <a:t>                                    通过 Shared Context 在 Agent 间传递状态和信息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通过 Shared Context 在 Agent 间传递状态和信息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动态注册机制</a:t>
            </a:r>
            <a:br/>
            <a:r>
              <a:t>                                    运行时动态注册和注销 Agent，支持弹性扩展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运行时动态注册和注销 Agent，支持弹性扩展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Election 机制</a:t>
            </a:r>
            <a:br/>
            <a:r>
              <a:t>                                    内置 Agent 选举算法，支持故障转移和负载均衡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内置 Agent 选举算法，支持故障转移和负载均衡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Swarm vs Supervisor 模式对比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8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LangChain 开放生态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构建了丰富的生态系统，支持与主流 AI 平台、数据源、工具链的无缝集成。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统一抽象层 · 模块化设计 · 灵活插拔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1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主流集成支持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7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OpenAI · Anthropic · Google · Azure · AWS · Cohere · Mistral · Ollama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9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Pinecone · Weaviate · Chroma · FAISS · PGVector · Qdrant · Milvus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Redis · Postgres · MongoDB · DynamoDB · Cassandra · Momento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99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Tavily · SerpAPI · Wolfram · Slack · GitHub · Notion · Google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03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Swarm 协作示例代码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09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from langchain.agents import Agent</a:t>
            </a:r>
            <a:br/>
            <a:r>
              <a:t>from langchain.agents.swarm import Swarm</a:t>
            </a:r>
            <a:br/>
            <a:br/>
            <a:r>
              <a:t># 初始化 Swarm 运行时</a:t>
            </a:r>
            <a:br/>
            <a:r>
              <a:t>swarm = Swarm(name="ProductionSwarm")</a:t>
            </a:r>
            <a:br/>
            <a:br/>
            <a:r>
              <a:t># 注册多个专业 Agent</a:t>
            </a:r>
            <a:br/>
            <a:r>
              <a:t>researcher = Agent(name="Researcher", ...)</a:t>
            </a:r>
            <a:br/>
            <a:r>
              <a:t>analyst = Agent(name="Analyst", ...)</a:t>
            </a:r>
            <a:br/>
            <a:r>
              <a:t>writer = Agent(name="Writer", ...)</a:t>
            </a:r>
            <a:br/>
            <a:br/>
            <a:r>
              <a:t>swarm.register(researcher)</a:t>
            </a:r>
            <a:br/>
            <a:r>
              <a:t>swarm.register(analyst)</a:t>
            </a:r>
            <a:br/>
            <a:r>
              <a:t>swarm.register(writer)</a:t>
            </a:r>
            <a:br/>
            <a:br/>
            <a:r>
              <a:t># 运行时动态注册新 Agent</a:t>
            </a:r>
            <a:br/>
            <a:r>
              <a:t>swarm.register(Agent(name="Reviewer", ...))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 Agent 间消息传递</a:t>
            </a:r>
            <a:br/>
            <a:r>
              <a:t>                    </a:t>
            </a:r>
            <a:br/>
            <a:r>
              <a:t>                    # Agent 之间直接传递消息</a:t>
            </a:r>
            <a:br/>
            <a:r>
              <a:t>result = await swarm.run(</a:t>
            </a:r>
            <a:br/>
            <a:r>
              <a:t>    initial_agent="Researcher",</a:t>
            </a:r>
            <a:br/>
            <a:r>
              <a:t>    task="分析 2025 AI 发展趋势",</a:t>
            </a:r>
            <a:br/>
            <a:r>
              <a:t>    context={"depth": "comprehensive"}</a:t>
            </a:r>
            <a:br/>
            <a:r>
              <a:t>)</a:t>
            </a:r>
            <a:br/>
            <a:br/>
            <a:r>
              <a:t># Swarm 自动处理:</a:t>
            </a:r>
            <a:br/>
            <a:r>
              <a:t># 1. Researcher → 收集信息</a:t>
            </a:r>
            <a:br/>
            <a:r>
              <a:t># 2. handoff to Analyst → 分析数据</a:t>
            </a:r>
            <a:br/>
            <a:r>
              <a:t># 3. handoff to Writer → 生成报告</a:t>
            </a:r>
            <a:br/>
            <a:r>
              <a:t># 4. handoff to Reviewer → 审核校正</a:t>
            </a:r>
            <a:br/>
            <a:br/>
            <a:r>
              <a:t>print(result.final_output)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     关键要点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 去中心化优势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Swarm 模式适合需要高度灵活性和容错能力的复杂协作场景，避免单点故障，支持动态扩展。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13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关键要点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18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生态覆盖主流 AI 服务、数据存储、工具集成，开箱即用，减少重复造轮子的工作。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22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Supervisor → 结构化流程、明确任务</a:t>
            </a:r>
            <a:br/>
            <a:r>
              <a:t>                        Swarm → 复杂协作、开放生态</a:t>
            </a:r>
            <a:br/>
            <a:r>
              <a:t>                        Hierarchical → 大型企业、层级组织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人机协同模式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让人类成为AI决策的关键参与者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为什么需要 Human-in-the-Loop？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防止AI执行不可逆的危险操作，如删除数据、转账等敏感操作需要人类确认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满足监管要求，关键决策需要人工审计和批准，保留决策责任链条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结合人类专业知识和AI能力，处理AI不擅长的模糊或需要上下文理解的场景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在执行过程中发现错误时，人类可以及时干预修正，避免错误放大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28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核心机制：Interrupt 中断点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在节点执行之前中断，等待人类输入后再决定是否继续执行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执行前的审批确认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敏感操作的二次验证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资源分配的最终确认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在节点执行之后中断，允许人类审查执行结果后再继续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7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执行结果的审核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内容生成的确认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数据分析的验证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628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实战代码：基础 Human-in-the-Loop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9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from langgraph.checkpoint.memory import MemorySaver</a:t>
            </a:r>
            <a:br/>
            <a:r>
              <a:t>from langgraph.graph import StateGraph, END</a:t>
            </a:r>
            <a:br/>
            <a:br/>
            <a:r>
              <a:t># 定义状态</a:t>
            </a:r>
            <a:br/>
            <a:r>
              <a:t>class State(TypedDict):</a:t>
            </a:r>
            <a:br/>
            <a:r>
              <a:t>    messages: list</a:t>
            </a:r>
            <a:br/>
            <a:r>
              <a:t>    needs_approval: bool</a:t>
            </a:r>
            <a:br/>
            <a:r>
              <a:t>    approved: bool</a:t>
            </a:r>
            <a:br/>
            <a:br/>
            <a:r>
              <a:t># 创建带checkpoint的图</a:t>
            </a:r>
            <a:br/>
            <a:r>
              <a:t>checkpointer = MemorySaver()</a:t>
            </a:r>
            <a:br/>
            <a:r>
              <a:t>graph = StateGraph(State)</a:t>
            </a:r>
            <a:br/>
            <a:br/>
            <a:r>
              <a:t># 添加节点</a:t>
            </a:r>
            <a:br/>
            <a:r>
              <a:t>graph.add_node("process", process_node)</a:t>
            </a:r>
            <a:br/>
            <a:r>
              <a:t>graph.add_node("approve", approval_node)</a:t>
            </a:r>
            <a:br/>
            <a:r>
              <a:t>graph.add_node("execute", execute_node)</a:t>
            </a:r>
            <a:br/>
            <a:br/>
            <a:r>
              <a:t># 设置入口和结束</a:t>
            </a:r>
            <a:br/>
            <a:r>
              <a:t>graph.set_entry_point("process")</a:t>
            </a:r>
            <a:br/>
            <a:r>
              <a:t>graph.add_edge("process", "approve")</a:t>
            </a:r>
            <a:br/>
            <a:r>
              <a:t>graph.add_edge("approve", END)</a:t>
            </a:r>
            <a:br/>
            <a:br/>
            <a:r>
              <a:t># 编译时启用HIL</a:t>
            </a:r>
            <a:br/>
            <a:r>
              <a:t>app = graph.compile(</a:t>
            </a:r>
            <a:br/>
            <a:r>
              <a:t>    checkpointer=checkpointer,</a:t>
            </a:r>
            <a:br/>
            <a:r>
              <a:t>    interrupt_before=["execute"],  # 执行前中断</a:t>
            </a:r>
            <a:br/>
            <a:r>
              <a:t>)</a:t>
            </a:r>
            <a:br/>
            <a:br/>
            <a:r>
              <a:t># 首次运行</a:t>
            </a:r>
            <a:br/>
            <a:r>
              <a:t>config = {"configurable": {"thread_id": "1"}}</a:t>
            </a:r>
            <a:br/>
            <a:r>
              <a:t>app.invoke({"messages": ["敏感操作请求"]}, config)</a:t>
            </a:r>
            <a:br/>
            <a:br/>
            <a:r>
              <a:t># 查看挂起状态</a:t>
            </a:r>
            <a:br/>
            <a:r>
              <a:t>print(app.get_state(config).next)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 执行流程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1</a:t>
            </a:r>
            <a:br/>
            <a:r>
              <a:t>                                </a:t>
            </a:r>
            <a:br/>
            <a:r>
              <a:t>                                    process → approve</a:t>
            </a:r>
            <a:br/>
            <a:r>
              <a:t>                                    正常执行到审批节点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2</a:t>
            </a:r>
            <a:br/>
            <a:r>
              <a:t>                                </a:t>
            </a:r>
            <a:br/>
            <a:r>
              <a:t>                                    ⚠ 执行中断</a:t>
            </a:r>
            <a:br/>
            <a:r>
              <a:t>                                    暂停在 execute 节点前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3</a:t>
            </a:r>
            <a:br/>
            <a:r>
              <a:t>                                </a:t>
            </a:r>
            <a:br/>
            <a:r>
              <a:t>                                    用户审批后继续</a:t>
            </a:r>
            <a:br/>
            <a:r>
              <a:t>                                    调用 app.invoke(None, config) 恢复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thread_id 隔离</a:t>
            </a:r>
            <a:br/>
            <a:r>
              <a:t>                            每个用户的会话使用独立的 thread_id，确保审批状态互不干扰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多级审批流程实现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# 多级审批节点配置</a:t>
            </a:r>
            <a:br/>
            <a:r>
              <a:t>workflow = StateGraph(SecurityState)</a:t>
            </a:r>
            <a:br/>
            <a:br/>
            <a:r>
              <a:t># 节点1: 普通操作</a:t>
            </a:r>
            <a:br/>
            <a:r>
              <a:t>workflow.add_node("normal_op", normal_operation)</a:t>
            </a:r>
            <a:br/>
            <a:r>
              <a:t>workflow.add_edge("normal_op", END)</a:t>
            </a:r>
            <a:br/>
            <a:br/>
            <a:r>
              <a:t># 节点2: 需要经理审批</a:t>
            </a:r>
            <a:br/>
            <a:r>
              <a:t>workflow.add_node("manager_review", manager_review)</a:t>
            </a:r>
            <a:br/>
            <a:r>
              <a:t>workflow.add_edge("manager_review", END)</a:t>
            </a:r>
            <a:br/>
            <a:br/>
            <a:r>
              <a:t># 节点3: 需要总监审批</a:t>
            </a:r>
            <a:br/>
            <a:r>
              <a:t>workflow.add_node("director_review", director_review)</a:t>
            </a:r>
            <a:br/>
            <a:r>
              <a:t>workflow.add_edge("director_review", END)</a:t>
            </a:r>
            <a:br/>
            <a:br/>
            <a:r>
              <a:t># 节点4: 需要CEO审批</a:t>
            </a:r>
            <a:br/>
            <a:r>
              <a:t>workflow.add_node("ceo_review", ceo_review)</a:t>
            </a:r>
            <a:br/>
            <a:r>
              <a:t>workflow.add_node("execute_critical", execute_critical)</a:t>
            </a:r>
            <a:br/>
            <a:r>
              <a:t>workflow.add_edge("ceo_review", "execute_critical")</a:t>
            </a:r>
            <a:br/>
            <a:r>
              <a:t>workflow.add_edge("execute_critical", END)</a:t>
            </a:r>
            <a:br/>
            <a:br/>
            <a:r>
              <a:t># 根据风险级别设置不同中断点</a:t>
            </a:r>
            <a:br/>
            <a:r>
              <a:t>app = workflow.compile(</a:t>
            </a:r>
            <a:br/>
            <a:r>
              <a:t>    checkpointer=checkpointer,</a:t>
            </a:r>
            <a:br/>
            <a:r>
              <a:t>    interrupt_before=["manager_review"],      # 低风险</a:t>
            </a:r>
            <a:br/>
            <a:r>
              <a:t>    interrupt_before=["director_review"],      # 中风险  </a:t>
            </a:r>
            <a:br/>
            <a:r>
              <a:t>    interrupt_before=["ceo_review", "execute_critical"],  # 高风险</a:t>
            </a:r>
            <a:br/>
            <a:r>
              <a:t>)</a:t>
            </a:r>
            <a:br/>
            <a:br/>
            <a:r>
              <a:t>def route_action(state: SecurityState) -&gt; str:</a:t>
            </a:r>
            <a:br/>
            <a:r>
              <a:t>    """根据风险等级路由到不同审批级别"""</a:t>
            </a:r>
            <a:br/>
            <a:r>
              <a:t>    risk_level = state.get("risk_level", "low")</a:t>
            </a:r>
            <a:br/>
            <a:r>
              <a:t>    </a:t>
            </a:r>
            <a:br/>
            <a:r>
              <a:t>    if risk_level == "low":</a:t>
            </a:r>
            <a:br/>
            <a:r>
              <a:t>        return "manager_review"</a:t>
            </a:r>
            <a:br/>
            <a:r>
              <a:t>    elif risk_level == "medium":</a:t>
            </a:r>
            <a:br/>
            <a:r>
              <a:t>        return "director_review"</a:t>
            </a:r>
            <a:br/>
            <a:r>
              <a:t>    elif risk_level == "high":</a:t>
            </a:r>
            <a:br/>
            <a:r>
              <a:t>        return "ceo_review"</a:t>
            </a:r>
            <a:br/>
            <a:r>
              <a:t>    else:</a:t>
            </a:r>
            <a:br/>
            <a:r>
              <a:t>        return END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 分级审批架构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普通操作</a:t>
            </a:r>
            <a:br/>
            <a:r>
              <a:t>                                    Manager 审批 | 中断点: manager_review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中等风险</a:t>
            </a:r>
            <a:br/>
            <a:r>
              <a:t>                                    Director 审批 | 中断点: director_review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高风险操作</a:t>
            </a:r>
            <a:br/>
            <a:r>
              <a:t>                                    CEO + 执行双重审批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风险评估逻辑</a:t>
            </a:r>
            <a:br/>
            <a:r>
              <a:t>                            AI根据操作类型、金额、影响范围自动评估风险等级，决定需要哪一级审批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</a:t>
            </a:r>
            <a:br/>
            <a:r>
              <a:t>            实际应用场景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企业审批系统</a:t>
            </a:r>
            <a:br/>
            <a:r>
              <a:t>                    合同审批、预算支出、系统权限变更等需要多层审批的业务流程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9828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多级审批流程实现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0628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实际应用场景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1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自主Agent执行敏感任务时，人类可随时介入修正方向或终止任务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AI生成营销文案、邮件内容需要人工审核后才能对外发送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批量删除、数据库迁移等高危操作必须经过DBA或管理员确认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大额转账、投资决策需要人工复核确认，防止异常交易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AI客服无法解决时，无缝转人工并传递完整对话上下文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3428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状态管理与恢复机制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228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最佳实践与注意事项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15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明确标识中断点，提供清晰的上下文信息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5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在状态中保存足够的决策依据供审批者参考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5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设置合理的超时机制，避免流程无限期挂起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16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记录完整的操作审计日志，满足合规要求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16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使用独立线程管理审批，避免干扰主流程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17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提供友好的审批UI，降低审批者学习成本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17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支持批量审批和委托审批，提升效率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7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中断点过于频繁，导致用户体验下降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18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审批信息不完整，让审批者无法做出判断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18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缺少状态持久化，重启后丢失待审批任务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19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并发控制不当，导致同一任务被多次审批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194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审批超时处理缺失，产生僵尸流程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19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过度依赖人工审批，未能发挥AI效率优势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02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缺少通知机制，审批者不知有新任务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.reveal { font-family: 'Inter', system-ui, sans-serif; color: #e0e6ed; }</a:t>
            </a:r>
            <a:br/>
            <a:r>
              <a:t>        .reveal h1, .reveal h2, .reveal h3, .reveal h4 { font-weight: 700; color: #ffffff; text-transform: none; }</a:t>
            </a:r>
            <a:br/>
            <a:r>
              <a:t>        .reveal code { font-family: 'JetBrains Mono', 'Fira Code', monospace; }</a:t>
            </a:r>
            <a:br/>
            <a:r>
              <a:t>        .reveal pre { box-shadow: 0 8px 32px rgba(0,0,0,0.3); border-radius: 12px; }</a:t>
            </a:r>
            <a:br/>
            <a:r>
              <a:t>        .reveal ul, .reveal ol { text-align: left; }</a:t>
            </a:r>
            <a:br/>
            <a:r>
              <a:t>        .reveal table { font-size: 0.65em; }</a:t>
            </a:r>
            <a:br/>
            <a:r>
              <a:t>        .reveal section { height: 100%; padding: 15px; overflow: hidden; }</a:t>
            </a:r>
            <a:br/>
            <a:br/>
            <a:r>
              <a:t>        :root {</a:t>
            </a:r>
            <a:br/>
            <a:r>
              <a:t>            --tech-blue: #00d4ff;</a:t>
            </a:r>
            <a:br/>
            <a:r>
              <a:t>            --tech-blue-dark: #0066cc;</a:t>
            </a:r>
            <a:br/>
            <a:r>
              <a:t>            --tech-purple: #7c3aed;</a:t>
            </a:r>
            <a:br/>
            <a:r>
              <a:t>            --tech-bg: #0a0e17;</a:t>
            </a:r>
            <a:br/>
            <a:r>
              <a:t>            --tech-card: rgba(0, 212, 255, 0.1);</a:t>
            </a:r>
            <a:br/>
            <a:r>
              <a:t>            --tech-border: rgba(0, 212, 255, 0.3);</a:t>
            </a:r>
            <a:br/>
            <a:r>
              <a:t>        }</a:t>
            </a:r>
            <a:br/>
            <a:br/>
            <a:r>
              <a:t>        .gradient-bg {</a:t>
            </a:r>
            <a:br/>
            <a:r>
              <a:t>            background: linear-gradient(135deg, #0a0e17 0%, #1a1f35 50%, #0d1525 100%);</a:t>
            </a:r>
            <a:br/>
            <a:r>
              <a:t>        }</a:t>
            </a:r>
            <a:br/>
            <a:br/>
            <a:r>
              <a:t>        .grid-bg {</a:t>
            </a:r>
            <a:br/>
            <a:r>
              <a:t>            background-image: </a:t>
            </a:r>
            <a:br/>
            <a:r>
              <a:t>                linear-gradient(rgba(0, 212, 255, 0.03) 1px, transparent 1px),</a:t>
            </a:r>
            <a:br/>
            <a:r>
              <a:t>                linear-gradient(90deg, rgba(0, 212, 255, 0.03) 1px, transparent 1px);</a:t>
            </a:r>
            <a:br/>
            <a:r>
              <a:t>            background-size: 50px 50px;</a:t>
            </a:r>
            <a:br/>
            <a:r>
              <a:t>        }</a:t>
            </a:r>
            <a:br/>
            <a:br/>
            <a:r>
              <a:t>        .flex-container { display: flex; justify-content: space-between; align-items: start; gap: 20px; }</a:t>
            </a:r>
            <a:br/>
            <a:r>
              <a:t>        .col { flex: 1; min-height: 0; overflow: hidden; }</a:t>
            </a:r>
            <a:br/>
            <a:r>
              <a:t>        .grid-2 { display: grid; grid-template-columns: 1fr 1fr; gap: 15px; }</a:t>
            </a:r>
            <a:br/>
            <a:r>
              <a:t>        .grid-3 { display: grid; grid-template-columns: 1fr 1fr 1fr; gap: 12px; }</a:t>
            </a:r>
            <a:br/>
            <a:r>
              <a:t>        .grid-4 { display: grid; grid-template-columns: repeat(4, 1fr); gap: 10px; }</a:t>
            </a:r>
            <a:br/>
            <a:br/>
            <a:r>
              <a:t>        .case-card {</a:t>
            </a:r>
            <a:br/>
            <a:r>
              <a:t>            background: linear-gradient(135deg, rgba(0, 212, 255, 0.1) 0%, rgba(124, 58, 237, 0.1) 100%);</a:t>
            </a:r>
            <a:br/>
            <a:r>
              <a:t>            border: 1px solid rgba(0, 212, 255, 0.3);</a:t>
            </a:r>
            <a:br/>
            <a:r>
              <a:t>            border-radius: 10px;</a:t>
            </a:r>
            <a:br/>
            <a:r>
              <a:t>            padding: 12px;</a:t>
            </a:r>
            <a:br/>
            <a:r>
              <a:t>            backdrop-filter: blur(10px);</a:t>
            </a:r>
            <a:br/>
            <a:r>
              <a:t>            transition: all 0.3s ease;</a:t>
            </a:r>
            <a:br/>
            <a:r>
              <a:t>            overflow: hidden;</a:t>
            </a:r>
            <a:br/>
            <a:r>
              <a:t>        }</a:t>
            </a:r>
            <a:br/>
            <a:r>
              <a:t>        .case-card:hover {</a:t>
            </a:r>
            <a:br/>
            <a:r>
              <a:t>            transform: translateY(-3px);</a:t>
            </a:r>
            <a:br/>
            <a:r>
              <a:t>            border-color: rgba(0, 212, 255, 0.6);</a:t>
            </a:r>
            <a:br/>
            <a:r>
              <a:t>            box-shadow: 0 8px 30px rgba(0, 212, 255, 0.2);</a:t>
            </a:r>
            <a:br/>
            <a:r>
              <a:t>        }</a:t>
            </a:r>
            <a:br/>
            <a:r>
              <a:t>        .case-card h4 {</a:t>
            </a:r>
            <a:br/>
            <a:r>
              <a:t>            color: #00d4ff;</a:t>
            </a:r>
            <a:br/>
            <a:r>
              <a:t>            margin: 0 0 8px 0;</a:t>
            </a:r>
            <a:br/>
            <a:r>
              <a:t>            font-size: 0.95em;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8px;</a:t>
            </a:r>
            <a:br/>
            <a:r>
              <a:t>        }</a:t>
            </a:r>
            <a:br/>
            <a:r>
              <a:t>        .case-card p {</a:t>
            </a:r>
            <a:br/>
            <a:r>
              <a:t>            color: #a0aec0;</a:t>
            </a:r>
            <a:br/>
            <a:r>
              <a:t>            font-size: 0.7em;</a:t>
            </a:r>
            <a:br/>
            <a:r>
              <a:t>            line-height: 1.4;</a:t>
            </a:r>
            <a:br/>
            <a:r>
              <a:t>            margin: 0;</a:t>
            </a:r>
            <a:br/>
            <a:r>
              <a:t>        }</a:t>
            </a:r>
            <a:br/>
            <a:br/>
            <a:r>
              <a:t>        .metric-card {</a:t>
            </a:r>
            <a:br/>
            <a:r>
              <a:t>            background: rgba(0, 212, 255, 0.08);</a:t>
            </a:r>
            <a:br/>
            <a:r>
              <a:t>            border: 1px solid rgba(0, 212, 255, 0.2);</a:t>
            </a:r>
            <a:br/>
            <a:r>
              <a:t>            border-radius: 12px;</a:t>
            </a:r>
            <a:br/>
            <a:r>
              <a:t>            padding: 12px;</a:t>
            </a:r>
            <a:br/>
            <a:r>
              <a:t>            text-align: center;</a:t>
            </a:r>
            <a:br/>
            <a:r>
              <a:t>        }</a:t>
            </a:r>
            <a:br/>
            <a:r>
              <a:t>        .metric-card .number {</a:t>
            </a:r>
            <a:br/>
            <a:r>
              <a:t>            font-size: 1.8em;</a:t>
            </a:r>
            <a:br/>
            <a:r>
              <a:t>            font-weight: 800;</a:t>
            </a:r>
            <a:br/>
            <a:r>
              <a:t>            color: #00d4ff;</a:t>
            </a:r>
            <a:br/>
            <a:r>
              <a:t>            margin: 0;</a:t>
            </a:r>
            <a:br/>
            <a:r>
              <a:t>        }</a:t>
            </a:r>
            <a:br/>
            <a:r>
              <a:t>        .metric-card .label {</a:t>
            </a:r>
            <a:br/>
            <a:r>
              <a:t>            font-size: 0.7em;</a:t>
            </a:r>
            <a:br/>
            <a:r>
              <a:t>            color: #a0aec0;</a:t>
            </a:r>
            <a:br/>
            <a:r>
              <a:t>            margin: 4px 0 0 0;</a:t>
            </a:r>
            <a:br/>
            <a:r>
              <a:t>        }</a:t>
            </a:r>
            <a:br/>
            <a:r>
              <a:t>        .metric-card .improvement {</a:t>
            </a:r>
            <a:br/>
            <a:r>
              <a:t>            color: #10b981;</a:t>
            </a:r>
            <a:br/>
            <a:r>
              <a:t>            font-size: 0.65em;</a:t>
            </a:r>
            <a:br/>
            <a:r>
              <a:t>            margin-top: 3px;</a:t>
            </a:r>
            <a:br/>
            <a:r>
              <a:t>        }</a:t>
            </a:r>
            <a:br/>
            <a:br/>
            <a:r>
              <a:t>        .flow-diagram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gap: 8px;</a:t>
            </a:r>
            <a:br/>
            <a:r>
              <a:t>            padding: 10px 0;</a:t>
            </a:r>
            <a:br/>
            <a:r>
              <a:t>            flex-wrap: wrap;</a:t>
            </a:r>
            <a:br/>
            <a:r>
              <a:t>        }</a:t>
            </a:r>
            <a:br/>
            <a:r>
              <a:t>        .flow-node {</a:t>
            </a:r>
            <a:br/>
            <a:r>
              <a:t>            background: linear-gradient(135deg, var(--tech-blue) 0%, var(--tech-purple) 100%);</a:t>
            </a:r>
            <a:br/>
            <a:r>
              <a:t>            padding: 8px 12px;</a:t>
            </a:r>
            <a:br/>
            <a:r>
              <a:t>            border-radius: 6px;</a:t>
            </a:r>
            <a:br/>
            <a:r>
              <a:t>            color: white;</a:t>
            </a:r>
            <a:br/>
            <a:r>
              <a:t>            font-weight: 600;</a:t>
            </a:r>
            <a:br/>
            <a:r>
              <a:t>            font-size: 0.7em;</a:t>
            </a:r>
            <a:br/>
            <a:r>
              <a:t>            text-align: center;</a:t>
            </a:r>
            <a:br/>
            <a:r>
              <a:t>            min-width: 80px;</a:t>
            </a:r>
            <a:br/>
            <a:r>
              <a:t>        }</a:t>
            </a:r>
            <a:br/>
            <a:r>
              <a:t>        .flow-arrow {</a:t>
            </a:r>
            <a:br/>
            <a:r>
              <a:t>            color: var(--tech-blue);</a:t>
            </a:r>
            <a:br/>
            <a:r>
              <a:t>            font-size: 1.2em;</a:t>
            </a:r>
            <a:br/>
            <a:r>
              <a:t>        }</a:t>
            </a:r>
            <a:br/>
            <a:br/>
            <a:r>
              <a:t>        .arch-box {</a:t>
            </a:r>
            <a:br/>
            <a:r>
              <a:t>            background: rgba(124, 58, 237, 0.2);</a:t>
            </a:r>
            <a:br/>
            <a:r>
              <a:t>            border: 2px solid rgba(124, 58, 237, 0.5);</a:t>
            </a:r>
            <a:br/>
            <a:r>
              <a:t>            border-radius: 8px;</a:t>
            </a:r>
            <a:br/>
            <a:r>
              <a:t>            padding: 10px;</a:t>
            </a:r>
            <a:br/>
            <a:r>
              <a:t>            text-align: center;</a:t>
            </a:r>
            <a:br/>
            <a:r>
              <a:t>        }</a:t>
            </a:r>
            <a:br/>
            <a:r>
              <a:t>        .arch-box.main {</a:t>
            </a:r>
            <a:br/>
            <a:r>
              <a:t>            background: linear-gradient(135deg, rgba(0, 212, 255, 0.2) 0%, rgba(124, 58, 237, 0.2) 100%);</a:t>
            </a:r>
            <a:br/>
            <a:r>
              <a:t>            border-color: #00d4ff;</a:t>
            </a:r>
            <a:br/>
            <a:r>
              <a:t>        }</a:t>
            </a:r>
            <a:br/>
            <a:r>
              <a:t>        .arch-box h5 {</a:t>
            </a:r>
            <a:br/>
            <a:r>
              <a:t>            color: #fff;</a:t>
            </a:r>
            <a:br/>
            <a:r>
              <a:t>            margin: 0 0 5px 0;</a:t>
            </a:r>
            <a:br/>
            <a:r>
              <a:t>            font-size: 0.8em;</a:t>
            </a:r>
            <a:br/>
            <a:r>
              <a:t>        }</a:t>
            </a:r>
            <a:br/>
            <a:r>
              <a:t>        .arch-box p {</a:t>
            </a:r>
            <a:br/>
            <a:r>
              <a:t>            color: #a0aec0;</a:t>
            </a:r>
            <a:br/>
            <a:r>
              <a:t>            font-size: 0.65em;</a:t>
            </a:r>
            <a:br/>
            <a:r>
              <a:t>            margin: 0;</a:t>
            </a:r>
            <a:br/>
            <a:r>
              <a:t>        }</a:t>
            </a:r>
            <a:br/>
            <a:r>
              <a:t>        .arch-caption {</a:t>
            </a:r>
            <a:br/>
            <a:r>
              <a:t>            font-size: 0.65em;</a:t>
            </a:r>
            <a:br/>
            <a:r>
              <a:t>            color: #7c3aed;</a:t>
            </a:r>
            <a:br/>
            <a:r>
              <a:t>            font-style: italic;</a:t>
            </a:r>
            <a:br/>
            <a:r>
              <a:t>            margin-top: 8px;</a:t>
            </a:r>
            <a:br/>
            <a:r>
              <a:t>            text-align: center;</a:t>
            </a:r>
            <a:br/>
            <a:r>
              <a:t>        }</a:t>
            </a:r>
            <a:br/>
            <a:br/>
            <a:r>
              <a:t>        .code-block {</a:t>
            </a:r>
            <a:br/>
            <a:r>
              <a:t>            background: rgba(0, 0, 0, 0.4);</a:t>
            </a:r>
            <a:br/>
            <a:r>
              <a:t>            border: 1px solid rgba(0, 212, 255, 0.2);</a:t>
            </a:r>
            <a:br/>
            <a:r>
              <a:t>            border-radius: 6px;</a:t>
            </a:r>
            <a:br/>
            <a:r>
              <a:t>            padding: 10px;</a:t>
            </a:r>
            <a:br/>
            <a:r>
              <a:t>            font-size: 0.6em;</a:t>
            </a:r>
            <a:br/>
            <a:r>
              <a:t>            overflow-x: auto;</a:t>
            </a:r>
            <a:br/>
            <a:r>
              <a:t>            max-height: 180px;</a:t>
            </a:r>
            <a:br/>
            <a:r>
              <a:t>        }</a:t>
            </a:r>
            <a:br/>
            <a:r>
              <a:t>        .code-block code {</a:t>
            </a:r>
            <a:br/>
            <a:r>
              <a:t>            color: #e0e6ed;</a:t>
            </a:r>
            <a:br/>
            <a:r>
              <a:t>        }</a:t>
            </a:r>
            <a:br/>
            <a:r>
              <a:t>        .data-source {</a:t>
            </a:r>
            <a:br/>
            <a:r>
              <a:t>            font-size: 0.6em;</a:t>
            </a:r>
            <a:br/>
            <a:r>
              <a:t>            color: #64748b;</a:t>
            </a:r>
            <a:br/>
            <a:r>
              <a:t>            margin-top: 4px;</a:t>
            </a:r>
            <a:br/>
            <a:r>
              <a:t>        }</a:t>
            </a:r>
            <a:br/>
            <a:br/>
            <a:r>
              <a:t>        .tag {</a:t>
            </a:r>
            <a:br/>
            <a:r>
              <a:t>            display: inline-block;</a:t>
            </a:r>
            <a:br/>
            <a:r>
              <a:t>            background: rgba(0, 212, 255, 0.2);</a:t>
            </a:r>
            <a:br/>
            <a:r>
              <a:t>            color: #00d4ff;</a:t>
            </a:r>
            <a:br/>
            <a:r>
              <a:t>            padding: 3px 8px;</a:t>
            </a:r>
            <a:br/>
            <a:r>
              <a:t>            border-radius: 15px;</a:t>
            </a:r>
            <a:br/>
            <a:r>
              <a:t>            font-size: 0.65em;</a:t>
            </a:r>
            <a:br/>
            <a:r>
              <a:t>            margin: 2px;</a:t>
            </a:r>
            <a:br/>
            <a:r>
              <a:t>        }</a:t>
            </a:r>
            <a:br/>
            <a:r>
              <a:t>        .tag.purple {</a:t>
            </a:r>
            <a:br/>
            <a:r>
              <a:t>            background: rgba(124, 58, 237, 0.2);</a:t>
            </a:r>
            <a:br/>
            <a:r>
              <a:t>            color: #a78bfa;</a:t>
            </a:r>
            <a:br/>
            <a:r>
              <a:t>        }</a:t>
            </a:r>
            <a:br/>
            <a:br/>
            <a:r>
              <a:t>        .highlight-list {</a:t>
            </a:r>
            <a:br/>
            <a:r>
              <a:t>            list-style: none;</a:t>
            </a:r>
            <a:br/>
            <a:r>
              <a:t>            padding: 0;</a:t>
            </a:r>
            <a:br/>
            <a:r>
              <a:t>            margin: 0;</a:t>
            </a:r>
            <a:br/>
            <a:r>
              <a:t>        }</a:t>
            </a:r>
            <a:br/>
            <a:r>
              <a:t>        .highlight-list li {</a:t>
            </a:r>
            <a:br/>
            <a:r>
              <a:t>            padding: 4px 0 4px 20px;</a:t>
            </a:r>
            <a:br/>
            <a:r>
              <a:t>            position: relative;</a:t>
            </a:r>
            <a:br/>
            <a:r>
              <a:t>            color: #a0aec0;</a:t>
            </a:r>
            <a:br/>
            <a:r>
              <a:t>            font-size: 0.75em;</a:t>
            </a:r>
            <a:br/>
            <a:r>
              <a:t>            line-height: 1.4;</a:t>
            </a:r>
            <a:br/>
            <a:r>
              <a:t>        }</a:t>
            </a:r>
            <a:br/>
            <a:r>
              <a:t>        .highlight-list li::before {</a:t>
            </a:r>
            <a:br/>
            <a:r>
              <a:t>            content: "▸";</a:t>
            </a:r>
            <a:br/>
            <a:r>
              <a:t>            position: absolute;</a:t>
            </a:r>
            <a:br/>
            <a:r>
              <a:t>            left: 0;</a:t>
            </a:r>
            <a:br/>
            <a:r>
              <a:t>            color: #00d4ff;</a:t>
            </a:r>
            <a:br/>
            <a:r>
              <a:t>        }</a:t>
            </a:r>
            <a:br/>
            <a:br/>
            <a:r>
              <a:t>        .comparison-table {</a:t>
            </a:r>
            <a:br/>
            <a:r>
              <a:t>            width: 100%;</a:t>
            </a:r>
            <a:br/>
            <a:r>
              <a:t>            border-collapse: collapse;</a:t>
            </a:r>
            <a:br/>
            <a:r>
              <a:t>        }</a:t>
            </a:r>
            <a:br/>
            <a:r>
              <a:t>        .comparison-table th {</a:t>
            </a:r>
            <a:br/>
            <a:r>
              <a:t>            background: rgba(0, 212, 255, 0.2);</a:t>
            </a:r>
            <a:br/>
            <a:r>
              <a:t>            color: #00d4ff;</a:t>
            </a:r>
            <a:br/>
            <a:r>
              <a:t>            padding: 8px;</a:t>
            </a:r>
            <a:br/>
            <a:r>
              <a:t>            text-align: left;</a:t>
            </a:r>
            <a:br/>
            <a:r>
              <a:t>            font-size: 0.75em;</a:t>
            </a:r>
            <a:br/>
            <a:r>
              <a:t>        }</a:t>
            </a:r>
            <a:br/>
            <a:r>
              <a:t>        .comparison-table td {</a:t>
            </a:r>
            <a:br/>
            <a:r>
              <a:t>            padding: 6px 8px;</a:t>
            </a:r>
            <a:br/>
            <a:r>
              <a:t>            border-bottom: 1px solid rgba(255,255,255,0.1);</a:t>
            </a:r>
            <a:br/>
            <a:r>
              <a:t>            font-size: 0.7em;</a:t>
            </a:r>
            <a:br/>
            <a:r>
              <a:t>            color: #a0aec0;</a:t>
            </a:r>
            <a:br/>
            <a:r>
              <a:t>        }</a:t>
            </a:r>
            <a:br/>
            <a:r>
              <a:t>        .comparison-table tr:hover td {</a:t>
            </a:r>
            <a:br/>
            <a:r>
              <a:t>            background: rgba(0, 212, 255, 0.05);</a:t>
            </a:r>
            <a:br/>
            <a:r>
              <a:t>        }</a:t>
            </a:r>
            <a:br/>
            <a:br/>
            <a:r>
              <a:t>        .timeline {</a:t>
            </a:r>
            <a:br/>
            <a:r>
              <a:t>            position: relative;</a:t>
            </a:r>
            <a:br/>
            <a:r>
              <a:t>            padding-left: 20px;</a:t>
            </a:r>
            <a:br/>
            <a:r>
              <a:t>        }</a:t>
            </a:r>
            <a:br/>
            <a:r>
              <a:t>        .timeline::before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left: 8px;</a:t>
            </a:r>
            <a:br/>
            <a:r>
              <a:t>            top: 0;</a:t>
            </a:r>
            <a:br/>
            <a:r>
              <a:t>            bottom: 0;</a:t>
            </a:r>
            <a:br/>
            <a:r>
              <a:t>            width: 2px;</a:t>
            </a:r>
            <a:br/>
            <a:r>
              <a:t>            background: linear-gradient(180deg, #00d4ff, #7c3aed);</a:t>
            </a:r>
            <a:br/>
            <a:r>
              <a:t>        }</a:t>
            </a:r>
            <a:br/>
            <a:r>
              <a:t>        .timeline-item {</a:t>
            </a:r>
            <a:br/>
            <a:r>
              <a:t>            position: relative;</a:t>
            </a:r>
            <a:br/>
            <a:r>
              <a:t>            margin-bottom: 12px;</a:t>
            </a:r>
            <a:br/>
            <a:r>
              <a:t>            padding-left: 15px;</a:t>
            </a:r>
            <a:br/>
            <a:r>
              <a:t>        }</a:t>
            </a:r>
            <a:br/>
            <a:r>
              <a:t>        .timeline-item::before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left: -18px;</a:t>
            </a:r>
            <a:br/>
            <a:r>
              <a:t>            top: 4px;</a:t>
            </a:r>
            <a:br/>
            <a:r>
              <a:t>            width: 10px;</a:t>
            </a:r>
            <a:br/>
            <a:r>
              <a:t>            height: 10px;</a:t>
            </a:r>
            <a:br/>
            <a:r>
              <a:t>            background: #00d4ff;</a:t>
            </a:r>
            <a:br/>
            <a:r>
              <a:t>            border-radius: 50%;</a:t>
            </a:r>
            <a:br/>
            <a:r>
              <a:t>        }</a:t>
            </a:r>
            <a:br/>
            <a:r>
              <a:t>        .timeline-item h5 {</a:t>
            </a:r>
            <a:br/>
            <a:r>
              <a:t>            color: #00d4ff;</a:t>
            </a:r>
            <a:br/>
            <a:r>
              <a:t>            margin: 0 0 3px 0;</a:t>
            </a:r>
            <a:br/>
            <a:r>
              <a:t>            font-size: 0.8em;</a:t>
            </a:r>
            <a:br/>
            <a:r>
              <a:t>        }</a:t>
            </a:r>
            <a:br/>
            <a:r>
              <a:t>        .timeline-item p {</a:t>
            </a:r>
            <a:br/>
            <a:r>
              <a:t>            color: #a0aec0;</a:t>
            </a:r>
            <a:br/>
            <a:r>
              <a:t>            margin: 0;</a:t>
            </a:r>
            <a:br/>
            <a:r>
              <a:t>            font-size: 0.65em;</a:t>
            </a:r>
            <a:br/>
            <a:r>
              <a:t>        }</a:t>
            </a:r>
            <a:br/>
            <a:br/>
            <a:r>
              <a:t>        .section-title {</a:t>
            </a:r>
            <a:br/>
            <a:r>
              <a:t>            position: relative;</a:t>
            </a:r>
            <a:br/>
            <a:r>
              <a:t>            display: inline-block;</a:t>
            </a:r>
            <a:br/>
            <a:r>
              <a:t>            margin-bottom: 15px;</a:t>
            </a:r>
            <a:br/>
            <a:r>
              <a:t>        }</a:t>
            </a:r>
            <a:br/>
            <a:r>
              <a:t>        .section-title::after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bottom: -6px;</a:t>
            </a:r>
            <a:br/>
            <a:r>
              <a:t>            left: 0;</a:t>
            </a:r>
            <a:br/>
            <a:r>
              <a:t>            width: 50px;</a:t>
            </a:r>
            <a:br/>
            <a:r>
              <a:t>            height: 2px;</a:t>
            </a:r>
            <a:br/>
            <a:r>
              <a:t>            background: linear-gradient(90deg, #00d4ff, transparent);</a:t>
            </a:r>
            <a:br/>
            <a:r>
              <a:t>        }</a:t>
            </a:r>
            <a:br/>
            <a:r>
              <a:t>        .section-number {</a:t>
            </a:r>
            <a:br/>
            <a:r>
              <a:t>            position: absolute;</a:t>
            </a:r>
            <a:br/>
            <a:r>
              <a:t>            top: -15px;</a:t>
            </a:r>
            <a:br/>
            <a:r>
              <a:t>            right: -25px;</a:t>
            </a:r>
            <a:br/>
            <a:r>
              <a:t>            font-size: 3em;</a:t>
            </a:r>
            <a:br/>
            <a:r>
              <a:t>            font-weight: 900;</a:t>
            </a:r>
            <a:br/>
            <a:r>
              <a:t>            color: rgba(0, 212, 255, 0.1);</a:t>
            </a:r>
            <a:br/>
            <a:r>
              <a:t>        }</a:t>
            </a:r>
            <a:br/>
            <a:br/>
            <a:r>
              <a:t>        .icon-box {</a:t>
            </a:r>
            <a:br/>
            <a:r>
              <a:t>            width: 40px;</a:t>
            </a:r>
            <a:br/>
            <a:r>
              <a:t>            height: 40px;</a:t>
            </a:r>
            <a:br/>
            <a:r>
              <a:t>            background: linear-gradient(135deg, rgba(0, 212, 255, 0.2), rgba(124, 58, 237, 0.2));</a:t>
            </a:r>
            <a:br/>
            <a:r>
              <a:t>            border-radius: 10px;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margin-bottom: 10px;</a:t>
            </a:r>
            <a:br/>
            <a:r>
              <a:t>        }</a:t>
            </a:r>
            <a:br/>
            <a:r>
              <a:t>        .icon-box i {</a:t>
            </a:r>
            <a:br/>
            <a:r>
              <a:t>            font-size: 1.2em;</a:t>
            </a:r>
            <a:br/>
            <a:r>
              <a:t>            color: #00d4ff;</a:t>
            </a:r>
            <a:br/>
            <a:r>
              <a:t>        }</a:t>
            </a:r>
            <a:br/>
            <a:br/>
            <a:r>
              <a:t>        .stat-row {</a:t>
            </a:r>
            <a:br/>
            <a:r>
              <a:t>            display: flex;</a:t>
            </a:r>
            <a:br/>
            <a:r>
              <a:t>            gap: 15px;</a:t>
            </a:r>
            <a:br/>
            <a:r>
              <a:t>            margin: 12px 0;</a:t>
            </a:r>
            <a:br/>
            <a:r>
              <a:t>        }</a:t>
            </a:r>
            <a:br/>
            <a:r>
              <a:t>        .stat-item {</a:t>
            </a:r>
            <a:br/>
            <a:r>
              <a:t>            flex: 1;</a:t>
            </a:r>
            <a:br/>
            <a:r>
              <a:t>            text-align: center;</a:t>
            </a:r>
            <a:br/>
            <a:r>
              <a:t>            padding: 12px;</a:t>
            </a:r>
            <a:br/>
            <a:r>
              <a:t>            background: rgba(0, 212, 255, 0.05);</a:t>
            </a:r>
            <a:br/>
            <a:r>
              <a:t>            border-radius: 10px;</a:t>
            </a:r>
            <a:br/>
            <a:r>
              <a:t>            border: 1px solid rgba(0, 212, 255, 0.1);</a:t>
            </a:r>
            <a:br/>
            <a:r>
              <a:t>        }</a:t>
            </a:r>
            <a:br/>
            <a:r>
              <a:t>        .stat-item .value {</a:t>
            </a:r>
            <a:br/>
            <a:r>
              <a:t>            font-size: 1.5em;</a:t>
            </a:r>
            <a:br/>
            <a:r>
              <a:t>            font-weight: 800;</a:t>
            </a:r>
            <a:br/>
            <a:r>
              <a:t>            color: #00d4ff;</a:t>
            </a:r>
            <a:br/>
            <a:r>
              <a:t>        }</a:t>
            </a:r>
            <a:br/>
            <a:r>
              <a:t>        .stat-item .desc {</a:t>
            </a:r>
            <a:br/>
            <a:r>
              <a:t>            font-size: 0.65em;</a:t>
            </a:r>
            <a:br/>
            <a:r>
              <a:t>            color: #a0aec0;</a:t>
            </a:r>
            <a:br/>
            <a:r>
              <a:t>            margin-top: 3px;</a:t>
            </a:r>
            <a:br/>
            <a:r>
              <a:t>        }</a:t>
            </a:r>
            <a:br/>
            <a:br/>
            <a:r>
              <a:t>        .scenario-badge {</a:t>
            </a:r>
            <a:br/>
            <a:r>
              <a:t>            display: inline-flex;</a:t>
            </a:r>
            <a:br/>
            <a:r>
              <a:t>            align-items: center;</a:t>
            </a:r>
            <a:br/>
            <a:r>
              <a:t>            gap: 5px;</a:t>
            </a:r>
            <a:br/>
            <a:r>
              <a:t>            background: rgba(16, 185, 129, 0.15);</a:t>
            </a:r>
            <a:br/>
            <a:r>
              <a:t>            border: 1px solid rgba(16, 185, 129, 0.3);</a:t>
            </a:r>
            <a:br/>
            <a:r>
              <a:t>            color: #10b981;</a:t>
            </a:r>
            <a:br/>
            <a:r>
              <a:t>            padding: 4px 10px;</a:t>
            </a:r>
            <a:br/>
            <a:r>
              <a:t>            border-radius: 15px;</a:t>
            </a:r>
            <a:br/>
            <a:r>
              <a:t>            font-size: 0.65em;</a:t>
            </a:r>
            <a:br/>
            <a:r>
              <a:t>            margin: 2px;</a:t>
            </a:r>
            <a:br/>
            <a:r>
              <a:t>        }</a:t>
            </a:r>
            <a:br/>
            <a:r>
              <a:t>        .scenario-badge.high {</a:t>
            </a:r>
            <a:br/>
            <a:r>
              <a:t>            background: rgba(239, 68, 68, 0.15);</a:t>
            </a:r>
            <a:br/>
            <a:r>
              <a:t>            border-color: rgba(239, 68, 68, 0.3);</a:t>
            </a:r>
            <a:br/>
            <a:r>
              <a:t>            color: #ef4444;</a:t>
            </a:r>
            <a:br/>
            <a:r>
              <a:t>        }</a:t>
            </a:r>
            <a:br/>
            <a:r>
              <a:t>        .scenario-badge.medium {</a:t>
            </a:r>
            <a:br/>
            <a:r>
              <a:t>            background: rgba(245, 158, 11, 0.15);</a:t>
            </a:r>
            <a:br/>
            <a:r>
              <a:t>            border-color: rgba(245, 158, 11, 0.3);</a:t>
            </a:r>
            <a:br/>
            <a:r>
              <a:t>            color: #f59e0b;</a:t>
            </a:r>
            <a:br/>
            <a:r>
              <a:t>        }</a:t>
            </a:r>
            <a:br/>
            <a:br/>
            <a:r>
              <a:t>        .progress-bar {</a:t>
            </a:r>
            <a:br/>
            <a:r>
              <a:t>            width: 100%;</a:t>
            </a:r>
            <a:br/>
            <a:r>
              <a:t>            height: 6px;</a:t>
            </a:r>
            <a:br/>
            <a:r>
              <a:t>            background: rgba(255,255,255,0.1);</a:t>
            </a:r>
            <a:br/>
            <a:r>
              <a:t>            border-radius: 3px;</a:t>
            </a:r>
            <a:br/>
            <a:r>
              <a:t>            overflow: hidden;</a:t>
            </a:r>
            <a:br/>
            <a:r>
              <a:t>            margin: 5px 0;</a:t>
            </a:r>
            <a:br/>
            <a:r>
              <a:t>        }</a:t>
            </a:r>
            <a:br/>
            <a:r>
              <a:t>        .progress-fill {</a:t>
            </a:r>
            <a:br/>
            <a:r>
              <a:t>            height: 100%;</a:t>
            </a:r>
            <a:br/>
            <a:r>
              <a:t>            background: linear-gradient(90deg, #00d4ff, #7c3aed);</a:t>
            </a:r>
            <a:br/>
            <a:r>
              <a:t>            border-radius: 3px;</a:t>
            </a:r>
            <a:br/>
            <a:r>
              <a:t>            transition: width 0.5s ease;</a:t>
            </a:r>
            <a:br/>
            <a:r>
              <a:t>        }</a:t>
            </a:r>
            <a:br/>
            <a:br/>
            <a:r>
              <a:t>        .step-indicator {</a:t>
            </a:r>
            <a:br/>
            <a:r>
              <a:t>            display: flex;</a:t>
            </a:r>
            <a:br/>
            <a:r>
              <a:t>            justify-content: space-between;</a:t>
            </a:r>
            <a:br/>
            <a:r>
              <a:t>            margin: 12px 0;</a:t>
            </a:r>
            <a:br/>
            <a:r>
              <a:t>        }</a:t>
            </a:r>
            <a:br/>
            <a:r>
              <a:t>        .step {</a:t>
            </a:r>
            <a:br/>
            <a:r>
              <a:t>            text-align: center;</a:t>
            </a:r>
            <a:br/>
            <a:r>
              <a:t>            flex: 1;</a:t>
            </a:r>
            <a:br/>
            <a:r>
              <a:t>            position: relative;</a:t>
            </a:r>
            <a:br/>
            <a:r>
              <a:t>        }</a:t>
            </a:r>
            <a:br/>
            <a:r>
              <a:t>        .step::after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top: 12px;</a:t>
            </a:r>
            <a:br/>
            <a:r>
              <a:t>            right: -50%;</a:t>
            </a:r>
            <a:br/>
            <a:r>
              <a:t>            width: 100%;</a:t>
            </a:r>
            <a:br/>
            <a:r>
              <a:t>            height: 2px;</a:t>
            </a:r>
            <a:br/>
            <a:r>
              <a:t>            background: rgba(0, 212, 255, 0.3);</a:t>
            </a:r>
            <a:br/>
            <a:r>
              <a:t>        }</a:t>
            </a:r>
            <a:br/>
            <a:r>
              <a:t>        .step:last-child::after {</a:t>
            </a:r>
            <a:br/>
            <a:r>
              <a:t>            display: none;</a:t>
            </a:r>
            <a:br/>
            <a:r>
              <a:t>        }</a:t>
            </a:r>
            <a:br/>
            <a:r>
              <a:t>        .step-number {</a:t>
            </a:r>
            <a:br/>
            <a:r>
              <a:t>            width: 24px;</a:t>
            </a:r>
            <a:br/>
            <a:r>
              <a:t>            height: 24px;</a:t>
            </a:r>
            <a:br/>
            <a:r>
              <a:t>            background: #00d4ff;</a:t>
            </a:r>
            <a:br/>
            <a:r>
              <a:t>            border-radius: 50%;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margin: 0 auto 6px auto;</a:t>
            </a:r>
            <a:br/>
            <a:r>
              <a:t>            font-weight: 700;</a:t>
            </a:r>
            <a:br/>
            <a:r>
              <a:t>            font-size: 0.75em;</a:t>
            </a:r>
            <a:br/>
            <a:r>
              <a:t>            color: #0a0e17;</a:t>
            </a:r>
            <a:br/>
            <a:r>
              <a:t>        }</a:t>
            </a:r>
            <a:br/>
            <a:r>
              <a:t>        .step-label {</a:t>
            </a:r>
            <a:br/>
            <a:r>
              <a:t>            font-size: 0.6em;</a:t>
            </a:r>
            <a:br/>
            <a:r>
              <a:t>            color: #a0aec0;</a:t>
            </a:r>
            <a:br/>
            <a:r>
              <a:t>        }</a:t>
            </a:r>
            <a:br/>
            <a:br/>
            <a:r>
              <a:t>        .tool-badge {</a:t>
            </a:r>
            <a:br/>
            <a:r>
              <a:t>            display: inline-flex;</a:t>
            </a:r>
            <a:br/>
            <a:r>
              <a:t>            align-items: center;</a:t>
            </a:r>
            <a:br/>
            <a:r>
              <a:t>            gap: 4px;</a:t>
            </a:r>
            <a:br/>
            <a:r>
              <a:t>            background: rgba(255,255,255,0.05);</a:t>
            </a:r>
            <a:br/>
            <a:r>
              <a:t>            border: 1px solid rgba(255,255,255,0.1);</a:t>
            </a:r>
            <a:br/>
            <a:r>
              <a:t>            padding: 3px 8px;</a:t>
            </a:r>
            <a:br/>
            <a:r>
              <a:t>            border-radius: 4px;</a:t>
            </a:r>
            <a:br/>
            <a:r>
              <a:t>            font-size: 0.65em;</a:t>
            </a:r>
            <a:br/>
            <a:r>
              <a:t>            color: #e0e6ed;</a:t>
            </a:r>
            <a:br/>
            <a:r>
              <a:t>            margin: 2px;</a:t>
            </a:r>
            <a:br/>
            <a:r>
              <a:t>        }</a:t>
            </a:r>
            <a:br/>
            <a:r>
              <a:t>        .tool-badge i {</a:t>
            </a:r>
            <a:br/>
            <a:r>
              <a:t>            color: #00d4ff;</a:t>
            </a:r>
            <a:br/>
            <a:r>
              <a:t>        }</a:t>
            </a:r>
            <a:br/>
            <a:br/>
            <a:r>
              <a:t>        .实战建议 {</a:t>
            </a:r>
            <a:br/>
            <a:r>
              <a:t>            background: rgba(16, 185, 129, 0.1);</a:t>
            </a:r>
            <a:br/>
            <a:r>
              <a:t>            border: 1px solid rgba(16, 185, 129, 0.3);</a:t>
            </a:r>
            <a:br/>
            <a:r>
              <a:t>            border-radius: 8px;</a:t>
            </a:r>
            <a:br/>
            <a:r>
              <a:t>            padding: 10px;</a:t>
            </a:r>
            <a:br/>
            <a:r>
              <a:t>            margin-top: 10px;</a:t>
            </a:r>
            <a:br/>
            <a:r>
              <a:t>        }</a:t>
            </a:r>
            <a:br/>
            <a:r>
              <a:t>        .实战建议 h5 {</a:t>
            </a:r>
            <a:br/>
            <a:r>
              <a:t>            color: #10b981;</a:t>
            </a:r>
            <a:br/>
            <a:r>
              <a:t>            margin: 0 0 6px 0;</a:t>
            </a:r>
            <a:br/>
            <a:r>
              <a:t>            font-size: 0.8em;</a:t>
            </a:r>
            <a:br/>
            <a:r>
              <a:t>        }</a:t>
            </a:r>
            <a:br/>
            <a:r>
              <a:t>        .实战建议 ul {</a:t>
            </a:r>
            <a:br/>
            <a:r>
              <a:t>            margin: 0;</a:t>
            </a:r>
            <a:br/>
            <a:r>
              <a:t>            padding-left: 18px;</a:t>
            </a:r>
            <a:br/>
            <a:r>
              <a:t>        }</a:t>
            </a:r>
            <a:br/>
            <a:r>
              <a:t>        .实战建议 li {</a:t>
            </a:r>
            <a:br/>
            <a:r>
              <a:t>            font-size: 0.7em;</a:t>
            </a:r>
            <a:br/>
            <a:r>
              <a:t>            color: #a0aec0;</a:t>
            </a:r>
            <a:br/>
            <a:r>
              <a:t>            margin-bottom: 3px;</a:t>
            </a:r>
            <a:br/>
            <a:r>
              <a:t>        }</a:t>
            </a:r>
            <a:br/>
            <a:r>
              <a:t>    </a:t>
            </a:r>
            <a:br/>
            <a:br/>
            <a:br/>
            <a:r>
              <a:t>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企业级应用案例与实战场景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LangChain &amp; LangGraph 在真实生产环境中的</a:t>
            </a:r>
            <a:br/>
            <a:r>
              <a:t>                        最佳实践与性能优化指南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智能客服</a:t>
            </a:r>
            <a:br/>
            <a:r>
              <a:t>                        RAG系统</a:t>
            </a:r>
            <a:br/>
            <a:r>
              <a:t>                        代码审查</a:t>
            </a:r>
            <a:br/>
            <a:r>
              <a:t>                        多Agent协作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内容概览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 实战场景分类</a:t>
            </a:r>
            <a:br/>
            <a:r>
              <a:t>                            智能客服、RAG增强搜索、代码生成、多Agent协作等核心应用场景解析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 企业案例分析</a:t>
            </a:r>
            <a:br/>
            <a:r>
              <a:t>                            来自金融、医疗、电商、科技等行业的企业级落地案例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 性能指标对比</a:t>
            </a:r>
            <a:br/>
            <a:r>
              <a:t>                            传统方案vs LangChain方案的效果对比与ROI分析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 实施路线图</a:t>
            </a:r>
            <a:br/>
            <a:r>
              <a:t>                            从POC到生产环境的渐进式迁移策略与最佳实践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实战场景一：智能客服系统</a:t>
            </a:r>
            <a:br/>
            <a:r>
              <a:t>                        01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系统架构</a:t>
            </a:r>
            <a:br/>
            <a:r>
              <a:t>                                基于LangGraph的多轮对话状态机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用户输入</a:t>
            </a:r>
            <a:br/>
            <a:r>
              <a:t>                                </a:t>
            </a:r>
            <a:br/>
            <a:r>
              <a:t>                                意图识别</a:t>
            </a:r>
            <a:br/>
            <a:r>
              <a:t>                                </a:t>
            </a:r>
            <a:br/>
            <a:r>
              <a:t>                                知识检索</a:t>
            </a:r>
            <a:br/>
            <a:r>
              <a:t>                                </a:t>
            </a:r>
            <a:br/>
            <a:r>
              <a:t>                                LLM生成</a:t>
            </a:r>
            <a:br/>
            <a:r>
              <a:t>                                </a:t>
            </a:r>
            <a:br/>
            <a:r>
              <a:t>                                人工介入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核心实现代码</a:t>
            </a:r>
            <a:br/>
            <a:r>
              <a:t>                                </a:t>
            </a:r>
            <a:br/>
            <a:r>
              <a:t>from langgraph.graph import StateGraph</a:t>
            </a:r>
            <a:br/>
            <a:r>
              <a:t>from typing import TypedDict, Annotated</a:t>
            </a:r>
            <a:br/>
            <a:r>
              <a:t>import operator</a:t>
            </a:r>
            <a:br/>
            <a:br/>
            <a:r>
              <a:t>class CustomerServiceState(TypedDict):</a:t>
            </a:r>
            <a:br/>
            <a:r>
              <a:t>    messages: list</a:t>
            </a:r>
            <a:br/>
            <a:r>
              <a:t>    intent: str | None</a:t>
            </a:r>
            <a:br/>
            <a:r>
              <a:t>    context: dict</a:t>
            </a:r>
            <a:br/>
            <a:r>
              <a:t>    needs_human: bool</a:t>
            </a:r>
            <a:br/>
            <a:br/>
            <a:r>
              <a:t>workflow = StateGraph(CustomerServiceState)</a:t>
            </a:r>
            <a:br/>
            <a:r>
              <a:t>workflow.add_node("classify", classify_intent)</a:t>
            </a:r>
            <a:br/>
            <a:r>
              <a:t>workflow.add_node("retrieve", retrieve_knowledge)</a:t>
            </a:r>
            <a:br/>
            <a:r>
              <a:t>workflow.add_node("generate", generate_response)</a:t>
            </a:r>
            <a:br/>
            <a:r>
              <a:t>workflow.add_node("human_review", human_escalation)</a:t>
            </a:r>
            <a:br/>
            <a:br/>
            <a:r>
              <a:t>workflow.add_edge("classify", "retrieve")</a:t>
            </a:r>
            <a:br/>
            <a:r>
              <a:t>workflow.add_conditional_edges("classify", needs_human,</a:t>
            </a:r>
            <a:br/>
            <a:r>
              <a:t>    {"human": "human_review", "agent": "generate"})</a:t>
            </a:r>
            <a:br/>
            <a:r>
              <a:t>workflow.set_entry_point("classify")</a:t>
            </a:r>
            <a:br/>
            <a:r>
              <a:t>app = workflow.compile(checkpointer=MemorySaver())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性能指标</a:t>
            </a:r>
            <a:br/>
            <a:r>
              <a:t>                                </a:t>
            </a:r>
            <a:br/>
            <a:r>
              <a:t>                                    85%</a:t>
            </a:r>
            <a:br/>
            <a:r>
              <a:t>                                    自动化解决率</a:t>
            </a:r>
            <a:br/>
            <a:r>
              <a:t>                                    *行业基准测试数据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3.2x</a:t>
            </a:r>
            <a:br/>
            <a:r>
              <a:t>                                    响应速度提升</a:t>
            </a:r>
            <a:br/>
            <a:r>
              <a:t>                                    *内部性能测试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 关键特性</a:t>
            </a:r>
            <a:br/>
            <a:r>
              <a:t>                                </a:t>
            </a:r>
            <a:br/>
            <a:r>
              <a:t>                                    多轮对话上下文保持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企业级应用案例与实战场景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&amp; LangGraph 在真实生产环境中的</a:t>
            </a:r>
            <a:br/>
            <a:r>
              <a:t>                        最佳实践与性能优化指南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内容概览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智能客服、RAG增强搜索、代码生成、多Agent协作等核心应用场景解析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来自金融、医疗、电商、科技等行业的企业级落地案例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传统方案vs LangChain方案的效果对比与ROI分析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从POC到生产环境的渐进式迁移策略与最佳实践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实战场景一：智能客服系统</a:t>
            </a:r>
            <a:br/>
            <a:r>
              <a:t>                       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基于LangGraph的多轮对话状态机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from langgraph.graph import StateGraph</a:t>
            </a:r>
            <a:br/>
            <a:r>
              <a:t>from typing import TypedDict, Annotated</a:t>
            </a:r>
            <a:br/>
            <a:r>
              <a:t>import operator</a:t>
            </a:r>
            <a:br/>
            <a:br/>
            <a:r>
              <a:t>class CustomerServiceState(TypedDict):</a:t>
            </a:r>
            <a:br/>
            <a:r>
              <a:t>    messages: list</a:t>
            </a:r>
            <a:br/>
            <a:r>
              <a:t>    intent: str | None</a:t>
            </a:r>
            <a:br/>
            <a:r>
              <a:t>    context: dict</a:t>
            </a:r>
            <a:br/>
            <a:r>
              <a:t>    needs_human: bool</a:t>
            </a:r>
            <a:br/>
            <a:br/>
            <a:r>
              <a:t>workflow = StateGraph(CustomerServiceState)</a:t>
            </a:r>
            <a:br/>
            <a:r>
              <a:t>workflow.add_node("classify", classify_intent)</a:t>
            </a:r>
            <a:br/>
            <a:r>
              <a:t>workflow.add_node("retrieve", retrieve_knowledge)</a:t>
            </a:r>
            <a:br/>
            <a:r>
              <a:t>workflow.add_node("generate", generate_response)</a:t>
            </a:r>
            <a:br/>
            <a:r>
              <a:t>workflow.add_node("human_review", human_escalation)</a:t>
            </a:r>
            <a:br/>
            <a:br/>
            <a:r>
              <a:t>workflow.add_edge("classify", "retrieve")</a:t>
            </a:r>
            <a:br/>
            <a:r>
              <a:t>workflow.add_conditional_edges("classify", needs_human,</a:t>
            </a:r>
            <a:br/>
            <a:r>
              <a:t>    {"human": "human_review", "agent": "generate"})</a:t>
            </a:r>
            <a:br/>
            <a:r>
              <a:t>workflow.set_entry_point("classify")</a:t>
            </a:r>
            <a:br/>
            <a:r>
              <a:t>app = workflow.compile(checkpointer=MemorySaver())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性能指标</a:t>
            </a:r>
            <a:br/>
            <a:r>
              <a:t>                                </a:t>
            </a:r>
            <a:br/>
            <a:r>
              <a:t>                                    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自动化解决率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*行业基准测试数据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3.2x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响应速度提升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*内部性能测试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情感识别与满意度追踪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知识库实时更新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人工坐席无缝转接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9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对话历史持久化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6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实战场景二：RAG检索增强系统</a:t>
            </a:r>
            <a:br/>
            <a:r>
              <a:t>                       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0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Graph结构实现灵活的检索-生成循环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0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图1: RAG + Agent典型生产架构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意图分析、关键词提取、查询扩展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向量检索、混合检索、重排序(Rerank)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上下文压缩、引用溯源、事实核查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2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输出评估、满意度评分、反馈闭环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2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from langgraph.graph import END, START</a:t>
            </a:r>
            <a:br/>
            <a:br/>
            <a:r>
              <a:t>def route_after_retrieval(state: RAGState) -&gt; str:</a:t>
            </a:r>
            <a:br/>
            <a:r>
              <a:t>    docs = state.get("documents", [])</a:t>
            </a:r>
            <a:br/>
            <a:r>
              <a:t>    if len(docs)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94%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3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检索准确率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3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*内部测试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89%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答案相关性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*行业基准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52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实战场景三：代码生成与审查Agent</a:t>
            </a:r>
            <a:br/>
            <a:r>
              <a:t>                       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6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自然语言描述 → 可执行代码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6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自动检测Bug、安全漏洞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16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性能优化、重构建议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17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# 多Agent协作：Code Review Pipeline</a:t>
            </a:r>
            <a:br/>
            <a:r>
              <a:t>review_graph = StateGraph(ReviewState)</a:t>
            </a:r>
            <a:br/>
            <a:r>
              <a:t>review_graph.add_node("syntax_checker", SyntaxAgent().run)</a:t>
            </a:r>
            <a:br/>
            <a:r>
              <a:t>review_graph.add_node("security_auditor", SecurityAgent().run)</a:t>
            </a:r>
            <a:br/>
            <a:r>
              <a:t>review_graph.add_node("performance_analyzer", PerfAgent().run)</a:t>
            </a:r>
            <a:br/>
            <a:r>
              <a:t>review_graph.add_node("summarizer", SummaryAgent().run)</a:t>
            </a:r>
            <a:br/>
            <a:r>
              <a:t>review_graph.add_edge(START, "syntax_checker")</a:t>
            </a:r>
            <a:br/>
            <a:r>
              <a:t>review_graph.add_edge(START, "security_auditor")</a:t>
            </a:r>
            <a:br/>
            <a:r>
              <a:t>review_graph.add_edge(START, "performance_analyzer")</a:t>
            </a:r>
            <a:br/>
            <a:r>
              <a:t>review_graph.add_edge(</a:t>
            </a:r>
            <a:br/>
            <a:r>
              <a:t>    ["syntax_checker","security_auditor","performance_analyzer"],</a:t>
            </a:r>
            <a:br/>
            <a:r>
              <a:t>    "summarizer")</a:t>
            </a:r>
            <a:br/>
            <a:r>
              <a:t>compiled = review_graph.compile()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审查维度覆盖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语法正确性</a:t>
            </a:r>
            <a:br/>
            <a:r>
              <a:t>                                    98%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安全漏洞检测</a:t>
            </a:r>
            <a:br/>
            <a:r>
              <a:t>                                    95%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性能建议</a:t>
            </a:r>
            <a:br/>
            <a:r>
              <a:t>                                    92%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代码风格</a:t>
            </a:r>
            <a:br/>
            <a:r>
              <a:t>                                    96%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 集成方式</a:t>
            </a:r>
            <a:br/>
            <a:r>
              <a:t>                                </a:t>
            </a:r>
            <a:br/>
            <a:r>
              <a:t>                                     GitHub Actions</a:t>
            </a:r>
            <a:br/>
            <a:r>
              <a:t>                                     GitLab CI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实战场景四：多Agent协作系统</a:t>
            </a:r>
            <a:br/>
            <a:r>
              <a:t>                        04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Supervisor模式架构</a:t>
            </a:r>
            <a:br/>
            <a:r>
              <a:t>                                </a:t>
            </a:r>
            <a:br/>
            <a:r>
              <a:t>                                    </a:t>
            </a:r>
            <a:br/>
            <a:r>
              <a:t>                                         Supervisor Agent</a:t>
            </a:r>
            <a:br/>
            <a:r>
              <a:t>                                        任务分解与路由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176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实战场景四：多Agent协作系统</a:t>
            </a:r>
            <a:br/>
            <a:r>
              <a:t>                        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18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信息检索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18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内容生成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19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数据分析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19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图2: Supervisor模式架构图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0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class SupervisorState(TypedDict):</a:t>
            </a:r>
            <a:br/>
            <a:r>
              <a:t>    messages: list</a:t>
            </a:r>
            <a:br/>
            <a:r>
              <a:t>    next_agent: str</a:t>
            </a:r>
            <a:br/>
            <a:r>
              <a:t>    research_results: str</a:t>
            </a:r>
            <a:br/>
            <a:r>
              <a:t>    analysis_results: str</a:t>
            </a:r>
            <a:br/>
            <a:r>
              <a:t>    final_report: str</a:t>
            </a:r>
            <a:br/>
            <a:br/>
            <a:r>
              <a:t>def supervisor_node(state: SupervisorState) -&gt; Command:</a:t>
            </a:r>
            <a:br/>
            <a:r>
              <a:t>    last_msg = state["messages"][-1]</a:t>
            </a:r>
            <a:br/>
            <a:r>
              <a:t>    if "research" in last_msg:</a:t>
            </a:r>
            <a:br/>
            <a:r>
              <a:t>        return Command(goto="researcher")</a:t>
            </a:r>
            <a:br/>
            <a:r>
              <a:t>    elif "analyze" in last_msg:</a:t>
            </a:r>
            <a:br/>
            <a:r>
              <a:t>        return Command(goto="analyst")</a:t>
            </a:r>
            <a:br/>
            <a:r>
              <a:t>    elif "write" in last_msg:</a:t>
            </a:r>
            <a:br/>
            <a:r>
              <a:t>        return Command(goto="writer")</a:t>
            </a:r>
            <a:br/>
            <a:r>
              <a:t>    return Command(goto=END)</a:t>
            </a:r>
            <a:br/>
            <a:br/>
            <a:r>
              <a:t>supervisor = StateGraph(SupervisorState)</a:t>
            </a:r>
            <a:br/>
            <a:r>
              <a:t>supervisor.add_node("supervisor", supervisor_node)</a:t>
            </a:r>
            <a:br/>
            <a:r>
              <a:t>supervisor.add_node("researcher", research_node)</a:t>
            </a:r>
            <a:br/>
            <a:r>
              <a:t>supervisor.add_node("analyst", analyze_node)</a:t>
            </a:r>
            <a:br/>
            <a:r>
              <a:t>supervisor.add_node("writer", write_node)</a:t>
            </a:r>
            <a:br/>
            <a:r>
              <a:t>supervisor.add_edge(START, "supervisor")</a:t>
            </a:r>
            <a:br/>
            <a:r>
              <a:t>supervisor.add_conditional_edges("supervisor", supervisor_node,</a:t>
            </a:r>
            <a:br/>
            <a:r>
              <a:t>    ["researcher","analyst","writer",END])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5x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0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任务并行效率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0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*行业基准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12+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支持Agent类型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99.9%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2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系统可用性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2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50ms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3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平均路由延迟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36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行业案例：金融风险分析平台</a:t>
            </a:r>
            <a:br/>
            <a:r>
              <a:t>                        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24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整合研报、新闻、财报、政策文件等多源数据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24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实现智能投顾问答与投资建议生成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25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风险预警与合规审查自动化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25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客户画像与精准营销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6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67%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6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投研效率提升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26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*客户内部数据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7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45%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27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客服成本降低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8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*客户内部数据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8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# 金融RAG Pipeline with 混合检索</a:t>
            </a:r>
            <a:br/>
            <a:r>
              <a:t>from langchain.retrievers import EnsembleRetriever</a:t>
            </a:r>
            <a:br/>
            <a:br/>
            <a:r>
              <a:t>retriever = EnsembleRetriever(</a:t>
            </a:r>
            <a:br/>
            <a:r>
              <a:t>    retrievers=[</a:t>
            </a:r>
            <a:br/>
            <a:r>
              <a:t>        vectorstore.as_retriever(search_kwargs={"k": 5}),</a:t>
            </a:r>
            <a:br/>
            <a:r>
              <a:t>        keyword_retriever,</a:t>
            </a:r>
            <a:br/>
            <a:r>
              <a:t>        graph_retriever  # 知识图谱检索</a:t>
            </a:r>
            <a:br/>
            <a:r>
              <a:t>    ],</a:t>
            </a:r>
            <a:br/>
            <a:r>
              <a:t>    weights=[0.5, 0.3, 0.2]</a:t>
            </a:r>
            <a:br/>
            <a:r>
              <a:t>)</a:t>
            </a:r>
            <a:br/>
            <a:br/>
            <a:r>
              <a:t>financial_chain = (</a:t>
            </a:r>
            <a:br/>
            <a:r>
              <a:t>    {"context": retriever, "question": RunnablePassthrough()}</a:t>
            </a:r>
            <a:br/>
            <a:r>
              <a:t>    | ChatPromptTemplate.from_template(FINANCIAL_PROMPT)</a:t>
            </a:r>
            <a:br/>
            <a:r>
              <a:t>    | llm.with_config(configure_finance_output)</a:t>
            </a:r>
            <a:br/>
            <a:r>
              <a:t>)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合规特性</a:t>
            </a:r>
            <a:br/>
            <a:r>
              <a:t>                                审计日志</a:t>
            </a:r>
            <a:br/>
            <a:r>
              <a:t>                                敏感词过滤</a:t>
            </a:r>
            <a:br/>
            <a:r>
              <a:t>                                人机审核</a:t>
            </a:r>
            <a:br/>
            <a:r>
              <a:t>                                数据脱敏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行业案例：医疗健康问答系统</a:t>
            </a:r>
            <a:br/>
            <a:r>
              <a:t>                        06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 智能分诊</a:t>
            </a:r>
            <a:br/>
            <a:r>
              <a:t>                                    症状分析 → 科室推荐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8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行业案例：医疗健康问答系统</a:t>
            </a:r>
            <a:br/>
            <a:r>
              <a:t>                        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9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语音转写 → 结构化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30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相互作用检查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30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严格权限控制 + 医疗免责声明 + 敏感信息过滤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30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# Human-in-the-loop 安全机制</a:t>
            </a:r>
            <a:br/>
            <a:r>
              <a:t>class MedicalSafetyState(TypedDict):</a:t>
            </a:r>
            <a:br/>
            <a:r>
              <a:t>    query: str</a:t>
            </a:r>
            <a:br/>
            <a:r>
              <a:t>    response: str</a:t>
            </a:r>
            <a:br/>
            <a:r>
              <a:t>    confidence: float</a:t>
            </a:r>
            <a:br/>
            <a:r>
              <a:t>    needs_verification: bool</a:t>
            </a:r>
            <a:br/>
            <a:r>
              <a:t>    citations: list</a:t>
            </a:r>
            <a:br/>
            <a:br/>
            <a:r>
              <a:t>def safety_check_node(state: MedicalSafetyState):</a:t>
            </a:r>
            <a:br/>
            <a:r>
              <a:t>    confidence = state["confidence"]</a:t>
            </a:r>
            <a:br/>
            <a:r>
              <a:t>    if confidence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92%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3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分诊准确率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3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*内部测试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32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100%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32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审核覆盖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32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行业案例：电商智能导购系统</a:t>
            </a:r>
            <a:br/>
            <a:r>
              <a:t>                        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33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意图理解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34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商品检索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34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多Agent协商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34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个性推荐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35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AB测试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35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# 电商多Agent推荐系统</a:t>
            </a:r>
            <a:br/>
            <a:r>
              <a:t>shopping_graph = StateGraph(ShoppingState)</a:t>
            </a:r>
            <a:br/>
            <a:br/>
            <a:r>
              <a:t>shopping_graph.add_node("product_retriever", </a:t>
            </a:r>
            <a:br/>
            <a:r>
              <a:t>    ProductRetrieverAgent().as_node())</a:t>
            </a:r>
            <a:br/>
            <a:r>
              <a:t>shopping_graph.add_node("price_analyst", </a:t>
            </a:r>
            <a:br/>
            <a:r>
              <a:t>    PriceAnalysisAgent().as_node())</a:t>
            </a:r>
            <a:br/>
            <a:r>
              <a:t>shopping_graph.add_node("preference_analyzer", </a:t>
            </a:r>
            <a:br/>
            <a:r>
              <a:t>    UserPreferenceAgent().as_node())</a:t>
            </a:r>
            <a:br/>
            <a:r>
              <a:t>shopping_graph.add_node("recommender", </a:t>
            </a:r>
            <a:br/>
            <a:r>
              <a:t>    RecommenderAgent().as_node(),</a:t>
            </a:r>
            <a:br/>
            <a:r>
              <a:t>    input=["product","price","preference"])</a:t>
            </a:r>
            <a:br/>
            <a:br/>
            <a:r>
              <a:t>shopping_graph.add_edge(START, "product_retriever")</a:t>
            </a:r>
            <a:br/>
            <a:r>
              <a:t>shopping_graph.add_edge(START, "price_analyst")</a:t>
            </a:r>
            <a:br/>
            <a:r>
              <a:t>shopping_graph.add_edge(START, "preference_analyzer")</a:t>
            </a:r>
            <a:br/>
            <a:r>
              <a:t>shopping_graph.add_edge(</a:t>
            </a:r>
            <a:br/>
            <a:r>
              <a:t>    ["product_retriever","price_analyst","preference_analyzer"],</a:t>
            </a:r>
            <a:br/>
            <a:r>
              <a:t>    "recommender")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 业务指标提升</a:t>
            </a:r>
            <a:br/>
            <a:r>
              <a:t>                                    </a:t>
            </a:r>
            <a:br/>
            <a:r>
              <a:t>                                        </a:t>
            </a:r>
            <a:br/>
            <a:r>
              <a:t>                                            转化率提升</a:t>
            </a:r>
            <a:br/>
            <a:r>
              <a:t>                                            </a:t>
            </a:r>
            <a:br/>
            <a:r>
              <a:t>                                                </a:t>
            </a:r>
            <a:br/>
            <a:r>
              <a:t>                                            </a:t>
            </a:r>
            <a:br/>
            <a:r>
              <a:t>                                            +34.2%</a:t>
            </a:r>
            <a:br/>
            <a:r>
              <a:t>                                            *A/B测试数据</a:t>
            </a:r>
            <a:br/>
            <a:r>
              <a:t>                                        </a:t>
            </a:r>
            <a:br/>
            <a:r>
              <a:t>                                        </a:t>
            </a:r>
            <a:br/>
            <a:r>
              <a:t>                                            客单价提升</a:t>
            </a:r>
            <a:br/>
            <a:r>
              <a:t>                                            </a:t>
            </a:r>
            <a:br/>
            <a:r>
              <a:t>                                                </a:t>
            </a:r>
            <a:br/>
            <a:r>
              <a:t>                                            </a:t>
            </a:r>
            <a:br/>
            <a:r>
              <a:t>                                            +28.7%</a:t>
            </a:r>
            <a:br/>
            <a:r>
              <a:t>                                            *A/B测试数据</a:t>
            </a:r>
            <a:br/>
            <a:r>
              <a:t>                                        </a:t>
            </a:r>
            <a:br/>
            <a:r>
              <a:t>                                        </a:t>
            </a:r>
            <a:br/>
            <a:r>
              <a:t>                                            用户满意度</a:t>
            </a:r>
            <a:br/>
            <a:r>
              <a:t>                                            </a:t>
            </a:r>
            <a:br/>
            <a:r>
              <a:t>                                                </a:t>
            </a:r>
            <a:br/>
            <a:r>
              <a:t>                                            </a:t>
            </a:r>
            <a:br/>
            <a:r>
              <a:t>                                            +15.3%</a:t>
            </a:r>
            <a:br/>
            <a:r>
              <a:t>                                            *用户调研</a:t>
            </a:r>
            <a:br/>
            <a:r>
              <a:t>                                        </a:t>
            </a:r>
            <a:br/>
            <a:r>
              <a:t>                                    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数据源整合</a:t>
            </a:r>
            <a:br/>
            <a:r>
              <a:t>                                     SKU</a:t>
            </a:r>
            <a:br/>
            <a:r>
              <a:t>                                     用户画像</a:t>
            </a:r>
            <a:br/>
            <a:r>
              <a:t>                                     行为日志</a:t>
            </a:r>
            <a:br/>
            <a:r>
              <a:t>                                     促销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性能对比：传统方案 vs LangChain方案</a:t>
            </a:r>
            <a:br/>
            <a:r>
              <a:t>                        08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对比维度</a:t>
            </a:r>
            <a:br/>
            <a:r>
              <a:t>                                    传统LLM调用方案</a:t>
            </a:r>
            <a:br/>
            <a:r>
              <a:t>                                    LangChain/LangGraph方案</a:t>
            </a:r>
            <a:br/>
            <a:r>
              <a:t>                                    提升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开发效率</a:t>
            </a:r>
            <a:br/>
            <a:r>
              <a:t>                                    手写状态管理，平均2-3周/模块</a:t>
            </a:r>
            <a:br/>
            <a:r>
              <a:t>                                    声明式Graph定义，平均3-5天/模块</a:t>
            </a:r>
            <a:br/>
            <a:r>
              <a:t>                                    4x↑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调试可观测性</a:t>
            </a:r>
            <a:br/>
            <a:r>
              <a:t>                                    黑盒输出，难以追踪中间状态</a:t>
            </a:r>
            <a:br/>
            <a:r>
              <a:t>                                    完整的State快照，支持时间旅行</a:t>
            </a:r>
            <a:br/>
            <a:r>
              <a:t>                                    显著↑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多轮对话支持</a:t>
            </a:r>
            <a:br/>
            <a:r>
              <a:t>                                    手动实现Context管理，易出错</a:t>
            </a:r>
            <a:br/>
            <a:r>
              <a:t>                                    内置Memory + Checkpointer</a:t>
            </a:r>
            <a:br/>
            <a:r>
              <a:t>                                    3x↑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错误恢复</a:t>
            </a:r>
            <a:br/>
            <a:r>
              <a:t>                                    需要手动实现重试逻辑</a:t>
            </a:r>
            <a:br/>
            <a:r>
              <a:t>                                    内置Interruption + Resume机制</a:t>
            </a:r>
            <a:br/>
            <a:r>
              <a:t>                                    5x↑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流式输出</a:t>
            </a:r>
            <a:br/>
            <a:r>
              <a:t>                                    需要额外SDK对接</a:t>
            </a:r>
            <a:br/>
            <a:r>
              <a:t>                                    开箱即用的Streaming支持</a:t>
            </a:r>
            <a:br/>
            <a:r>
              <a:t>                                    2x↑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人工介入</a:t>
            </a:r>
            <a:br/>
            <a:r>
              <a:t>                                    难以实现半自动化流程</a:t>
            </a:r>
            <a:br/>
            <a:r>
              <a:t>                                    Human-in-the-loop原生支持</a:t>
            </a:r>
            <a:br/>
            <a:r>
              <a:t>                                    关键↑</a:t>
            </a:r>
            <a:br/>
            <a:r>
              <a:t>                                </a:t>
            </a:r>
            <a:br/>
            <a:r>
              <a:t>                                </a:t>
            </a:r>
            <a:br/>
            <a:r>
              <a:t>                                    生产部署</a:t>
            </a:r>
            <a:br/>
            <a:r>
              <a:t>                                    需要自行实现高可用</a:t>
            </a:r>
            <a:br/>
            <a:r>
              <a:t>                                    支持分布式部署 + 状态恢复</a:t>
            </a:r>
            <a:br/>
            <a:r>
              <a:t>                                    3x↑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ROI分析与成本优化</a:t>
            </a:r>
            <a:br/>
            <a:r>
              <a:t>                        09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60%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36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性能对比：传统方案 vs LangChain方案</a:t>
            </a:r>
            <a:br/>
            <a:r>
              <a:t>                        08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36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ROI分析与成本优化</a:t>
            </a:r>
            <a:br/>
            <a:r>
              <a:t>                        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37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开发成本节省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38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*平均项目统计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38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3个月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38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平均投资回收期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39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ROI &gt; 200%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39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45%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40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运维成本降低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40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自动化运维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40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15%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4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LLM Token消耗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4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优化上下文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42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使用本地embedding模型减少API调用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4400" y="42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实现智能缓存避免重复LLM调用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42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合理设计State减少Token消耗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0" y="43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使用小模型处理简单路由任务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43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优化方案：模型路由 + 上下文压缩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44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优化方案：增量索引 + 冷热分层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44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优化方案：Serverless + 按需扩展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44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优化方案：LangGraph声明式开发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452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实施路线图：从POC到生产</a:t>
            </a:r>
            <a:br/>
            <a:r>
              <a:t>                        10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46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POC验证 · 核心Demo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46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MVP开发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46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Beta测试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47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生产部署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47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过早优化：先跑通再优化性能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48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过度设计：Simple is Beautiful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" y="48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忽视边界：异常处理不完善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" y="48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单点故障：缺少容错机制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49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明确业务目标和验收标准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4400" y="49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选择合适的团队和资源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50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渐进式迭代，快速反馈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4400" y="50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完善的监控和日志体系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50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企业落地最佳实践</a:t>
            </a:r>
            <a:br/>
            <a:r>
              <a:t>                        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" y="51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使用StateGraph管理复杂业务流程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2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合理拆分Agent职责，单一职责原则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52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使用Checkpointer实现状态持久化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52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设计清晰的错误恢复和重试机制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4400" y="53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敏感数据脱敏和加密存储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4400" y="53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实现Human-in-the-loop审核机制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400" y="54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输出内容安全过滤和审计日志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14400" y="54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符合GDPR/CCPA等数据合规要求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" y="54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使用Streaming减少首Token延迟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0" y="55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实现智能缓存避免重复计算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55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异步并行执行独立的Agent任务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4400" y="56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模型路由：小模型处理简单任务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4400" y="56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LangSmith集成实现全链路追踪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4400" y="56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关键指标：延迟、错误率、Token消耗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14400" y="57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设置告警阈值和值班机制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4400" y="57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A/B测试框架持续优化效果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5800" y="58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总结与展望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5800" y="58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🚀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5800" y="59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LangGraph将成为企业级AI应用的事实标准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" y="59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🔧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600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Multi-Agent协作是复杂业务场景的必由之路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85800" y="60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⚡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5800" y="608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Human-in-the-loop是生产环境的必要保障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5800" y="6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1.0 的发布标志着框架成熟度的重大飞跃。</a:t>
            </a:r>
            <a:br/>
            <a:r>
              <a:t>                            LangGraph 作为核心编排引擎，正在重新定义企业级AI应用的开发范式。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5800" y="6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资源推荐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实战最佳实践与避坑指南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/ LangGraph · 生产环境经验汇总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.reveal { font-family: 'Inter', system-ui, sans-serif; }</a:t>
            </a:r>
            <a:br/>
            <a:r>
              <a:t>        .reveal { --r-background-color: #0a0e17; --r-main-font: 'Inter', system-ui, sans-serif; --r-heading-font: 'Inter', system-ui, sans-serif; --r-main-color: #e4eaf2; --r-heading-color: #00d4ff; --r-link-color: #00d4ff; }</a:t>
            </a:r>
            <a:br/>
            <a:r>
              <a:t>        .reveal h1, .reveal h2, .reveal h3, .reveal h4 { color: #00d4ff; font-weight: 700; text-transform: none; }</a:t>
            </a:r>
            <a:br/>
            <a:r>
              <a:t>        .reveal h1 { font-size: 2.0em; }</a:t>
            </a:r>
            <a:br/>
            <a:r>
              <a:t>        .reveal h2 { font-size: 1.4em; margin-bottom: 15px; }</a:t>
            </a:r>
            <a:br/>
            <a:r>
              <a:t>        .reveal h3 { font-size: 1.0em; color: #7dd3fc; margin-bottom: 8px; }</a:t>
            </a:r>
            <a:br/>
            <a:r>
              <a:t>        .reveal p, .reveal li { color: #cbd5e1; font-size: 0.65em; line-height: 1.5; }</a:t>
            </a:r>
            <a:br/>
            <a:r>
              <a:t>        .reveal ul, .reveal ol { text-align: left; margin-left: 15px; }</a:t>
            </a:r>
            <a:br/>
            <a:r>
              <a:t>        .reveal code { font-family: 'JetBrains Mono', monospace; background: rgba(0, 212, 255, 0.1); padding: 2px 4px; border-radius: 4px; color: #00d4ff; font-size: 0.9em; }</a:t>
            </a:r>
            <a:br/>
            <a:r>
              <a:t>        .reveal pre { background: #1e293b; border: 1px solid #334155; border-radius: 6px; padding: 12px; width: 95%; margin: 0 auto; }</a:t>
            </a:r>
            <a:br/>
            <a:r>
              <a:t>        .reveal pre code { background: transparent; padding: 0; color: #e2e8f0; font-size: 0.6em; line-height: 1.4; }</a:t>
            </a:r>
            <a:br/>
            <a:r>
              <a:t>        .reveal table { width: 100%; border-collapse: collapse; margin: 10px 0; font-size: 0.6em; }</a:t>
            </a:r>
            <a:br/>
            <a:r>
              <a:t>        .reveal table th { background: rgba(0, 212, 255, 0.2); color: #00d4ff; padding: 8px 10px; text-align: left; font-weight: 600; }</a:t>
            </a:r>
            <a:br/>
            <a:r>
              <a:t>        .reveal table td { padding: 6px 10px; border-bottom: 1px solid #334155; color: #cbd5e1; }</a:t>
            </a:r>
            <a:br/>
            <a:r>
              <a:t>        .reveal table tr:hover { background: rgba(0, 212, 255, 0.05); }</a:t>
            </a:r>
            <a:br/>
            <a:r>
              <a:t>        .grid-container { display: grid; gap: 15px; margin-top: 10px; }</a:t>
            </a:r>
            <a:br/>
            <a:r>
              <a:t>        .grid-container.three-col { grid-template-columns: repeat(3, 1fr); }</a:t>
            </a:r>
            <a:br/>
            <a:r>
              <a:t>        .grid-container.four-col { grid-template-columns: repeat(4, 1fr); }</a:t>
            </a:r>
            <a:br/>
            <a:r>
              <a:t>        .grid-container.two-col-inner { grid-template-columns: repeat(2, 1fr); gap: 15px; }</a:t>
            </a:r>
            <a:br/>
            <a:r>
              <a:t>        .card { background: linear-gradient(135deg, #1e293b 0%, #0f172a 100%); border: 1px solid #334155; border-radius: 10px; padding: 15px; text-align: left; transition: all 0.3s ease; overflow: hidden; max-height: 100%; }</a:t>
            </a:r>
            <a:br/>
            <a:r>
              <a:t>        .card:hover { border-color: #00d4ff; transform: translateY(-2px); box-shadow: 0 6px 20px rgba(0, 212, 255, 0.12); }</a:t>
            </a:r>
            <a:br/>
            <a:r>
              <a:t>        .card-icon { font-size: 1.6em; color: #00d4ff; margin-bottom: 8px; }</a:t>
            </a:r>
            <a:br/>
            <a:r>
              <a:t>        .card h4 { color: #00d4ff; margin: 0 0 8px 0; font-size: 0.9em; }</a:t>
            </a:r>
            <a:br/>
            <a:r>
              <a:t>        .card p { color: #94a3b8; margin: 0; font-size: 0.6em; line-height: 1.4; }</a:t>
            </a:r>
            <a:br/>
            <a:r>
              <a:t>        .card ul { margin: 5px 0 0 0; padding-left: 15px; }</a:t>
            </a:r>
            <a:br/>
            <a:r>
              <a:t>        .card ul li { font-size: 0.85em; margin-bottom: 3px; }</a:t>
            </a:r>
            <a:br/>
            <a:r>
              <a:t>        .metric-box { background: rgba(0, 212, 255, 0.1); border: 1px solid rgba(0, 212, 255, 0.3); border-radius: 8px; padding: 12px 8px; text-align: center; min-width: 0; }</a:t>
            </a:r>
            <a:br/>
            <a:r>
              <a:t>        .metric-value { font-size: 1.8em; font-weight: 700; color: #00d4ff; margin-bottom: 3px; }</a:t>
            </a:r>
            <a:br/>
            <a:r>
              <a:t>        .metric-label { font-size: 0.55em; color: #7dd3fc; text-transform: uppercase; letter-spacing: 0.5px; }</a:t>
            </a:r>
            <a:br/>
            <a:r>
              <a:t>        .highlight { color: #00d4ff; font-weight: 600; }</a:t>
            </a:r>
            <a:br/>
            <a:r>
              <a:t>        .tip-box { background: linear-gradient(135deg, rgba(34, 197, 94, 0.1) 0%, rgba(34, 197, 94, 0.05) 100%); border-left: 3px solid #22c55e; padding: 10px 15px; border-radius: 0 6px 6px 0; margin: 8px 0; text-align: left; font-size: 0.6em; }</a:t>
            </a:r>
            <a:br/>
            <a:r>
              <a:t>        .tip-box i { color: #22c55e; margin-right: 8px; }</a:t>
            </a:r>
            <a:br/>
            <a:r>
              <a:t>        .warning-box { background: linear-gradient(135deg, rgba(251, 191, 36, 0.1) 0%, rgba(251, 191, 36, 0.05) 100%); border-left: 3px solid #fbbf24; padding: 10px 15px; border-radius: 0 6px 6px 0; margin: 8px 0; text-align: left; font-size: 0.6em; }</a:t>
            </a:r>
            <a:br/>
            <a:r>
              <a:t>        .warning-box i { color: #fbbf24; margin-right: 8px; }</a:t>
            </a:r>
            <a:br/>
            <a:r>
              <a:t>        .code-label { background: #334155; color: #00d4ff; padding: 3px 8px; border-radius: 3px 3px 0 0; font-size: 0.55em; display: inline-block; margin-bottom: -1px; }</a:t>
            </a:r>
            <a:br/>
            <a:r>
              <a:t>        .two-col { display: grid; grid-template-columns: 1fr 1fr; gap: 20px; align-items: start; }</a:t>
            </a:r>
            <a:br/>
            <a:r>
              <a:t>        .badge { background: rgba(0, 212, 255, 0.2); color: #00d4ff; padding: 3px 8px; border-radius: 15px; font-size: 0.55em; display: inline-block; margin: 2px; }</a:t>
            </a:r>
            <a:br/>
            <a:r>
              <a:t>        .progress-bar { background: #1e293b; border-radius: 6px; height: 6px; overflow: hidden; margin: 8px 0; }</a:t>
            </a:r>
            <a:br/>
            <a:r>
              <a:t>        .progress-fill { height: 100%; background: linear-gradient(90deg, #00d4ff, #7dd3fc); border-radius: 6px; transition: width 0.5s ease; }</a:t>
            </a:r>
            <a:br/>
            <a:r>
              <a:t>        .slide-number { position: absolute; bottom: 15px; right: 25px; font-size: 0.55em; color: #475569; }</a:t>
            </a:r>
            <a:br/>
            <a:r>
              <a:t>        .section-content { max-height: calc(100vh - 120px); overflow: hidden; display: flex; flex-direction: column; }</a:t>
            </a:r>
            <a:br/>
            <a:r>
              <a:t>        .section-content &gt; * { flex-shrink: 1; min-height: 0; }</a:t>
            </a:r>
            <a:br/>
            <a:r>
              <a:t>        .svg-architecture { background: rgba(0, 212, 255, 0.05); border: 1px solid #334155; border-radius: 8px; padding: 10px; margin: 10px 0; }</a:t>
            </a:r>
            <a:br/>
            <a:r>
              <a:t>        .svg-architecture svg { width: 100%; height: auto; max-height: 150px; }</a:t>
            </a:r>
            <a:br/>
            <a:r>
              <a:t>        .data-source { font-size: 0.5em; color: #64748b; margin-top: 5px; font-style: italic; }</a:t>
            </a:r>
            <a:br/>
            <a:r>
              <a:t>        .compact-table td, .compact-table th { padding: 5px 8px; }</a:t>
            </a:r>
            <a:br/>
            <a:r>
              <a:t>    </a:t>
            </a:r>
            <a:br/>
            <a:br/>
            <a:br/>
            <a:r>
              <a:t>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     性能优化与生产环境部署</a:t>
            </a:r>
            <a:br/>
            <a:r>
              <a:t>                LangChain &amp; LangGraph 企业级实践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&amp;lt;100ms</a:t>
            </a:r>
            <a:br/>
            <a:r>
              <a:t>                        响应延迟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99.9%</a:t>
            </a:r>
            <a:br/>
            <a:r>
              <a:t>                        可用性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10K+</a:t>
            </a:r>
            <a:br/>
            <a:r>
              <a:t>                        并发请求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5x</a:t>
            </a:r>
            <a:br/>
            <a:r>
              <a:t>                        吞吐量提升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性能优化策略全景图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LLM 层面</a:t>
            </a:r>
            <a:br/>
            <a:r>
              <a:t>                            </a:t>
            </a:r>
            <a:br/>
            <a:r>
              <a:t>                                模型缓存与批处理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性能优化与生产环境部署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&amp; LangGraph 企业级实践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性能优化策略全景图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流式输出优化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Token 数量控制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廉价模型降级策略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异步节点执行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条件分支剪枝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状态压缩存储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并行边计算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Checkpointer 选型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缓存层级设计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向量数据库优化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连接池管理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2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LLM 响应优化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8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Streaming 流式输出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# 使用 stream 实现首字节快速响应</a:t>
            </a:r>
            <a:br/>
            <a:r>
              <a:t>for chunk in graph.stream(</a:t>
            </a:r>
            <a:br/>
            <a:r>
              <a:t>    {"messages": [("user", query)]},</a:t>
            </a:r>
            <a:br/>
            <a:r>
              <a:t>    config={"configurable": {"thread_id": "1"}}</a:t>
            </a:r>
            <a:br/>
            <a:r>
              <a:t>):</a:t>
            </a:r>
            <a:br/>
            <a:r>
              <a:t>    yield chunk</a:t>
            </a:r>
            <a:br/>
            <a:br/>
            <a:r>
              <a:t># Async Streaming 模式</a:t>
            </a:r>
            <a:br/>
            <a:r>
              <a:t>async def async_stream(query: str):</a:t>
            </a:r>
            <a:br/>
            <a:r>
              <a:t>    async for event in graph.astream_events(</a:t>
            </a:r>
            <a:br/>
            <a:r>
              <a:t>        {"messages": [("user", query)]},</a:t>
            </a:r>
            <a:br/>
            <a:r>
              <a:t>        config={"configurable": {"thread_id": "1"}},</a:t>
            </a:r>
            <a:br/>
            <a:r>
              <a:t>        version="v2"</a:t>
            </a:r>
            <a:br/>
            <a:r>
              <a:t>    ):</a:t>
            </a:r>
            <a:br/>
            <a:r>
              <a:t>        yield event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Token 优化策略</a:t>
            </a:r>
            <a:br/>
            <a:r>
              <a:t>                            </a:t>
            </a:r>
            <a:br/>
            <a:r>
              <a:t>                                策略效果</a:t>
            </a:r>
            <a:br/>
            <a:r>
              <a:t>                                Prompt 压缩-30% Token</a:t>
            </a:r>
            <a:br/>
            <a:r>
              <a:t>                                上下文截断-50% Token</a:t>
            </a:r>
            <a:br/>
            <a:r>
              <a:t>                                廉价模型降级-80% 成本</a:t>
            </a:r>
            <a:br/>
            <a:r>
              <a:t>                                结果缓存命中 +0ms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 避免过度压缩导致语义丢失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异步并行执行优化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并行节点配置</a:t>
            </a:r>
            <a:br/>
            <a:r>
              <a:t>                            Python</a:t>
            </a:r>
            <a:br/>
            <a:r>
              <a:t>                            def create_optimized_graph():</a:t>
            </a:r>
            <a:br/>
            <a:r>
              <a:t>    graph = StateGraph(State)</a:t>
            </a:r>
            <a:br/>
            <a:r>
              <a:t>    # 声明并行边</a:t>
            </a:r>
            <a:br/>
            <a:r>
              <a:t>    graph.add_edge("research", "analysis")</a:t>
            </a:r>
            <a:br/>
            <a:r>
              <a:t>    graph.add_edge("research", "summarize")</a:t>
            </a:r>
            <a:br/>
            <a:r>
              <a:t>    graph.add_edge("research", "extract")</a:t>
            </a:r>
            <a:br/>
            <a:r>
              <a:t>    # 使用 Send 机制实现动态并行</a:t>
            </a:r>
            <a:br/>
            <a:r>
              <a:t>    def research_node(state: State):</a:t>
            </a:r>
            <a:br/>
            <a:r>
              <a:t>        results = parallel_research(state.topic)</a:t>
            </a:r>
            <a:br/>
            <a:r>
              <a:t>        return [Send("process", {"data": r}) for r in results]</a:t>
            </a:r>
            <a:br/>
            <a:r>
              <a:t>    return graph.compile()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执行性能对比</a:t>
            </a:r>
            <a:br/>
            <a:r>
              <a:t>                            </a:t>
            </a:r>
            <a:br/>
            <a:r>
              <a:t>                                顺序执行</a:t>
            </a:r>
            <a:br/>
            <a:r>
              <a:t>                                Research → Analysis →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90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Token 优化策略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9600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异步并行执行优化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04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并行节点配置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09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执行性能对比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15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总耗时: ~3.0s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19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Research → [Analysis | Summary | Extract]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23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总耗时: ~1.0s (3x 提升)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27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* 数据来源：典型多阶段推理任务测试环境实测值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3143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Checkpoint 存储优化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39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Redis 优化配置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checkpointer = RedisSaver.from_conn_string(</a:t>
            </a:r>
            <a:br/>
            <a:r>
              <a:t>    "redis://localhost:6379",</a:t>
            </a:r>
            <a:br/>
            <a:r>
              <a:t>    pool_size=20,</a:t>
            </a:r>
            <a:br/>
            <a:r>
              <a:t>    max_connections=50,</a:t>
            </a:r>
            <a:br/>
            <a:r>
              <a:t>    socket_timeout=5,</a:t>
            </a:r>
            <a:br/>
            <a:r>
              <a:t>    ssl=True</a:t>
            </a:r>
            <a:br/>
            <a:r>
              <a:t>)</a:t>
            </a:r>
            <a:br/>
            <a:r>
              <a:t>graph = graph.compile(checkpointer=checkpointer)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状态压缩策略</a:t>
            </a:r>
            <a:br/>
            <a:r>
              <a:t>                            </a:t>
            </a:r>
            <a:br/>
            <a:r>
              <a:t>                                 消息压缩</a:t>
            </a:r>
            <a:br/>
            <a:r>
              <a:t>                                使用 trim_messages 限制历史长度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9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状态压缩策略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54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使用 PickleSerializer 提升序列化速度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5886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生产环境部署架构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16686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API 网关</a:t>
            </a:r>
            <a:br/>
            <a:r>
              <a:t>                        FastAPI/LangServe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LangGraph</a:t>
            </a:r>
            <a:br/>
            <a:r>
              <a:t>                        Uvicorn 多Worker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持久化层</a:t>
            </a:r>
            <a:br/>
            <a:r>
              <a:t>                        Redis + PG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模型服务</a:t>
            </a:r>
            <a:br/>
            <a:r>
              <a:t>                        OpenAI/Anthropic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监控告警</a:t>
            </a:r>
            <a:br/>
            <a:r>
              <a:t>                        Prometheus+Grafana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限流熔断</a:t>
            </a:r>
            <a:br/>
            <a:r>
              <a:t>                        </a:t>
            </a:r>
            <a:br/>
            <a:r>
              <a:t>                        健康检查</a:t>
            </a:r>
            <a:br/>
            <a:r>
              <a:t>                        </a:t>
            </a:r>
            <a:br/>
            <a:r>
              <a:t>                        状态存储</a:t>
            </a:r>
            <a:br/>
            <a:r>
              <a:t>                        </a:t>
            </a:r>
            <a:br/>
            <a:r>
              <a:t>                        多模型路由</a:t>
            </a:r>
            <a:br/>
            <a:r>
              <a:t>                        </a:t>
            </a:r>
            <a:br/>
            <a:r>
              <a:t>                        性能指标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安全层</a:t>
            </a:r>
            <a:br/>
            <a:r>
              <a:t>                        认证授权 / 数据加密</a:t>
            </a:r>
            <a:br/>
            <a:r>
              <a:t>                        RBAC审计日志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缓存策略</a:t>
            </a:r>
            <a:br/>
            <a:r>
              <a:t>                        L1: Redis / L2: 内存 / L3: LLM 结果缓存</a:t>
            </a:r>
            <a:br/>
            <a:r>
              <a:t>                        多级缓存自动过期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监控告警</a:t>
            </a:r>
            <a:br/>
            <a:r>
              <a:t>                        全链路追踪 / 异常检测</a:t>
            </a:r>
            <a:br/>
            <a:r>
              <a:t>                        OpenTelemetry告警规则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容器化部署配置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Dockerfile 优化</a:t>
            </a:r>
            <a:br/>
            <a:r>
              <a:t>                            Dockerfile</a:t>
            </a:r>
            <a:br/>
            <a:r>
              <a:t>                            # 多阶段构建优化镜像大小</a:t>
            </a:r>
            <a:br/>
            <a:r>
              <a:t>FROM python:3.11-slim as builder</a:t>
            </a:r>
            <a:br/>
            <a:r>
              <a:t>WORKDIR /app</a:t>
            </a:r>
            <a:br/>
            <a:r>
              <a:t>RUN pip install --no-cache-dir -r requirements.txt</a:t>
            </a:r>
            <a:br/>
            <a:br/>
            <a:r>
              <a:t># 运行阶段使用轻量镜像</a:t>
            </a:r>
            <a:br/>
            <a:r>
              <a:t>FROM python:3.11-slim</a:t>
            </a:r>
            <a:br/>
            <a:r>
              <a:t>WORKDIR /app</a:t>
            </a:r>
            <a:br/>
            <a:r>
              <a:t>COPY --from=builder /usr/local/lib ./lib</a:t>
            </a:r>
            <a:br/>
            <a:r>
              <a:t>COPY ./app ./app</a:t>
            </a:r>
            <a:br/>
            <a:br/>
            <a:r>
              <a:t># 非 root 用户运行</a:t>
            </a:r>
            <a:br/>
            <a:r>
              <a:t>RUN useradd -m appuser &amp;&amp; chown -R appuser /app</a:t>
            </a:r>
            <a:br/>
            <a:r>
              <a:t>USER appuser</a:t>
            </a:r>
            <a:br/>
            <a:br/>
            <a:r>
              <a:t># 健康检查</a:t>
            </a:r>
            <a:br/>
            <a:r>
              <a:t>HEALTHCHECK --interval=30s --timeout=10s \</a:t>
            </a:r>
            <a:br/>
            <a:r>
              <a:t>  CMD curl -f http://localhost:8000/health</a:t>
            </a:r>
            <a:br/>
            <a:br/>
            <a:r>
              <a:t>EXPOSE 8000</a:t>
            </a:r>
            <a:br/>
            <a:r>
              <a:t>CMD ["uvicorn", "app:app", "--host", "0.0.0.0"]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Kubernetes 部署</a:t>
            </a:r>
            <a:br/>
            <a:r>
              <a:t>                            deployment.yaml</a:t>
            </a:r>
            <a:br/>
            <a:r>
              <a:t>                            apiVersion: apps/v1</a:t>
            </a:r>
            <a:br/>
            <a:r>
              <a:t>kind: Deployment</a:t>
            </a:r>
            <a:br/>
            <a:r>
              <a:t>metadata:</a:t>
            </a:r>
            <a:br/>
            <a:r>
              <a:t>  name: langgraph-api</a:t>
            </a:r>
            <a:br/>
            <a:r>
              <a:t>spec:</a:t>
            </a:r>
            <a:br/>
            <a:r>
              <a:t>  replicas: 3</a:t>
            </a:r>
            <a:br/>
            <a:r>
              <a:t>  template:</a:t>
            </a:r>
            <a:br/>
            <a:r>
              <a:t>    spec:</a:t>
            </a:r>
            <a:br/>
            <a:r>
              <a:t>      containers:</a:t>
            </a:r>
            <a:br/>
            <a:r>
              <a:t>      - name: api</a:t>
            </a:r>
            <a:br/>
            <a:r>
              <a:t>        image: langgraph:latest</a:t>
            </a:r>
            <a:br/>
            <a:r>
              <a:t>        resources:</a:t>
            </a:r>
            <a:br/>
            <a:r>
              <a:t>          requests:</a:t>
            </a:r>
            <a:br/>
            <a:r>
              <a:t>            memory: "512Mi"</a:t>
            </a:r>
            <a:br/>
            <a:r>
              <a:t>            cpu: "250m"</a:t>
            </a:r>
            <a:br/>
            <a:r>
              <a:t>          limits:</a:t>
            </a:r>
            <a:br/>
            <a:r>
              <a:t>            memory: "2Gi"</a:t>
            </a:r>
            <a:br/>
            <a:r>
              <a:t>            cpu: "1000m"</a:t>
            </a:r>
            <a:br/>
            <a:r>
              <a:t>        env:</a:t>
            </a:r>
            <a:br/>
            <a:r>
              <a:t>        - name: REDIS_URL</a:t>
            </a:r>
            <a:br/>
            <a:r>
              <a:t>          valueFrom:</a:t>
            </a:r>
            <a:br/>
            <a:r>
              <a:t>            secretKeyRef:</a:t>
            </a:r>
            <a:br/>
            <a:r>
              <a:t>              name: langgraph-secrets</a:t>
            </a:r>
            <a:br/>
            <a:r>
              <a:t>              key: redis-url</a:t>
            </a:r>
            <a:br/>
            <a:r>
              <a:t>                            hpa.yaml</a:t>
            </a:r>
            <a:br/>
            <a:r>
              <a:t>                            apiVersion: autoscaling/v2</a:t>
            </a:r>
            <a:br/>
            <a:r>
              <a:t>kind: HorizontalPodAutoscaler</a:t>
            </a:r>
            <a:br/>
            <a:r>
              <a:t>metadata:</a:t>
            </a:r>
            <a:br/>
            <a:r>
              <a:t>  name: langgraph-api-hpa</a:t>
            </a:r>
            <a:br/>
            <a:r>
              <a:t>spec:</a:t>
            </a:r>
            <a:br/>
            <a:r>
              <a:t>  scaleTargetRef:</a:t>
            </a:r>
            <a:br/>
            <a:r>
              <a:t>    apiVersion: apps/v1</a:t>
            </a:r>
            <a:br/>
            <a:r>
              <a:t>    kind: Deployment</a:t>
            </a:r>
            <a:br/>
            <a:r>
              <a:t>    name: langgraph-api</a:t>
            </a:r>
            <a:br/>
            <a:r>
              <a:t>  minReplicas: 2</a:t>
            </a:r>
            <a:br/>
            <a:r>
              <a:t>  maxReplicas: 10</a:t>
            </a:r>
            <a:br/>
            <a:r>
              <a:t>  metrics:</a:t>
            </a:r>
            <a:br/>
            <a:r>
              <a:t>  - type: Resource</a:t>
            </a:r>
            <a:br/>
            <a:r>
              <a:t>    resource:</a:t>
            </a:r>
            <a:br/>
            <a:r>
              <a:t>      name: cpu</a:t>
            </a:r>
            <a:br/>
            <a:r>
              <a:t>      target:</a:t>
            </a:r>
            <a:br/>
            <a:r>
              <a:t>        type: Utilization</a:t>
            </a:r>
            <a:br/>
            <a:r>
              <a:t>        averageUtilization: 70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高可用性设计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多级重试机制</a:t>
            </a:r>
            <a:br/>
            <a:r>
              <a:t>                            Python</a:t>
            </a:r>
            <a:br/>
            <a:r>
              <a:t>                            @retry(stop=stop_after_attempt(3),</a:t>
            </a:r>
            <a:br/>
            <a:r>
              <a:t>    wait=wait_exponential(multiplier=1, min=2, max=10))</a:t>
            </a:r>
            <a:br/>
            <a:r>
              <a:t>async def call_llm_with_retry(prompt: str):</a:t>
            </a:r>
            <a:br/>
            <a:r>
              <a:t>    return await llm.ainvoke(prompt)</a:t>
            </a:r>
            <a:br/>
            <a:br/>
            <a:r>
              <a:t>model = ChatOpenAI(model="gpt-4", max_retries=3, request_timeout=30)</a:t>
            </a:r>
            <a:br/>
            <a:r>
              <a:t>                            </a:t>
            </a:r>
            <a:br/>
            <a:r>
              <a:t>                                 指数退避避免雪崩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限流与熔断</a:t>
            </a:r>
            <a:br/>
            <a:r>
              <a:t>                            Python</a:t>
            </a:r>
            <a:br/>
            <a:r>
              <a:t>                            limiter = Limiter(key_func=get_remote_address)</a:t>
            </a:r>
            <a:br/>
            <a:br/>
            <a:r>
              <a:t>@app.post("/invoke")</a:t>
            </a:r>
            <a:br/>
            <a:r>
              <a:t>@limiter.limit("100/minute")</a:t>
            </a:r>
            <a:br/>
            <a:r>
              <a:t>async def invoke_agent(request: Request):</a:t>
            </a:r>
            <a:br/>
            <a:r>
              <a:t>    pass</a:t>
            </a:r>
            <a:br/>
            <a:br/>
            <a:r>
              <a:t>circuit_breaker = CircuitBreaker(</a:t>
            </a:r>
            <a:br/>
            <a:r>
              <a:t>    failure_threshold=5,</a:t>
            </a:r>
            <a:br/>
            <a:r>
              <a:t>    recovery_timeout=60,</a:t>
            </a:r>
            <a:br/>
            <a:r>
              <a:t>    expected_exception=RateLimitError</a:t>
            </a:r>
            <a:br/>
            <a:r>
              <a:t>)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优雅降级策略</a:t>
            </a:r>
            <a:br/>
            <a:r>
              <a:t>                            </a:t>
            </a:r>
            <a:br/>
            <a:r>
              <a:t>                                LLM 不可用时使用缓存回答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70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安全层</a:t>
            </a:r>
            <a:br/>
            <a:r>
              <a:t>                        认证授权 / 数据加密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74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L1: Redis / L2: 内存 / L3: LLM 结果缓存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78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全链路追踪 / 异常检测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18286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容器化部署配置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19086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Dockerfile 优化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19657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# 多阶段构建优化镜像大小</a:t>
            </a:r>
            <a:br/>
            <a:r>
              <a:t>FROM python:3.11-slim as builder</a:t>
            </a:r>
            <a:br/>
            <a:r>
              <a:t>WORKDIR /app</a:t>
            </a:r>
            <a:br/>
            <a:r>
              <a:t>RUN pip install --no-cache-dir -r requirements.txt</a:t>
            </a:r>
            <a:br/>
            <a:br/>
            <a:r>
              <a:t># 运行阶段使用轻量镜像</a:t>
            </a:r>
            <a:br/>
            <a:r>
              <a:t>FROM python:3.11-slim</a:t>
            </a:r>
            <a:br/>
            <a:r>
              <a:t>WORKDIR /app</a:t>
            </a:r>
            <a:br/>
            <a:r>
              <a:t>COPY --from=builder /usr/local/lib ./lib</a:t>
            </a:r>
            <a:br/>
            <a:r>
              <a:t>COPY ./app ./app</a:t>
            </a:r>
            <a:br/>
            <a:br/>
            <a:r>
              <a:t># 非 root 用户运行</a:t>
            </a:r>
            <a:br/>
            <a:r>
              <a:t>RUN useradd -m appuser &amp;&amp; chown -R appuser /app</a:t>
            </a:r>
            <a:br/>
            <a:r>
              <a:t>USER appuser</a:t>
            </a:r>
            <a:br/>
            <a:br/>
            <a:r>
              <a:t># 健康检查</a:t>
            </a:r>
            <a:br/>
            <a:r>
              <a:t>HEALTHCHECK --interval=30s --timeout=10s \</a:t>
            </a:r>
            <a:br/>
            <a:r>
              <a:t>  CMD curl -f http://localhost:8000/health</a:t>
            </a:r>
            <a:br/>
            <a:br/>
            <a:r>
              <a:t>EXPOSE 8000</a:t>
            </a:r>
            <a:br/>
            <a:r>
              <a:t>CMD ["uvicorn", "app:app", "--host", "0.0.0.0"]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Kubernetes 部署</a:t>
            </a:r>
            <a:br/>
            <a:r>
              <a:t>                            deployment.yaml</a:t>
            </a:r>
            <a:br/>
            <a:r>
              <a:t>                            apiVersion: apps/v1</a:t>
            </a:r>
            <a:br/>
            <a:r>
              <a:t>kind: Deployment</a:t>
            </a:r>
            <a:br/>
            <a:r>
              <a:t>metadata:</a:t>
            </a:r>
            <a:br/>
            <a:r>
              <a:t>  name: langgraph-api</a:t>
            </a:r>
            <a:br/>
            <a:r>
              <a:t>spec:</a:t>
            </a:r>
            <a:br/>
            <a:r>
              <a:t>  replicas: 3</a:t>
            </a:r>
            <a:br/>
            <a:r>
              <a:t>  template:</a:t>
            </a:r>
            <a:br/>
            <a:r>
              <a:t>    spec:</a:t>
            </a:r>
            <a:br/>
            <a:r>
              <a:t>      containers:</a:t>
            </a:r>
            <a:br/>
            <a:r>
              <a:t>      - name: api</a:t>
            </a:r>
            <a:br/>
            <a:r>
              <a:t>        image: langgraph:latest</a:t>
            </a:r>
            <a:br/>
            <a:r>
              <a:t>        resources:</a:t>
            </a:r>
            <a:br/>
            <a:r>
              <a:t>          requests:</a:t>
            </a:r>
            <a:br/>
            <a:r>
              <a:t>            memory: "512Mi"</a:t>
            </a:r>
            <a:br/>
            <a:r>
              <a:t>            cpu: "250m"</a:t>
            </a:r>
            <a:br/>
            <a:r>
              <a:t>          limits:</a:t>
            </a:r>
            <a:br/>
            <a:r>
              <a:t>            memory: "2Gi"</a:t>
            </a:r>
            <a:br/>
            <a:r>
              <a:t>            cpu: "1000m"</a:t>
            </a:r>
            <a:br/>
            <a:r>
              <a:t>        env:</a:t>
            </a:r>
            <a:br/>
            <a:r>
              <a:t>        - name: REDIS_URL</a:t>
            </a:r>
            <a:br/>
            <a:r>
              <a:t>          valueFrom:</a:t>
            </a:r>
            <a:br/>
            <a:r>
              <a:t>            secretKeyRef:</a:t>
            </a:r>
            <a:br/>
            <a:r>
              <a:t>              name: langgraph-secrets</a:t>
            </a:r>
            <a:br/>
            <a:r>
              <a:t>              key: redis-url</a:t>
            </a:r>
            <a:br/>
            <a:r>
              <a:t>                            hpa.yaml</a:t>
            </a:r>
            <a:br/>
            <a:r>
              <a:t>                            apiVersion: autoscaling/v2</a:t>
            </a:r>
            <a:br/>
            <a:r>
              <a:t>kind: HorizontalPodAutoscaler</a:t>
            </a:r>
            <a:br/>
            <a:r>
              <a:t>metadata:</a:t>
            </a:r>
            <a:br/>
            <a:r>
              <a:t>  name: langgraph-api-hpa</a:t>
            </a:r>
            <a:br/>
            <a:r>
              <a:t>spec:</a:t>
            </a:r>
            <a:br/>
            <a:r>
              <a:t>  scaleTargetRef:</a:t>
            </a:r>
            <a:br/>
            <a:r>
              <a:t>    apiVersion: apps/v1</a:t>
            </a:r>
            <a:br/>
            <a:r>
              <a:t>    kind: Deployment</a:t>
            </a:r>
            <a:br/>
            <a:r>
              <a:t>    name: langgraph-api</a:t>
            </a:r>
            <a:br/>
            <a:r>
              <a:t>  minReplicas: 2</a:t>
            </a:r>
            <a:br/>
            <a:r>
              <a:t>  maxReplicas: 10</a:t>
            </a:r>
            <a:br/>
            <a:r>
              <a:t>  metrics:</a:t>
            </a:r>
            <a:br/>
            <a:r>
              <a:t>  - type: Resource</a:t>
            </a:r>
            <a:br/>
            <a:r>
              <a:t>    resource:</a:t>
            </a:r>
            <a:br/>
            <a:r>
              <a:t>      name: cpu</a:t>
            </a:r>
            <a:br/>
            <a:r>
              <a:t>      target:</a:t>
            </a:r>
            <a:br/>
            <a:r>
              <a:t>        type: Utilization</a:t>
            </a:r>
            <a:br/>
            <a:r>
              <a:t>        averageUtilization: 70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高可用性设计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多级重试机制</a:t>
            </a:r>
            <a:br/>
            <a:r>
              <a:t>                            Python</a:t>
            </a:r>
            <a:br/>
            <a:r>
              <a:t>                            @retry(stop=stop_after_attempt(3),</a:t>
            </a:r>
            <a:br/>
            <a:r>
              <a:t>    wait=wait_exponential(multiplier=1, min=2, max=10))</a:t>
            </a:r>
            <a:br/>
            <a:r>
              <a:t>async def call_llm_with_retry(prompt: str):</a:t>
            </a:r>
            <a:br/>
            <a:r>
              <a:t>    return await llm.ainvoke(prompt)</a:t>
            </a:r>
            <a:br/>
            <a:br/>
            <a:r>
              <a:t>model = ChatOpenAI(model="gpt-4", max_retries=3, request_timeout=30)</a:t>
            </a:r>
            <a:br/>
            <a:r>
              <a:t>                            </a:t>
            </a:r>
            <a:br/>
            <a:r>
              <a:t>                                 指数退避避免雪崩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限流与熔断</a:t>
            </a:r>
            <a:br/>
            <a:r>
              <a:t>                            Python</a:t>
            </a:r>
            <a:br/>
            <a:r>
              <a:t>                            limiter = Limiter(key_func=get_remote_address)</a:t>
            </a:r>
            <a:br/>
            <a:br/>
            <a:r>
              <a:t>@app.post("/invoke")</a:t>
            </a:r>
            <a:br/>
            <a:r>
              <a:t>@limiter.limit("100/minute")</a:t>
            </a:r>
            <a:br/>
            <a:r>
              <a:t>async def invoke_agent(request: Request):</a:t>
            </a:r>
            <a:br/>
            <a:r>
              <a:t>    pass</a:t>
            </a:r>
            <a:br/>
            <a:br/>
            <a:r>
              <a:t>circuit_breaker = CircuitBreaker(</a:t>
            </a:r>
            <a:br/>
            <a:r>
              <a:t>    failure_threshold=5,</a:t>
            </a:r>
            <a:br/>
            <a:r>
              <a:t>    recovery_timeout=60,</a:t>
            </a:r>
            <a:br/>
            <a:r>
              <a:t>    expected_exception=RateLimitError</a:t>
            </a:r>
            <a:br/>
            <a:r>
              <a:t>)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优雅降级策略</a:t>
            </a:r>
            <a:br/>
            <a:r>
              <a:t>                            </a:t>
            </a:r>
            <a:br/>
            <a:r>
              <a:t>                                LLM 不可用时使用缓存回答</a:t>
            </a:r>
            <a:br/>
            <a:r>
              <a:t>                                超时后返回部分结果</a:t>
            </a:r>
            <a:br/>
            <a:r>
              <a:t>                                降级至简化流程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</a:t>
            </a:r>
            <a:br/>
            <a:r>
              <a:t>                            数据持久化保障</a:t>
            </a:r>
            <a:br/>
            <a:r>
              <a:t>                            </a:t>
            </a:r>
            <a:br/>
            <a:r>
              <a:t>                                Checkpointer 异步写入</a:t>
            </a:r>
            <a:br/>
            <a:r>
              <a:t>                                关键操作事务保证</a:t>
            </a:r>
            <a:br/>
            <a:r>
              <a:t>                                定期状态快照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监控与可观测性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关键指标体系</a:t>
            </a:r>
            <a:br/>
            <a:r>
              <a:t>                            </a:t>
            </a:r>
            <a:br/>
            <a:r>
              <a:t>                                指标类型指标名称告警阈值</a:t>
            </a:r>
            <a:br/>
            <a:r>
              <a:t>                                延迟p50/p95/p99 响应时间&amp;gt;2s / &amp;gt;5s / &amp;gt;10s</a:t>
            </a:r>
            <a:br/>
            <a:r>
              <a:t>                                吞吐请求 QPS&amp;lt;100 QPS</a:t>
            </a:r>
            <a:br/>
            <a:r>
              <a:t>                                可用成功率&amp;lt;99%</a:t>
            </a:r>
            <a:br/>
            <a:r>
              <a:t>                                资源CPU / Memory / GPU&amp;gt;80%</a:t>
            </a:r>
            <a:br/>
            <a:r>
              <a:t>                                LLMToken 消耗速率&amp;gt;10000/min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OpenTelemetry 集成</a:t>
            </a:r>
            <a:br/>
            <a:r>
              <a:t>                            Python</a:t>
            </a:r>
            <a:br/>
            <a:r>
              <a:t>                            from opentelemetry import trace</a:t>
            </a:r>
            <a:br/>
            <a:r>
              <a:t>from opentelemetry.sdk.trace import TracerProvider</a:t>
            </a:r>
            <a:br/>
            <a:r>
              <a:t>from opentelemetry.exporter.jaeger.thrift import JaegerExporter</a:t>
            </a:r>
            <a:br/>
            <a:br/>
            <a:r>
              <a:t>provider = TracerProvider()</a:t>
            </a:r>
            <a:br/>
            <a:r>
              <a:t>provider.add_span_processor(</a:t>
            </a:r>
            <a:br/>
            <a:r>
              <a:t>    BatchSpanProcessor(JaegerExporter(</a:t>
            </a:r>
            <a:br/>
            <a:r>
              <a:t>        agent_host_name="jaeger",</a:t>
            </a:r>
            <a:br/>
            <a:r>
              <a:t>        agent_port=6831</a:t>
            </a:r>
            <a:br/>
            <a:r>
              <a:t>    ))</a:t>
            </a:r>
            <a:br/>
            <a:r>
              <a:t>)</a:t>
            </a:r>
            <a:br/>
            <a:r>
              <a:t>trace.set_tracer_provider(provider)</a:t>
            </a:r>
            <a:br/>
            <a:br/>
            <a:r>
              <a:t>handler = OpenTelemetryCallbackHandler(tracer)</a:t>
            </a:r>
            <a:br/>
            <a:r>
              <a:t>graph = graph.compile(callbacks=[handler])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监控数据流</a:t>
            </a:r>
            <a:br/>
            <a:r>
              <a:t>                            </a:t>
            </a:r>
            <a:br/>
            <a:r>
              <a:t>                            应用指标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Prometheus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Grafana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AlertManager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告警通知</a:t>
            </a:r>
            <a:br/>
            <a:r>
              <a:t>                            钉钉/邮件/Slack</a:t>
            </a:r>
            <a:br/>
            <a:r>
              <a:t>                            </a:t>
            </a:r>
            <a:br/>
            <a:r>
              <a:t>                            运维处理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生产环境检查清单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 安全性</a:t>
            </a:r>
            <a:br/>
            <a:r>
              <a:t>                            </a:t>
            </a:r>
            <a:br/>
            <a:r>
              <a:t>                                ✓ API 密钥安全存储</a:t>
            </a:r>
            <a:br/>
            <a:r>
              <a:t>                                ✓ 输入输出内容过滤</a:t>
            </a:r>
            <a:br/>
            <a:r>
              <a:t>                                ✓ 敏感信息脱敏</a:t>
            </a:r>
            <a:br/>
            <a:r>
              <a:t>                                ✓ Rate Limiting 配置</a:t>
            </a:r>
            <a:br/>
            <a:r>
              <a:t>                                ✓ SQL/XSS 防护</a:t>
            </a:r>
            <a:br/>
            <a:r>
              <a:t>                                ✓ 审计日志开启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 性能</a:t>
            </a:r>
            <a:br/>
            <a:r>
              <a:t>                            </a:t>
            </a:r>
            <a:br/>
            <a:r>
              <a:t>                                ✓ 缓存策略配置</a:t>
            </a:r>
            <a:br/>
            <a:r>
              <a:t>                                ✓ 数据库索引优化</a:t>
            </a:r>
            <a:br/>
            <a:r>
              <a:t>                                ✓ 连接池调优</a:t>
            </a:r>
            <a:br/>
            <a:r>
              <a:t>                                ✓ 异步非阻塞 I/O</a:t>
            </a:r>
            <a:br/>
            <a:r>
              <a:t>                                ✓ 负载测试通过</a:t>
            </a:r>
            <a:br/>
            <a:r>
              <a:t>                                ✓ 性能基线建立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 运维</a:t>
            </a:r>
            <a:br/>
            <a:r>
              <a:t>                            </a:t>
            </a:r>
            <a:br/>
            <a:r>
              <a:t>                                ✓ 健康检查端点</a:t>
            </a:r>
            <a:br/>
            <a:r>
              <a:t>                                ✓ 优雅停机配置</a:t>
            </a:r>
            <a:br/>
            <a:r>
              <a:t>                                ✓ 日志结构化输出</a:t>
            </a:r>
            <a:br/>
            <a:r>
              <a:t>                                ✓ 监控告警配置</a:t>
            </a:r>
            <a:br/>
            <a:r>
              <a:t>                                ✓ 灾难恢复计划</a:t>
            </a:r>
            <a:br/>
            <a:r>
              <a:t>                                ✓ 变更流程审批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 重要提醒：上线前务必在灰度环境进行全链路压测，确保系统在峰值负载下的稳定性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成本优化策略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LLM 成本控制</a:t>
            </a:r>
            <a:br/>
            <a:r>
              <a:t>                            </a:t>
            </a:r>
            <a:br/>
            <a:r>
              <a:t>                                模型路由策略</a:t>
            </a:r>
            <a:br/>
            <a:r>
              <a:t>                                </a:t>
            </a:r>
            <a:br/>
            <a:r>
              <a:t>                                简单查询 → GPT-3.5 (30% 成本)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0057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Kubernetes 部署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0629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高可用性设计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1429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超时后返回部分结果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1829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降级至简化流程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22229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Checkpointer 异步写入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22629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关键操作事务保证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23029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定期状态快照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3429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监控与可观测性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229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关键指标体系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4800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OpenTelemetry 集成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253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Prometheus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Grafana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AlertManager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告警通知</a:t>
            </a:r>
            <a:br/>
            <a:r>
              <a:t>                            钉钉/邮件/Slack</a:t>
            </a:r>
            <a:br/>
            <a:r>
              <a:t>                            </a:t>
            </a:r>
            <a:br/>
            <a:r>
              <a:t>                            运维处理</a:t>
            </a:r>
            <a:br/>
            <a:r>
              <a:t>                            </a:t>
            </a:r>
            <a:br/>
            <a:r>
              <a:t>                                </a:t>
            </a:r>
            <a:br/>
            <a:r>
              <a:t>                                    </a:t>
            </a:r>
            <a:br/>
            <a:r>
              <a:t>                                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生产环境检查清单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 安全性</a:t>
            </a:r>
            <a:br/>
            <a:r>
              <a:t>                            </a:t>
            </a:r>
            <a:br/>
            <a:r>
              <a:t>                                ✓ API 密钥安全存储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5772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生产环境检查清单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265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输入输出内容过滤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269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敏感信息脱敏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273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Rate Limiting 配置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277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SQL/XSS 防护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281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审计日志开启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285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缓存策略配置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89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数据库索引优化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293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连接池调优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297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异步非阻塞 I/O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301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负载测试通过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305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性能基线建立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309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健康检查端点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313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优雅停机配置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317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日志结构化输出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321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监控告警配置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325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灾难恢复计划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32972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✓ 变更流程审批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33372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成本优化策略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34172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LLM 成本控制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34743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复杂推理 → GPT-4 (70% 成本)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35143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def route_by_complexity(query: str) -&gt; str:</a:t>
            </a:r>
            <a:br/>
            <a:r>
              <a:t>    if classify_complexity(query) == "simple":</a:t>
            </a:r>
            <a:br/>
            <a:r>
              <a:t>        return "gpt-3.5-turbo"</a:t>
            </a:r>
            <a:br/>
            <a:r>
              <a:t>    return "gpt-4"</a:t>
            </a:r>
            <a:br/>
            <a:br/>
            <a:r>
              <a:t>llm = ChatOpenAI(model=get_model_name(query))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资源成本优化</a:t>
            </a:r>
            <a:br/>
            <a:r>
              <a:t>                            </a:t>
            </a:r>
            <a:br/>
            <a:r>
              <a:t>                                策略节省比例</a:t>
            </a:r>
            <a:br/>
            <a:r>
              <a:t>                                Spot 实例60-70%</a:t>
            </a:r>
            <a:br/>
            <a:r>
              <a:t>                                Auto Scaling30-40%</a:t>
            </a:r>
            <a:br/>
            <a:r>
              <a:t>                                预留实例40-60%</a:t>
            </a:r>
            <a:br/>
            <a:r>
              <a:t>                                结果缓存20-50%</a:t>
            </a:r>
            <a:br/>
            <a:r>
              <a:t>                            </a:t>
            </a:r>
            <a:br/>
            <a:r>
              <a:t>                            </a:t>
            </a:r>
            <a:br/>
            <a:r>
              <a:t>                                 成本估算：1000 QPS × 500 Token/请求 × $0.002/1K Token ≈ $1/小时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</a:t>
            </a:r>
            <a:br/>
            <a:r>
              <a:t>            </a:t>
            </a:r>
            <a:br/>
            <a:br/>
            <a:r>
              <a:t>            </a:t>
            </a:r>
            <a:br/>
            <a:r>
              <a:t>                总结与最佳实践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</a:t>
            </a:r>
            <a:br/>
            <a:r>
              <a:t>                             性能优化要点</a:t>
            </a:r>
            <a:br/>
            <a:r>
              <a:t>                            </a:t>
            </a:r>
            <a:br/>
            <a:r>
              <a:t>                                流式输出 - 提升首字节响应速度</a:t>
            </a:r>
            <a:br/>
            <a:r>
              <a:t>                                并行执行 - 利用 Send 机制并发处理</a:t>
            </a:r>
            <a:br/>
            <a:r>
              <a:t>                                智能缓存 - Redis + 结果缓存双重保障</a:t>
            </a:r>
            <a:br/>
            <a:r>
              <a:t>                                模型降级 - 简单任务使用廉价模型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    </a:t>
            </a:r>
            <a:br/>
            <a:r>
              <a:t>                             生产部署要点</a:t>
            </a:r>
            <a:br/>
            <a:r>
              <a:t>                            </a:t>
            </a:r>
            <a:br/>
            <a:r>
              <a:t>                                容器化 - 多阶段构建优化镜像</a:t>
            </a:r>
            <a:br/>
            <a:r>
              <a:t>                                高可用 - 多副本 + 自动故障转移</a:t>
            </a:r>
            <a:br/>
            <a:r>
              <a:t>                                可观测 - 全链路追踪 + 指标监控</a:t>
            </a:r>
            <a:br/>
            <a:r>
              <a:t>                                安全 - 认证授权 + 限流熔断</a:t>
            </a:r>
            <a:br/>
            <a:r>
              <a:t>                            </a:t>
            </a:r>
            <a:br/>
            <a:r>
              <a:t>                        </a:t>
            </a:r>
            <a:br/>
            <a:r>
              <a:t>                    </a:t>
            </a:r>
            <a:br/>
            <a:r>
              <a:t>                    </a:t>
            </a:r>
            <a:br/>
            <a:r>
              <a:t>                        🎯 核心原则：测量先行、优化有度、成本可控、运维先行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35543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资源成本优化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36115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总结与最佳实践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36915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流式输出 - 提升首字节响应速度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37315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并行执行 - 利用 Send 机制并发处理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37715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智能缓存 - Redis + 结果缓存双重保障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" y="38115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模型降级 - 简单任务使用廉价模型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38515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容器化 - 多阶段构建优化镜像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38915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高可用 - 多副本 + 自动故障转移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9315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可观测 - 全链路追踪 + 指标监控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39715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安全 - 认证授权 + 限流熔断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未来展望</a:t>
            </a:r>
            <a:br/>
            <a:r>
              <a:t>            </a:t>
            </a:r>
            <a:br/>
            <a:r>
              <a:t>            2025技术趋势与生态展望</a:t>
            </a:r>
            <a:br/>
            <a:r>
              <a:t>            基于LangChain/LangGraph生态系统的技术创新方向与产业发展预测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2025技术趋势与生态展望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 Agent原生应用爆发</a:t>
            </a:r>
            <a:br/>
            <a:r>
              <a:t>                2025年将见证AI Agent从实验走向规模化生产。LangChain/LangGraph提供了构建复杂Agent工作流的最佳框架，支持多步骤推理、工具调用和长期记忆。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AI Agent原生应用爆发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Multi-Agent协作架构</a:t>
            </a:r>
            <a:br/>
            <a:r>
              <a:t>                多Agent系统将成为企业级AI应用的主流架构。通过Supervisor、Hierarchical和Swarm等模式，实现复杂任务的分布式处理与智能协作。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Multi-Agent协作架构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企业级安全与合规</a:t>
            </a:r>
            <a:br/>
            <a:r>
              <a:t>                随着AI应用深入业务核心，安全性和合规性成为首要考量。LangGraph的持久化机制和Human-in-the-loop特性为敏感场景提供企业级保障。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企业级安全与合规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边缘计算与端侧部署</a:t>
            </a:r>
            <a:br/>
            <a:r>
              <a:t>                模型轻量化和端侧推理技术的突破，使得AI Agent可以在边缘设备上高效运行。LangChain支持多种部署模式，覆盖云端到边缘的全场景。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边缘计算与端侧部署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生态系统发展路线图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总结与行动建议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1.0 确立标准：组件化架构 + 可观测性 + 统一API成为Agent开发范式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LangGraph 解决核心痛点：有状态循环、复杂流程编排、多Agent协作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Checkpoint 实现生产级可靠性：断点恢复、会话保持、错误溯源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Human-in-the-loop 平衡自动化与可控性：人工审核、干预、纠正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行动路线图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搭建LangGraph本地开发环境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实现基础StateGraph流程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集成LangSmith进行调试追踪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接入Checkpoint持久化方案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实现Streaming输出优化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构建多Agent协作原型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设计企业级Agent架构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实现Human-in-the-loop机制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200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建立监控告警体系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从概念验证到生产部署，LangGraph是你构建可靠Agent系统的最优选择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* {</a:t>
            </a:r>
            <a:br/>
            <a:r>
              <a:t>            margin: 0;</a:t>
            </a:r>
            <a:br/>
            <a:r>
              <a:t>            padding: 0;</a:t>
            </a:r>
            <a:br/>
            <a:r>
              <a:t>            box-sizing: border-box;</a:t>
            </a:r>
            <a:br/>
            <a:r>
              <a:t>        }</a:t>
            </a:r>
            <a:br/>
            <a:br/>
            <a:r>
              <a:t>        body {</a:t>
            </a:r>
            <a:br/>
            <a:r>
              <a:t>            font-family: 'Inter', -apple-system, BlinkMacSystemFont, sans-serif;</a:t>
            </a:r>
            <a:br/>
            <a:r>
              <a:t>            background: linear-gradient(135deg, #0a0f1c 0%, #0d1525 50%, #111d32 100%);</a:t>
            </a:r>
            <a:br/>
            <a:r>
              <a:t>            min-height: 100vh;</a:t>
            </a:r>
            <a:br/>
            <a:r>
              <a:t>            color: #ffffff;</a:t>
            </a:r>
            <a:br/>
            <a:r>
              <a:t>            overflow-x: hidden;</a:t>
            </a:r>
            <a:br/>
            <a:r>
              <a:t>        }</a:t>
            </a:r>
            <a:br/>
            <a:br/>
            <a:r>
              <a:t>        .slide {</a:t>
            </a:r>
            <a:br/>
            <a:r>
              <a:t>            width: 100%;</a:t>
            </a:r>
            <a:br/>
            <a:r>
              <a:t>            min-height: 100vh;</a:t>
            </a:r>
            <a:br/>
            <a:r>
              <a:t>            display: flex;</a:t>
            </a:r>
            <a:br/>
            <a:r>
              <a:t>            flex-direction: column;</a:t>
            </a:r>
            <a:br/>
            <a:r>
              <a:t>            justify-content: center;</a:t>
            </a:r>
            <a:br/>
            <a:r>
              <a:t>            align-items: center;</a:t>
            </a:r>
            <a:br/>
            <a:r>
              <a:t>            padding: 60px 80px;</a:t>
            </a:r>
            <a:br/>
            <a:r>
              <a:t>            position: relative;</a:t>
            </a:r>
            <a:br/>
            <a:r>
              <a:t>            overflow: hidden;</a:t>
            </a:r>
            <a:br/>
            <a:r>
              <a:t>        }</a:t>
            </a:r>
            <a:br/>
            <a:br/>
            <a:r>
              <a:t>        .slide::before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top: -50%;</a:t>
            </a:r>
            <a:br/>
            <a:r>
              <a:t>            left: -50%;</a:t>
            </a:r>
            <a:br/>
            <a:r>
              <a:t>            width: 200%;</a:t>
            </a:r>
            <a:br/>
            <a:r>
              <a:t>            height: 200%;</a:t>
            </a:r>
            <a:br/>
            <a:r>
              <a:t>            background: radial-gradient(ellipse at 30% 20%, rgba(59, 130, 246, 0.08) 0%, transparent 50%),</a:t>
            </a:r>
            <a:br/>
            <a:r>
              <a:t>                        radial-gradient(ellipse at 70% 80%, rgba(99, 102, 241, 0.06) 0%, transparent 50%);</a:t>
            </a:r>
            <a:br/>
            <a:r>
              <a:t>            animation: float 20s ease-in-out infinite;</a:t>
            </a:r>
            <a:br/>
            <a:r>
              <a:t>            pointer-events: none;</a:t>
            </a:r>
            <a:br/>
            <a:r>
              <a:t>        }</a:t>
            </a:r>
            <a:br/>
            <a:br/>
            <a:r>
              <a:t>        @keyframes float {</a:t>
            </a:r>
            <a:br/>
            <a:r>
              <a:t>            0%, 100% { transform: translate(0, 0) rotate(0deg); }</a:t>
            </a:r>
            <a:br/>
            <a:r>
              <a:t>            50% { transform: translate(-30px, 20px) rotate(5deg); }</a:t>
            </a:r>
            <a:br/>
            <a:r>
              <a:t>        }</a:t>
            </a:r>
            <a:br/>
            <a:br/>
            <a:r>
              <a:t>        .grid-pattern {</a:t>
            </a:r>
            <a:br/>
            <a:r>
              <a:t>            position: absolute;</a:t>
            </a:r>
            <a:br/>
            <a:r>
              <a:t>            top: 0;</a:t>
            </a:r>
            <a:br/>
            <a:r>
              <a:t>            left: 0;</a:t>
            </a:r>
            <a:br/>
            <a:r>
              <a:t>            width: 100%;</a:t>
            </a:r>
            <a:br/>
            <a:r>
              <a:t>            height: 100%;</a:t>
            </a:r>
            <a:br/>
            <a:r>
              <a:t>            background-image: </a:t>
            </a:r>
            <a:br/>
            <a:r>
              <a:t>                linear-gradient(rgba(59, 130, 246, 0.03) 1px, transparent 1px),</a:t>
            </a:r>
            <a:br/>
            <a:r>
              <a:t>                linear-gradient(90deg, rgba(59, 130, 246, 0.03) 1px, transparent 1px);</a:t>
            </a:r>
            <a:br/>
            <a:r>
              <a:t>            background-size: 60px 60px;</a:t>
            </a:r>
            <a:br/>
            <a:r>
              <a:t>            pointer-events: none;</a:t>
            </a:r>
            <a:br/>
            <a:r>
              <a:t>        }</a:t>
            </a:r>
            <a:br/>
            <a:br/>
            <a:r>
              <a:t>        .floating-shapes {</a:t>
            </a:r>
            <a:br/>
            <a:r>
              <a:t>            position: absolute;</a:t>
            </a:r>
            <a:br/>
            <a:r>
              <a:t>            width: 100%;</a:t>
            </a:r>
            <a:br/>
            <a:r>
              <a:t>            height: 100%;</a:t>
            </a:r>
            <a:br/>
            <a:r>
              <a:t>            overflow: hidden;</a:t>
            </a:r>
            <a:br/>
            <a:r>
              <a:t>            pointer-events: none;</a:t>
            </a:r>
            <a:br/>
            <a:r>
              <a:t>        }</a:t>
            </a:r>
            <a:br/>
            <a:br/>
            <a:r>
              <a:t>        .shape {</a:t>
            </a:r>
            <a:br/>
            <a:r>
              <a:t>            position: absolute;</a:t>
            </a:r>
            <a:br/>
            <a:r>
              <a:t>            border-radius: 50%;</a:t>
            </a:r>
            <a:br/>
            <a:r>
              <a:t>            filter: blur(60px);</a:t>
            </a:r>
            <a:br/>
            <a:r>
              <a:t>            opacity: 0.3;</a:t>
            </a:r>
            <a:br/>
            <a:r>
              <a:t>            animation: floatShape 15s ease-in-out infinite;</a:t>
            </a:r>
            <a:br/>
            <a:r>
              <a:t>        }</a:t>
            </a:r>
            <a:br/>
            <a:br/>
            <a:r>
              <a:t>        .shape-1 {</a:t>
            </a:r>
            <a:br/>
            <a:r>
              <a:t>            width: 400px;</a:t>
            </a:r>
            <a:br/>
            <a:r>
              <a:t>            height: 400px;</a:t>
            </a:r>
            <a:br/>
            <a:r>
              <a:t>            background: rgba(59, 130, 246, 0.4);</a:t>
            </a:r>
            <a:br/>
            <a:r>
              <a:t>            top: 10%;</a:t>
            </a:r>
            <a:br/>
            <a:r>
              <a:t>            left: -10%;</a:t>
            </a:r>
            <a:br/>
            <a:r>
              <a:t>            animation-delay: 0s;</a:t>
            </a:r>
            <a:br/>
            <a:r>
              <a:t>        }</a:t>
            </a:r>
            <a:br/>
            <a:br/>
            <a:r>
              <a:t>        .shape-2 {</a:t>
            </a:r>
            <a:br/>
            <a:r>
              <a:t>            width: 300px;</a:t>
            </a:r>
            <a:br/>
            <a:r>
              <a:t>            height: 300px;</a:t>
            </a:r>
            <a:br/>
            <a:r>
              <a:t>            background: rgba(99, 102, 241, 0.3);</a:t>
            </a:r>
            <a:br/>
            <a:r>
              <a:t>            bottom: 10%;</a:t>
            </a:r>
            <a:br/>
            <a:r>
              <a:t>            right: -5%;</a:t>
            </a:r>
            <a:br/>
            <a:r>
              <a:t>            animation-delay: -5s;</a:t>
            </a:r>
            <a:br/>
            <a:r>
              <a:t>        }</a:t>
            </a:r>
            <a:br/>
            <a:br/>
            <a:r>
              <a:t>        .shape-3 {</a:t>
            </a:r>
            <a:br/>
            <a:r>
              <a:t>            width: 200px;</a:t>
            </a:r>
            <a:br/>
            <a:r>
              <a:t>            height: 200px;</a:t>
            </a:r>
            <a:br/>
            <a:r>
              <a:t>            background: rgba(139, 92, 246, 0.3);</a:t>
            </a:r>
            <a:br/>
            <a:r>
              <a:t>            top: 60%;</a:t>
            </a:r>
            <a:br/>
            <a:r>
              <a:t>            left: 20%;</a:t>
            </a:r>
            <a:br/>
            <a:r>
              <a:t>            animation-delay: -10s;</a:t>
            </a:r>
            <a:br/>
            <a:r>
              <a:t>        }</a:t>
            </a:r>
            <a:br/>
            <a:br/>
            <a:r>
              <a:t>        @keyframes floatShape {</a:t>
            </a:r>
            <a:br/>
            <a:r>
              <a:t>            0%, 100% { transform: translate(0, 0) scale(1); }</a:t>
            </a:r>
            <a:br/>
            <a:r>
              <a:t>            33% { transform: translate(30px, -30px) scale(1.1); }</a:t>
            </a:r>
            <a:br/>
            <a:r>
              <a:t>            66% { transform: translate(-20px, 20px) scale(0.9); }</a:t>
            </a:r>
            <a:br/>
            <a:r>
              <a:t>        }</a:t>
            </a:r>
            <a:br/>
            <a:br/>
            <a:r>
              <a:t>        .qa-icon {</a:t>
            </a:r>
            <a:br/>
            <a:r>
              <a:t>            font-size: 64px;</a:t>
            </a:r>
            <a:br/>
            <a:r>
              <a:t>            margin-bottom: 30px;</a:t>
            </a:r>
            <a:br/>
            <a:r>
              <a:t>            position: relative;</a:t>
            </a:r>
            <a:br/>
            <a:r>
              <a:t>            z-index: 1;</a:t>
            </a:r>
            <a:br/>
            <a:r>
              <a:t>        }</a:t>
            </a:r>
            <a:br/>
            <a:br/>
            <a:r>
              <a:t>        .main-title {</a:t>
            </a:r>
            <a:br/>
            <a:r>
              <a:t>            font-size: 56px;</a:t>
            </a:r>
            <a:br/>
            <a:r>
              <a:t>            font-weight: 800;</a:t>
            </a:r>
            <a:br/>
            <a:r>
              <a:t>            background: linear-gradient(135deg, #ffffff 0%, #93c5fd 50%, #60a5fa 100%);</a:t>
            </a:r>
            <a:br/>
            <a:r>
              <a:t>            -webkit-background-clip: text;</a:t>
            </a:r>
            <a:br/>
            <a:r>
              <a:t>            -webkit-text-fill-color: transparent;</a:t>
            </a:r>
            <a:br/>
            <a:r>
              <a:t>            background-clip: text;</a:t>
            </a:r>
            <a:br/>
            <a:r>
              <a:t>            text-align: center;</a:t>
            </a:r>
            <a:br/>
            <a:r>
              <a:t>            margin-bottom: 20px;</a:t>
            </a:r>
            <a:br/>
            <a:r>
              <a:t>            letter-spacing: -1px;</a:t>
            </a:r>
            <a:br/>
            <a:r>
              <a:t>            position: relative;</a:t>
            </a:r>
            <a:br/>
            <a:r>
              <a:t>            z-index: 1;</a:t>
            </a:r>
            <a:br/>
            <a:r>
              <a:t>        }</a:t>
            </a:r>
            <a:br/>
            <a:br/>
            <a:r>
              <a:t>        .subtitle {</a:t>
            </a:r>
            <a:br/>
            <a:r>
              <a:t>            font-size: 22px;</a:t>
            </a:r>
            <a:br/>
            <a:r>
              <a:t>            color: rgba(255, 255, 255, 0.6);</a:t>
            </a:r>
            <a:br/>
            <a:r>
              <a:t>            text-align: center;</a:t>
            </a:r>
            <a:br/>
            <a:r>
              <a:t>            margin-bottom: 60px;</a:t>
            </a:r>
            <a:br/>
            <a:r>
              <a:t>            font-weight: 400;</a:t>
            </a:r>
            <a:br/>
            <a:r>
              <a:t>            position: relative;</a:t>
            </a:r>
            <a:br/>
            <a:r>
              <a:t>            z-index: 1;</a:t>
            </a:r>
            <a:br/>
            <a:r>
              <a:t>        }</a:t>
            </a:r>
            <a:br/>
            <a:br/>
            <a:r>
              <a:t>        .qa-container {</a:t>
            </a:r>
            <a:br/>
            <a:r>
              <a:t>            display: grid;</a:t>
            </a:r>
            <a:br/>
            <a:r>
              <a:t>            grid-template-columns: 1fr 1fr;</a:t>
            </a:r>
            <a:br/>
            <a:r>
              <a:t>            gap: 40px;</a:t>
            </a:r>
            <a:br/>
            <a:r>
              <a:t>            max-width: 1200px;</a:t>
            </a:r>
            <a:br/>
            <a:r>
              <a:t>            width: 100%;</a:t>
            </a:r>
            <a:br/>
            <a:r>
              <a:t>            position: relative;</a:t>
            </a:r>
            <a:br/>
            <a:r>
              <a:t>            z-index: 1;</a:t>
            </a:r>
            <a:br/>
            <a:r>
              <a:t>        }</a:t>
            </a:r>
            <a:br/>
            <a:br/>
            <a:r>
              <a:t>        .qa-section {</a:t>
            </a:r>
            <a:br/>
            <a:r>
              <a:t>            background: linear-gradient(135deg, rgba(30, 41, 75, 0.6) 0%, rgba(17, 30, 60, 0.8) 100%);</a:t>
            </a:r>
            <a:br/>
            <a:r>
              <a:t>            border: 1px solid rgba(59, 130, 246, 0.2);</a:t>
            </a:r>
            <a:br/>
            <a:r>
              <a:t>            border-radius: 24px;</a:t>
            </a:r>
            <a:br/>
            <a:r>
              <a:t>            padding: 40px;</a:t>
            </a:r>
            <a:br/>
            <a:r>
              <a:t>            backdrop-filter: blur(20px);</a:t>
            </a:r>
            <a:br/>
            <a:r>
              <a:t>            transition: all 0.3s ease;</a:t>
            </a:r>
            <a:br/>
            <a:r>
              <a:t>        }</a:t>
            </a:r>
            <a:br/>
            <a:br/>
            <a:r>
              <a:t>        .qa-section:hover {</a:t>
            </a:r>
            <a:br/>
            <a:r>
              <a:t>            border-color: rgba(59, 130, 246, 0.5);</a:t>
            </a:r>
            <a:br/>
            <a:r>
              <a:t>            transform: translateY(-5px);</a:t>
            </a:r>
            <a:br/>
            <a:r>
              <a:t>            box-shadow: 0 20px 60px rgba(59, 130, 246, 0.15);</a:t>
            </a:r>
            <a:br/>
            <a:r>
              <a:t>        }</a:t>
            </a:r>
            <a:br/>
            <a:br/>
            <a:r>
              <a:t>        .section-title {</a:t>
            </a:r>
            <a:br/>
            <a:r>
              <a:t>            font-size: 24px;</a:t>
            </a:r>
            <a:br/>
            <a:r>
              <a:t>            font-weight: 700;</a:t>
            </a:r>
            <a:br/>
            <a:r>
              <a:t>            color: #60a5fa;</a:t>
            </a:r>
            <a:br/>
            <a:r>
              <a:t>            margin-bottom: 30px;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12px;</a:t>
            </a:r>
            <a:br/>
            <a:r>
              <a:t>        }</a:t>
            </a:r>
            <a:br/>
            <a:br/>
            <a:r>
              <a:t>        .section-title::before {</a:t>
            </a:r>
            <a:br/>
            <a:r>
              <a:t>            content: '';</a:t>
            </a:r>
            <a:br/>
            <a:r>
              <a:t>            width: 4px;</a:t>
            </a:r>
            <a:br/>
            <a:r>
              <a:t>            height: 24px;</a:t>
            </a:r>
            <a:br/>
            <a:r>
              <a:t>            background: linear-gradient(180deg, #3b82f6 0%, #8b5cf6 100%);</a:t>
            </a:r>
            <a:br/>
            <a:r>
              <a:t>            border-radius: 2px;</a:t>
            </a:r>
            <a:br/>
            <a:r>
              <a:t>        }</a:t>
            </a:r>
            <a:br/>
            <a:br/>
            <a:r>
              <a:t>        .contact-list {</a:t>
            </a:r>
            <a:br/>
            <a:r>
              <a:t>            list-style: none;</a:t>
            </a:r>
            <a:br/>
            <a:r>
              <a:t>            display: flex;</a:t>
            </a:r>
            <a:br/>
            <a:r>
              <a:t>            flex-direction: column;</a:t>
            </a:r>
            <a:br/>
            <a:r>
              <a:t>            gap: 20px;</a:t>
            </a:r>
            <a:br/>
            <a:r>
              <a:t>        }</a:t>
            </a:r>
            <a:br/>
            <a:br/>
            <a:r>
              <a:t>        .contact-item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16px;</a:t>
            </a:r>
            <a:br/>
            <a:r>
              <a:t>            padding: 16px 20px;</a:t>
            </a:r>
            <a:br/>
            <a:r>
              <a:t>            background: rgba(59, 130, 246, 0.05);</a:t>
            </a:r>
            <a:br/>
            <a:r>
              <a:t>            border: 1px solid rgba(59, 130, 246, 0.1);</a:t>
            </a:r>
            <a:br/>
            <a:r>
              <a:t>            border-radius: 12px;</a:t>
            </a:r>
            <a:br/>
            <a:r>
              <a:t>            transition: all 0.3s ease;</a:t>
            </a:r>
            <a:br/>
            <a:r>
              <a:t>            cursor: pointer;</a:t>
            </a:r>
            <a:br/>
            <a:r>
              <a:t>        }</a:t>
            </a:r>
            <a:br/>
            <a:br/>
            <a:r>
              <a:t>        .contact-item:hover {</a:t>
            </a:r>
            <a:br/>
            <a:r>
              <a:t>            background: rgba(59, 130, 246, 0.1);</a:t>
            </a:r>
            <a:br/>
            <a:r>
              <a:t>            border-color: rgba(59, 130, 246, 0.3);</a:t>
            </a:r>
            <a:br/>
            <a:r>
              <a:t>            transform: translateX(8px);</a:t>
            </a:r>
            <a:br/>
            <a:r>
              <a:t>        }</a:t>
            </a:r>
            <a:br/>
            <a:br/>
            <a:r>
              <a:t>        .contact-icon {</a:t>
            </a:r>
            <a:br/>
            <a:r>
              <a:t>            width: 48px;</a:t>
            </a:r>
            <a:br/>
            <a:r>
              <a:t>            height: 48px;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background: linear-gradient(135deg, rgba(59, 130, 246, 0.2) 0%, rgba(99, 102, 241, 0.2) 100%);</a:t>
            </a:r>
            <a:br/>
            <a:r>
              <a:t>            border-radius: 12px;</a:t>
            </a:r>
            <a:br/>
            <a:r>
              <a:t>            font-size: 20px;</a:t>
            </a:r>
            <a:br/>
            <a:r>
              <a:t>            flex-shrink: 0;</a:t>
            </a:r>
            <a:br/>
            <a:r>
              <a:t>        }</a:t>
            </a:r>
            <a:br/>
            <a:br/>
            <a:r>
              <a:t>        .contact-info h4 {</a:t>
            </a:r>
            <a:br/>
            <a:r>
              <a:t>            font-size: 16px;</a:t>
            </a:r>
            <a:br/>
            <a:r>
              <a:t>            font-weight: 600;</a:t>
            </a:r>
            <a:br/>
            <a:r>
              <a:t>            color: #ffffff;</a:t>
            </a:r>
            <a:br/>
            <a:r>
              <a:t>            margin-bottom: 4px;</a:t>
            </a:r>
            <a:br/>
            <a:r>
              <a:t>        }</a:t>
            </a:r>
            <a:br/>
            <a:br/>
            <a:r>
              <a:t>        .contact-info p {</a:t>
            </a:r>
            <a:br/>
            <a:r>
              <a:t>            font-size: 14px;</a:t>
            </a:r>
            <a:br/>
            <a:r>
              <a:t>            color: rgba(255, 255, 255, 0.5);</a:t>
            </a:r>
            <a:br/>
            <a:r>
              <a:t>        }</a:t>
            </a:r>
            <a:br/>
            <a:br/>
            <a:r>
              <a:t>        .social-links {</a:t>
            </a:r>
            <a:br/>
            <a:r>
              <a:t>            display: grid;</a:t>
            </a:r>
            <a:br/>
            <a:r>
              <a:t>            grid-template-columns: repeat(2, 1fr);</a:t>
            </a:r>
            <a:br/>
            <a:r>
              <a:t>            gap: 16px;</a:t>
            </a:r>
            <a:br/>
            <a:r>
              <a:t>        }</a:t>
            </a:r>
            <a:br/>
            <a:br/>
            <a:r>
              <a:t>        .social-item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12px;</a:t>
            </a:r>
            <a:br/>
            <a:r>
              <a:t>            padding: 20px;</a:t>
            </a:r>
            <a:br/>
            <a:r>
              <a:t>            background: rgba(59, 130, 246, 0.05);</a:t>
            </a:r>
            <a:br/>
            <a:r>
              <a:t>            border: 1px solid rgba(59, 130, 246, 0.1);</a:t>
            </a:r>
            <a:br/>
            <a:r>
              <a:t>            border-radius: 16px;</a:t>
            </a:r>
            <a:br/>
            <a:r>
              <a:t>            transition: all 0.3s ease;</a:t>
            </a:r>
            <a:br/>
            <a:r>
              <a:t>            cursor: pointer;</a:t>
            </a:r>
            <a:br/>
            <a:r>
              <a:t>            text-decoration: none;</a:t>
            </a:r>
            <a:br/>
            <a:r>
              <a:t>            color: inherit;</a:t>
            </a:r>
            <a:br/>
            <a:r>
              <a:t>        }</a:t>
            </a:r>
            <a:br/>
            <a:br/>
            <a:r>
              <a:t>        .social-item:hover {</a:t>
            </a:r>
            <a:br/>
            <a:r>
              <a:t>            background: rgba(59, 130, 246, 0.15);</a:t>
            </a:r>
            <a:br/>
            <a:r>
              <a:t>            border-color: rgba(59, 130, 246, 0.4);</a:t>
            </a:r>
            <a:br/>
            <a:r>
              <a:t>            transform: scale(1.02);</a:t>
            </a:r>
            <a:br/>
            <a:r>
              <a:t>        }</a:t>
            </a:r>
            <a:br/>
            <a:br/>
            <a:r>
              <a:t>        .social-icon {</a:t>
            </a:r>
            <a:br/>
            <a:r>
              <a:t>            width: 44px;</a:t>
            </a:r>
            <a:br/>
            <a:r>
              <a:t>            height: 44px;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background: linear-gradient(135deg, #3b82f6 0%, #8b5cf6 100%);</a:t>
            </a:r>
            <a:br/>
            <a:r>
              <a:t>            border-radius: 10px;</a:t>
            </a:r>
            <a:br/>
            <a:r>
              <a:t>            font-size: 18px;</a:t>
            </a:r>
            <a:br/>
            <a:r>
              <a:t>        }</a:t>
            </a:r>
            <a:br/>
            <a:br/>
            <a:r>
              <a:t>        .social-info h4 {</a:t>
            </a:r>
            <a:br/>
            <a:r>
              <a:t>            font-size: 15px;</a:t>
            </a:r>
            <a:br/>
            <a:r>
              <a:t>            font-weight: 600;</a:t>
            </a:r>
            <a:br/>
            <a:r>
              <a:t>            color: #ffffff;</a:t>
            </a:r>
            <a:br/>
            <a:r>
              <a:t>            margin-bottom: 2px;</a:t>
            </a:r>
            <a:br/>
            <a:r>
              <a:t>        }</a:t>
            </a:r>
            <a:br/>
            <a:br/>
            <a:r>
              <a:t>        .social-info p {</a:t>
            </a:r>
            <a:br/>
            <a:r>
              <a:t>            font-size: 12px;</a:t>
            </a:r>
            <a:br/>
            <a:r>
              <a:t>            color: rgba(255, 255, 255, 0.4);</a:t>
            </a:r>
            <a:br/>
            <a:r>
              <a:t>        }</a:t>
            </a:r>
            <a:br/>
            <a:br/>
            <a:r>
              <a:t>        .discussion-topics {</a:t>
            </a:r>
            <a:br/>
            <a:r>
              <a:t>            grid-column: 1 / -1;</a:t>
            </a:r>
            <a:br/>
            <a:r>
              <a:t>            margin-top: 20px;</a:t>
            </a:r>
            <a:br/>
            <a:r>
              <a:t>        }</a:t>
            </a:r>
            <a:br/>
            <a:br/>
            <a:r>
              <a:t>        .topics-grid {</a:t>
            </a:r>
            <a:br/>
            <a:r>
              <a:t>            display: grid;</a:t>
            </a:r>
            <a:br/>
            <a:r>
              <a:t>            grid-template-columns: repeat(3, 1fr);</a:t>
            </a:r>
            <a:br/>
            <a:r>
              <a:t>            gap: 16px;</a:t>
            </a:r>
            <a:br/>
            <a:r>
              <a:t>        }</a:t>
            </a:r>
            <a:br/>
            <a:br/>
            <a:r>
              <a:t>        .topic-card {</a:t>
            </a:r>
            <a:br/>
            <a:r>
              <a:t>            padding: 24px;</a:t>
            </a:r>
            <a:br/>
            <a:r>
              <a:t>            background: linear-gradient(135deg, rgba(59, 130, 246, 0.08) 0%, rgba(99, 102, 241, 0.05) 100%);</a:t>
            </a:r>
            <a:br/>
            <a:r>
              <a:t>            border: 1px solid rgba(59, 130, 246, 0.15);</a:t>
            </a:r>
            <a:br/>
            <a:r>
              <a:t>            border-radius: 16px;</a:t>
            </a:r>
            <a:br/>
            <a:r>
              <a:t>            text-align: center;</a:t>
            </a:r>
            <a:br/>
            <a:r>
              <a:t>            transition: all 0.3s ease;</a:t>
            </a:r>
            <a:br/>
            <a:r>
              <a:t>            cursor: pointer;</a:t>
            </a:r>
            <a:br/>
            <a:r>
              <a:t>        }</a:t>
            </a:r>
            <a:br/>
            <a:br/>
            <a:r>
              <a:t>        .topic-card:hover {</a:t>
            </a:r>
            <a:br/>
            <a:r>
              <a:t>            background: linear-gradient(135deg, rgba(59, 130, 246, 0.15) 0%, rgba(99, 102, 241, 0.1) 100%);</a:t>
            </a:r>
            <a:br/>
            <a:r>
              <a:t>            border-color: rgba(59, 130, 246, 0.4);</a:t>
            </a:r>
            <a:br/>
            <a:r>
              <a:t>            transform: translateY(-5px);</a:t>
            </a:r>
            <a:br/>
            <a:r>
              <a:t>        }</a:t>
            </a:r>
            <a:br/>
            <a:br/>
            <a:r>
              <a:t>        .topic-icon {</a:t>
            </a:r>
            <a:br/>
            <a:r>
              <a:t>            font-size: 32px;</a:t>
            </a:r>
            <a:br/>
            <a:r>
              <a:t>            margin-bottom: 12px;</a:t>
            </a:r>
            <a:br/>
            <a:r>
              <a:t>        }</a:t>
            </a:r>
            <a:br/>
            <a:br/>
            <a:r>
              <a:t>        .topic-card h4 {</a:t>
            </a:r>
            <a:br/>
            <a:r>
              <a:t>            font-size: 15px;</a:t>
            </a:r>
            <a:br/>
            <a:r>
              <a:t>            font-weight: 600;</a:t>
            </a:r>
            <a:br/>
            <a:r>
              <a:t>            color: #ffffff;</a:t>
            </a:r>
            <a:br/>
            <a:r>
              <a:t>            margin-bottom: 8px;</a:t>
            </a:r>
            <a:br/>
            <a:r>
              <a:t>        }</a:t>
            </a:r>
            <a:br/>
            <a:br/>
            <a:r>
              <a:t>        .topic-card p {</a:t>
            </a:r>
            <a:br/>
            <a:r>
              <a:t>            font-size: 13px;</a:t>
            </a:r>
            <a:br/>
            <a:r>
              <a:t>            color: rgba(255, 255, 255, 0.5);</a:t>
            </a:r>
            <a:br/>
            <a:r>
              <a:t>            line-height: 1.5;</a:t>
            </a:r>
            <a:br/>
            <a:r>
              <a:t>        }</a:t>
            </a:r>
            <a:br/>
            <a:br/>
            <a:r>
              <a:t>        .faq-list {</a:t>
            </a:r>
            <a:br/>
            <a:r>
              <a:t>            display: flex;</a:t>
            </a:r>
            <a:br/>
            <a:r>
              <a:t>            flex-direction: column;</a:t>
            </a:r>
            <a:br/>
            <a:r>
              <a:t>            gap: 16px;</a:t>
            </a:r>
            <a:br/>
            <a:r>
              <a:t>        }</a:t>
            </a:r>
            <a:br/>
            <a:br/>
            <a:r>
              <a:t>        .faq-item {</a:t>
            </a:r>
            <a:br/>
            <a:r>
              <a:t>            padding: 20px;</a:t>
            </a:r>
            <a:br/>
            <a:r>
              <a:t>            background: rgba(59, 130, 246, 0.05);</a:t>
            </a:r>
            <a:br/>
            <a:r>
              <a:t>            border: 1px solid rgba(59, 130, 246, 0.1);</a:t>
            </a:r>
            <a:br/>
            <a:r>
              <a:t>            border-radius: 12px;</a:t>
            </a:r>
            <a:br/>
            <a:r>
              <a:t>            transition: all 0.3s ease;</a:t>
            </a:r>
            <a:br/>
            <a:r>
              <a:t>            cursor: pointer;</a:t>
            </a:r>
            <a:br/>
            <a:r>
              <a:t>        }</a:t>
            </a:r>
            <a:br/>
            <a:br/>
            <a:r>
              <a:t>        .faq-item:hover {</a:t>
            </a:r>
            <a:br/>
            <a:r>
              <a:t>            background: rgba(59, 130, 246, 0.1);</a:t>
            </a:r>
            <a:br/>
            <a:r>
              <a:t>            border-color: rgba(59, 130, 246, 0.3);</a:t>
            </a:r>
            <a:br/>
            <a:r>
              <a:t>        }</a:t>
            </a:r>
            <a:br/>
            <a:br/>
            <a:r>
              <a:t>        .faq-question {</a:t>
            </a:r>
            <a:br/>
            <a:r>
              <a:t>            font-size: 15px;</a:t>
            </a:r>
            <a:br/>
            <a:r>
              <a:t>            font-weight: 600;</a:t>
            </a:r>
            <a:br/>
            <a:r>
              <a:t>            color: #60a5fa;</a:t>
            </a:r>
            <a:br/>
            <a:r>
              <a:t>            margin-bottom: 8px;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10px;</a:t>
            </a:r>
            <a:br/>
            <a:r>
              <a:t>        }</a:t>
            </a:r>
            <a:br/>
            <a:br/>
            <a:r>
              <a:t>        .faq-question::before {</a:t>
            </a:r>
            <a:br/>
            <a:r>
              <a:t>            content: 'Q';</a:t>
            </a:r>
            <a:br/>
            <a:r>
              <a:t>            width: 24px;</a:t>
            </a:r>
            <a:br/>
            <a:r>
              <a:t>            height: 24px;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background: rgba(59, 130, 246, 0.2);</a:t>
            </a:r>
            <a:br/>
            <a:r>
              <a:t>            border-radius: 6px;</a:t>
            </a:r>
            <a:br/>
            <a:r>
              <a:t>            font-size: 12px;</a:t>
            </a:r>
            <a:br/>
            <a:r>
              <a:t>            font-weight: 700;</a:t>
            </a:r>
            <a:br/>
            <a:r>
              <a:t>        }</a:t>
            </a:r>
            <a:br/>
            <a:br/>
            <a:r>
              <a:t>        .faq-answer {</a:t>
            </a:r>
            <a:br/>
            <a:r>
              <a:t>            font-size: 14px;</a:t>
            </a:r>
            <a:br/>
            <a:r>
              <a:t>            color: rgba(255, 255, 255, 0.6);</a:t>
            </a:r>
            <a:br/>
            <a:r>
              <a:t>            line-height: 1.6;</a:t>
            </a:r>
            <a:br/>
            <a:r>
              <a:t>            padding-left: 34px;</a:t>
            </a:r>
            <a:br/>
            <a:r>
              <a:t>        }</a:t>
            </a:r>
            <a:br/>
            <a:br/>
            <a:r>
              <a:t>        .qr-section {</a:t>
            </a:r>
            <a:br/>
            <a:r>
              <a:t>            grid-column: 1 / -1;</a:t>
            </a:r>
            <a:br/>
            <a:r>
              <a:t>            margin-top: 20px;</a:t>
            </a:r>
            <a:br/>
            <a:r>
              <a:t>        }</a:t>
            </a:r>
            <a:br/>
            <a:br/>
            <a:r>
              <a:t>        .qr-content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gap: 60px;</a:t>
            </a:r>
            <a:br/>
            <a:r>
              <a:t>            padding: 40px;</a:t>
            </a:r>
            <a:br/>
            <a:r>
              <a:t>            background: linear-gradient(135deg, rgba(30, 41, 75, 0.6) 0%, rgba(17, 30, 60, 0.8) 100%);</a:t>
            </a:r>
            <a:br/>
            <a:r>
              <a:t>            border: 1px solid rgba(59, 130, 246, 0.2);</a:t>
            </a:r>
            <a:br/>
            <a:r>
              <a:t>            border-radius: 24px;</a:t>
            </a:r>
            <a:br/>
            <a:r>
              <a:t>        }</a:t>
            </a:r>
            <a:br/>
            <a:br/>
            <a:r>
              <a:t>        .qr-code {</a:t>
            </a:r>
            <a:br/>
            <a:r>
              <a:t>            width: 160px;</a:t>
            </a:r>
            <a:br/>
            <a:r>
              <a:t>            height: 160px;</a:t>
            </a:r>
            <a:br/>
            <a:r>
              <a:t>            background: linear-gradient(135deg, rgba(59, 130, 246, 0.1) 0%, rgba(99, 102, 241, 0.1) 100%);</a:t>
            </a:r>
            <a:br/>
            <a:r>
              <a:t>            border: 2px solid rgba(59, 130, 246, 0.3);</a:t>
            </a:r>
            <a:br/>
            <a:r>
              <a:t>            border-radius: 16px;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font-size: 14px;</a:t>
            </a:r>
            <a:br/>
            <a:r>
              <a:t>            color: rgba(255, 255, 255, 0.5);</a:t>
            </a:r>
            <a:br/>
            <a:r>
              <a:t>            position: relative;</a:t>
            </a:r>
            <a:br/>
            <a:r>
              <a:t>            overflow: hidden;</a:t>
            </a:r>
            <a:br/>
            <a:r>
              <a:t>        }</a:t>
            </a:r>
            <a:br/>
            <a:br/>
            <a:r>
              <a:t>        .qr-code::before {</a:t>
            </a:r>
            <a:br/>
            <a:r>
              <a:t>            content: '';</a:t>
            </a:r>
            <a:br/>
            <a:r>
              <a:t>            position: absolute;</a:t>
            </a:r>
            <a:br/>
            <a:r>
              <a:t>            width: 100%;</a:t>
            </a:r>
            <a:br/>
            <a:r>
              <a:t>            height: 100%;</a:t>
            </a:r>
            <a:br/>
            <a:r>
              <a:t>            background: repeating-linear-gradient(</a:t>
            </a:r>
            <a:br/>
            <a:r>
              <a:t>                0deg,</a:t>
            </a:r>
            <a:br/>
            <a:r>
              <a:t>                transparent,</a:t>
            </a:r>
            <a:br/>
            <a:r>
              <a:t>                transparent 8px,</a:t>
            </a:r>
            <a:br/>
            <a:r>
              <a:t>                rgba(59, 130, 246, 0.1) 8px,</a:t>
            </a:r>
            <a:br/>
            <a:r>
              <a:t>                rgba(59, 130, 246, 0.1) 12px</a:t>
            </a:r>
            <a:br/>
            <a:r>
              <a:t>            ),</a:t>
            </a:r>
            <a:br/>
            <a:r>
              <a:t>            repeating-linear-gradient(</a:t>
            </a:r>
            <a:br/>
            <a:r>
              <a:t>                90deg,</a:t>
            </a:r>
            <a:br/>
            <a:r>
              <a:t>                transparent,</a:t>
            </a:r>
            <a:br/>
            <a:r>
              <a:t>                transparent 8px,</a:t>
            </a:r>
            <a:br/>
            <a:r>
              <a:t>                rgba(59, 130, 246, 0.1) 8px,</a:t>
            </a:r>
            <a:br/>
            <a:r>
              <a:t>                rgba(59, 130, 246, 0.1) 12px</a:t>
            </a:r>
            <a:br/>
            <a:r>
              <a:t>            );</a:t>
            </a:r>
            <a:br/>
            <a:r>
              <a:t>        }</a:t>
            </a:r>
            <a:br/>
            <a:br/>
            <a:r>
              <a:t>        .qr-info h4 {</a:t>
            </a:r>
            <a:br/>
            <a:r>
              <a:t>            font-size: 20px;</a:t>
            </a:r>
            <a:br/>
            <a:r>
              <a:t>            font-weight: 700;</a:t>
            </a:r>
            <a:br/>
            <a:r>
              <a:t>            color: #ffffff;</a:t>
            </a:r>
            <a:br/>
            <a:r>
              <a:t>            margin-bottom: 12px;</a:t>
            </a:r>
            <a:br/>
            <a:r>
              <a:t>        }</a:t>
            </a:r>
            <a:br/>
            <a:br/>
            <a:r>
              <a:t>        .qr-info p {</a:t>
            </a:r>
            <a:br/>
            <a:r>
              <a:t>            font-size: 15px;</a:t>
            </a:r>
            <a:br/>
            <a:r>
              <a:t>            color: rgba(255, 255, 255, 0.6);</a:t>
            </a:r>
            <a:br/>
            <a:r>
              <a:t>            line-height: 1.6;</a:t>
            </a:r>
            <a:br/>
            <a:r>
              <a:t>            margin-bottom: 20px;</a:t>
            </a:r>
            <a:br/>
            <a:r>
              <a:t>        }</a:t>
            </a:r>
            <a:br/>
            <a:br/>
            <a:r>
              <a:t>        .cta-button {</a:t>
            </a:r>
            <a:br/>
            <a:r>
              <a:t>            display: inline-flex;</a:t>
            </a:r>
            <a:br/>
            <a:r>
              <a:t>            align-items: center;</a:t>
            </a:r>
            <a:br/>
            <a:r>
              <a:t>            gap: 10px;</a:t>
            </a:r>
            <a:br/>
            <a:r>
              <a:t>            padding: 14px 28px;</a:t>
            </a:r>
            <a:br/>
            <a:r>
              <a:t>            background: linear-gradient(135deg, #3b82f6 0%, #8b5cf6 100%);</a:t>
            </a:r>
            <a:br/>
            <a:r>
              <a:t>            border: none;</a:t>
            </a:r>
            <a:br/>
            <a:r>
              <a:t>            border-radius: 12px;</a:t>
            </a:r>
            <a:br/>
            <a:r>
              <a:t>            font-size: 15px;</a:t>
            </a:r>
            <a:br/>
            <a:r>
              <a:t>            font-weight: 600;</a:t>
            </a:r>
            <a:br/>
            <a:r>
              <a:t>            color: #ffffff;</a:t>
            </a:r>
            <a:br/>
            <a:r>
              <a:t>            cursor: pointer;</a:t>
            </a:r>
            <a:br/>
            <a:r>
              <a:t>            transition: all 0.3s ease;</a:t>
            </a:r>
            <a:br/>
            <a:r>
              <a:t>        }</a:t>
            </a:r>
            <a:br/>
            <a:br/>
            <a:r>
              <a:t>        .cta-button:hover {</a:t>
            </a:r>
            <a:br/>
            <a:r>
              <a:t>            transform: scale(1.05);</a:t>
            </a:r>
            <a:br/>
            <a:r>
              <a:t>            box-shadow: 0 10px 30px rgba(59, 130, 246, 0.3);</a:t>
            </a:r>
            <a:br/>
            <a:r>
              <a:t>        }</a:t>
            </a:r>
            <a:br/>
            <a:br/>
            <a:r>
              <a:t>        .thank-you {</a:t>
            </a:r>
            <a:br/>
            <a:r>
              <a:t>            margin-top: 60px;</a:t>
            </a:r>
            <a:br/>
            <a:r>
              <a:t>            text-align: center;</a:t>
            </a:r>
            <a:br/>
            <a:r>
              <a:t>            position: relative;</a:t>
            </a:r>
            <a:br/>
            <a:r>
              <a:t>            z-index: 1;</a:t>
            </a:r>
            <a:br/>
            <a:r>
              <a:t>        }</a:t>
            </a:r>
            <a:br/>
            <a:br/>
            <a:r>
              <a:t>        .thank-you h2 {</a:t>
            </a:r>
            <a:br/>
            <a:r>
              <a:t>            font-size: 42px;</a:t>
            </a:r>
            <a:br/>
            <a:r>
              <a:t>            font-weight: 800;</a:t>
            </a:r>
            <a:br/>
            <a:r>
              <a:t>            background: linear-gradient(135deg, #ffffff 0%, #93c5fd 100%);</a:t>
            </a:r>
            <a:br/>
            <a:r>
              <a:t>            -webkit-background-clip: text;</a:t>
            </a:r>
            <a:br/>
            <a:r>
              <a:t>            -webkit-text-fill-color: transparent;</a:t>
            </a:r>
            <a:br/>
            <a:r>
              <a:t>            background-clip: text;</a:t>
            </a:r>
            <a:br/>
            <a:r>
              <a:t>            margin-bottom: 16px;</a:t>
            </a:r>
            <a:br/>
            <a:r>
              <a:t>        }</a:t>
            </a:r>
            <a:br/>
            <a:br/>
            <a:r>
              <a:t>        .thank-you p {</a:t>
            </a:r>
            <a:br/>
            <a:r>
              <a:t>            font-size: 18px;</a:t>
            </a:r>
            <a:br/>
            <a:r>
              <a:t>            color: rgba(255, 255, 255, 0.5);</a:t>
            </a:r>
            <a:br/>
            <a:r>
              <a:t>        }</a:t>
            </a:r>
            <a:br/>
            <a:br/>
            <a:r>
              <a:t>        .footer-info {</a:t>
            </a:r>
            <a:br/>
            <a:r>
              <a:t>            margin-top: 40px;</a:t>
            </a:r>
            <a:br/>
            <a:r>
              <a:t>            padding-top: 30px;</a:t>
            </a:r>
            <a:br/>
            <a:r>
              <a:t>            border-top: 1px solid rgba(59, 130, 246, 0.1);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gap: 40px;</a:t>
            </a:r>
            <a:br/>
            <a:r>
              <a:t>            position: relative;</a:t>
            </a:r>
            <a:br/>
            <a:r>
              <a:t>            z-index: 1;</a:t>
            </a:r>
            <a:br/>
            <a:r>
              <a:t>        }</a:t>
            </a:r>
            <a:br/>
            <a:br/>
            <a:r>
              <a:t>        .footer-item {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8px;</a:t>
            </a:r>
            <a:br/>
            <a:r>
              <a:t>            font-size: 14px;</a:t>
            </a:r>
            <a:br/>
            <a:r>
              <a:t>            color: rgba(255, 255, 255, 0.4);</a:t>
            </a:r>
            <a:br/>
            <a:r>
              <a:t>        }</a:t>
            </a:r>
            <a:br/>
            <a:br/>
            <a:r>
              <a:t>        .footer-item svg {</a:t>
            </a:r>
            <a:br/>
            <a:r>
              <a:t>            width: 18px;</a:t>
            </a:r>
            <a:br/>
            <a:r>
              <a:t>            height: 18px;</a:t>
            </a:r>
            <a:br/>
            <a:r>
              <a:t>            fill: rgba(59, 130, 246, 0.6);</a:t>
            </a:r>
            <a:br/>
            <a:r>
              <a:t>        }</a:t>
            </a:r>
            <a:br/>
            <a:br/>
            <a:r>
              <a:t>        @media (max-width: 1024px) {</a:t>
            </a:r>
            <a:br/>
            <a:r>
              <a:t>            .slide {</a:t>
            </a:r>
            <a:br/>
            <a:r>
              <a:t>                padding: 40px;</a:t>
            </a:r>
            <a:br/>
            <a:r>
              <a:t>            }</a:t>
            </a:r>
            <a:br/>
            <a:br/>
            <a:r>
              <a:t>            .qa-container {</a:t>
            </a:r>
            <a:br/>
            <a:r>
              <a:t>                grid-template-columns: 1fr;</a:t>
            </a:r>
            <a:br/>
            <a:r>
              <a:t>            }</a:t>
            </a:r>
            <a:br/>
            <a:br/>
            <a:r>
              <a:t>            .topics-grid {</a:t>
            </a:r>
            <a:br/>
            <a:r>
              <a:t>                grid-template-columns: repeat(2, 1fr);</a:t>
            </a:r>
            <a:br/>
            <a:r>
              <a:t>            }</a:t>
            </a:r>
            <a:br/>
            <a:br/>
            <a:r>
              <a:t>            .qr-content {</a:t>
            </a:r>
            <a:br/>
            <a:r>
              <a:t>                flex-direction: column;</a:t>
            </a:r>
            <a:br/>
            <a:r>
              <a:t>                gap: 30px;</a:t>
            </a:r>
            <a:br/>
            <a:r>
              <a:t>            }</a:t>
            </a:r>
            <a:br/>
            <a:br/>
            <a:r>
              <a:t>            .main-title {</a:t>
            </a:r>
            <a:br/>
            <a:r>
              <a:t>                font-size: 42px;</a:t>
            </a:r>
            <a:br/>
            <a:r>
              <a:t>            }</a:t>
            </a:r>
            <a:br/>
            <a:r>
              <a:t>        }</a:t>
            </a:r>
            <a:br/>
            <a:br/>
            <a:r>
              <a:t>        @media (max-width: 768px) {</a:t>
            </a:r>
            <a:br/>
            <a:r>
              <a:t>            .slide {</a:t>
            </a:r>
            <a:br/>
            <a:r>
              <a:t>                padding: 30px 20px;</a:t>
            </a:r>
            <a:br/>
            <a:r>
              <a:t>            }</a:t>
            </a:r>
            <a:br/>
            <a:br/>
            <a:r>
              <a:t>            .main-title {</a:t>
            </a:r>
            <a:br/>
            <a:r>
              <a:t>                font-size: 32px;</a:t>
            </a:r>
            <a:br/>
            <a:r>
              <a:t>            }</a:t>
            </a:r>
            <a:br/>
            <a:br/>
            <a:r>
              <a:t>            .subtitle {</a:t>
            </a:r>
            <a:br/>
            <a:r>
              <a:t>                font-size: 18px;</a:t>
            </a:r>
            <a:br/>
            <a:r>
              <a:t>            }</a:t>
            </a:r>
            <a:br/>
            <a:br/>
            <a:r>
              <a:t>            .social-links {</a:t>
            </a:r>
            <a:br/>
            <a:r>
              <a:t>                grid-template-columns: 1fr;</a:t>
            </a:r>
            <a:br/>
            <a:r>
              <a:t>            }</a:t>
            </a:r>
            <a:br/>
            <a:br/>
            <a:r>
              <a:t>            .topics-grid {</a:t>
            </a:r>
            <a:br/>
            <a:r>
              <a:t>                grid-template-columns: 1fr;</a:t>
            </a:r>
            <a:br/>
            <a:r>
              <a:t>            }</a:t>
            </a:r>
            <a:br/>
            <a:br/>
            <a:r>
              <a:t>            .footer-info {</a:t>
            </a:r>
            <a:br/>
            <a:r>
              <a:t>                flex-direction: column;</a:t>
            </a:r>
            <a:br/>
            <a:r>
              <a:t>                gap: 16px;</a:t>
            </a:r>
            <a:br/>
            <a:r>
              <a:t>            }</a:t>
            </a:r>
            <a:br/>
            <a:br/>
            <a:r>
              <a:t>            .thank-you h2 {</a:t>
            </a:r>
            <a:br/>
            <a:r>
              <a:t>                font-size: 32px;</a:t>
            </a:r>
            <a:br/>
            <a:r>
              <a:t>            }</a:t>
            </a:r>
            <a:br/>
            <a:r>
              <a:t>        }</a:t>
            </a:r>
            <a:br/>
            <a:br/>
            <a:r>
              <a:t>        .page-indicator {</a:t>
            </a:r>
            <a:br/>
            <a:r>
              <a:t>            position: fixed;</a:t>
            </a:r>
            <a:br/>
            <a:r>
              <a:t>            bottom: 30px;</a:t>
            </a:r>
            <a:br/>
            <a:r>
              <a:t>            right: 30px;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gap: 8px;</a:t>
            </a:r>
            <a:br/>
            <a:r>
              <a:t>            padding: 12px 20px;</a:t>
            </a:r>
            <a:br/>
            <a:r>
              <a:t>            background: rgba(30, 41, 75, 0.8);</a:t>
            </a:r>
            <a:br/>
            <a:r>
              <a:t>            border: 1px solid rgba(59, 130, 246, 0.2);</a:t>
            </a:r>
            <a:br/>
            <a:r>
              <a:t>            border-radius: 30px;</a:t>
            </a:r>
            <a:br/>
            <a:r>
              <a:t>            backdrop-filter: blur(10px);</a:t>
            </a:r>
            <a:br/>
            <a:r>
              <a:t>            z-index: 100;</a:t>
            </a:r>
            <a:br/>
            <a:r>
              <a:t>        }</a:t>
            </a:r>
            <a:br/>
            <a:br/>
            <a:r>
              <a:t>        .page-indicator span {</a:t>
            </a:r>
            <a:br/>
            <a:r>
              <a:t>            font-size: 14px;</a:t>
            </a:r>
            <a:br/>
            <a:r>
              <a:t>            color: rgba(255, 255, 255, 0.6);</a:t>
            </a:r>
            <a:br/>
            <a:r>
              <a:t>        }</a:t>
            </a:r>
            <a:br/>
            <a:br/>
            <a:r>
              <a:t>        .page-indicator strong {</a:t>
            </a:r>
            <a:br/>
            <a:r>
              <a:t>            color: #60a5fa;</a:t>
            </a:r>
            <a:br/>
            <a:r>
              <a:t>            font-weight: 600;</a:t>
            </a:r>
            <a:br/>
            <a:r>
              <a:t>        }</a:t>
            </a:r>
            <a:br/>
            <a:br/>
            <a:r>
              <a:t>        .slide-number {</a:t>
            </a:r>
            <a:br/>
            <a:r>
              <a:t>            width: 32px;</a:t>
            </a:r>
            <a:br/>
            <a:r>
              <a:t>            height: 32px;</a:t>
            </a:r>
            <a:br/>
            <a:r>
              <a:t>            display: flex;</a:t>
            </a:r>
            <a:br/>
            <a:r>
              <a:t>            align-items: center;</a:t>
            </a:r>
            <a:br/>
            <a:r>
              <a:t>            justify-content: center;</a:t>
            </a:r>
            <a:br/>
            <a:r>
              <a:t>            background: linear-gradient(135deg, #3b82f6 0%, #8b5cf6 100%);</a:t>
            </a:r>
            <a:br/>
            <a:r>
              <a:t>            border-radius: 8px;</a:t>
            </a:r>
            <a:br/>
            <a:r>
              <a:t>            font-size: 14px;</a:t>
            </a:r>
            <a:br/>
            <a:r>
              <a:t>            font-weight: 700;</a:t>
            </a:r>
            <a:br/>
            <a:r>
              <a:t>        }</a:t>
            </a:r>
            <a:br/>
            <a:r>
              <a:t>    </a:t>
            </a:r>
            <a:br/>
            <a:br/>
            <a:br/>
            <a:r>
              <a:t>    </a:t>
            </a:r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</a:t>
            </a:r>
            <a:br/>
            <a:br/>
            <a:r>
              <a:t>        💬</a:t>
            </a:r>
            <a:br/>
            <a:r>
              <a:t>        Q&amp;A 与互动交流</a:t>
            </a:r>
            <a:br/>
            <a:r>
              <a:t>        欢迎提出问题，期待与您深入交流</a:t>
            </a:r>
            <a:br/>
            <a:br/>
            <a:r>
              <a:t>        </a:t>
            </a:r>
            <a:br/>
            <a:r>
              <a:t>            </a:t>
            </a:r>
            <a:br/>
            <a:r>
              <a:t>                联系方式</a:t>
            </a:r>
            <a:br/>
            <a:r>
              <a:t>                </a:t>
            </a:r>
            <a:br/>
            <a:r>
              <a:t>                    </a:t>
            </a:r>
            <a:br/>
            <a:r>
              <a:t>                        📧</a:t>
            </a:r>
            <a:br/>
            <a:r>
              <a:t>                        </a:t>
            </a:r>
            <a:br/>
            <a:r>
              <a:t>                            电子邮件</a:t>
            </a:r>
            <a:br/>
            <a:r>
              <a:t>                            contact@langchain-ai.dev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Q&amp;A 与互动交流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欢迎提出问题，期待与您深入交流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联系方式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contact@langchain-ai.dev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💬</a:t>
            </a:r>
            <a:br/>
            <a:r>
              <a:t>                        </a:t>
            </a:r>
            <a:br/>
            <a:r>
              <a:t>                            Discord 社区</a:t>
            </a:r>
            <a:br/>
            <a:r>
              <a:t>                            LangChain Community (10万+ 成员)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Community (10万+ 成员)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🐦</a:t>
            </a:r>
            <a:br/>
            <a:r>
              <a:t>                        </a:t>
            </a:r>
            <a:br/>
            <a:r>
              <a:t>                            Twitter / X</a:t>
            </a:r>
            <a:br/>
            <a:r>
              <a:t>                            @LangChainAI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@LangChainAI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28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📝</a:t>
            </a:r>
            <a:br/>
            <a:r>
              <a:t>                        </a:t>
            </a:r>
            <a:br/>
            <a:r>
              <a:t>                            GitHub Issues</a:t>
            </a:r>
            <a:br/>
            <a:r>
              <a:t>                            github.com/langchain-ai/langchain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github.com/langchain-ai/langchain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社交媒体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技术深度文章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官方视频教程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企业动态更新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python.langchain.com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推荐讨论话题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8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如何设计高效的 Agent 协作流程与任务分配机制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85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企业级生产环境的存储选型与数据管理策略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89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在 Agent 工作流中实现人工干预与审批流程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9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生产环境中的延迟优化、资源管理与可观测性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97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LLM 应用的安全防护、越狱防护与访问控制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0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项目落地的最佳实践与避坑指南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0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常见问题 FAQ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11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学习资源推荐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117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📘</a:t>
            </a:r>
            <a:br/>
            <a:r>
              <a:t>                        </a:t>
            </a:r>
            <a:br/>
            <a:r>
              <a:t>                            官方文档</a:t>
            </a:r>
            <a:br/>
            <a:r>
              <a:t>                            docs.langchain.com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2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docs.langchain.com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25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🎓</a:t>
            </a:r>
            <a:br/>
            <a:r>
              <a:t>                        </a:t>
            </a:r>
            <a:br/>
            <a:r>
              <a:t>                            LangChain Academy</a:t>
            </a:r>
            <a:br/>
            <a:r>
              <a:t>                            官方学习平台（免费课程）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29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官方学习平台（免费课程）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33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🛠️</a:t>
            </a:r>
            <a:br/>
            <a:r>
              <a:t>                        </a:t>
            </a:r>
            <a:br/>
            <a:r>
              <a:t>                            Cookbooks 示例</a:t>
            </a:r>
            <a:br/>
            <a:r>
              <a:t>                            Python/JavaScript 实战代码库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37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Python/JavaScript 实战代码库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141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👥</a:t>
            </a:r>
            <a:br/>
            <a:r>
              <a:t>                        </a:t>
            </a:r>
            <a:br/>
            <a:r>
              <a:t>                            LangChain Templates</a:t>
            </a:r>
            <a:br/>
            <a:r>
              <a:t>                            预置应用模板快速启动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预置应用模板快速启动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9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获取最新资讯、参与讨论、获取技术支持和行业动态。我们期待与您共同探索 LLM 应用开发的无限可能！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53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感谢聆听！</a:t>
            </a:r>
            <a:br/>
            <a:r>
              <a:t>            您的每一个问题都将推动技术的进步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5714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感谢聆听！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附录：术语表与参考文献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核心术语表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用于构建LLM应用的开源框架，提供Prompt模板、Chain机制、Agent抽象、Memory管理、RAG组件等核心功能。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基于LangChain构建的图结构编排框架，支持Cycle循环、多Agent协作、状态持久化、人机交互等复杂工作流。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LangGraph中的核心数据结构，通过TypedDict定义状态结构，使用Reducers合并状态更新，支持条件路由与循环。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状态持久化组件，支持Memory/PostgreSQL/Redis等存储后端，实现图执行状态的保存与恢复，支持多版本历史追踪。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LangChain Expression Language，声明式组合LLM组件的表达式语言，支持|Runable并发、批处理、流式处理、异步操作。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多智能体架构模式，包括Supervisor/Hierarchical/Swarm/Resolver等多种协作模式，实现复杂任务的分布式处理。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核心术语表（续）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LLM调用外部工具/函数的能力，通过结构化输出（JSON Schema）定义工具接口，实现LLM与外部系统的集成。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流式输出机制，将LLM生成的Token以流式方式返回，提升用户体验，支持实时展示生成进度。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人机协作模式，在关键决策点暂停执行，等待人类确认或输入，实现AI与人类协同工作流程。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Retrieval-Augmented Generation，检索增强生成，通过向量数据库检索相关文档，注入LLM上下文提升回答准确性。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条件路由机制，根据当前状态动态选择下一个执行节点，支持if-else、switch等多种路由逻辑。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8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中断机制，允许在图执行过程中暂停，支持状态保存与恢复，常用于长时任务的手动干预场景。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2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参考文献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7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LangChain Python Docs - Python官方文档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81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LangChain JS/TS Docs - JavaScript官方文档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5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LangGraph Documentation - 图编排框架文档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89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Changelog - 版本更新日志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3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langchain - 核心仓库 (⭐55k+)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97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langgraph - 图框架仓库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01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Templates - 项目模板集合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05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permchain - 新版Chain架构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109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LangChain Tutorials - 官方入门教程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113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How-to Guides - 实践指南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117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Concepts - 核心概念解析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21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LangChain Academy - 在线学习平台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125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YouTube Channel - 视频教程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129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Discord Community - 开发者社区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33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Official Blog - 官方博客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13771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GitHub Discussions - 讨论区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参考文献（续）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147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Function Calling: OpenAI Function Calling Spec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151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Anthropic Tool Use: Claude Tool Use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55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ReAct Paper: Synergizing Reasoning and Acting in Language Models (Princeton/SNU)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159432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Retrieval-Augmented Generation: Knowledge-intensive NLP for pre-trained language models (Meta AI)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163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# LangGraph 基础示例</a:t>
            </a:r>
            <a:br/>
            <a:r>
              <a:t>from langgraph.graph import StateGraph, START, END</a:t>
            </a:r>
            <a:br/>
            <a:r>
              <a:t>from typing import TypedDict</a:t>
            </a:r>
            <a:br/>
            <a:br/>
            <a:r>
              <a:t>class State(TypedDict):</a:t>
            </a:r>
            <a:br/>
            <a:r>
              <a:t>    messages: list</a:t>
            </a:r>
            <a:br/>
            <a:r>
              <a:t>    </a:t>
            </a:r>
            <a:br/>
            <a:r>
              <a:t>graph = StateGraph(State)</a:t>
            </a:r>
            <a:br/>
            <a:r>
              <a:t>graph.add_node("process", process_node)</a:t>
            </a:r>
            <a:br/>
            <a:r>
              <a:t>graph.add_edge(START, "process")</a:t>
            </a:r>
            <a:br/>
            <a:r>
              <a:t>graph.add_edge("process", END)</a:t>
            </a:r>
            <a:br/>
            <a:r>
              <a:t>app = graph.compile()</a:t>
            </a:r>
            <a:br/>
            <a:br/>
            <a:r>
              <a:t># 参考: python.langchain.com/docs/tutorials/</a:t>
            </a:r>
            <a:br/>
            <a:r>
              <a:t>        </a:t>
            </a:r>
            <a:br/>
            <a:r>
              <a:t>    </a:t>
            </a:r>
            <a:br/>
            <a:br/>
            <a:br/>
            <a:br/>
            <a:br/>
            <a:r>
              <a:t>    </a:t>
            </a:r>
            <a:br/>
            <a:r>
              <a:t>        致谢与资源</a:t>
            </a:r>
            <a:br/>
            <a:r>
              <a:t>    </a:t>
            </a:r>
            <a:br/>
            <a:r>
              <a:t>    </a:t>
            </a:r>
            <a:br/>
            <a:r>
              <a:t>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    致谢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LangChain AI 官方团队</a:t>
            </a:r>
            <a:br/>
            <a:r>
              <a:t>                开源社区贡献者</a:t>
            </a:r>
            <a:br/>
            <a:r>
              <a:t>                所有教程与博客作者</a:t>
            </a:r>
            <a:br/>
            <a:r>
              <a:t>                Reveal.js 框架团队</a:t>
            </a:r>
            <a:br/>
            <a:r>
              <a:t>    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    联系与反馈</a:t>
            </a:r>
            <a:br/>
            <a:r>
              <a:t>            </a:t>
            </a:r>
            <a:br/>
            <a:r>
              <a:t>            </a:t>
            </a:r>
            <a:br/>
            <a:r>
              <a:t>                📧 GitHub Issues: 报告问题</a:t>
            </a:r>
            <a:br/>
            <a:r>
              <a:t>                💬 Discord: 加入社区讨论</a:t>
            </a:r>
            <a:br/>
            <a:r>
              <a:t>                🐦 Twitter: 关注更新动态</a:t>
            </a:r>
            <a:br/>
            <a:r>
              <a:t>                📝 PR: 欢迎提交改进</a:t>
            </a:r>
            <a:br/>
            <a:r>
              <a:t>            </a:t>
            </a:r>
            <a:br/>
            <a:r>
              <a:t>        </a:t>
            </a:r>
            <a:br/>
            <a:r>
              <a:t>    </a:t>
            </a:r>
            <a:br/>
            <a:r>
              <a:t>    </a:t>
            </a:r>
            <a:br/>
            <a:r>
              <a:t>    </a:t>
            </a:r>
            <a:br/>
            <a:r>
              <a:t>        </a:t>
            </a:r>
            <a:br/>
            <a:r>
              <a:t>            </a:t>
            </a:r>
            <a:br/>
            <a:r>
              <a:t>            本演示文稿基于 LangChain &amp; LangGraph 官方文档生成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167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致谢与资源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173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LangChain AI 官方团队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177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开源社区贡献者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181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所有教程与博客作者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185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Reveal.js 框架团队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189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📧 GitHub Issues: 报告问题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193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💬 Discord: 加入社区讨论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197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🐦 Twitter: 关注更新动态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20114700"/>
            <a:ext cx="10591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• 📝 PR: 欢迎提交改进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0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Last Updated: 2025 | Version 2.0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0914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感谢聆听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17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Questions &amp; Discussion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2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GitHub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25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Discord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29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Docs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33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Built with LangChain + Reveal.js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